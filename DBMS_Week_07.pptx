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5669280" y="-1097280"/>
            <a:ext cx="2926080" cy="7772400"/>
          </a:xfrm>
          <a:prstGeom prst="roundRect">
            <a:avLst>
              <a:gd name="adj" fmla="val 50000"/>
            </a:avLst>
          </a:prstGeom>
          <a:solidFill>
            <a:srgbClr val="9ED8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566928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231F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500000">
            <a:off x="6400800" y="1645920"/>
            <a:ext cx="685800" cy="2011680"/>
          </a:xfrm>
          <a:prstGeom prst="roundRect">
            <a:avLst>
              <a:gd name="adj" fmla="val 49333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95160" y="2468880"/>
            <a:ext cx="685800" cy="685800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09728"/>
            <a:ext cx="2011680" cy="5760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Fall-2026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3258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Data into Meaningful Information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07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 07 Overview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Algebra: the formal language behind every SQL query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Basic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659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  Select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  Project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∪  Union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  Set difference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×  Cartesian product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  Rename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52044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Additional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9659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∩  Intersection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⋈  Joins (condition, equi, natural)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÷  Division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←  Assignment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468880" cy="3154680"/>
          </a:xfrm>
          <a:prstGeom prst="roundRect">
            <a:avLst>
              <a:gd name="adj" fmla="val 4444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17920" y="155448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kern="0" spc="2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CAN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procedural vs. non-procedural languages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each operator to a table by hand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multi-step queries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algebra into SQL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Query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Languages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097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 we ask a database a question?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language is the language in which a user requests information from the database.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Silberschatz, Korth, Sudarshan — Database System Concepts (relational algebra chapter). Courtesy: Aasma Zahid, FJWU.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Categories of Query Languages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794760" cy="2240280"/>
          </a:xfrm>
          <a:prstGeom prst="roundRect">
            <a:avLst>
              <a:gd name="adj" fmla="val 4898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14300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Procedural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and HOW”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describes the steps to compute the result.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Relational Algebra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794760" cy="2240280"/>
          </a:xfrm>
          <a:prstGeom prst="roundRect">
            <a:avLst>
              <a:gd name="adj" fmla="val 4898"/>
            </a:avLst>
          </a:prstGeom>
          <a:solidFill>
            <a:srgbClr val="55BFAE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114300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Non-procedural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only”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describes the result; the system decides the steps.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Relational Calculus, SQL (mostly)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35204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“Pure” languages: </a:t>
            </a: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· Tuple Relational Calculus · Domain Relational Calculus.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used directly by people, but they form the underlying basis of the query languages people do use, such as SQL.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Relational Algebra?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(RA)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procedural query language for the relational model. Every operator takes one or two relations as input and returns a new relation.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ONE relation</a:t>
            </a:r>
            <a:endParaRPr lang="en-US" sz="1500" dirty="0"/>
          </a:p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   π   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3794760" cy="1554480"/>
          </a:xfrm>
          <a:prstGeom prst="roundRect">
            <a:avLst>
              <a:gd name="adj" fmla="val 7059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37760" y="1783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operator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TWO relations</a:t>
            </a:r>
            <a:endParaRPr lang="en-US" sz="1500" dirty="0"/>
          </a:p>
          <a:p>
            <a:pPr marL="0" indent="0">
              <a:buNone/>
            </a:pPr>
            <a:r>
              <a:rPr lang="en-US" sz="1800" b="1" dirty="0">
                <a:solidFill>
                  <a:srgbClr val="55BFA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∪   −   ×   ∩   ⋈   ÷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502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931920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61288" y="3794760"/>
            <a:ext cx="914" cy="411480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63040" y="4005072"/>
            <a:ext cx="155448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20240" y="3547872"/>
            <a:ext cx="64008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3794760"/>
            <a:ext cx="502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08960" y="3931920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08960" y="4069080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55848" y="3794760"/>
            <a:ext cx="914" cy="411480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08960" y="4297680"/>
            <a:ext cx="502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08960" y="4434840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08960" y="4572000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55848" y="4297680"/>
            <a:ext cx="914" cy="411480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0" y="4206240"/>
            <a:ext cx="155448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0" y="3749040"/>
            <a:ext cx="64008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0" y="4005072"/>
            <a:ext cx="502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03520" y="4142232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03520" y="4279392"/>
            <a:ext cx="502920" cy="914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50408" y="4005072"/>
            <a:ext cx="914" cy="411480"/>
          </a:xfrm>
          <a:prstGeom prst="line">
            <a:avLst/>
          </a:prstGeom>
          <a:noFill/>
          <a:ln w="9525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989320" y="356616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 the output of every operator is a relation, so operators can be chained into bigger expressions.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Sample Data Used This Week (1/2)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database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93776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91640"/>
          <a:ext cx="219456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40080" y="3657600"/>
            <a:ext cx="7863840" cy="685800"/>
          </a:xfrm>
          <a:prstGeom prst="rect">
            <a:avLst/>
          </a:prstGeom>
          <a:solidFill>
            <a:srgbClr val="E3F3F0"/>
          </a:solidFill>
          <a:ln w="9525">
            <a:solidFill>
              <a:srgbClr val="C9D6DC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holds one row per student; Enrolls records which course (CID) each student (SID) takes. SID links the two tables.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Sample Data Used This Week (2/2)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database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Depositor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237744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account-number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20040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11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600200"/>
          <a:ext cx="2286000" cy="914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loan-number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669280" y="1325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5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00200"/>
          <a:ext cx="2834640" cy="91440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account-number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Perryridge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Redwood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Hill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640080" y="4206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Depositor = customers with an account · Borrower = customers with a loan · Account = balance of each account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Basic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4846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4048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  Select — choose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1463040"/>
            <a:ext cx="4846320" cy="457200"/>
          </a:xfrm>
          <a:prstGeom prst="roundRect">
            <a:avLst>
              <a:gd name="adj" fmla="val 2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404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  Project — choose columns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2011680"/>
            <a:ext cx="4846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8404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∪  Union — rows in either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2560320"/>
            <a:ext cx="4846320" cy="457200"/>
          </a:xfrm>
          <a:prstGeom prst="roundRect">
            <a:avLst>
              <a:gd name="adj" fmla="val 2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4048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  Difference — rows in one, not the other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3108960"/>
            <a:ext cx="4846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8404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×  Cartesian product — all pairs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3657600"/>
            <a:ext cx="4846320" cy="457200"/>
          </a:xfrm>
          <a:prstGeom prst="roundRect">
            <a:avLst>
              <a:gd name="adj" fmla="val 240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4048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  Rename — give a new name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Select (σ) — Choosing Rows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41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r>
              <a:rPr lang="en-US" sz="3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(R)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0" y="105156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86200" y="10972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 R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condition (predicate)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by a condition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columns as R, only the rows that satisfy p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σ as a horizontal filter: it keeps or removes whole rows.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  ≠   &lt;   &gt;   ≤   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∧ (and)    ∨ (or)    ¬ (not)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Select — Example 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students with GPA greater than 3.0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52160" y="932688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23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GPA &gt; 3.0</a:t>
            </a:r>
            <a:r>
              <a:rPr lang="en-US" sz="17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(Student)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4069080" y="2651760"/>
            <a:ext cx="105156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091940" y="2194560"/>
            <a:ext cx="100584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GPA&gt;3.0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1600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874520"/>
          <a:ext cx="3246120" cy="914400"/>
        </p:xfrm>
        <a:graphic>
          <a:graphicData uri="http://schemas.openxmlformats.org/drawingml/2006/table">
            <a:tbl>
              <a:tblPr/>
              <a:tblGrid>
                <a:gridCol w="81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257800" y="28803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 rows pass; all 4 columns are kept.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88620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777240" y="38862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B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</a:t>
            </a:r>
            <a:r>
              <a:rPr lang="en-US" sz="13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WHERE GPA &gt; 3.0;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Select — Example 2: Combined Conditions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GPA ≥ 4.0 who are under 18 or over 21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24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GPA ≥ 4.0  ∧  (age &lt; 18  ∨  age &gt; 21)</a:t>
            </a:r>
            <a:r>
              <a:rPr lang="en-US" sz="18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(Student)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 ≥ 4.0 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age&lt;18 ∨ age&gt;21 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keep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Lisa (857). A row is kept only when the WHOLE predicate is true: ∧ needs both parts true.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(π) — Choosing Columns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41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r>
              <a:rPr lang="en-US" sz="3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(R)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0" y="105156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86200" y="10972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 R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of columns to keep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columns to output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4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rows, only the columns in 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π as a vertical filter: it keeps or removes whole columns.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F9E0DC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4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is a SET, so duplicate rows are removed from the result. (SQL keeps duplicates unless you write SELECT DISTINCT.)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— Examples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and names of all students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2743200" cy="914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520440" y="1874520"/>
            <a:ext cx="109728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66160" y="1417320"/>
            <a:ext cx="100584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5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SID, name</a:t>
            </a:r>
            <a:endParaRPr lang="en-US" sz="11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18288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720840" y="1463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 stay 4 rows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697480"/>
            <a:ext cx="7863840" cy="914"/>
          </a:xfrm>
          <a:prstGeom prst="line">
            <a:avLst/>
          </a:prstGeom>
          <a:noFill/>
          <a:ln w="12700">
            <a:solidFill>
              <a:srgbClr val="C9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0"/>
          <p:cNvSpPr txBox="1"/>
          <p:nvPr/>
        </p:nvSpPr>
        <p:spPr>
          <a:xfrm>
            <a:off x="64008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distinct ages</a:t>
            </a:r>
            <a:endParaRPr lang="en-US" sz="13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27248"/>
          <a:ext cx="2743200" cy="914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3520440" y="3721608"/>
            <a:ext cx="109728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657600" y="3264408"/>
            <a:ext cx="82296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5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age</a:t>
            </a:r>
            <a:endParaRPr lang="en-US" sz="1100" dirty="0"/>
          </a:p>
        </p:txBody>
      </p:sp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127248"/>
          <a:ext cx="9144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5943600" y="3200400"/>
            <a:ext cx="2560320" cy="7772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 in, 2 rows out: the repeated 10 and 8 are removed.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Combining Select and Project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names of the students with GPA ≥ 4.0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9144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name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(σ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GPA ≥ 4.0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(Student))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63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input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2377440" cy="914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108960" y="2377440"/>
            <a:ext cx="86868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04388" y="1920240"/>
            <a:ext cx="877824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14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GPA≥4.0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select rows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783080"/>
          <a:ext cx="219456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Shape 11"/>
          <p:cNvSpPr/>
          <p:nvPr/>
        </p:nvSpPr>
        <p:spPr>
          <a:xfrm>
            <a:off x="6355080" y="2011680"/>
            <a:ext cx="73152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355080" y="1554480"/>
            <a:ext cx="73152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4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name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178040" y="1463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project</a:t>
            </a:r>
            <a:endParaRPr lang="en-US" sz="11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783080"/>
          <a:ext cx="109728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inside-out: </a:t>
            </a: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innermost operation (σ) runs first, then π is applied to its result.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3611880"/>
            <a:ext cx="7863840" cy="594360"/>
          </a:xfrm>
          <a:prstGeom prst="roundRect">
            <a:avLst>
              <a:gd name="adj" fmla="val 15385"/>
            </a:avLst>
          </a:prstGeom>
          <a:solidFill>
            <a:srgbClr val="F9E0DC"/>
          </a:solidFill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π first? </a:t>
            </a:r>
            <a:r>
              <a:rPr lang="en-US" sz="13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300" baseline="-400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300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(Student) throws away GPA, so the selection on GPA could no longer be applied.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4297680"/>
            <a:ext cx="7863840" cy="384048"/>
          </a:xfrm>
          <a:prstGeom prst="roundRect">
            <a:avLst>
              <a:gd name="adj" fmla="val 19048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777240" y="42976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5B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</a:t>
            </a:r>
            <a:r>
              <a:rPr lang="en-US" sz="115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name FROM Student WHERE GPA &gt;= 4.0;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Union (∪)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∪ 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05156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that are in R, in S, or in both — duplicates removed.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45720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103120"/>
            <a:ext cx="4206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compatibility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S can be combined only if: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the same number of columns (fields), and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columns have the same domains (types).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0" y="2011680"/>
            <a:ext cx="3017520" cy="2606040"/>
          </a:xfrm>
          <a:prstGeom prst="roundRect">
            <a:avLst>
              <a:gd name="adj" fmla="val 4211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06440" y="2514600"/>
            <a:ext cx="1463040" cy="1463040"/>
          </a:xfrm>
          <a:prstGeom prst="ellipse">
            <a:avLst/>
          </a:prstGeom>
          <a:solidFill>
            <a:srgbClr val="55BFAE">
              <a:alpha val="65000"/>
            </a:srgbClr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20840" y="2514600"/>
            <a:ext cx="1463040" cy="1463040"/>
          </a:xfrm>
          <a:prstGeom prst="ellipse">
            <a:avLst/>
          </a:prstGeom>
          <a:solidFill>
            <a:srgbClr val="55BFAE">
              <a:alpha val="65000"/>
            </a:srgbClr>
          </a:solidFill>
          <a:ln w="12700">
            <a:solidFill>
              <a:srgbClr val="143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897880" y="3108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108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4114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shaded area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Union — Example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customers who have an account, a loan, or both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22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6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(Depositor)  ∪  π</a:t>
            </a:r>
            <a:r>
              <a:rPr lang="en-US" sz="22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6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(Borrower)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6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name</a:t>
            </a:r>
            <a:r>
              <a:rPr lang="en-US" sz="115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(Depositor)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265176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6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name</a:t>
            </a:r>
            <a:r>
              <a:rPr lang="en-US" sz="115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(Borrower)</a:t>
            </a:r>
            <a:endParaRPr lang="en-US" sz="11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14884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26280" y="2926080"/>
            <a:ext cx="82296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663440" y="2468880"/>
            <a:ext cx="54864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∪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14884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12"/>
          <p:cNvSpPr/>
          <p:nvPr/>
        </p:nvSpPr>
        <p:spPr>
          <a:xfrm>
            <a:off x="7360920" y="2194560"/>
            <a:ext cx="1143000" cy="14630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Hayes, Jones, Smith are in both but appear only once.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Johnson has two accounts but appears once after π.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Difference (−)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− S</a:t>
            </a: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rows in R that are NOT in S.  R and S must be union compatible.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(Depositor)  −  π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(Borrower)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Depositor names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33172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 names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33172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Depositor − Borrower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331720"/>
          <a:ext cx="178308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 − Depositor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4709160" y="3337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account, no loan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6720840" y="35661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loan, no account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709160" y="3977640"/>
            <a:ext cx="3794760" cy="5486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R − S ≠ S − R (difference is not commutative).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Cartesian Product (×)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× S</a:t>
            </a: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pairs every row of R with every row of 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(2 rows)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274320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(3 rows)</a:t>
            </a:r>
            <a:endParaRPr lang="en-US" sz="11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128016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429000" y="2651760"/>
            <a:ext cx="210312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3703320" y="14630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× Enrolls (2 × 3 = 6 rows)</a:t>
            </a:r>
            <a:endParaRPr lang="en-US" sz="115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3320" y="1737360"/>
          <a:ext cx="4800600" cy="9144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S.SID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E.SID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+ 2 = 6   ·   </a:t>
            </a:r>
            <a:r>
              <a:rPr lang="en-US" sz="12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 = 6   ·   </a:t>
            </a:r>
            <a:r>
              <a:rPr lang="en-US" sz="125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rows </a:t>
            </a: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 student with someone else's enrollment — meaningless on their own.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 in Use: Building a Query Step by Step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names of students enrolled in CPS114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σ CID = 'CPS114'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2743200" cy="914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S.SID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E.SID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474720" y="2057400"/>
            <a:ext cx="64008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206240" y="1325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σ S.SID = E.SID</a:t>
            </a:r>
            <a:endParaRPr lang="en-US" sz="11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645920"/>
          <a:ext cx="2468880" cy="914400"/>
        </p:xfrm>
        <a:graphic>
          <a:graphicData uri="http://schemas.openxmlformats.org/drawingml/2006/table">
            <a:tbl>
              <a:tblPr/>
              <a:tblGrid>
                <a:gridCol w="61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S.SID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E.SID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766560" y="2057400"/>
            <a:ext cx="54864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740664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π name</a:t>
            </a:r>
            <a:endParaRPr lang="en-US" sz="115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45920"/>
          <a:ext cx="109728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640080" y="274320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name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 σ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Students.SID = Enrolls.SID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 σ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CID = 'CPS114'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 Students × Enrolls ) ) )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4290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is what makes the product useful: it keeps only pairs where the student and the enrollment belong together. This “× then σ on matching keys” pattern is exactly what a JOIN does.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114800"/>
            <a:ext cx="7863840" cy="457200"/>
          </a:xfrm>
          <a:prstGeom prst="roundRect">
            <a:avLst>
              <a:gd name="adj" fmla="val 16000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B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</a:t>
            </a:r>
            <a:r>
              <a:rPr lang="en-US" sz="11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Students S, Enrolls E WHERE S.SID = E.SID AND E.CID = 'CPS114';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Rename (ρ)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</a:t>
            </a:r>
            <a:r>
              <a:rPr lang="en-US" sz="32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24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(R)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0515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result of R under the new name 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</a:t>
            </a:r>
            <a:r>
              <a:rPr lang="en-US" sz="27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X(A1, A2, …)</a:t>
            </a:r>
            <a:r>
              <a:rPr lang="en-US" sz="2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(R)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8745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renames the columns to A1, A2, …, 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863840" cy="1874520"/>
          </a:xfrm>
          <a:prstGeom prst="roundRect">
            <a:avLst>
              <a:gd name="adj" fmla="val 5854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2788920"/>
            <a:ext cx="7406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confusion caused by identical column names.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all, to use the SAME table twice in one query (a self-comparison), e.g. comparing each account's balance with every other account's balance.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equivalent: aliases with AS, e.g. FROM Account AS d.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Rename — Example: Largest Balance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account-number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branch-name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Perryridge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Redwood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Hill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0" y="100584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794760" y="1078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10515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Account × ρ</a:t>
            </a:r>
            <a:r>
              <a:rPr lang="en-US" sz="18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r>
              <a:rPr lang="en-US" sz="13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(Account)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7947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every balance with every other balance (7 × 7 = 49 rows).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0" y="219456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3794760" y="2267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240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8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account.balance</a:t>
            </a:r>
            <a:r>
              <a:rPr lang="en-US" sz="13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σ</a:t>
            </a:r>
            <a:r>
              <a:rPr lang="en-US" sz="18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account.balance &lt; d.balance</a:t>
            </a:r>
            <a:r>
              <a:rPr lang="en-US" sz="13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(…)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79476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that are smaller than SOME other balance: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57600" y="338328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794760" y="34564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34290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8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balance</a:t>
            </a:r>
            <a:r>
              <a:rPr lang="en-US" sz="13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(Account) − Step 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79476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balances minus the non-maximum ones: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794760" y="2862072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solidFill>
              <a:srgbClr val="B0B0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200" dirty="0"/>
          </a:p>
        </p:txBody>
      </p:sp>
      <p:sp>
        <p:nvSpPr>
          <p:cNvPr id="8" name="Text 19"/>
          <p:cNvSpPr/>
          <p:nvPr/>
        </p:nvSpPr>
        <p:spPr>
          <a:xfrm>
            <a:off x="4434840" y="2862072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solidFill>
              <a:srgbClr val="B0B0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74920" y="2862072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solidFill>
              <a:srgbClr val="B0B0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15000" y="2862072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solidFill>
              <a:srgbClr val="B0B0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55080" y="2862072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>
            <a:solidFill>
              <a:srgbClr val="B0B0B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94760" y="4050792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BFE8DD"/>
          </a:solidFill>
          <a:ln>
            <a:solidFill>
              <a:srgbClr val="55BFA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0507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largest balance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ρ because Account is used twice: once as “account”, once as “d”.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Formal Definition of Relational Algebra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1887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expressions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in the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relation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built by applying operators to smaller expressions — like arithmetic, where (2 + 3) × 4 is built from smaller parts.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051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E1 and E2 are RA expressions, so are: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1463040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solidFill>
              <a:srgbClr val="C9D6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E1 ∪ E2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14630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1984248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E3F3F0"/>
          </a:solidFill>
          <a:ln>
            <a:solidFill>
              <a:srgbClr val="C9D6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E1 − E2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198424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06240" y="2505456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solidFill>
              <a:srgbClr val="C9D6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E1 × E2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2505456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06240" y="3026664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E3F3F0"/>
          </a:solidFill>
          <a:ln>
            <a:solidFill>
              <a:srgbClr val="C9D6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19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</a:t>
            </a: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(E1)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302666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a predicate on attributes of E1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3547872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solidFill>
              <a:srgbClr val="C9D6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9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(E1)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54787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a list of some attributes of E1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06240" y="4069080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E3F3F0"/>
          </a:solidFill>
          <a:ln>
            <a:solidFill>
              <a:srgbClr val="C9D6D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</a:t>
            </a:r>
            <a:r>
              <a:rPr lang="en-US" sz="19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14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(E1)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40690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new name for the result of E1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Additional</a:t>
            </a:r>
            <a:endParaRPr lang="en-US" sz="2800" dirty="0"/>
          </a:p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Operations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914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add no new power — every one can be written with the basic operations — but they make common queries much shorter.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96596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with basic 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∩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− (R − 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⋈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(σ (R × S))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÷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π, ×, − combined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←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a name for a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Intersection (∩)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∩ S</a:t>
            </a: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rows that are in BOTH R and S.  R and S must have identical schemas.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7863840" cy="438912"/>
          </a:xfrm>
          <a:prstGeom prst="roundRect">
            <a:avLst>
              <a:gd name="adj" fmla="val 16667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(Depositor)  ∩  π</a:t>
            </a:r>
            <a:r>
              <a:rPr lang="en-US" sz="20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5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(Borrower)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11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having both an account and a loan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Depositor names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Lindsay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606040"/>
          <a:ext cx="173736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 names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480560" y="3291840"/>
            <a:ext cx="73152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617720" y="2834640"/>
            <a:ext cx="45720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∩</a:t>
            </a:r>
            <a:endParaRPr lang="en-US" sz="1400" dirty="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606040"/>
          <a:ext cx="1371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903720" y="2606040"/>
            <a:ext cx="1600200" cy="14630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R − (R − 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all − {Johnson, Lindsay, Turner}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{Hayes, Jones, Smith}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349240" y="4206240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5486400" y="42062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B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</a:t>
            </a:r>
            <a:r>
              <a:rPr lang="en-US" sz="11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INTERSECT …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Join Family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 is the most useful operation in relational algebra. Every join = a Cartesian product, followed by a selection (and sometimes a projection).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7863840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214884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 w="12700">
            <a:solidFill>
              <a:srgbClr val="55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94960" y="2606040"/>
            <a:ext cx="2788920" cy="1691640"/>
          </a:xfrm>
          <a:prstGeom prst="roundRect">
            <a:avLst>
              <a:gd name="adj" fmla="val 8108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18288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join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condition θ</a:t>
            </a:r>
            <a:endParaRPr lang="en-US" sz="1600" dirty="0"/>
          </a:p>
          <a:p>
            <a:pPr marL="0" indent="0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S.sid &lt; R.sid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28600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Equijoin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equality conditions (=)</a:t>
            </a:r>
            <a:endParaRPr lang="en-US" sz="1600" dirty="0"/>
          </a:p>
          <a:p>
            <a:pPr marL="0" indent="0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S.sid = R.sid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6974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E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on ALL same-named columns; no condition written</a:t>
            </a:r>
            <a:endParaRPr lang="en-US" sz="16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5BFA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⋈ 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 Join (θ-Join)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⋈</a:t>
            </a:r>
            <a:r>
              <a:rPr lang="en-US" sz="24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r>
              <a:rPr lang="en-US" sz="18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S  =  σ</a:t>
            </a:r>
            <a:r>
              <a:rPr lang="en-US" sz="24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</a:t>
            </a:r>
            <a:r>
              <a:rPr lang="en-US" sz="18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(R × 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a selection applied to a Cartesian product.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(Sailors)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20624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(Reserves)</a:t>
            </a:r>
            <a:endParaRPr lang="en-US" sz="115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965960"/>
          <a:ext cx="274320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1996-10-10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1996-11-12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132320" y="1965960"/>
            <a:ext cx="1371600" cy="768096"/>
          </a:xfrm>
          <a:prstGeom prst="roundRect">
            <a:avLst>
              <a:gd name="adj" fmla="val 9524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 ⋈</a:t>
            </a:r>
            <a:r>
              <a:rPr lang="en-US" sz="18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S.sid &lt; R.sid</a:t>
            </a:r>
            <a:r>
              <a:rPr lang="en-US" sz="13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63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graphicFrame>
        <p:nvGraphicFramePr>
          <p:cNvPr id="7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7863840" cy="914400"/>
        </p:xfrm>
        <a:graphic>
          <a:graphicData uri="http://schemas.openxmlformats.org/drawingml/2006/table">
            <a:tbl>
              <a:tblPr/>
              <a:tblGrid>
                <a:gridCol w="1123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1996-11-12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1996-11-12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640080" y="42519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sailor/reservation pair where the sailor's sid is smaller than the reservation's sid. Both sid columns are kept.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Equijoin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whose condition contains only equalities, R.name1 = S.name2. Both columns would hold the same value, so one copy (S.name2) is dropped.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(Sailors)</a:t>
            </a:r>
            <a:endParaRPr lang="en-US" sz="11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329184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20624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(Reserves)</a:t>
            </a:r>
            <a:endParaRPr lang="en-US" sz="115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920240"/>
          <a:ext cx="274320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1996-10-10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1996-11-12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132320" y="1920240"/>
            <a:ext cx="1371600" cy="768096"/>
          </a:xfrm>
          <a:prstGeom prst="roundRect">
            <a:avLst>
              <a:gd name="adj" fmla="val 9524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 ⋈</a:t>
            </a:r>
            <a:r>
              <a:rPr lang="en-US" sz="18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S.sid = R.sid</a:t>
            </a:r>
            <a:r>
              <a:rPr lang="en-US" sz="13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017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graphicFrame>
        <p:nvGraphicFramePr>
          <p:cNvPr id="8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7863840" cy="91440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1996-10-10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1996-11-12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40080" y="4206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sailors 22 and 58 have reservations. Lubber (31) has none, so he disappears. One sid column remains.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Natural Join (⋈)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484632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097280"/>
            <a:ext cx="4480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equijoin on ALL columns with the same name.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 is written: R ⋈ 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common column appears only once in the result.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 and S share NO column names, R ⋈ S = R × 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equijoin on Sailors/Reserves (common column: sid) was in fact a natural join.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143F4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943600" y="1097280"/>
            <a:ext cx="2423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kern="0" spc="100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 IT BY HAND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common column names.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rows whose common values are equal.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common column once, then the remaining columns.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Natural Join — Example 1: Student ⋈ Enrolls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3108960" cy="9144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97764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115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280160"/>
          <a:ext cx="164592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897880" y="1280160"/>
            <a:ext cx="2606040" cy="10058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column: SID. Lisa (857) and Ralph (456) have no enrollment → they drop out.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51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⋈ Enrolls</a:t>
            </a:r>
            <a:endParaRPr lang="en-US" sz="1150" dirty="0"/>
          </a:p>
        </p:txBody>
      </p:sp>
      <p:graphicFrame>
        <p:nvGraphicFramePr>
          <p:cNvPr id="8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CPS116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40080" y="4160520"/>
            <a:ext cx="7863840" cy="411480"/>
          </a:xfrm>
          <a:prstGeom prst="roundRect">
            <a:avLst>
              <a:gd name="adj" fmla="val 17778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77724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BF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 </a:t>
            </a:r>
            <a:r>
              <a:rPr lang="en-US" sz="1200" dirty="0">
                <a:solidFill>
                  <a:srgbClr val="E6F4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 NATURAL JOIN Enrolls;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Natural Join — Example 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999999999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777777777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74904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115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37160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999999999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777777777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0080" y="27889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⋈ Dependents</a:t>
            </a:r>
            <a:endParaRPr lang="en-US" sz="1150" dirty="0"/>
          </a:p>
        </p:txBody>
      </p:sp>
      <p:graphicFrame>
        <p:nvGraphicFramePr>
          <p:cNvPr id="9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4206240" cy="91440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7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999999999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777777777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5120640" y="3063240"/>
            <a:ext cx="3383280" cy="100584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on SSN. Read the result as: John's dependent is Emily; Tony's dependent is Joe.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Natural Join — Quick Check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7863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475488" cy="475488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12471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R(A, B, C, D)  and  S(A, C, E)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Common: A, C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⋈ S has schema (A, B, C, D, 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7863840" cy="1024128"/>
          </a:xfrm>
          <a:prstGeom prst="roundRect">
            <a:avLst>
              <a:gd name="adj" fmla="val 10714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2514600"/>
            <a:ext cx="475488" cy="475488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3134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R(A, B, C)  and  S(D, E)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columns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⋈ S = R × 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78638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3703320"/>
            <a:ext cx="475488" cy="475488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3703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50215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R(A, B)  and  S(A, B)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common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Schema (A, B) — the same as R ∩ 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Natural Join — Formal Definition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 = (A, B, C, D) and S = (E, B, D): common columns are B and 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⋈ S  =  π</a:t>
            </a:r>
            <a:r>
              <a:rPr lang="en-US" sz="26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R.A, R.B, R.C, R.D, S.E</a:t>
            </a:r>
            <a:r>
              <a:rPr lang="en-US" sz="19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 σ</a:t>
            </a:r>
            <a:r>
              <a:rPr lang="en-US" sz="26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R.B = S.B  ∧  R.D = S.D</a:t>
            </a:r>
            <a:r>
              <a:rPr lang="en-US" sz="19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 R × S ) 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606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5BFA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×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row of R with every row of 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25603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337560" y="2606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5BFA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pairs whose common columns are equal.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5603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035040" y="2606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5BFA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each common column once, plus the rest.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60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schema = (A, B, C, D, E)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Division (÷) — Queries with “ALL”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÷ s</a:t>
            </a: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returns the values in r that are paired with EVERY row of 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17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questions containing “all” or “every”: Which students have completed ALL required courses?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Completed</a:t>
            </a:r>
            <a:endParaRPr lang="en-US" sz="11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219456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10896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Required</a:t>
            </a:r>
            <a:endParaRPr lang="en-US" sz="115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2240280"/>
          <a:ext cx="109728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343400" y="2743200"/>
            <a:ext cx="777240" cy="914"/>
          </a:xfrm>
          <a:prstGeom prst="line">
            <a:avLst/>
          </a:prstGeom>
          <a:noFill/>
          <a:ln w="25400">
            <a:solidFill>
              <a:srgbClr val="143F4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503420" y="2286000"/>
            <a:ext cx="457200" cy="384048"/>
          </a:xfrm>
          <a:prstGeom prst="roundRect">
            <a:avLst>
              <a:gd name="adj" fmla="val 45238"/>
            </a:avLst>
          </a:prstGeom>
          <a:solidFill>
            <a:srgbClr val="55BF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÷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257800" y="1965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÷ s</a:t>
            </a:r>
            <a:endParaRPr lang="en-US" sz="1150" dirty="0"/>
          </a:p>
        </p:txBody>
      </p:sp>
      <p:graphicFrame>
        <p:nvGraphicFramePr>
          <p:cNvPr id="10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2240280"/>
          <a:ext cx="11887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6675120" y="2240280"/>
            <a:ext cx="1828800" cy="1737360"/>
          </a:xfrm>
          <a:prstGeom prst="rect">
            <a:avLst/>
          </a:prstGeom>
          <a:solidFill>
            <a:srgbClr val="FFF6C2"/>
          </a:solidFill>
          <a:ln w="9525">
            <a:solidFill>
              <a:srgbClr val="C9A227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Ali: DB ✓ OS ✓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Bilal: DB ✓ OS ✓ (AI extra is fine)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Sara: DB ✓ OS ✗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2062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result's columns = columns of r that are not in s (here: student).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Division — How the Formula Works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FFF6C2"/>
          </a:solidFill>
          <a:ln w="12700">
            <a:solidFill>
              <a:srgbClr val="C9A227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÷ s  =  π</a:t>
            </a:r>
            <a:r>
              <a:rPr lang="en-US" sz="23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R−S</a:t>
            </a:r>
            <a:r>
              <a:rPr lang="en-US" sz="17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(r)  −  π</a:t>
            </a:r>
            <a:r>
              <a:rPr lang="en-US" sz="23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R−S</a:t>
            </a:r>
            <a:r>
              <a:rPr lang="en-US" sz="17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 (π</a:t>
            </a:r>
            <a:r>
              <a:rPr lang="en-US" sz="2300" baseline="-400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R−S</a:t>
            </a:r>
            <a:r>
              <a:rPr lang="en-US" sz="1700" dirty="0">
                <a:solidFill>
                  <a:srgbClr val="1F2D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(r) × s)  −  r 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1655064"/>
            <a:ext cx="384048" cy="384048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8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student</a:t>
            </a: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(r)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student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12080" y="1691640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BFE8DD"/>
          </a:solidFill>
          <a:ln>
            <a:solidFill>
              <a:srgbClr val="B0C4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0" y="1691640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BFE8DD"/>
          </a:solidFill>
          <a:ln>
            <a:solidFill>
              <a:srgbClr val="B0C4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8816" y="1691640"/>
            <a:ext cx="662940" cy="310896"/>
          </a:xfrm>
          <a:prstGeom prst="roundRect">
            <a:avLst>
              <a:gd name="adj" fmla="val 50000"/>
            </a:avLst>
          </a:prstGeom>
          <a:solidFill>
            <a:srgbClr val="BFE8DD"/>
          </a:solidFill>
          <a:ln>
            <a:solidFill>
              <a:srgbClr val="B0C4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384048" cy="384048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2037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8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student</a:t>
            </a: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(r) × 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22037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(student, course) pair they WOULD need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203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Ali-DB,  Ali-OS,  Sara-DB,  Sara-OS,  Bilal-DB,  Bilal-OS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862072"/>
            <a:ext cx="384048" cy="384048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807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(step 2) − 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2807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that are MISSING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12080" y="2898648"/>
            <a:ext cx="818388" cy="310896"/>
          </a:xfrm>
          <a:prstGeom prst="roundRect">
            <a:avLst>
              <a:gd name="adj" fmla="val 50000"/>
            </a:avLst>
          </a:prstGeom>
          <a:solidFill>
            <a:srgbClr val="F9E0DC"/>
          </a:solidFill>
          <a:ln>
            <a:solidFill>
              <a:srgbClr val="B0C4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Sara-OS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410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800" b="1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student</a:t>
            </a: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(step 3)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154680" y="34107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missing something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080" y="3502152"/>
            <a:ext cx="585216" cy="310896"/>
          </a:xfrm>
          <a:prstGeom prst="roundRect">
            <a:avLst>
              <a:gd name="adj" fmla="val 50000"/>
            </a:avLst>
          </a:prstGeom>
          <a:solidFill>
            <a:srgbClr val="F9E0DC"/>
          </a:solidFill>
          <a:ln>
            <a:solidFill>
              <a:srgbClr val="B0C4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4014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step 1 − step 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4014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missing nothing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12080" y="4105656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BFE8DD"/>
          </a:solidFill>
          <a:ln>
            <a:solidFill>
              <a:srgbClr val="B0C4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4105656"/>
            <a:ext cx="662940" cy="310896"/>
          </a:xfrm>
          <a:prstGeom prst="roundRect">
            <a:avLst>
              <a:gd name="adj" fmla="val 50000"/>
            </a:avLst>
          </a:prstGeom>
          <a:solidFill>
            <a:srgbClr val="BFE8DD"/>
          </a:solidFill>
          <a:ln>
            <a:solidFill>
              <a:srgbClr val="B0C4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Assignment (←)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complex query as a short program: a series of assignments to temporary relation variables, followed by a final expression whose value is the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754880" cy="1920240"/>
          </a:xfrm>
          <a:prstGeom prst="roundRect">
            <a:avLst>
              <a:gd name="adj" fmla="val 4762"/>
            </a:avLst>
          </a:prstGeom>
          <a:solidFill>
            <a:srgbClr val="1B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178308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E6F4F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temp1 ← π</a:t>
            </a:r>
            <a:r>
              <a:rPr lang="en-US" sz="1700" baseline="-40000" dirty="0">
                <a:solidFill>
                  <a:srgbClr val="E6F4F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R−S</a:t>
            </a:r>
            <a:r>
              <a:rPr lang="en-US" sz="1700" dirty="0">
                <a:solidFill>
                  <a:srgbClr val="E6F4F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(r)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E6F4F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temp2 ← π</a:t>
            </a:r>
            <a:r>
              <a:rPr lang="en-US" sz="1700" baseline="-40000" dirty="0">
                <a:solidFill>
                  <a:srgbClr val="E6F4F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R−S</a:t>
            </a:r>
            <a:r>
              <a:rPr lang="en-US" sz="1700" dirty="0">
                <a:solidFill>
                  <a:srgbClr val="E6F4F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((temp1 × s) − r)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6F4F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result ← temp1 − temp2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0" y="173736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52160" y="178308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on the right of ← is stored in the variable on the left.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assign to a temporary relation variable.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lines may use earlier variables.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862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division r ÷ s from the previous slide, written in three readable lines.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-274320" y="86868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2880" y="8686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188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Map RA to SQL, then solve five queries on the bank database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Relational Algebra and SQL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algebra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 condition (R)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FROM R WHERE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 A, B (R)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DISTINCT A, B FROM 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∪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UNION 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−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EXCEPT …   (MINUS in Oracle)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∩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INTERSECT 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×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FROM R CROSS JOIN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join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⋈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FROM R NATURAL JOIN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 d (R)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R AS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Questions (Bank Database)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9326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Depositor, Borrower and Account from the sample data. Write the relational algebra expression for each query.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7863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4990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15499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5087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All accounts at the Brighton branch.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212848"/>
            <a:ext cx="7863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225399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22539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21284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Account numbers with a balance above 700.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7863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95808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9580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91693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Customers who have a loan but no account.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621024"/>
            <a:ext cx="7863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662172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36621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62102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Names of customers with an account at Brighton.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325112"/>
            <a:ext cx="78638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4366260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77240" y="43662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3251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The smallest account balance.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— Solutions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78638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1124712"/>
            <a:ext cx="402336" cy="402336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005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branch-name = 'Brighton'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(Account)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A-201 (900), A-217 (750)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1728216"/>
            <a:ext cx="7863840" cy="640080"/>
          </a:xfrm>
          <a:prstGeom prst="roundRect">
            <a:avLst>
              <a:gd name="adj" fmla="val 1714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1847088"/>
            <a:ext cx="402336" cy="402336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172821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account-number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(σ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balance &gt; 700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(Account))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17282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A-201, A-217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2450592"/>
            <a:ext cx="78638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" y="2569464"/>
            <a:ext cx="402336" cy="402336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49808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24505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(Borrower) − π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(Depositor)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505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Adams, Curry, Jackson, Williams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172968"/>
            <a:ext cx="7863840" cy="640080"/>
          </a:xfrm>
          <a:prstGeom prst="roundRect">
            <a:avLst>
              <a:gd name="adj" fmla="val 17143"/>
            </a:avLst>
          </a:prstGeom>
          <a:solidFill>
            <a:srgbClr val="E3F3F0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9808" y="3291840"/>
            <a:ext cx="402336" cy="402336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4980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1729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customer-name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(σ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branch-name = 'Brighton'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(Depositor ⋈ Account))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1729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Jones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895344"/>
            <a:ext cx="78638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49808" y="4014216"/>
            <a:ext cx="402336" cy="402336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49808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38953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balance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(Account) − π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account.balance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σ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account.balance &gt; d.balance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(Account × ρ</a:t>
            </a:r>
            <a:r>
              <a:rPr lang="en-US" sz="1600" baseline="-400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r>
              <a:rPr lang="en-US" sz="1200" dirty="0">
                <a:solidFill>
                  <a:srgbClr val="143F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(Account))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389534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Operator Summary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satisfying the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 or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R, not in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Cartesian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R's + S's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|R| × |S|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join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R's + S's, common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R's minus S's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with ALL of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344168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is procedural: you say how to get the result, step by step.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6300" y="1051560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23460" y="1344168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23460" y="1344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051560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 returns a relation, so operators can be chained (closure).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2551176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filters rows, π filters columns and removes duplicates.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86300" y="2258568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3460" y="2551176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2346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258568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∪, −, ∩ need union-compatible relations.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465576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" y="3758184"/>
            <a:ext cx="420624" cy="420624"/>
          </a:xfrm>
          <a:prstGeom prst="ellipse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465576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= × followed by σ on matching columns; natural join matches all same-named columns.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3465576"/>
            <a:ext cx="38176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23460" y="3758184"/>
            <a:ext cx="420624" cy="420624"/>
          </a:xfrm>
          <a:prstGeom prst="ellipse">
            <a:avLst/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823460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72100" y="3465576"/>
            <a:ext cx="29946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answers “for all” questions; ← breaks long queries into steps.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457200" y="-548640"/>
            <a:ext cx="1005840" cy="1463040"/>
          </a:xfrm>
          <a:prstGeom prst="roundRect">
            <a:avLst>
              <a:gd name="adj" fmla="val 45455"/>
            </a:avLst>
          </a:prstGeom>
          <a:solidFill>
            <a:srgbClr val="55BF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1500000">
            <a:off x="8549640" y="3840480"/>
            <a:ext cx="1005840" cy="2011680"/>
          </a:xfrm>
          <a:prstGeom prst="roundRect">
            <a:avLst>
              <a:gd name="adj" fmla="val 45455"/>
            </a:avLst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502920" cy="548640"/>
          </a:xfrm>
          <a:prstGeom prst="rect">
            <a:avLst/>
          </a:prstGeom>
          <a:solidFill>
            <a:srgbClr val="143F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0" y="91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F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5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1645920" cy="1920240"/>
          </a:xfrm>
          <a:prstGeom prst="can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49040" y="1097280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0" y="1353312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9319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143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 Concepts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Korth, Sudarshan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chapter — source of this week's slides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267712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1920" y="2523744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93192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3134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Database Management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Jeffrey A. Hoffer, V. Ramesh, Heikki Topi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Edition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3438144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E4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31920" y="3694176"/>
            <a:ext cx="502920" cy="50292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93192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48386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Database Management Systems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F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L. Gillenson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Edition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3797</Words>
  <Application>Microsoft Office PowerPoint</Application>
  <PresentationFormat>On-screen Show (16:9)</PresentationFormat>
  <Paragraphs>1153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Cambria Math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- Week 07 (Lectures 10-12)</dc:title>
  <dc:subject>PptxGenJS Presentation</dc:subject>
  <dc:creator>PptxGenJS</dc:creator>
  <cp:lastModifiedBy>FAHEEM SHAUKAT</cp:lastModifiedBy>
  <cp:revision>2</cp:revision>
  <dcterms:created xsi:type="dcterms:W3CDTF">2026-10-19T18:48:35Z</dcterms:created>
  <dcterms:modified xsi:type="dcterms:W3CDTF">2026-10-19T19:08:47Z</dcterms:modified>
</cp:coreProperties>
</file>