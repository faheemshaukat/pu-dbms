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82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73458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5669280" y="-1097280"/>
            <a:ext cx="2926080" cy="7772400"/>
          </a:xfrm>
          <a:prstGeom prst="roundRect">
            <a:avLst>
              <a:gd name="adj" fmla="val 50000"/>
            </a:avLst>
          </a:prstGeom>
          <a:solidFill>
            <a:srgbClr val="9ED8CE"/>
          </a:solidFill>
          <a:ln/>
        </p:spPr>
        <p:txBody>
          <a:bodyPr/>
          <a:lstStyle/>
          <a:p>
            <a:endParaRPr lang="en-US"/>
          </a:p>
        </p:txBody>
      </p:sp>
      <p:sp>
        <p:nvSpPr>
          <p:cNvPr id="3" name="Shape 1"/>
          <p:cNvSpPr/>
          <p:nvPr/>
        </p:nvSpPr>
        <p:spPr>
          <a:xfrm rot="1500000">
            <a:off x="5669280" y="1645920"/>
            <a:ext cx="685800" cy="2011680"/>
          </a:xfrm>
          <a:prstGeom prst="roundRect">
            <a:avLst>
              <a:gd name="adj" fmla="val 49333"/>
            </a:avLst>
          </a:prstGeom>
          <a:solidFill>
            <a:srgbClr val="231F20"/>
          </a:solidFill>
          <a:ln/>
        </p:spPr>
        <p:txBody>
          <a:bodyPr/>
          <a:lstStyle/>
          <a:p>
            <a:endParaRPr lang="en-US"/>
          </a:p>
        </p:txBody>
      </p:sp>
      <p:sp>
        <p:nvSpPr>
          <p:cNvPr id="4" name="Shape 2"/>
          <p:cNvSpPr/>
          <p:nvPr/>
        </p:nvSpPr>
        <p:spPr>
          <a:xfrm rot="1500000">
            <a:off x="6400800" y="1645920"/>
            <a:ext cx="685800" cy="2011680"/>
          </a:xfrm>
          <a:prstGeom prst="roundRect">
            <a:avLst>
              <a:gd name="adj" fmla="val 49333"/>
            </a:avLst>
          </a:prstGeom>
          <a:solidFill>
            <a:srgbClr val="55BFAE"/>
          </a:solidFill>
          <a:ln/>
        </p:spPr>
        <p:txBody>
          <a:bodyPr/>
          <a:lstStyle/>
          <a:p>
            <a:endParaRPr lang="en-US"/>
          </a:p>
        </p:txBody>
      </p:sp>
      <p:sp>
        <p:nvSpPr>
          <p:cNvPr id="5" name="Shape 3"/>
          <p:cNvSpPr/>
          <p:nvPr/>
        </p:nvSpPr>
        <p:spPr>
          <a:xfrm>
            <a:off x="6995160" y="2468880"/>
            <a:ext cx="685800" cy="685800"/>
          </a:xfrm>
          <a:prstGeom prst="ellipse">
            <a:avLst/>
          </a:prstGeom>
          <a:solidFill>
            <a:srgbClr val="143F4F"/>
          </a:solidFill>
          <a:ln/>
        </p:spPr>
        <p:txBody>
          <a:bodyPr/>
          <a:lstStyle/>
          <a:p>
            <a:endParaRPr lang="en-US"/>
          </a:p>
        </p:txBody>
      </p:sp>
      <p:pic>
        <p:nvPicPr>
          <p:cNvPr id="6" name="Image 0" descr="logo.png"/>
          <p:cNvPicPr>
            <a:picLocks noChangeAspect="1"/>
          </p:cNvPicPr>
          <p:nvPr/>
        </p:nvPicPr>
        <p:blipFill>
          <a:blip r:embed="rId3"/>
          <a:stretch>
            <a:fillRect/>
          </a:stretch>
        </p:blipFill>
        <p:spPr>
          <a:xfrm>
            <a:off x="6995160" y="109728"/>
            <a:ext cx="2011680" cy="576072"/>
          </a:xfrm>
          <a:prstGeom prst="rect">
            <a:avLst/>
          </a:prstGeom>
        </p:spPr>
      </p:pic>
      <p:sp>
        <p:nvSpPr>
          <p:cNvPr id="7" name="Text 4"/>
          <p:cNvSpPr txBox="1"/>
          <p:nvPr/>
        </p:nvSpPr>
        <p:spPr>
          <a:xfrm>
            <a:off x="411480" y="1005840"/>
            <a:ext cx="2743200" cy="320040"/>
          </a:xfrm>
          <a:prstGeom prst="rect">
            <a:avLst/>
          </a:prstGeom>
          <a:noFill/>
          <a:ln/>
        </p:spPr>
        <p:txBody>
          <a:bodyPr wrap="square" lIns="0" tIns="0" rIns="0" bIns="0" rtlCol="0" anchor="ctr"/>
          <a:lstStyle/>
          <a:p>
            <a:pPr marL="0" indent="0">
              <a:buNone/>
            </a:pPr>
            <a:r>
              <a:rPr lang="en-US" sz="1600" b="1" i="1" dirty="0">
                <a:solidFill>
                  <a:srgbClr val="143F4F"/>
                </a:solidFill>
                <a:latin typeface="Calibri" pitchFamily="34" charset="0"/>
                <a:ea typeface="Calibri" pitchFamily="34" charset="-122"/>
                <a:cs typeface="Calibri" pitchFamily="34" charset="-120"/>
              </a:rPr>
              <a:t>Fall-2026</a:t>
            </a:r>
            <a:endParaRPr lang="en-US" sz="1600" dirty="0"/>
          </a:p>
        </p:txBody>
      </p:sp>
      <p:sp>
        <p:nvSpPr>
          <p:cNvPr id="8" name="Text 5"/>
          <p:cNvSpPr txBox="1"/>
          <p:nvPr/>
        </p:nvSpPr>
        <p:spPr>
          <a:xfrm>
            <a:off x="411480" y="1325880"/>
            <a:ext cx="4572000" cy="1783080"/>
          </a:xfrm>
          <a:prstGeom prst="rect">
            <a:avLst/>
          </a:prstGeom>
          <a:noFill/>
          <a:ln/>
        </p:spPr>
        <p:txBody>
          <a:bodyPr wrap="square" lIns="0" tIns="0" rIns="0" bIns="0" rtlCol="0" anchor="t"/>
          <a:lstStyle/>
          <a:p>
            <a:pPr marL="0" indent="0">
              <a:lnSpc>
                <a:spcPct val="95000"/>
              </a:lnSpc>
              <a:buNone/>
            </a:pPr>
            <a:r>
              <a:rPr lang="en-US" sz="4000" b="1" dirty="0">
                <a:solidFill>
                  <a:srgbClr val="143F4F"/>
                </a:solidFill>
                <a:latin typeface="Calibri" pitchFamily="34" charset="0"/>
                <a:ea typeface="Calibri" pitchFamily="34" charset="-122"/>
                <a:cs typeface="Calibri" pitchFamily="34" charset="-120"/>
              </a:rPr>
              <a:t>Database</a:t>
            </a:r>
            <a:endParaRPr lang="en-US" sz="4000" dirty="0"/>
          </a:p>
          <a:p>
            <a:pPr marL="0" indent="0">
              <a:lnSpc>
                <a:spcPct val="95000"/>
              </a:lnSpc>
              <a:buNone/>
            </a:pPr>
            <a:r>
              <a:rPr lang="en-US" sz="4000" b="1" dirty="0">
                <a:solidFill>
                  <a:srgbClr val="143F4F"/>
                </a:solidFill>
                <a:latin typeface="Calibri" pitchFamily="34" charset="0"/>
                <a:ea typeface="Calibri" pitchFamily="34" charset="-122"/>
                <a:cs typeface="Calibri" pitchFamily="34" charset="-120"/>
              </a:rPr>
              <a:t>Management</a:t>
            </a:r>
            <a:endParaRPr lang="en-US" sz="4000" dirty="0"/>
          </a:p>
          <a:p>
            <a:pPr marL="0" indent="0">
              <a:lnSpc>
                <a:spcPct val="95000"/>
              </a:lnSpc>
              <a:buNone/>
            </a:pPr>
            <a:r>
              <a:rPr lang="en-US" sz="4000" b="1" dirty="0">
                <a:solidFill>
                  <a:srgbClr val="143F4F"/>
                </a:solidFill>
                <a:latin typeface="Calibri" pitchFamily="34" charset="0"/>
                <a:ea typeface="Calibri" pitchFamily="34" charset="-122"/>
                <a:cs typeface="Calibri" pitchFamily="34" charset="-120"/>
              </a:rPr>
              <a:t>Systems</a:t>
            </a:r>
            <a:endParaRPr lang="en-US" sz="4000" dirty="0"/>
          </a:p>
        </p:txBody>
      </p:sp>
      <p:sp>
        <p:nvSpPr>
          <p:cNvPr id="9" name="Text 6"/>
          <p:cNvSpPr txBox="1"/>
          <p:nvPr/>
        </p:nvSpPr>
        <p:spPr>
          <a:xfrm>
            <a:off x="411480" y="3127248"/>
            <a:ext cx="4754880" cy="320040"/>
          </a:xfrm>
          <a:prstGeom prst="rect">
            <a:avLst/>
          </a:prstGeom>
          <a:noFill/>
          <a:ln/>
        </p:spPr>
        <p:txBody>
          <a:bodyPr wrap="square" lIns="0" tIns="0" rIns="0" bIns="0" rtlCol="0" anchor="ctr"/>
          <a:lstStyle/>
          <a:p>
            <a:pPr marL="0" indent="0">
              <a:buNone/>
            </a:pPr>
            <a:r>
              <a:rPr lang="en-US" sz="1400" b="1" i="1" dirty="0">
                <a:solidFill>
                  <a:srgbClr val="55BFAE"/>
                </a:solidFill>
                <a:latin typeface="Calibri" pitchFamily="34" charset="0"/>
                <a:ea typeface="Calibri" pitchFamily="34" charset="-122"/>
                <a:cs typeface="Calibri" pitchFamily="34" charset="-120"/>
              </a:rPr>
              <a:t>Turning Raw Data into Meaningful Information</a:t>
            </a:r>
            <a:endParaRPr lang="en-US" sz="1400" dirty="0"/>
          </a:p>
        </p:txBody>
      </p:sp>
      <p:sp>
        <p:nvSpPr>
          <p:cNvPr id="11" name="Text 8"/>
          <p:cNvSpPr txBox="1"/>
          <p:nvPr/>
        </p:nvSpPr>
        <p:spPr>
          <a:xfrm>
            <a:off x="6126480" y="3657600"/>
            <a:ext cx="2377440" cy="822960"/>
          </a:xfrm>
          <a:prstGeom prst="rect">
            <a:avLst/>
          </a:prstGeom>
          <a:noFill/>
          <a:ln/>
        </p:spPr>
        <p:txBody>
          <a:bodyPr wrap="square" lIns="0" tIns="0" rIns="0" bIns="0" rtlCol="0" anchor="ctr"/>
          <a:lstStyle/>
          <a:p>
            <a:pPr marL="0" indent="0" algn="ctr">
              <a:buNone/>
            </a:pPr>
            <a:r>
              <a:rPr lang="en-US" sz="1900" b="1" dirty="0">
                <a:solidFill>
                  <a:srgbClr val="143F4F"/>
                </a:solidFill>
                <a:latin typeface="Calibri" pitchFamily="34" charset="0"/>
                <a:ea typeface="Calibri" pitchFamily="34" charset="-122"/>
                <a:cs typeface="Calibri" pitchFamily="34" charset="-120"/>
              </a:rPr>
              <a:t>Week 05</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a:t>
            </a:r>
            <a:endParaRPr lang="en-US" sz="1400" dirty="0"/>
          </a:p>
        </p:txBody>
      </p:sp>
      <p:sp>
        <p:nvSpPr>
          <p:cNvPr id="6" name="Shape 4"/>
          <p:cNvSpPr/>
          <p:nvPr/>
        </p:nvSpPr>
        <p:spPr>
          <a:xfrm>
            <a:off x="-274320" y="1234440"/>
            <a:ext cx="3566160" cy="2560320"/>
          </a:xfrm>
          <a:prstGeom prst="roundRect">
            <a:avLst>
              <a:gd name="adj" fmla="val 10714"/>
            </a:avLst>
          </a:prstGeom>
          <a:solidFill>
            <a:srgbClr val="143F4F"/>
          </a:solidFill>
          <a:ln/>
        </p:spPr>
        <p:txBody>
          <a:bodyPr/>
          <a:lstStyle/>
          <a:p>
            <a:endParaRPr lang="en-US"/>
          </a:p>
        </p:txBody>
      </p:sp>
      <p:sp>
        <p:nvSpPr>
          <p:cNvPr id="7" name="Text 5"/>
          <p:cNvSpPr txBox="1"/>
          <p:nvPr/>
        </p:nvSpPr>
        <p:spPr>
          <a:xfrm>
            <a:off x="182880" y="1234440"/>
            <a:ext cx="2926080" cy="2560320"/>
          </a:xfrm>
          <a:prstGeom prst="rect">
            <a:avLst/>
          </a:prstGeom>
          <a:noFill/>
          <a:ln/>
        </p:spPr>
        <p:txBody>
          <a:bodyPr wrap="square" lIns="0" tIns="0" rIns="0" bIns="0" rtlCol="0" anchor="ctr"/>
          <a:lstStyle/>
          <a:p>
            <a:pPr marL="0" indent="0" algn="r">
              <a:buNone/>
            </a:pPr>
            <a:r>
              <a:rPr lang="en-US" sz="3400" b="1" dirty="0">
                <a:solidFill>
                  <a:srgbClr val="FFFFFF"/>
                </a:solidFill>
                <a:latin typeface="Century Schoolbook" pitchFamily="34" charset="0"/>
                <a:ea typeface="Century Schoolbook" pitchFamily="34" charset="-122"/>
                <a:cs typeface="Century Schoolbook" pitchFamily="34" charset="-120"/>
              </a:rPr>
              <a:t>Reference</a:t>
            </a:r>
            <a:endParaRPr lang="en-US" sz="3400" dirty="0"/>
          </a:p>
          <a:p>
            <a:pPr marL="0" indent="0" algn="r">
              <a:buNone/>
            </a:pPr>
            <a:r>
              <a:rPr lang="en-US" sz="3400" b="1" dirty="0">
                <a:solidFill>
                  <a:srgbClr val="FFFFFF"/>
                </a:solidFill>
                <a:latin typeface="Century Schoolbook" pitchFamily="34" charset="0"/>
                <a:ea typeface="Century Schoolbook" pitchFamily="34" charset="-122"/>
                <a:cs typeface="Century Schoolbook" pitchFamily="34" charset="-120"/>
              </a:rPr>
              <a:t>Books</a:t>
            </a:r>
            <a:endParaRPr lang="en-US" sz="3400" dirty="0"/>
          </a:p>
        </p:txBody>
      </p:sp>
      <p:sp>
        <p:nvSpPr>
          <p:cNvPr id="8" name="Shape 6"/>
          <p:cNvSpPr/>
          <p:nvPr/>
        </p:nvSpPr>
        <p:spPr>
          <a:xfrm>
            <a:off x="3749040" y="1188720"/>
            <a:ext cx="4754880" cy="1143000"/>
          </a:xfrm>
          <a:prstGeom prst="roundRect">
            <a:avLst>
              <a:gd name="adj" fmla="val 96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3931920" y="1508760"/>
            <a:ext cx="502920" cy="502920"/>
          </a:xfrm>
          <a:prstGeom prst="ellipse">
            <a:avLst/>
          </a:prstGeom>
          <a:solidFill>
            <a:srgbClr val="F28C28"/>
          </a:solidFill>
          <a:ln/>
        </p:spPr>
        <p:txBody>
          <a:bodyPr/>
          <a:lstStyle/>
          <a:p>
            <a:endParaRPr lang="en-US"/>
          </a:p>
        </p:txBody>
      </p:sp>
      <p:sp>
        <p:nvSpPr>
          <p:cNvPr id="10" name="Text 8"/>
          <p:cNvSpPr txBox="1"/>
          <p:nvPr/>
        </p:nvSpPr>
        <p:spPr>
          <a:xfrm>
            <a:off x="3931920" y="1508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4617720" y="1280160"/>
            <a:ext cx="3749040" cy="960120"/>
          </a:xfrm>
          <a:prstGeom prst="rect">
            <a:avLst/>
          </a:prstGeom>
          <a:noFill/>
          <a:ln/>
        </p:spPr>
        <p:txBody>
          <a:bodyPr wrap="square" lIns="0" tIns="0" rIns="0" bIns="0" rtlCol="0" anchor="ctr"/>
          <a:lstStyle/>
          <a:p>
            <a:pPr marL="0" indent="0">
              <a:buNone/>
            </a:pPr>
            <a:r>
              <a:rPr lang="en-US" sz="1700" b="1" dirty="0">
                <a:solidFill>
                  <a:srgbClr val="143F4F"/>
                </a:solidFill>
                <a:latin typeface="Calibri" pitchFamily="34" charset="0"/>
                <a:ea typeface="Calibri" pitchFamily="34" charset="-122"/>
                <a:cs typeface="Calibri" pitchFamily="34" charset="-120"/>
              </a:rPr>
              <a:t>Modern Database Management</a:t>
            </a:r>
            <a:endParaRPr lang="en-US" sz="1700" dirty="0"/>
          </a:p>
          <a:p>
            <a:pPr marL="0" indent="0">
              <a:buNone/>
            </a:pPr>
            <a:r>
              <a:rPr lang="en-US" sz="1300" dirty="0">
                <a:solidFill>
                  <a:srgbClr val="1F3B47"/>
                </a:solidFill>
                <a:latin typeface="Calibri" pitchFamily="34" charset="0"/>
                <a:ea typeface="Calibri" pitchFamily="34" charset="-122"/>
                <a:cs typeface="Calibri" pitchFamily="34" charset="-120"/>
              </a:rPr>
              <a:t>By Jeffrey A. Hoffer, V. Ramesh, Heikki Topi</a:t>
            </a:r>
            <a:endParaRPr lang="en-US" sz="1700" dirty="0"/>
          </a:p>
          <a:p>
            <a:pPr marL="0" indent="0">
              <a:buNone/>
            </a:pPr>
            <a:r>
              <a:rPr lang="en-US" sz="1300" i="1" dirty="0">
                <a:solidFill>
                  <a:srgbClr val="5A7079"/>
                </a:solidFill>
                <a:latin typeface="Calibri" pitchFamily="34" charset="0"/>
                <a:ea typeface="Calibri" pitchFamily="34" charset="-122"/>
                <a:cs typeface="Calibri" pitchFamily="34" charset="-120"/>
              </a:rPr>
              <a:t>13th Edition</a:t>
            </a:r>
            <a:endParaRPr lang="en-US" sz="1700" dirty="0"/>
          </a:p>
        </p:txBody>
      </p:sp>
      <p:sp>
        <p:nvSpPr>
          <p:cNvPr id="12" name="Shape 10"/>
          <p:cNvSpPr/>
          <p:nvPr/>
        </p:nvSpPr>
        <p:spPr>
          <a:xfrm>
            <a:off x="3749040" y="2560320"/>
            <a:ext cx="4754880" cy="1143000"/>
          </a:xfrm>
          <a:prstGeom prst="roundRect">
            <a:avLst>
              <a:gd name="adj" fmla="val 96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3931920" y="2880360"/>
            <a:ext cx="502920" cy="502920"/>
          </a:xfrm>
          <a:prstGeom prst="ellipse">
            <a:avLst/>
          </a:prstGeom>
          <a:solidFill>
            <a:srgbClr val="F28C28"/>
          </a:solidFill>
          <a:ln/>
        </p:spPr>
        <p:txBody>
          <a:bodyPr/>
          <a:lstStyle/>
          <a:p>
            <a:endParaRPr lang="en-US"/>
          </a:p>
        </p:txBody>
      </p:sp>
      <p:sp>
        <p:nvSpPr>
          <p:cNvPr id="14" name="Text 12"/>
          <p:cNvSpPr txBox="1"/>
          <p:nvPr/>
        </p:nvSpPr>
        <p:spPr>
          <a:xfrm>
            <a:off x="3931920" y="28803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4617720" y="2651760"/>
            <a:ext cx="3749040" cy="960120"/>
          </a:xfrm>
          <a:prstGeom prst="rect">
            <a:avLst/>
          </a:prstGeom>
          <a:noFill/>
          <a:ln/>
        </p:spPr>
        <p:txBody>
          <a:bodyPr wrap="square" lIns="0" tIns="0" rIns="0" bIns="0" rtlCol="0" anchor="ctr"/>
          <a:lstStyle/>
          <a:p>
            <a:pPr marL="0" indent="0">
              <a:buNone/>
            </a:pPr>
            <a:r>
              <a:rPr lang="en-US" sz="1700" b="1" dirty="0">
                <a:solidFill>
                  <a:srgbClr val="143F4F"/>
                </a:solidFill>
                <a:latin typeface="Calibri" pitchFamily="34" charset="0"/>
                <a:ea typeface="Calibri" pitchFamily="34" charset="-122"/>
                <a:cs typeface="Calibri" pitchFamily="34" charset="-120"/>
              </a:rPr>
              <a:t>Fundamentals of Database Management Systems</a:t>
            </a:r>
            <a:endParaRPr lang="en-US" sz="1700" dirty="0"/>
          </a:p>
          <a:p>
            <a:pPr marL="0" indent="0">
              <a:buNone/>
            </a:pPr>
            <a:r>
              <a:rPr lang="en-US" sz="1300" dirty="0">
                <a:solidFill>
                  <a:srgbClr val="1F3B47"/>
                </a:solidFill>
                <a:latin typeface="Calibri" pitchFamily="34" charset="0"/>
                <a:ea typeface="Calibri" pitchFamily="34" charset="-122"/>
                <a:cs typeface="Calibri" pitchFamily="34" charset="-120"/>
              </a:rPr>
              <a:t>By Mark L. Gillenson</a:t>
            </a:r>
            <a:endParaRPr lang="en-US" sz="1700" dirty="0"/>
          </a:p>
          <a:p>
            <a:pPr marL="0" indent="0">
              <a:buNone/>
            </a:pPr>
            <a:r>
              <a:rPr lang="en-US" sz="1300" i="1" dirty="0">
                <a:solidFill>
                  <a:srgbClr val="5A7079"/>
                </a:solidFill>
                <a:latin typeface="Calibri" pitchFamily="34" charset="0"/>
                <a:ea typeface="Calibri" pitchFamily="34" charset="-122"/>
                <a:cs typeface="Calibri" pitchFamily="34" charset="-120"/>
              </a:rPr>
              <a:t>2nd Edition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Week 05 Overview</a:t>
            </a:r>
            <a:endParaRPr lang="en-US" sz="3000" dirty="0"/>
          </a:p>
        </p:txBody>
      </p:sp>
      <p:sp>
        <p:nvSpPr>
          <p:cNvPr id="7" name="Shape 5"/>
          <p:cNvSpPr/>
          <p:nvPr/>
        </p:nvSpPr>
        <p:spPr>
          <a:xfrm>
            <a:off x="640080" y="1051560"/>
            <a:ext cx="3794760" cy="3520440"/>
          </a:xfrm>
          <a:prstGeom prst="roundRect">
            <a:avLst>
              <a:gd name="adj" fmla="val 311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68680" y="1188720"/>
            <a:ext cx="3383280" cy="365760"/>
          </a:xfrm>
          <a:prstGeom prst="rect">
            <a:avLst/>
          </a:prstGeom>
          <a:noFill/>
          <a:ln/>
        </p:spPr>
        <p:txBody>
          <a:bodyPr wrap="square" lIns="0" tIns="0" rIns="0" bIns="0" rtlCol="0" anchor="ctr"/>
          <a:lstStyle/>
          <a:p>
            <a:pPr marL="0" indent="0">
              <a:buNone/>
            </a:pPr>
            <a:r>
              <a:rPr lang="en-US" sz="1600" b="1" dirty="0">
                <a:solidFill>
                  <a:srgbClr val="55BFAE"/>
                </a:solidFill>
                <a:latin typeface="Calibri" pitchFamily="34" charset="0"/>
                <a:ea typeface="Calibri" pitchFamily="34" charset="-122"/>
                <a:cs typeface="Calibri" pitchFamily="34" charset="-120"/>
              </a:rPr>
              <a:t> ER Model</a:t>
            </a:r>
            <a:endParaRPr lang="en-US" sz="1600" dirty="0"/>
          </a:p>
        </p:txBody>
      </p:sp>
      <p:sp>
        <p:nvSpPr>
          <p:cNvPr id="9" name="Text 7"/>
          <p:cNvSpPr txBox="1"/>
          <p:nvPr/>
        </p:nvSpPr>
        <p:spPr>
          <a:xfrm>
            <a:off x="868680" y="1645920"/>
            <a:ext cx="33832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3B47"/>
                </a:solidFill>
                <a:latin typeface="Calibri" pitchFamily="34" charset="0"/>
                <a:ea typeface="Calibri" pitchFamily="34" charset="-122"/>
                <a:cs typeface="Calibri" pitchFamily="34" charset="-120"/>
              </a:rPr>
              <a:t>Entities and entity sets</a:t>
            </a:r>
            <a:endParaRPr lang="en-US" sz="1400" dirty="0"/>
          </a:p>
          <a:p>
            <a:pPr marL="342900" indent="-342900">
              <a:spcAft>
                <a:spcPts val="600"/>
              </a:spcAft>
              <a:buSzPct val="100000"/>
              <a:buChar char="•"/>
            </a:pPr>
            <a:r>
              <a:rPr lang="en-US" sz="1400" dirty="0">
                <a:solidFill>
                  <a:srgbClr val="1F3B47"/>
                </a:solidFill>
                <a:latin typeface="Calibri" pitchFamily="34" charset="0"/>
                <a:ea typeface="Calibri" pitchFamily="34" charset="-122"/>
                <a:cs typeface="Calibri" pitchFamily="34" charset="-120"/>
              </a:rPr>
              <a:t>Attributes and their types</a:t>
            </a:r>
            <a:endParaRPr lang="en-US" sz="1400" dirty="0"/>
          </a:p>
          <a:p>
            <a:pPr marL="342900" indent="-342900">
              <a:spcAft>
                <a:spcPts val="600"/>
              </a:spcAft>
              <a:buSzPct val="100000"/>
              <a:buChar char="•"/>
            </a:pPr>
            <a:r>
              <a:rPr lang="en-US" sz="1400" dirty="0">
                <a:solidFill>
                  <a:srgbClr val="1F3B47"/>
                </a:solidFill>
                <a:latin typeface="Calibri" pitchFamily="34" charset="0"/>
                <a:ea typeface="Calibri" pitchFamily="34" charset="-122"/>
                <a:cs typeface="Calibri" pitchFamily="34" charset="-120"/>
              </a:rPr>
              <a:t>Keys: primary, candidate, composite</a:t>
            </a:r>
            <a:endParaRPr lang="en-US" sz="1400" dirty="0"/>
          </a:p>
          <a:p>
            <a:pPr marL="342900" indent="-342900">
              <a:spcAft>
                <a:spcPts val="600"/>
              </a:spcAft>
              <a:buSzPct val="100000"/>
              <a:buChar char="•"/>
            </a:pPr>
            <a:r>
              <a:rPr lang="en-US" sz="1400" dirty="0">
                <a:solidFill>
                  <a:srgbClr val="1F3B47"/>
                </a:solidFill>
                <a:latin typeface="Calibri" pitchFamily="34" charset="0"/>
                <a:ea typeface="Calibri" pitchFamily="34" charset="-122"/>
                <a:cs typeface="Calibri" pitchFamily="34" charset="-120"/>
              </a:rPr>
              <a:t>Relationships and relationship sets</a:t>
            </a:r>
            <a:endParaRPr lang="en-US" sz="1400" dirty="0"/>
          </a:p>
          <a:p>
            <a:pPr marL="342900" indent="-342900">
              <a:spcAft>
                <a:spcPts val="600"/>
              </a:spcAft>
              <a:buSzPct val="100000"/>
              <a:buChar char="•"/>
            </a:pPr>
            <a:r>
              <a:rPr lang="en-US" sz="1400" dirty="0">
                <a:solidFill>
                  <a:srgbClr val="1F3B47"/>
                </a:solidFill>
                <a:latin typeface="Calibri" pitchFamily="34" charset="0"/>
                <a:ea typeface="Calibri" pitchFamily="34" charset="-122"/>
                <a:cs typeface="Calibri" pitchFamily="34" charset="-120"/>
              </a:rPr>
              <a:t>Degree of relationships</a:t>
            </a:r>
            <a:endParaRPr lang="en-US" sz="1400" dirty="0"/>
          </a:p>
          <a:p>
            <a:pPr marL="342900" indent="-342900">
              <a:spcAft>
                <a:spcPts val="600"/>
              </a:spcAft>
              <a:buSzPct val="100000"/>
              <a:buChar char="•"/>
            </a:pPr>
            <a:r>
              <a:rPr lang="en-US" sz="1400" dirty="0">
                <a:solidFill>
                  <a:srgbClr val="1F3B47"/>
                </a:solidFill>
                <a:latin typeface="Calibri" pitchFamily="34" charset="0"/>
                <a:ea typeface="Calibri" pitchFamily="34" charset="-122"/>
                <a:cs typeface="Calibri" pitchFamily="34" charset="-120"/>
              </a:rPr>
              <a:t>Mapping cardinalities</a:t>
            </a:r>
            <a:endParaRPr lang="en-US" sz="1400" dirty="0"/>
          </a:p>
        </p:txBody>
      </p:sp>
      <p:sp>
        <p:nvSpPr>
          <p:cNvPr id="10" name="Shape 8"/>
          <p:cNvSpPr/>
          <p:nvPr/>
        </p:nvSpPr>
        <p:spPr>
          <a:xfrm>
            <a:off x="4709160" y="1051560"/>
            <a:ext cx="3794760" cy="3520440"/>
          </a:xfrm>
          <a:prstGeom prst="roundRect">
            <a:avLst>
              <a:gd name="adj" fmla="val 3117"/>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4937760" y="1188720"/>
            <a:ext cx="3383280" cy="365760"/>
          </a:xfrm>
          <a:prstGeom prst="rect">
            <a:avLst/>
          </a:prstGeom>
          <a:noFill/>
          <a:ln/>
        </p:spPr>
        <p:txBody>
          <a:bodyPr wrap="square" lIns="0" tIns="0" rIns="0" bIns="0" rtlCol="0" anchor="ctr"/>
          <a:lstStyle/>
          <a:p>
            <a:pPr marL="0" indent="0">
              <a:buNone/>
            </a:pPr>
            <a:r>
              <a:rPr lang="en-US" sz="1600" b="1" dirty="0">
                <a:solidFill>
                  <a:srgbClr val="55BFAE"/>
                </a:solidFill>
                <a:latin typeface="Calibri" pitchFamily="34" charset="0"/>
                <a:ea typeface="Calibri" pitchFamily="34" charset="-122"/>
                <a:cs typeface="Calibri" pitchFamily="34" charset="-120"/>
              </a:rPr>
              <a:t>Constraints &amp; Design</a:t>
            </a:r>
            <a:endParaRPr lang="en-US" sz="1600" dirty="0"/>
          </a:p>
        </p:txBody>
      </p:sp>
      <p:sp>
        <p:nvSpPr>
          <p:cNvPr id="12" name="Text 10"/>
          <p:cNvSpPr txBox="1"/>
          <p:nvPr/>
        </p:nvSpPr>
        <p:spPr>
          <a:xfrm>
            <a:off x="4937760" y="1645920"/>
            <a:ext cx="3383280" cy="2743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Participation constraints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Weak entities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ISA hierarchies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Aggregation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Conceptual design choices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ER diagram practice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a:t>
            </a:r>
            <a:endParaRPr lang="en-US" sz="1400" dirty="0"/>
          </a:p>
        </p:txBody>
      </p:sp>
      <p:sp>
        <p:nvSpPr>
          <p:cNvPr id="6" name="Shape 4"/>
          <p:cNvSpPr/>
          <p:nvPr/>
        </p:nvSpPr>
        <p:spPr>
          <a:xfrm>
            <a:off x="-274320" y="868680"/>
            <a:ext cx="3566160" cy="2560320"/>
          </a:xfrm>
          <a:prstGeom prst="roundRect">
            <a:avLst>
              <a:gd name="adj" fmla="val 10714"/>
            </a:avLst>
          </a:prstGeom>
          <a:solidFill>
            <a:srgbClr val="143F4F"/>
          </a:solidFill>
          <a:ln/>
        </p:spPr>
        <p:txBody>
          <a:bodyPr/>
          <a:lstStyle/>
          <a:p>
            <a:endParaRPr lang="en-US"/>
          </a:p>
        </p:txBody>
      </p:sp>
      <p:sp>
        <p:nvSpPr>
          <p:cNvPr id="7" name="Text 5"/>
          <p:cNvSpPr txBox="1"/>
          <p:nvPr/>
        </p:nvSpPr>
        <p:spPr>
          <a:xfrm>
            <a:off x="182880" y="868680"/>
            <a:ext cx="2926080" cy="2560320"/>
          </a:xfrm>
          <a:prstGeom prst="rect">
            <a:avLst/>
          </a:prstGeom>
          <a:noFill/>
          <a:ln/>
        </p:spPr>
        <p:txBody>
          <a:bodyPr wrap="square" lIns="0" tIns="0" rIns="0" bIns="0" rtlCol="0" anchor="ctr"/>
          <a:lstStyle/>
          <a:p>
            <a:pPr marL="0" indent="0" algn="r">
              <a:buNone/>
            </a:pPr>
            <a:r>
              <a:rPr lang="en-US" sz="2800" b="1">
                <a:solidFill>
                  <a:srgbClr val="FFFFFF"/>
                </a:solidFill>
                <a:latin typeface="Century Schoolbook" pitchFamily="34" charset="0"/>
                <a:ea typeface="Century Schoolbook" pitchFamily="34" charset="-122"/>
                <a:cs typeface="Century Schoolbook" pitchFamily="34" charset="-120"/>
              </a:rPr>
              <a:t>Lectures</a:t>
            </a:r>
            <a:endParaRPr lang="en-US" sz="2800" dirty="0"/>
          </a:p>
        </p:txBody>
      </p:sp>
      <p:sp>
        <p:nvSpPr>
          <p:cNvPr id="8" name="Text 6"/>
          <p:cNvSpPr txBox="1"/>
          <p:nvPr/>
        </p:nvSpPr>
        <p:spPr>
          <a:xfrm>
            <a:off x="3657600" y="1188720"/>
            <a:ext cx="4846320" cy="731520"/>
          </a:xfrm>
          <a:prstGeom prst="rect">
            <a:avLst/>
          </a:prstGeom>
          <a:noFill/>
          <a:ln/>
        </p:spPr>
        <p:txBody>
          <a:bodyPr wrap="square" lIns="0" tIns="0" rIns="0" bIns="0" rtlCol="0" anchor="ctr"/>
          <a:lstStyle/>
          <a:p>
            <a:pPr marL="0" indent="0">
              <a:buNone/>
            </a:pPr>
            <a:r>
              <a:rPr lang="en-US" sz="2800" b="1" dirty="0">
                <a:solidFill>
                  <a:srgbClr val="143F4F"/>
                </a:solidFill>
                <a:latin typeface="Century Schoolbook" pitchFamily="34" charset="0"/>
                <a:ea typeface="Century Schoolbook" pitchFamily="34" charset="-122"/>
                <a:cs typeface="Century Schoolbook" pitchFamily="34" charset="-120"/>
              </a:rPr>
              <a:t>Entity Relationship Model</a:t>
            </a:r>
            <a:endParaRPr lang="en-US" sz="2800" dirty="0"/>
          </a:p>
        </p:txBody>
      </p:sp>
      <p:sp>
        <p:nvSpPr>
          <p:cNvPr id="9" name="Text 7"/>
          <p:cNvSpPr txBox="1"/>
          <p:nvPr/>
        </p:nvSpPr>
        <p:spPr>
          <a:xfrm>
            <a:off x="3657600" y="2103120"/>
            <a:ext cx="4572000" cy="914400"/>
          </a:xfrm>
          <a:prstGeom prst="rect">
            <a:avLst/>
          </a:prstGeom>
          <a:noFill/>
          <a:ln/>
        </p:spPr>
        <p:txBody>
          <a:bodyPr wrap="square" lIns="0" tIns="0" rIns="0" bIns="0" rtlCol="0" anchor="ctr"/>
          <a:lstStyle/>
          <a:p>
            <a:pPr marL="0" indent="0">
              <a:spcAft>
                <a:spcPts val="600"/>
              </a:spcAft>
              <a:buNone/>
            </a:pPr>
            <a:r>
              <a:rPr lang="en-US" sz="1250" b="1" dirty="0">
                <a:solidFill>
                  <a:srgbClr val="5A7079"/>
                </a:solidFill>
                <a:latin typeface="Calibri" pitchFamily="34" charset="0"/>
                <a:ea typeface="Calibri" pitchFamily="34" charset="-122"/>
                <a:cs typeface="Calibri" pitchFamily="34" charset="-120"/>
              </a:rPr>
              <a:t>Source: </a:t>
            </a:r>
            <a:r>
              <a:rPr lang="en-US" sz="1250" dirty="0">
                <a:solidFill>
                  <a:srgbClr val="5A7079"/>
                </a:solidFill>
                <a:latin typeface="Calibri" pitchFamily="34" charset="0"/>
                <a:ea typeface="Calibri" pitchFamily="34" charset="-122"/>
                <a:cs typeface="Calibri" pitchFamily="34" charset="-120"/>
              </a:rPr>
              <a:t>Chapter 2, Database System Concepts — Silberschatz, Korth, Sudarshan</a:t>
            </a:r>
            <a:endParaRPr lang="en-US" sz="1250" dirty="0"/>
          </a:p>
          <a:p>
            <a:pPr marL="0" indent="0">
              <a:spcAft>
                <a:spcPts val="600"/>
              </a:spcAft>
              <a:buNone/>
            </a:pPr>
            <a:r>
              <a:rPr lang="en-US" sz="1250" b="1" dirty="0">
                <a:solidFill>
                  <a:srgbClr val="5A7079"/>
                </a:solidFill>
                <a:latin typeface="Calibri" pitchFamily="34" charset="0"/>
                <a:ea typeface="Calibri" pitchFamily="34" charset="-122"/>
                <a:cs typeface="Calibri" pitchFamily="34" charset="-120"/>
              </a:rPr>
              <a:t>Courtesy: </a:t>
            </a:r>
            <a:r>
              <a:rPr lang="en-US" sz="1250" dirty="0">
                <a:solidFill>
                  <a:srgbClr val="5A7079"/>
                </a:solidFill>
                <a:latin typeface="Calibri" pitchFamily="34" charset="0"/>
                <a:ea typeface="Calibri" pitchFamily="34" charset="-122"/>
                <a:cs typeface="Calibri" pitchFamily="34" charset="-120"/>
              </a:rPr>
              <a:t>Aasma Zahid, Asst. Prof., Dept. of SE, FJWU</a:t>
            </a:r>
            <a:endParaRPr lang="en-US" sz="1250" dirty="0"/>
          </a:p>
        </p:txBody>
      </p:sp>
      <p:sp>
        <p:nvSpPr>
          <p:cNvPr id="10" name="Text 8"/>
          <p:cNvSpPr/>
          <p:nvPr/>
        </p:nvSpPr>
        <p:spPr>
          <a:xfrm>
            <a:off x="3977640" y="3419856"/>
            <a:ext cx="100584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Student</a:t>
            </a:r>
            <a:endParaRPr lang="en-US" sz="1100" dirty="0"/>
          </a:p>
        </p:txBody>
      </p:sp>
      <p:sp>
        <p:nvSpPr>
          <p:cNvPr id="11" name="Text 9"/>
          <p:cNvSpPr/>
          <p:nvPr/>
        </p:nvSpPr>
        <p:spPr>
          <a:xfrm>
            <a:off x="5557266" y="3374136"/>
            <a:ext cx="1046988"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Enrolls</a:t>
            </a:r>
            <a:endParaRPr lang="en-US" sz="1050" dirty="0"/>
          </a:p>
        </p:txBody>
      </p:sp>
      <p:sp>
        <p:nvSpPr>
          <p:cNvPr id="12" name="Text 10"/>
          <p:cNvSpPr/>
          <p:nvPr/>
        </p:nvSpPr>
        <p:spPr>
          <a:xfrm>
            <a:off x="7178040" y="3419856"/>
            <a:ext cx="100584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Course</a:t>
            </a:r>
            <a:endParaRPr lang="en-US" sz="1100" dirty="0"/>
          </a:p>
        </p:txBody>
      </p:sp>
      <p:sp>
        <p:nvSpPr>
          <p:cNvPr id="13" name="Shape 11"/>
          <p:cNvSpPr/>
          <p:nvPr/>
        </p:nvSpPr>
        <p:spPr>
          <a:xfrm>
            <a:off x="4983480" y="3611880"/>
            <a:ext cx="573786" cy="914"/>
          </a:xfrm>
          <a:prstGeom prst="line">
            <a:avLst/>
          </a:prstGeom>
          <a:noFill/>
          <a:ln w="15875">
            <a:solidFill>
              <a:srgbClr val="3D5A73"/>
            </a:solidFill>
            <a:prstDash val="solid"/>
          </a:ln>
        </p:spPr>
        <p:txBody>
          <a:bodyPr/>
          <a:lstStyle/>
          <a:p>
            <a:endParaRPr lang="en-US"/>
          </a:p>
        </p:txBody>
      </p:sp>
      <p:sp>
        <p:nvSpPr>
          <p:cNvPr id="14" name="Shape 12"/>
          <p:cNvSpPr/>
          <p:nvPr/>
        </p:nvSpPr>
        <p:spPr>
          <a:xfrm>
            <a:off x="6604254" y="3611880"/>
            <a:ext cx="573786" cy="914"/>
          </a:xfrm>
          <a:prstGeom prst="line">
            <a:avLst/>
          </a:prstGeom>
          <a:noFill/>
          <a:ln w="15875">
            <a:solidFill>
              <a:srgbClr val="3D5A73"/>
            </a:solidFill>
            <a:prstDash val="soli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Data Models</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Recap</a:t>
            </a:r>
            <a:endParaRPr lang="en-US" sz="1100" dirty="0"/>
          </a:p>
        </p:txBody>
      </p:sp>
      <p:sp>
        <p:nvSpPr>
          <p:cNvPr id="9" name="Text 7"/>
          <p:cNvSpPr txBox="1"/>
          <p:nvPr/>
        </p:nvSpPr>
        <p:spPr>
          <a:xfrm>
            <a:off x="640080" y="1463040"/>
            <a:ext cx="7315200" cy="365760"/>
          </a:xfrm>
          <a:prstGeom prst="rect">
            <a:avLst/>
          </a:prstGeom>
          <a:noFill/>
          <a:ln/>
        </p:spPr>
        <p:txBody>
          <a:bodyPr wrap="square" lIns="0" tIns="0" rIns="0" bIns="0" rtlCol="0" anchor="ctr"/>
          <a:lstStyle/>
          <a:p>
            <a:pPr marL="0" indent="0">
              <a:buNone/>
            </a:pPr>
            <a:r>
              <a:rPr lang="en-US" sz="1600" dirty="0">
                <a:solidFill>
                  <a:srgbClr val="1F3B47"/>
                </a:solidFill>
                <a:latin typeface="Calibri" pitchFamily="34" charset="0"/>
                <a:ea typeface="Calibri" pitchFamily="34" charset="-122"/>
                <a:cs typeface="Calibri" pitchFamily="34" charset="-120"/>
              </a:rPr>
              <a:t>A collection of tools for describing:</a:t>
            </a:r>
            <a:endParaRPr lang="en-US" sz="1600" dirty="0"/>
          </a:p>
        </p:txBody>
      </p:sp>
      <p:sp>
        <p:nvSpPr>
          <p:cNvPr id="10" name="Shape 8"/>
          <p:cNvSpPr/>
          <p:nvPr/>
        </p:nvSpPr>
        <p:spPr>
          <a:xfrm>
            <a:off x="640080" y="1965960"/>
            <a:ext cx="1828800" cy="822960"/>
          </a:xfrm>
          <a:prstGeom prst="roundRect">
            <a:avLst>
              <a:gd name="adj" fmla="val 13333"/>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640080" y="1965960"/>
            <a:ext cx="1828800" cy="822960"/>
          </a:xfrm>
          <a:prstGeom prst="rect">
            <a:avLst/>
          </a:prstGeom>
          <a:no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Data</a:t>
            </a:r>
            <a:endParaRPr lang="en-US" sz="1500" dirty="0"/>
          </a:p>
        </p:txBody>
      </p:sp>
      <p:sp>
        <p:nvSpPr>
          <p:cNvPr id="12" name="Shape 10"/>
          <p:cNvSpPr/>
          <p:nvPr/>
        </p:nvSpPr>
        <p:spPr>
          <a:xfrm>
            <a:off x="2651760" y="1965960"/>
            <a:ext cx="1828800" cy="822960"/>
          </a:xfrm>
          <a:prstGeom prst="roundRect">
            <a:avLst>
              <a:gd name="adj" fmla="val 13333"/>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txBox="1"/>
          <p:nvPr/>
        </p:nvSpPr>
        <p:spPr>
          <a:xfrm>
            <a:off x="2651760" y="1965960"/>
            <a:ext cx="1828800" cy="822960"/>
          </a:xfrm>
          <a:prstGeom prst="rect">
            <a:avLst/>
          </a:prstGeom>
          <a:no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Data relationships</a:t>
            </a:r>
            <a:endParaRPr lang="en-US" sz="1500" dirty="0"/>
          </a:p>
        </p:txBody>
      </p:sp>
      <p:sp>
        <p:nvSpPr>
          <p:cNvPr id="14" name="Shape 12"/>
          <p:cNvSpPr/>
          <p:nvPr/>
        </p:nvSpPr>
        <p:spPr>
          <a:xfrm>
            <a:off x="4663440" y="1965960"/>
            <a:ext cx="1828800" cy="822960"/>
          </a:xfrm>
          <a:prstGeom prst="roundRect">
            <a:avLst>
              <a:gd name="adj" fmla="val 13333"/>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4663440" y="1965960"/>
            <a:ext cx="1828800" cy="822960"/>
          </a:xfrm>
          <a:prstGeom prst="rect">
            <a:avLst/>
          </a:prstGeom>
          <a:no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Data semantics</a:t>
            </a:r>
            <a:endParaRPr lang="en-US" sz="1500" dirty="0"/>
          </a:p>
        </p:txBody>
      </p:sp>
      <p:sp>
        <p:nvSpPr>
          <p:cNvPr id="16" name="Shape 14"/>
          <p:cNvSpPr/>
          <p:nvPr/>
        </p:nvSpPr>
        <p:spPr>
          <a:xfrm>
            <a:off x="6675120" y="1965960"/>
            <a:ext cx="1828800" cy="822960"/>
          </a:xfrm>
          <a:prstGeom prst="roundRect">
            <a:avLst>
              <a:gd name="adj" fmla="val 13333"/>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5"/>
          <p:cNvSpPr txBox="1"/>
          <p:nvPr/>
        </p:nvSpPr>
        <p:spPr>
          <a:xfrm>
            <a:off x="6675120" y="1965960"/>
            <a:ext cx="1828800" cy="822960"/>
          </a:xfrm>
          <a:prstGeom prst="rect">
            <a:avLst/>
          </a:prstGeom>
          <a:no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Data constraints</a:t>
            </a:r>
            <a:endParaRPr lang="en-US" sz="1500" dirty="0"/>
          </a:p>
        </p:txBody>
      </p:sp>
      <p:sp>
        <p:nvSpPr>
          <p:cNvPr id="18" name="Text 16"/>
          <p:cNvSpPr txBox="1"/>
          <p:nvPr/>
        </p:nvSpPr>
        <p:spPr>
          <a:xfrm>
            <a:off x="640080" y="3063240"/>
            <a:ext cx="7315200" cy="320040"/>
          </a:xfrm>
          <a:prstGeom prst="rect">
            <a:avLst/>
          </a:prstGeom>
          <a:noFill/>
          <a:ln/>
        </p:spPr>
        <p:txBody>
          <a:bodyPr wrap="square" lIns="0" tIns="0" rIns="0" bIns="0" rtlCol="0" anchor="ctr"/>
          <a:lstStyle/>
          <a:p>
            <a:pPr marL="0" indent="0">
              <a:buNone/>
            </a:pPr>
            <a:r>
              <a:rPr lang="en-US" sz="1400" b="1" dirty="0">
                <a:solidFill>
                  <a:srgbClr val="55BFAE"/>
                </a:solidFill>
                <a:latin typeface="Calibri" pitchFamily="34" charset="0"/>
                <a:ea typeface="Calibri" pitchFamily="34" charset="-122"/>
                <a:cs typeface="Calibri" pitchFamily="34" charset="-120"/>
              </a:rPr>
              <a:t>Examples of data models</a:t>
            </a:r>
            <a:endParaRPr lang="en-US" sz="1400" dirty="0"/>
          </a:p>
        </p:txBody>
      </p:sp>
      <p:sp>
        <p:nvSpPr>
          <p:cNvPr id="19" name="Shape 17"/>
          <p:cNvSpPr/>
          <p:nvPr/>
        </p:nvSpPr>
        <p:spPr>
          <a:xfrm>
            <a:off x="640080" y="3474720"/>
            <a:ext cx="3794760" cy="731520"/>
          </a:xfrm>
          <a:prstGeom prst="roundRect">
            <a:avLst>
              <a:gd name="adj" fmla="val 15000"/>
            </a:avLst>
          </a:prstGeom>
          <a:solidFill>
            <a:srgbClr val="143F4F"/>
          </a:solidFill>
          <a:ln/>
        </p:spPr>
        <p:txBody>
          <a:bodyPr/>
          <a:lstStyle/>
          <a:p>
            <a:endParaRPr lang="en-US"/>
          </a:p>
        </p:txBody>
      </p:sp>
      <p:sp>
        <p:nvSpPr>
          <p:cNvPr id="20" name="Text 18"/>
          <p:cNvSpPr txBox="1"/>
          <p:nvPr/>
        </p:nvSpPr>
        <p:spPr>
          <a:xfrm>
            <a:off x="640080" y="3474720"/>
            <a:ext cx="3794760" cy="7315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Entity-Relationship model</a:t>
            </a:r>
            <a:endParaRPr lang="en-US" sz="1700" dirty="0"/>
          </a:p>
        </p:txBody>
      </p:sp>
      <p:sp>
        <p:nvSpPr>
          <p:cNvPr id="21" name="Shape 19"/>
          <p:cNvSpPr/>
          <p:nvPr/>
        </p:nvSpPr>
        <p:spPr>
          <a:xfrm>
            <a:off x="4709160" y="3474720"/>
            <a:ext cx="3794760" cy="731520"/>
          </a:xfrm>
          <a:prstGeom prst="roundRect">
            <a:avLst>
              <a:gd name="adj" fmla="val 15000"/>
            </a:avLst>
          </a:prstGeom>
          <a:solidFill>
            <a:srgbClr val="55BFAE"/>
          </a:solidFill>
          <a:ln/>
        </p:spPr>
        <p:txBody>
          <a:bodyPr/>
          <a:lstStyle/>
          <a:p>
            <a:endParaRPr lang="en-US"/>
          </a:p>
        </p:txBody>
      </p:sp>
      <p:sp>
        <p:nvSpPr>
          <p:cNvPr id="22" name="Text 20"/>
          <p:cNvSpPr txBox="1"/>
          <p:nvPr/>
        </p:nvSpPr>
        <p:spPr>
          <a:xfrm>
            <a:off x="4709160" y="3474720"/>
            <a:ext cx="3794760" cy="7315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Relational model</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ER Model and Relational Model</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Recap</a:t>
            </a:r>
            <a:endParaRPr lang="en-US" sz="1100" dirty="0"/>
          </a:p>
        </p:txBody>
      </p:sp>
      <p:sp>
        <p:nvSpPr>
          <p:cNvPr id="9" name="Shape 7"/>
          <p:cNvSpPr/>
          <p:nvPr/>
        </p:nvSpPr>
        <p:spPr>
          <a:xfrm>
            <a:off x="640080" y="1508760"/>
            <a:ext cx="3794760" cy="2926080"/>
          </a:xfrm>
          <a:prstGeom prst="roundRect">
            <a:avLst>
              <a:gd name="adj" fmla="val 375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txBox="1"/>
          <p:nvPr/>
        </p:nvSpPr>
        <p:spPr>
          <a:xfrm>
            <a:off x="868680" y="1645920"/>
            <a:ext cx="3383280" cy="457200"/>
          </a:xfrm>
          <a:prstGeom prst="rect">
            <a:avLst/>
          </a:prstGeom>
          <a:noFill/>
          <a:ln/>
        </p:spPr>
        <p:txBody>
          <a:bodyPr wrap="square" lIns="0" tIns="0" rIns="0" bIns="0" rtlCol="0" anchor="ctr"/>
          <a:lstStyle/>
          <a:p>
            <a:pPr marL="0" indent="0">
              <a:buNone/>
            </a:pPr>
            <a:r>
              <a:rPr lang="en-US" sz="2000" b="1" dirty="0">
                <a:solidFill>
                  <a:srgbClr val="143F4F"/>
                </a:solidFill>
                <a:latin typeface="Century Schoolbook" pitchFamily="34" charset="0"/>
                <a:ea typeface="Century Schoolbook" pitchFamily="34" charset="-122"/>
                <a:cs typeface="Century Schoolbook" pitchFamily="34" charset="-120"/>
              </a:rPr>
              <a:t>ER Model</a:t>
            </a:r>
            <a:endParaRPr lang="en-US" sz="2000" dirty="0"/>
          </a:p>
        </p:txBody>
      </p:sp>
      <p:sp>
        <p:nvSpPr>
          <p:cNvPr id="11" name="Text 9"/>
          <p:cNvSpPr txBox="1"/>
          <p:nvPr/>
        </p:nvSpPr>
        <p:spPr>
          <a:xfrm>
            <a:off x="868680" y="2194560"/>
            <a:ext cx="3383280" cy="2011680"/>
          </a:xfrm>
          <a:prstGeom prst="rect">
            <a:avLst/>
          </a:prstGeom>
          <a:noFill/>
          <a:ln/>
        </p:spPr>
        <p:txBody>
          <a:bodyPr wrap="square" lIns="0" tIns="0" rIns="0" bIns="0" rtlCol="0" anchor="t"/>
          <a:lstStyle/>
          <a:p>
            <a:pPr marL="0" indent="0">
              <a:buNone/>
            </a:pPr>
            <a:r>
              <a:rPr lang="en-US" sz="1600" dirty="0">
                <a:solidFill>
                  <a:srgbClr val="1F3B47"/>
                </a:solidFill>
                <a:latin typeface="Calibri" pitchFamily="34" charset="0"/>
                <a:ea typeface="Calibri" pitchFamily="34" charset="-122"/>
                <a:cs typeface="Calibri" pitchFamily="34" charset="-120"/>
              </a:rPr>
              <a:t>A high-level data model based on the perception of a real world comprising a collection of entities and of relationships among these entities.</a:t>
            </a:r>
            <a:endParaRPr lang="en-US" sz="1600" dirty="0"/>
          </a:p>
        </p:txBody>
      </p:sp>
      <p:sp>
        <p:nvSpPr>
          <p:cNvPr id="12" name="Shape 10"/>
          <p:cNvSpPr/>
          <p:nvPr/>
        </p:nvSpPr>
        <p:spPr>
          <a:xfrm>
            <a:off x="4709160" y="1508760"/>
            <a:ext cx="3794760" cy="2926080"/>
          </a:xfrm>
          <a:prstGeom prst="roundRect">
            <a:avLst>
              <a:gd name="adj" fmla="val 3750"/>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txBox="1"/>
          <p:nvPr/>
        </p:nvSpPr>
        <p:spPr>
          <a:xfrm>
            <a:off x="4937760" y="1645920"/>
            <a:ext cx="3383280" cy="457200"/>
          </a:xfrm>
          <a:prstGeom prst="rect">
            <a:avLst/>
          </a:prstGeom>
          <a:noFill/>
          <a:ln/>
        </p:spPr>
        <p:txBody>
          <a:bodyPr wrap="square" lIns="0" tIns="0" rIns="0" bIns="0" rtlCol="0" anchor="ctr"/>
          <a:lstStyle/>
          <a:p>
            <a:pPr marL="0" indent="0">
              <a:buNone/>
            </a:pPr>
            <a:r>
              <a:rPr lang="en-US" sz="2000" b="1" dirty="0">
                <a:solidFill>
                  <a:srgbClr val="55BFAE"/>
                </a:solidFill>
                <a:latin typeface="Century Schoolbook" pitchFamily="34" charset="0"/>
                <a:ea typeface="Century Schoolbook" pitchFamily="34" charset="-122"/>
                <a:cs typeface="Century Schoolbook" pitchFamily="34" charset="-120"/>
              </a:rPr>
              <a:t>Relational Model</a:t>
            </a:r>
            <a:endParaRPr lang="en-US" sz="2000" dirty="0"/>
          </a:p>
        </p:txBody>
      </p:sp>
      <p:sp>
        <p:nvSpPr>
          <p:cNvPr id="14" name="Text 12"/>
          <p:cNvSpPr txBox="1"/>
          <p:nvPr/>
        </p:nvSpPr>
        <p:spPr>
          <a:xfrm>
            <a:off x="4937760" y="2194560"/>
            <a:ext cx="3383280" cy="2011680"/>
          </a:xfrm>
          <a:prstGeom prst="rect">
            <a:avLst/>
          </a:prstGeom>
          <a:noFill/>
          <a:ln/>
        </p:spPr>
        <p:txBody>
          <a:bodyPr wrap="square" lIns="0" tIns="0" rIns="0" bIns="0" rtlCol="0" anchor="t"/>
          <a:lstStyle/>
          <a:p>
            <a:pPr marL="0" indent="0">
              <a:buNone/>
            </a:pPr>
            <a:r>
              <a:rPr lang="en-US" sz="1600" dirty="0">
                <a:solidFill>
                  <a:srgbClr val="FFFFFF"/>
                </a:solidFill>
                <a:latin typeface="Calibri" pitchFamily="34" charset="0"/>
                <a:ea typeface="Calibri" pitchFamily="34" charset="-122"/>
                <a:cs typeface="Calibri" pitchFamily="34" charset="-120"/>
              </a:rPr>
              <a:t>A lower-level data model that uses a collection of tables to represent both data and relationships among those data.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ER and Relational Models</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Recap</a:t>
            </a:r>
            <a:endParaRPr lang="en-US" sz="1100" dirty="0"/>
          </a:p>
        </p:txBody>
      </p:sp>
      <p:sp>
        <p:nvSpPr>
          <p:cNvPr id="9" name="Text 7"/>
          <p:cNvSpPr txBox="1"/>
          <p:nvPr/>
        </p:nvSpPr>
        <p:spPr>
          <a:xfrm>
            <a:off x="640080" y="1508760"/>
            <a:ext cx="7863840" cy="1463040"/>
          </a:xfrm>
          <a:prstGeom prst="rect">
            <a:avLst/>
          </a:prstGeom>
          <a:noFill/>
          <a:ln/>
        </p:spPr>
        <p:txBody>
          <a:bodyPr wrap="square" lIns="0" tIns="0" rIns="0" bIns="0" rtlCol="0" anchor="t"/>
          <a:lstStyle/>
          <a:p>
            <a:pPr marL="342900" indent="-342900">
              <a:spcAft>
                <a:spcPts val="1200"/>
              </a:spcAft>
              <a:buSzPct val="100000"/>
              <a:buChar char="•"/>
            </a:pPr>
            <a:r>
              <a:rPr lang="en-US" sz="1650" dirty="0">
                <a:solidFill>
                  <a:srgbClr val="1F3B47"/>
                </a:solidFill>
                <a:latin typeface="Calibri" pitchFamily="34" charset="0"/>
                <a:ea typeface="Calibri" pitchFamily="34" charset="-122"/>
                <a:cs typeface="Calibri" pitchFamily="34" charset="-120"/>
              </a:rPr>
              <a:t>Both are conceptual data models.</a:t>
            </a:r>
            <a:endParaRPr lang="en-US" sz="1650" dirty="0"/>
          </a:p>
          <a:p>
            <a:pPr marL="342900" indent="-342900">
              <a:spcAft>
                <a:spcPts val="1200"/>
              </a:spcAft>
              <a:buSzPct val="100000"/>
              <a:buChar char="•"/>
            </a:pPr>
            <a:r>
              <a:rPr lang="en-US" sz="1650" dirty="0">
                <a:solidFill>
                  <a:srgbClr val="1F3B47"/>
                </a:solidFill>
                <a:latin typeface="Calibri" pitchFamily="34" charset="0"/>
                <a:ea typeface="Calibri" pitchFamily="34" charset="-122"/>
                <a:cs typeface="Calibri" pitchFamily="34" charset="-120"/>
              </a:rPr>
              <a:t>Designers formulate the database schema by first modeling the data at a high level using the ER model, and then translate it into the relational model.</a:t>
            </a:r>
            <a:endParaRPr lang="en-US" sz="1650" dirty="0"/>
          </a:p>
        </p:txBody>
      </p:sp>
      <p:sp>
        <p:nvSpPr>
          <p:cNvPr id="10" name="Text 8"/>
          <p:cNvSpPr/>
          <p:nvPr/>
        </p:nvSpPr>
        <p:spPr>
          <a:xfrm>
            <a:off x="822960" y="3154680"/>
            <a:ext cx="2103120" cy="914400"/>
          </a:xfrm>
          <a:prstGeom prst="roundRect">
            <a:avLst>
              <a:gd name="adj" fmla="val 12000"/>
            </a:avLst>
          </a:prstGeom>
          <a:solidFill>
            <a:srgbClr val="E3F3F0"/>
          </a:solid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Real world</a:t>
            </a:r>
            <a:endParaRPr lang="en-US" sz="1500" dirty="0"/>
          </a:p>
        </p:txBody>
      </p:sp>
      <p:sp>
        <p:nvSpPr>
          <p:cNvPr id="11" name="Shape 9"/>
          <p:cNvSpPr/>
          <p:nvPr/>
        </p:nvSpPr>
        <p:spPr>
          <a:xfrm>
            <a:off x="2971800" y="3611880"/>
            <a:ext cx="502920" cy="914"/>
          </a:xfrm>
          <a:prstGeom prst="line">
            <a:avLst/>
          </a:prstGeom>
          <a:noFill/>
          <a:ln w="25400">
            <a:solidFill>
              <a:srgbClr val="143F4F"/>
            </a:solidFill>
            <a:prstDash val="solid"/>
            <a:tailEnd type="triangle"/>
          </a:ln>
        </p:spPr>
        <p:txBody>
          <a:bodyPr/>
          <a:lstStyle/>
          <a:p>
            <a:endParaRPr lang="en-US"/>
          </a:p>
        </p:txBody>
      </p:sp>
      <p:sp>
        <p:nvSpPr>
          <p:cNvPr id="12" name="Text 10"/>
          <p:cNvSpPr/>
          <p:nvPr/>
        </p:nvSpPr>
        <p:spPr>
          <a:xfrm>
            <a:off x="3520440" y="3154680"/>
            <a:ext cx="2103120" cy="914400"/>
          </a:xfrm>
          <a:prstGeom prst="roundRect">
            <a:avLst>
              <a:gd name="adj" fmla="val 12000"/>
            </a:avLst>
          </a:prstGeom>
          <a:solidFill>
            <a:srgbClr val="143F4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ER model</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(high level)</a:t>
            </a:r>
            <a:endParaRPr lang="en-US" sz="1500" dirty="0"/>
          </a:p>
        </p:txBody>
      </p:sp>
      <p:sp>
        <p:nvSpPr>
          <p:cNvPr id="13" name="Shape 11"/>
          <p:cNvSpPr/>
          <p:nvPr/>
        </p:nvSpPr>
        <p:spPr>
          <a:xfrm>
            <a:off x="5669280" y="3611880"/>
            <a:ext cx="502920" cy="914"/>
          </a:xfrm>
          <a:prstGeom prst="line">
            <a:avLst/>
          </a:prstGeom>
          <a:noFill/>
          <a:ln w="25400">
            <a:solidFill>
              <a:srgbClr val="143F4F"/>
            </a:solidFill>
            <a:prstDash val="solid"/>
            <a:tailEnd type="triangle"/>
          </a:ln>
        </p:spPr>
        <p:txBody>
          <a:bodyPr/>
          <a:lstStyle/>
          <a:p>
            <a:endParaRPr lang="en-US"/>
          </a:p>
        </p:txBody>
      </p:sp>
      <p:sp>
        <p:nvSpPr>
          <p:cNvPr id="14" name="Text 12"/>
          <p:cNvSpPr/>
          <p:nvPr/>
        </p:nvSpPr>
        <p:spPr>
          <a:xfrm>
            <a:off x="6217920" y="3154680"/>
            <a:ext cx="2103120" cy="914400"/>
          </a:xfrm>
          <a:prstGeom prst="roundRect">
            <a:avLst>
              <a:gd name="adj" fmla="val 12000"/>
            </a:avLst>
          </a:prstGeom>
          <a:solidFill>
            <a:srgbClr val="55BFAE"/>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Relational model</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(tables)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ER Model</a:t>
            </a:r>
            <a:endParaRPr lang="en-US" sz="3000" dirty="0"/>
          </a:p>
        </p:txBody>
      </p:sp>
      <p:sp>
        <p:nvSpPr>
          <p:cNvPr id="7" name="Text 5"/>
          <p:cNvSpPr txBox="1"/>
          <p:nvPr/>
        </p:nvSpPr>
        <p:spPr>
          <a:xfrm>
            <a:off x="640080" y="1051560"/>
            <a:ext cx="786384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3B47"/>
                </a:solidFill>
                <a:latin typeface="Calibri" pitchFamily="34" charset="0"/>
                <a:ea typeface="Calibri" pitchFamily="34" charset="-122"/>
                <a:cs typeface="Calibri" pitchFamily="34" charset="-120"/>
              </a:rPr>
              <a:t>A popular data model – useful to database designers</a:t>
            </a:r>
            <a:endParaRPr lang="en-US" sz="1600" dirty="0"/>
          </a:p>
          <a:p>
            <a:pPr marL="457200" lvl="1" indent="-228600">
              <a:spcAft>
                <a:spcPts val="600"/>
              </a:spcAft>
              <a:buSzPct val="100000"/>
              <a:buChar char="•"/>
            </a:pPr>
            <a:r>
              <a:rPr lang="en-US" sz="1450" dirty="0">
                <a:solidFill>
                  <a:srgbClr val="5A7079"/>
                </a:solidFill>
                <a:latin typeface="Calibri" pitchFamily="34" charset="0"/>
                <a:ea typeface="Calibri" pitchFamily="34" charset="-122"/>
                <a:cs typeface="Calibri" pitchFamily="34" charset="-120"/>
              </a:rPr>
              <a:t>Graphical representation of the miniworld</a:t>
            </a:r>
            <a:endParaRPr lang="en-US" sz="1600" dirty="0"/>
          </a:p>
          <a:p>
            <a:pPr marL="342900" indent="-342900">
              <a:spcAft>
                <a:spcPts val="600"/>
              </a:spcAft>
              <a:buSzPct val="100000"/>
              <a:buChar char="•"/>
            </a:pPr>
            <a:r>
              <a:rPr lang="en-US" sz="1600" dirty="0">
                <a:solidFill>
                  <a:srgbClr val="1F3B47"/>
                </a:solidFill>
                <a:latin typeface="Calibri" pitchFamily="34" charset="0"/>
                <a:ea typeface="Calibri" pitchFamily="34" charset="-122"/>
                <a:cs typeface="Calibri" pitchFamily="34" charset="-120"/>
              </a:rPr>
              <a:t>ER design is translated to the relational model</a:t>
            </a:r>
            <a:endParaRPr lang="en-US" sz="1600" dirty="0"/>
          </a:p>
        </p:txBody>
      </p:sp>
      <p:sp>
        <p:nvSpPr>
          <p:cNvPr id="8" name="Text 6"/>
          <p:cNvSpPr txBox="1"/>
          <p:nvPr/>
        </p:nvSpPr>
        <p:spPr>
          <a:xfrm>
            <a:off x="640080" y="2514600"/>
            <a:ext cx="7315200" cy="365760"/>
          </a:xfrm>
          <a:prstGeom prst="rect">
            <a:avLst/>
          </a:prstGeom>
          <a:noFill/>
          <a:ln/>
        </p:spPr>
        <p:txBody>
          <a:bodyPr wrap="square" lIns="0" tIns="0" rIns="0" bIns="0" rtlCol="0" anchor="ctr"/>
          <a:lstStyle/>
          <a:p>
            <a:pPr marL="0" indent="0">
              <a:buNone/>
            </a:pPr>
            <a:r>
              <a:rPr lang="en-US" sz="1600" b="1" dirty="0">
                <a:solidFill>
                  <a:srgbClr val="55BFAE"/>
                </a:solidFill>
                <a:latin typeface="Calibri" pitchFamily="34" charset="0"/>
                <a:ea typeface="Calibri" pitchFamily="34" charset="-122"/>
                <a:cs typeface="Calibri" pitchFamily="34" charset="-120"/>
              </a:rPr>
              <a:t>Elements of the ER Model</a:t>
            </a:r>
            <a:endParaRPr lang="en-US" sz="1600" dirty="0"/>
          </a:p>
        </p:txBody>
      </p:sp>
      <p:sp>
        <p:nvSpPr>
          <p:cNvPr id="9" name="Shape 7"/>
          <p:cNvSpPr/>
          <p:nvPr/>
        </p:nvSpPr>
        <p:spPr>
          <a:xfrm>
            <a:off x="640080" y="3017520"/>
            <a:ext cx="1828800" cy="1280160"/>
          </a:xfrm>
          <a:prstGeom prst="roundRect">
            <a:avLst>
              <a:gd name="adj" fmla="val 8571"/>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8"/>
          <p:cNvSpPr/>
          <p:nvPr/>
        </p:nvSpPr>
        <p:spPr>
          <a:xfrm>
            <a:off x="1188720" y="3200400"/>
            <a:ext cx="731520" cy="347472"/>
          </a:xfrm>
          <a:prstGeom prst="rect">
            <a:avLst/>
          </a:prstGeom>
          <a:solidFill>
            <a:srgbClr val="DCE8F7"/>
          </a:solidFill>
          <a:ln w="12700">
            <a:solidFill>
              <a:srgbClr val="2B5797"/>
            </a:solidFill>
            <a:prstDash val="solid"/>
          </a:ln>
        </p:spPr>
        <p:txBody>
          <a:bodyPr/>
          <a:lstStyle/>
          <a:p>
            <a:endParaRPr lang="en-US"/>
          </a:p>
        </p:txBody>
      </p:sp>
      <p:sp>
        <p:nvSpPr>
          <p:cNvPr id="11" name="Text 9"/>
          <p:cNvSpPr txBox="1"/>
          <p:nvPr/>
        </p:nvSpPr>
        <p:spPr>
          <a:xfrm>
            <a:off x="640080" y="3657600"/>
            <a:ext cx="1828800" cy="502920"/>
          </a:xfrm>
          <a:prstGeom prst="rect">
            <a:avLst/>
          </a:prstGeom>
          <a:no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Entities</a:t>
            </a:r>
            <a:endParaRPr lang="en-US" sz="1500" dirty="0"/>
          </a:p>
        </p:txBody>
      </p:sp>
      <p:sp>
        <p:nvSpPr>
          <p:cNvPr id="12" name="Shape 10"/>
          <p:cNvSpPr/>
          <p:nvPr/>
        </p:nvSpPr>
        <p:spPr>
          <a:xfrm>
            <a:off x="2651760" y="3017520"/>
            <a:ext cx="1828800" cy="1280160"/>
          </a:xfrm>
          <a:prstGeom prst="roundRect">
            <a:avLst>
              <a:gd name="adj" fmla="val 8571"/>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3200400" y="3200400"/>
            <a:ext cx="731520" cy="347472"/>
          </a:xfrm>
          <a:prstGeom prst="rect">
            <a:avLst/>
          </a:prstGeom>
          <a:solidFill>
            <a:srgbClr val="DCE8F7"/>
          </a:solidFill>
          <a:ln w="12700">
            <a:solidFill>
              <a:srgbClr val="2B5797"/>
            </a:solidFill>
            <a:prstDash val="solid"/>
          </a:ln>
        </p:spPr>
        <p:txBody>
          <a:bodyPr/>
          <a:lstStyle/>
          <a:p>
            <a:endParaRPr lang="en-US"/>
          </a:p>
        </p:txBody>
      </p:sp>
      <p:sp>
        <p:nvSpPr>
          <p:cNvPr id="14" name="Text 12"/>
          <p:cNvSpPr txBox="1"/>
          <p:nvPr/>
        </p:nvSpPr>
        <p:spPr>
          <a:xfrm>
            <a:off x="2651760" y="3657600"/>
            <a:ext cx="1828800" cy="502920"/>
          </a:xfrm>
          <a:prstGeom prst="rect">
            <a:avLst/>
          </a:prstGeom>
          <a:no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Entity Sets</a:t>
            </a:r>
            <a:endParaRPr lang="en-US" sz="1500" dirty="0"/>
          </a:p>
        </p:txBody>
      </p:sp>
      <p:sp>
        <p:nvSpPr>
          <p:cNvPr id="15" name="Shape 13"/>
          <p:cNvSpPr/>
          <p:nvPr/>
        </p:nvSpPr>
        <p:spPr>
          <a:xfrm>
            <a:off x="4663440" y="3017520"/>
            <a:ext cx="1828800" cy="1280160"/>
          </a:xfrm>
          <a:prstGeom prst="roundRect">
            <a:avLst>
              <a:gd name="adj" fmla="val 8571"/>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14"/>
          <p:cNvSpPr/>
          <p:nvPr/>
        </p:nvSpPr>
        <p:spPr>
          <a:xfrm>
            <a:off x="5166360" y="3200400"/>
            <a:ext cx="822960" cy="347472"/>
          </a:xfrm>
          <a:prstGeom prst="ellipse">
            <a:avLst/>
          </a:prstGeom>
          <a:solidFill>
            <a:srgbClr val="FFFFFF"/>
          </a:solidFill>
          <a:ln w="12700">
            <a:solidFill>
              <a:srgbClr val="2B5797"/>
            </a:solidFill>
            <a:prstDash val="solid"/>
          </a:ln>
        </p:spPr>
        <p:txBody>
          <a:bodyPr/>
          <a:lstStyle/>
          <a:p>
            <a:endParaRPr lang="en-US"/>
          </a:p>
        </p:txBody>
      </p:sp>
      <p:sp>
        <p:nvSpPr>
          <p:cNvPr id="17" name="Text 15"/>
          <p:cNvSpPr txBox="1"/>
          <p:nvPr/>
        </p:nvSpPr>
        <p:spPr>
          <a:xfrm>
            <a:off x="4663440" y="3657600"/>
            <a:ext cx="1828800" cy="502920"/>
          </a:xfrm>
          <a:prstGeom prst="rect">
            <a:avLst/>
          </a:prstGeom>
          <a:no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Attributes</a:t>
            </a:r>
            <a:endParaRPr lang="en-US" sz="1500" dirty="0"/>
          </a:p>
        </p:txBody>
      </p:sp>
      <p:sp>
        <p:nvSpPr>
          <p:cNvPr id="18" name="Shape 16"/>
          <p:cNvSpPr/>
          <p:nvPr/>
        </p:nvSpPr>
        <p:spPr>
          <a:xfrm>
            <a:off x="6675120" y="3017520"/>
            <a:ext cx="1828800" cy="1280160"/>
          </a:xfrm>
          <a:prstGeom prst="roundRect">
            <a:avLst>
              <a:gd name="adj" fmla="val 8571"/>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7178040" y="3154680"/>
            <a:ext cx="822960" cy="438912"/>
          </a:xfrm>
          <a:prstGeom prst="diamond">
            <a:avLst/>
          </a:prstGeom>
          <a:solidFill>
            <a:srgbClr val="FFF4C9"/>
          </a:solidFill>
          <a:ln w="12700">
            <a:solidFill>
              <a:srgbClr val="2B5797"/>
            </a:solidFill>
            <a:prstDash val="solid"/>
          </a:ln>
        </p:spPr>
        <p:txBody>
          <a:bodyPr/>
          <a:lstStyle/>
          <a:p>
            <a:endParaRPr lang="en-US"/>
          </a:p>
        </p:txBody>
      </p:sp>
      <p:sp>
        <p:nvSpPr>
          <p:cNvPr id="20" name="Text 18"/>
          <p:cNvSpPr txBox="1"/>
          <p:nvPr/>
        </p:nvSpPr>
        <p:spPr>
          <a:xfrm>
            <a:off x="6675120" y="3657600"/>
            <a:ext cx="1828800" cy="502920"/>
          </a:xfrm>
          <a:prstGeom prst="rect">
            <a:avLst/>
          </a:prstGeom>
          <a:no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Relationships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Entity &amp; Entity Sets</a:t>
            </a:r>
            <a:endParaRPr lang="en-US" sz="3000" dirty="0"/>
          </a:p>
        </p:txBody>
      </p:sp>
      <p:sp>
        <p:nvSpPr>
          <p:cNvPr id="7" name="Shape 5"/>
          <p:cNvSpPr/>
          <p:nvPr/>
        </p:nvSpPr>
        <p:spPr>
          <a:xfrm>
            <a:off x="640080" y="1051560"/>
            <a:ext cx="3794760" cy="3474720"/>
          </a:xfrm>
          <a:prstGeom prst="roundRect">
            <a:avLst>
              <a:gd name="adj" fmla="val 3158"/>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68680" y="1188720"/>
            <a:ext cx="3383280" cy="411480"/>
          </a:xfrm>
          <a:prstGeom prst="rect">
            <a:avLst/>
          </a:prstGeom>
          <a:noFill/>
          <a:ln/>
        </p:spPr>
        <p:txBody>
          <a:bodyPr wrap="square" lIns="0" tIns="0" rIns="0" bIns="0" rtlCol="0" anchor="ctr"/>
          <a:lstStyle/>
          <a:p>
            <a:pPr marL="0" indent="0">
              <a:buNone/>
            </a:pPr>
            <a:r>
              <a:rPr lang="en-US" sz="2000" b="1" dirty="0">
                <a:solidFill>
                  <a:srgbClr val="143F4F"/>
                </a:solidFill>
                <a:latin typeface="Century Schoolbook" pitchFamily="34" charset="0"/>
                <a:ea typeface="Century Schoolbook" pitchFamily="34" charset="-122"/>
                <a:cs typeface="Century Schoolbook" pitchFamily="34" charset="-120"/>
              </a:rPr>
              <a:t>Entity</a:t>
            </a:r>
            <a:endParaRPr lang="en-US" sz="2000" dirty="0"/>
          </a:p>
        </p:txBody>
      </p:sp>
      <p:sp>
        <p:nvSpPr>
          <p:cNvPr id="9" name="Text 7"/>
          <p:cNvSpPr txBox="1"/>
          <p:nvPr/>
        </p:nvSpPr>
        <p:spPr>
          <a:xfrm>
            <a:off x="868680" y="1737360"/>
            <a:ext cx="3383280" cy="265176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An entity is a thing or object in the real world that is distinguishable from other objects.</a:t>
            </a:r>
            <a:endParaRPr lang="en-US" sz="1450" dirty="0"/>
          </a:p>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E.g. a person, a car, a bank account</a:t>
            </a:r>
            <a:endParaRPr lang="en-US" sz="1450" dirty="0"/>
          </a:p>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Entities have attributes — e.g. people have names, addresses, etc.</a:t>
            </a:r>
            <a:endParaRPr lang="en-US" sz="1450" dirty="0"/>
          </a:p>
        </p:txBody>
      </p:sp>
      <p:sp>
        <p:nvSpPr>
          <p:cNvPr id="10" name="Shape 8"/>
          <p:cNvSpPr/>
          <p:nvPr/>
        </p:nvSpPr>
        <p:spPr>
          <a:xfrm>
            <a:off x="4709160" y="1051560"/>
            <a:ext cx="3794760" cy="3474720"/>
          </a:xfrm>
          <a:prstGeom prst="roundRect">
            <a:avLst>
              <a:gd name="adj" fmla="val 3158"/>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4937760" y="1188720"/>
            <a:ext cx="3383280" cy="411480"/>
          </a:xfrm>
          <a:prstGeom prst="rect">
            <a:avLst/>
          </a:prstGeom>
          <a:noFill/>
          <a:ln/>
        </p:spPr>
        <p:txBody>
          <a:bodyPr wrap="square" lIns="0" tIns="0" rIns="0" bIns="0" rtlCol="0" anchor="ctr"/>
          <a:lstStyle/>
          <a:p>
            <a:pPr marL="0" indent="0">
              <a:buNone/>
            </a:pPr>
            <a:r>
              <a:rPr lang="en-US" sz="2000" b="1" dirty="0">
                <a:solidFill>
                  <a:srgbClr val="143F4F"/>
                </a:solidFill>
                <a:latin typeface="Century Schoolbook" pitchFamily="34" charset="0"/>
                <a:ea typeface="Century Schoolbook" pitchFamily="34" charset="-122"/>
                <a:cs typeface="Century Schoolbook" pitchFamily="34" charset="-120"/>
              </a:rPr>
              <a:t>Entity Set</a:t>
            </a:r>
            <a:endParaRPr lang="en-US" sz="2000" dirty="0"/>
          </a:p>
        </p:txBody>
      </p:sp>
      <p:sp>
        <p:nvSpPr>
          <p:cNvPr id="12" name="Text 10"/>
          <p:cNvSpPr txBox="1"/>
          <p:nvPr/>
        </p:nvSpPr>
        <p:spPr>
          <a:xfrm>
            <a:off x="4937760" y="1737360"/>
            <a:ext cx="3383280" cy="265176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An entity set is a set of entities of the same type that share the same properties.</a:t>
            </a:r>
            <a:endParaRPr lang="en-US" sz="1450" dirty="0"/>
          </a:p>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E.g. the set of customers in a bank, the set of all students in a college.</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Entity &amp; Entity Sets</a:t>
            </a:r>
            <a:endParaRPr lang="en-US" sz="3000" dirty="0"/>
          </a:p>
        </p:txBody>
      </p:sp>
      <p:sp>
        <p:nvSpPr>
          <p:cNvPr id="7" name="Shape 5"/>
          <p:cNvSpPr/>
          <p:nvPr/>
        </p:nvSpPr>
        <p:spPr>
          <a:xfrm>
            <a:off x="640080" y="1051560"/>
            <a:ext cx="3931920" cy="3520440"/>
          </a:xfrm>
          <a:prstGeom prst="roundRect">
            <a:avLst>
              <a:gd name="adj" fmla="val 311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68680" y="1161288"/>
            <a:ext cx="347472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Examples of entities</a:t>
            </a:r>
            <a:endParaRPr lang="en-US" sz="1500" dirty="0"/>
          </a:p>
        </p:txBody>
      </p:sp>
      <p:sp>
        <p:nvSpPr>
          <p:cNvPr id="9" name="Text 7"/>
          <p:cNvSpPr/>
          <p:nvPr/>
        </p:nvSpPr>
        <p:spPr>
          <a:xfrm>
            <a:off x="868680" y="1600200"/>
            <a:ext cx="960120" cy="411480"/>
          </a:xfrm>
          <a:prstGeom prst="roundRect">
            <a:avLst>
              <a:gd name="adj" fmla="val 17778"/>
            </a:avLst>
          </a:prstGeom>
          <a:solidFill>
            <a:srgbClr val="143F4F"/>
          </a:solid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Person</a:t>
            </a:r>
            <a:endParaRPr lang="en-US" sz="1250" dirty="0"/>
          </a:p>
        </p:txBody>
      </p:sp>
      <p:sp>
        <p:nvSpPr>
          <p:cNvPr id="10" name="Text 8"/>
          <p:cNvSpPr txBox="1"/>
          <p:nvPr/>
        </p:nvSpPr>
        <p:spPr>
          <a:xfrm>
            <a:off x="1965960" y="1600200"/>
            <a:ext cx="2514600" cy="411480"/>
          </a:xfrm>
          <a:prstGeom prst="rect">
            <a:avLst/>
          </a:prstGeom>
          <a:noFill/>
          <a:ln/>
        </p:spPr>
        <p:txBody>
          <a:bodyPr wrap="square" lIns="0" tIns="0" rIns="0" bIns="0" rtlCol="0" anchor="ctr"/>
          <a:lstStyle/>
          <a:p>
            <a:pPr marL="0" indent="0">
              <a:buNone/>
            </a:pPr>
            <a:r>
              <a:rPr lang="en-US" sz="1350" dirty="0">
                <a:solidFill>
                  <a:srgbClr val="1F3B47"/>
                </a:solidFill>
                <a:latin typeface="Calibri" pitchFamily="34" charset="0"/>
                <a:ea typeface="Calibri" pitchFamily="34" charset="-122"/>
                <a:cs typeface="Calibri" pitchFamily="34" charset="-120"/>
              </a:rPr>
              <a:t>Employee, Student, Patient</a:t>
            </a:r>
            <a:endParaRPr lang="en-US" sz="1350" dirty="0"/>
          </a:p>
        </p:txBody>
      </p:sp>
      <p:sp>
        <p:nvSpPr>
          <p:cNvPr id="11" name="Text 9"/>
          <p:cNvSpPr/>
          <p:nvPr/>
        </p:nvSpPr>
        <p:spPr>
          <a:xfrm>
            <a:off x="868680" y="2176272"/>
            <a:ext cx="960120" cy="411480"/>
          </a:xfrm>
          <a:prstGeom prst="roundRect">
            <a:avLst>
              <a:gd name="adj" fmla="val 17778"/>
            </a:avLst>
          </a:prstGeom>
          <a:solidFill>
            <a:srgbClr val="55BFAE"/>
          </a:solid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Place</a:t>
            </a:r>
            <a:endParaRPr lang="en-US" sz="1250" dirty="0"/>
          </a:p>
        </p:txBody>
      </p:sp>
      <p:sp>
        <p:nvSpPr>
          <p:cNvPr id="12" name="Text 10"/>
          <p:cNvSpPr txBox="1"/>
          <p:nvPr/>
        </p:nvSpPr>
        <p:spPr>
          <a:xfrm>
            <a:off x="1965960" y="2176272"/>
            <a:ext cx="2514600" cy="411480"/>
          </a:xfrm>
          <a:prstGeom prst="rect">
            <a:avLst/>
          </a:prstGeom>
          <a:noFill/>
          <a:ln/>
        </p:spPr>
        <p:txBody>
          <a:bodyPr wrap="square" lIns="0" tIns="0" rIns="0" bIns="0" rtlCol="0" anchor="ctr"/>
          <a:lstStyle/>
          <a:p>
            <a:pPr marL="0" indent="0">
              <a:buNone/>
            </a:pPr>
            <a:r>
              <a:rPr lang="en-US" sz="1350" dirty="0">
                <a:solidFill>
                  <a:srgbClr val="1F3B47"/>
                </a:solidFill>
                <a:latin typeface="Calibri" pitchFamily="34" charset="0"/>
                <a:ea typeface="Calibri" pitchFamily="34" charset="-122"/>
                <a:cs typeface="Calibri" pitchFamily="34" charset="-120"/>
              </a:rPr>
              <a:t>Store, Warehouse</a:t>
            </a:r>
            <a:endParaRPr lang="en-US" sz="1350" dirty="0"/>
          </a:p>
        </p:txBody>
      </p:sp>
      <p:sp>
        <p:nvSpPr>
          <p:cNvPr id="13" name="Text 11"/>
          <p:cNvSpPr/>
          <p:nvPr/>
        </p:nvSpPr>
        <p:spPr>
          <a:xfrm>
            <a:off x="868680" y="2752344"/>
            <a:ext cx="960120" cy="411480"/>
          </a:xfrm>
          <a:prstGeom prst="roundRect">
            <a:avLst>
              <a:gd name="adj" fmla="val 17778"/>
            </a:avLst>
          </a:prstGeom>
          <a:solidFill>
            <a:srgbClr val="143F4F"/>
          </a:solid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Object</a:t>
            </a:r>
            <a:endParaRPr lang="en-US" sz="1250" dirty="0"/>
          </a:p>
        </p:txBody>
      </p:sp>
      <p:sp>
        <p:nvSpPr>
          <p:cNvPr id="14" name="Text 12"/>
          <p:cNvSpPr txBox="1"/>
          <p:nvPr/>
        </p:nvSpPr>
        <p:spPr>
          <a:xfrm>
            <a:off x="1965960" y="2752344"/>
            <a:ext cx="2514600" cy="411480"/>
          </a:xfrm>
          <a:prstGeom prst="rect">
            <a:avLst/>
          </a:prstGeom>
          <a:noFill/>
          <a:ln/>
        </p:spPr>
        <p:txBody>
          <a:bodyPr wrap="square" lIns="0" tIns="0" rIns="0" bIns="0" rtlCol="0" anchor="ctr"/>
          <a:lstStyle/>
          <a:p>
            <a:pPr marL="0" indent="0">
              <a:buNone/>
            </a:pPr>
            <a:r>
              <a:rPr lang="en-US" sz="1350" dirty="0">
                <a:solidFill>
                  <a:srgbClr val="1F3B47"/>
                </a:solidFill>
                <a:latin typeface="Calibri" pitchFamily="34" charset="0"/>
                <a:ea typeface="Calibri" pitchFamily="34" charset="-122"/>
                <a:cs typeface="Calibri" pitchFamily="34" charset="-120"/>
              </a:rPr>
              <a:t>Machine, Product, Car</a:t>
            </a:r>
            <a:endParaRPr lang="en-US" sz="1350" dirty="0"/>
          </a:p>
        </p:txBody>
      </p:sp>
      <p:sp>
        <p:nvSpPr>
          <p:cNvPr id="15" name="Text 13"/>
          <p:cNvSpPr/>
          <p:nvPr/>
        </p:nvSpPr>
        <p:spPr>
          <a:xfrm>
            <a:off x="868680" y="3328416"/>
            <a:ext cx="960120" cy="411480"/>
          </a:xfrm>
          <a:prstGeom prst="roundRect">
            <a:avLst>
              <a:gd name="adj" fmla="val 17778"/>
            </a:avLst>
          </a:prstGeom>
          <a:solidFill>
            <a:srgbClr val="55BFAE"/>
          </a:solid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Event</a:t>
            </a:r>
            <a:endParaRPr lang="en-US" sz="1250" dirty="0"/>
          </a:p>
        </p:txBody>
      </p:sp>
      <p:sp>
        <p:nvSpPr>
          <p:cNvPr id="16" name="Text 14"/>
          <p:cNvSpPr txBox="1"/>
          <p:nvPr/>
        </p:nvSpPr>
        <p:spPr>
          <a:xfrm>
            <a:off x="1965960" y="3328416"/>
            <a:ext cx="2514600" cy="411480"/>
          </a:xfrm>
          <a:prstGeom prst="rect">
            <a:avLst/>
          </a:prstGeom>
          <a:noFill/>
          <a:ln/>
        </p:spPr>
        <p:txBody>
          <a:bodyPr wrap="square" lIns="0" tIns="0" rIns="0" bIns="0" rtlCol="0" anchor="ctr"/>
          <a:lstStyle/>
          <a:p>
            <a:pPr marL="0" indent="0">
              <a:buNone/>
            </a:pPr>
            <a:r>
              <a:rPr lang="en-US" sz="1350" dirty="0">
                <a:solidFill>
                  <a:srgbClr val="1F3B47"/>
                </a:solidFill>
                <a:latin typeface="Calibri" pitchFamily="34" charset="0"/>
                <a:ea typeface="Calibri" pitchFamily="34" charset="-122"/>
                <a:cs typeface="Calibri" pitchFamily="34" charset="-120"/>
              </a:rPr>
              <a:t>Sale, Registration, Renewal</a:t>
            </a:r>
            <a:endParaRPr lang="en-US" sz="1350" dirty="0"/>
          </a:p>
        </p:txBody>
      </p:sp>
      <p:sp>
        <p:nvSpPr>
          <p:cNvPr id="17" name="Text 15"/>
          <p:cNvSpPr/>
          <p:nvPr/>
        </p:nvSpPr>
        <p:spPr>
          <a:xfrm>
            <a:off x="868680" y="3904488"/>
            <a:ext cx="960120" cy="411480"/>
          </a:xfrm>
          <a:prstGeom prst="roundRect">
            <a:avLst>
              <a:gd name="adj" fmla="val 17778"/>
            </a:avLst>
          </a:prstGeom>
          <a:solidFill>
            <a:srgbClr val="143F4F"/>
          </a:solid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Concept</a:t>
            </a:r>
            <a:endParaRPr lang="en-US" sz="1250" dirty="0"/>
          </a:p>
        </p:txBody>
      </p:sp>
      <p:sp>
        <p:nvSpPr>
          <p:cNvPr id="18" name="Text 16"/>
          <p:cNvSpPr txBox="1"/>
          <p:nvPr/>
        </p:nvSpPr>
        <p:spPr>
          <a:xfrm>
            <a:off x="1965960" y="3904488"/>
            <a:ext cx="2514600" cy="411480"/>
          </a:xfrm>
          <a:prstGeom prst="rect">
            <a:avLst/>
          </a:prstGeom>
          <a:noFill/>
          <a:ln/>
        </p:spPr>
        <p:txBody>
          <a:bodyPr wrap="square" lIns="0" tIns="0" rIns="0" bIns="0" rtlCol="0" anchor="ctr"/>
          <a:lstStyle/>
          <a:p>
            <a:pPr marL="0" indent="0">
              <a:buNone/>
            </a:pPr>
            <a:r>
              <a:rPr lang="en-US" sz="1350" dirty="0">
                <a:solidFill>
                  <a:srgbClr val="1F3B47"/>
                </a:solidFill>
                <a:latin typeface="Calibri" pitchFamily="34" charset="0"/>
                <a:ea typeface="Calibri" pitchFamily="34" charset="-122"/>
                <a:cs typeface="Calibri" pitchFamily="34" charset="-120"/>
              </a:rPr>
              <a:t>Account, Course</a:t>
            </a:r>
            <a:endParaRPr lang="en-US" sz="1350" dirty="0"/>
          </a:p>
        </p:txBody>
      </p:sp>
      <p:sp>
        <p:nvSpPr>
          <p:cNvPr id="19" name="Text 17"/>
          <p:cNvSpPr txBox="1"/>
          <p:nvPr/>
        </p:nvSpPr>
        <p:spPr>
          <a:xfrm>
            <a:off x="4846320" y="1097280"/>
            <a:ext cx="36576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Naming and defining entity types</a:t>
            </a:r>
            <a:endParaRPr lang="en-US" sz="1500" dirty="0"/>
          </a:p>
        </p:txBody>
      </p:sp>
      <p:sp>
        <p:nvSpPr>
          <p:cNvPr id="20" name="Text 18"/>
          <p:cNvSpPr txBox="1"/>
          <p:nvPr/>
        </p:nvSpPr>
        <p:spPr>
          <a:xfrm>
            <a:off x="4846320" y="1508760"/>
            <a:ext cx="3657600" cy="13716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1F3B47"/>
                </a:solidFill>
                <a:latin typeface="Calibri" pitchFamily="34" charset="0"/>
                <a:ea typeface="Calibri" pitchFamily="34" charset="-122"/>
                <a:cs typeface="Calibri" pitchFamily="34" charset="-120"/>
              </a:rPr>
              <a:t>An entity type name is a singular noun</a:t>
            </a:r>
            <a:endParaRPr lang="en-US" sz="1350" dirty="0"/>
          </a:p>
          <a:p>
            <a:pPr marL="342900" indent="-342900">
              <a:spcAft>
                <a:spcPts val="500"/>
              </a:spcAft>
              <a:buSzPct val="100000"/>
              <a:buChar char="•"/>
            </a:pPr>
            <a:r>
              <a:rPr lang="en-US" sz="1350" dirty="0">
                <a:solidFill>
                  <a:srgbClr val="1F3B47"/>
                </a:solidFill>
                <a:latin typeface="Calibri" pitchFamily="34" charset="0"/>
                <a:ea typeface="Calibri" pitchFamily="34" charset="-122"/>
                <a:cs typeface="Calibri" pitchFamily="34" charset="-120"/>
              </a:rPr>
              <a:t>An entity type should be descriptive and specific</a:t>
            </a:r>
            <a:endParaRPr lang="en-US" sz="1350" dirty="0"/>
          </a:p>
          <a:p>
            <a:pPr marL="342900" indent="-342900">
              <a:spcAft>
                <a:spcPts val="500"/>
              </a:spcAft>
              <a:buSzPct val="100000"/>
              <a:buChar char="•"/>
            </a:pPr>
            <a:r>
              <a:rPr lang="en-US" sz="1350" dirty="0">
                <a:solidFill>
                  <a:srgbClr val="1F3B47"/>
                </a:solidFill>
                <a:latin typeface="Calibri" pitchFamily="34" charset="0"/>
                <a:ea typeface="Calibri" pitchFamily="34" charset="-122"/>
                <a:cs typeface="Calibri" pitchFamily="34" charset="-120"/>
              </a:rPr>
              <a:t>An entity name should be concise</a:t>
            </a:r>
            <a:endParaRPr lang="en-US" sz="1350" dirty="0"/>
          </a:p>
        </p:txBody>
      </p:sp>
      <p:sp>
        <p:nvSpPr>
          <p:cNvPr id="21" name="Shape 19"/>
          <p:cNvSpPr/>
          <p:nvPr/>
        </p:nvSpPr>
        <p:spPr>
          <a:xfrm>
            <a:off x="4846320" y="3017520"/>
            <a:ext cx="3657600" cy="1554480"/>
          </a:xfrm>
          <a:prstGeom prst="roundRect">
            <a:avLst>
              <a:gd name="adj" fmla="val 7059"/>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2" name="Text 20"/>
          <p:cNvSpPr/>
          <p:nvPr/>
        </p:nvSpPr>
        <p:spPr>
          <a:xfrm>
            <a:off x="5234940" y="3328416"/>
            <a:ext cx="123444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Department</a:t>
            </a:r>
            <a:endParaRPr lang="en-US" sz="1100" dirty="0"/>
          </a:p>
        </p:txBody>
      </p:sp>
      <p:sp>
        <p:nvSpPr>
          <p:cNvPr id="23" name="Text 21"/>
          <p:cNvSpPr/>
          <p:nvPr/>
        </p:nvSpPr>
        <p:spPr>
          <a:xfrm>
            <a:off x="7018020" y="3328416"/>
            <a:ext cx="105156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Student</a:t>
            </a:r>
            <a:endParaRPr lang="en-US" sz="1100" dirty="0"/>
          </a:p>
        </p:txBody>
      </p:sp>
      <p:sp>
        <p:nvSpPr>
          <p:cNvPr id="24" name="Text 22"/>
          <p:cNvSpPr txBox="1"/>
          <p:nvPr/>
        </p:nvSpPr>
        <p:spPr>
          <a:xfrm>
            <a:off x="4937760" y="4069080"/>
            <a:ext cx="3474720" cy="256032"/>
          </a:xfrm>
          <a:prstGeom prst="rect">
            <a:avLst/>
          </a:prstGeom>
          <a:noFill/>
          <a:ln/>
        </p:spPr>
        <p:txBody>
          <a:bodyPr wrap="square" lIns="0" tIns="0" rIns="0" bIns="0" rtlCol="0" anchor="ctr"/>
          <a:lstStyle/>
          <a:p>
            <a:pPr marL="0" indent="0" algn="ctr">
              <a:buNone/>
            </a:pPr>
            <a:r>
              <a:rPr lang="en-US" sz="1200" b="1" i="1" dirty="0">
                <a:solidFill>
                  <a:srgbClr val="143F4F"/>
                </a:solidFill>
                <a:latin typeface="Calibri" pitchFamily="34" charset="0"/>
                <a:ea typeface="Calibri" pitchFamily="34" charset="-122"/>
                <a:cs typeface="Calibri" pitchFamily="34" charset="-120"/>
              </a:rPr>
              <a:t>Entity set — represented by a rectangle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Attributes</a:t>
            </a:r>
            <a:endParaRPr lang="en-US" sz="3000" dirty="0"/>
          </a:p>
        </p:txBody>
      </p:sp>
      <p:sp>
        <p:nvSpPr>
          <p:cNvPr id="7" name="Text 5"/>
          <p:cNvSpPr txBox="1"/>
          <p:nvPr/>
        </p:nvSpPr>
        <p:spPr>
          <a:xfrm>
            <a:off x="640080" y="1005840"/>
            <a:ext cx="7863840" cy="594360"/>
          </a:xfrm>
          <a:prstGeom prst="rect">
            <a:avLst/>
          </a:prstGeom>
          <a:noFill/>
          <a:ln/>
        </p:spPr>
        <p:txBody>
          <a:bodyPr wrap="square" lIns="0" tIns="0" rIns="0" bIns="0" rtlCol="0" anchor="ctr"/>
          <a:lstStyle/>
          <a:p>
            <a:pPr marL="0" indent="0">
              <a:buNone/>
            </a:pPr>
            <a:r>
              <a:rPr lang="en-US" sz="1550" dirty="0">
                <a:solidFill>
                  <a:srgbClr val="1F3B47"/>
                </a:solidFill>
                <a:latin typeface="Calibri" pitchFamily="34" charset="0"/>
                <a:ea typeface="Calibri" pitchFamily="34" charset="-122"/>
                <a:cs typeface="Calibri" pitchFamily="34" charset="-120"/>
              </a:rPr>
              <a:t>An entity is represented by a set of attributes, that is, descriptive properties possessed by all members of an entity set.</a:t>
            </a:r>
            <a:endParaRPr lang="en-US" sz="1550" dirty="0"/>
          </a:p>
        </p:txBody>
      </p:sp>
      <p:sp>
        <p:nvSpPr>
          <p:cNvPr id="8" name="Text 6"/>
          <p:cNvSpPr txBox="1"/>
          <p:nvPr/>
        </p:nvSpPr>
        <p:spPr>
          <a:xfrm>
            <a:off x="640080" y="1600200"/>
            <a:ext cx="7863840" cy="320040"/>
          </a:xfrm>
          <a:prstGeom prst="rect">
            <a:avLst/>
          </a:prstGeom>
          <a:noFill/>
          <a:ln/>
        </p:spPr>
        <p:txBody>
          <a:bodyPr wrap="square" lIns="0" tIns="0" rIns="0" bIns="0" rtlCol="0" anchor="ctr"/>
          <a:lstStyle/>
          <a:p>
            <a:pPr marL="0" indent="0">
              <a:buNone/>
            </a:pPr>
            <a:r>
              <a:rPr lang="en-US" sz="1350" i="1" dirty="0">
                <a:solidFill>
                  <a:srgbClr val="5A7079"/>
                </a:solidFill>
                <a:latin typeface="Calibri" pitchFamily="34" charset="0"/>
                <a:ea typeface="Calibri" pitchFamily="34" charset="-122"/>
                <a:cs typeface="Calibri" pitchFamily="34" charset="-120"/>
              </a:rPr>
              <a:t>E.g. name, address, weight, height are properties of a Person entity.</a:t>
            </a:r>
            <a:endParaRPr lang="en-US" sz="1350" dirty="0"/>
          </a:p>
        </p:txBody>
      </p:sp>
      <p:sp>
        <p:nvSpPr>
          <p:cNvPr id="9" name="Text 7"/>
          <p:cNvSpPr txBox="1"/>
          <p:nvPr/>
        </p:nvSpPr>
        <p:spPr>
          <a:xfrm>
            <a:off x="640080" y="2103120"/>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Guidelines for naming attributes</a:t>
            </a:r>
            <a:endParaRPr lang="en-US" sz="1500" dirty="0"/>
          </a:p>
        </p:txBody>
      </p:sp>
      <p:sp>
        <p:nvSpPr>
          <p:cNvPr id="10" name="Shape 8"/>
          <p:cNvSpPr/>
          <p:nvPr/>
        </p:nvSpPr>
        <p:spPr>
          <a:xfrm>
            <a:off x="640080" y="2560320"/>
            <a:ext cx="3817620" cy="868680"/>
          </a:xfrm>
          <a:prstGeom prst="roundRect">
            <a:avLst>
              <a:gd name="adj" fmla="val 12632"/>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777240" y="2784348"/>
            <a:ext cx="420624" cy="420624"/>
          </a:xfrm>
          <a:prstGeom prst="ellipse">
            <a:avLst/>
          </a:prstGeom>
          <a:solidFill>
            <a:srgbClr val="143F4F"/>
          </a:solidFill>
          <a:ln/>
        </p:spPr>
        <p:txBody>
          <a:bodyPr/>
          <a:lstStyle/>
          <a:p>
            <a:endParaRPr lang="en-US"/>
          </a:p>
        </p:txBody>
      </p:sp>
      <p:sp>
        <p:nvSpPr>
          <p:cNvPr id="12" name="Text 10"/>
          <p:cNvSpPr txBox="1"/>
          <p:nvPr/>
        </p:nvSpPr>
        <p:spPr>
          <a:xfrm>
            <a:off x="777240" y="27843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1"/>
          <p:cNvSpPr txBox="1"/>
          <p:nvPr/>
        </p:nvSpPr>
        <p:spPr>
          <a:xfrm>
            <a:off x="1325880" y="2560320"/>
            <a:ext cx="2994660" cy="868680"/>
          </a:xfrm>
          <a:prstGeom prst="rect">
            <a:avLst/>
          </a:prstGeom>
          <a:noFill/>
          <a:ln/>
        </p:spPr>
        <p:txBody>
          <a:bodyPr wrap="square" lIns="0" tIns="0" rIns="0" bIns="0" rtlCol="0" anchor="ctr"/>
          <a:lstStyle/>
          <a:p>
            <a:pPr marL="0" indent="0">
              <a:buNone/>
            </a:pPr>
            <a:r>
              <a:rPr lang="en-US" sz="1300" b="1" dirty="0">
                <a:solidFill>
                  <a:srgbClr val="1F3B47"/>
                </a:solidFill>
                <a:latin typeface="Calibri" pitchFamily="34" charset="0"/>
                <a:ea typeface="Calibri" pitchFamily="34" charset="-122"/>
                <a:cs typeface="Calibri" pitchFamily="34" charset="-120"/>
              </a:rPr>
              <a:t>An attribute name is a noun</a:t>
            </a:r>
            <a:endParaRPr lang="en-US" sz="1300" dirty="0"/>
          </a:p>
        </p:txBody>
      </p:sp>
      <p:sp>
        <p:nvSpPr>
          <p:cNvPr id="14" name="Shape 12"/>
          <p:cNvSpPr/>
          <p:nvPr/>
        </p:nvSpPr>
        <p:spPr>
          <a:xfrm>
            <a:off x="4686300" y="2560320"/>
            <a:ext cx="3817620" cy="868680"/>
          </a:xfrm>
          <a:prstGeom prst="roundRect">
            <a:avLst>
              <a:gd name="adj" fmla="val 12632"/>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5" name="Shape 13"/>
          <p:cNvSpPr/>
          <p:nvPr/>
        </p:nvSpPr>
        <p:spPr>
          <a:xfrm>
            <a:off x="4823460" y="2784348"/>
            <a:ext cx="420624" cy="420624"/>
          </a:xfrm>
          <a:prstGeom prst="ellipse">
            <a:avLst/>
          </a:prstGeom>
          <a:solidFill>
            <a:srgbClr val="55BFAE"/>
          </a:solidFill>
          <a:ln/>
        </p:spPr>
        <p:txBody>
          <a:bodyPr/>
          <a:lstStyle/>
          <a:p>
            <a:endParaRPr lang="en-US"/>
          </a:p>
        </p:txBody>
      </p:sp>
      <p:sp>
        <p:nvSpPr>
          <p:cNvPr id="16" name="Text 14"/>
          <p:cNvSpPr txBox="1"/>
          <p:nvPr/>
        </p:nvSpPr>
        <p:spPr>
          <a:xfrm>
            <a:off x="4823460" y="27843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5372100" y="2560320"/>
            <a:ext cx="2994660" cy="868680"/>
          </a:xfrm>
          <a:prstGeom prst="rect">
            <a:avLst/>
          </a:prstGeom>
          <a:noFill/>
          <a:ln/>
        </p:spPr>
        <p:txBody>
          <a:bodyPr wrap="square" lIns="0" tIns="0" rIns="0" bIns="0" rtlCol="0" anchor="ctr"/>
          <a:lstStyle/>
          <a:p>
            <a:pPr marL="0" indent="0">
              <a:buNone/>
            </a:pPr>
            <a:r>
              <a:rPr lang="en-US" sz="1300" b="1" dirty="0">
                <a:solidFill>
                  <a:srgbClr val="1F3B47"/>
                </a:solidFill>
                <a:latin typeface="Calibri" pitchFamily="34" charset="0"/>
                <a:ea typeface="Calibri" pitchFamily="34" charset="-122"/>
                <a:cs typeface="Calibri" pitchFamily="34" charset="-120"/>
              </a:rPr>
              <a:t>An attribute name should be unique</a:t>
            </a:r>
            <a:endParaRPr lang="en-US" sz="1300" dirty="0"/>
          </a:p>
        </p:txBody>
      </p:sp>
      <p:sp>
        <p:nvSpPr>
          <p:cNvPr id="18" name="Shape 16"/>
          <p:cNvSpPr/>
          <p:nvPr/>
        </p:nvSpPr>
        <p:spPr>
          <a:xfrm>
            <a:off x="640080" y="3630168"/>
            <a:ext cx="3817620" cy="868680"/>
          </a:xfrm>
          <a:prstGeom prst="roundRect">
            <a:avLst>
              <a:gd name="adj" fmla="val 12632"/>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9" name="Shape 17"/>
          <p:cNvSpPr/>
          <p:nvPr/>
        </p:nvSpPr>
        <p:spPr>
          <a:xfrm>
            <a:off x="777240" y="3854196"/>
            <a:ext cx="420624" cy="420624"/>
          </a:xfrm>
          <a:prstGeom prst="ellipse">
            <a:avLst/>
          </a:prstGeom>
          <a:solidFill>
            <a:srgbClr val="143F4F"/>
          </a:solidFill>
          <a:ln/>
        </p:spPr>
        <p:txBody>
          <a:bodyPr/>
          <a:lstStyle/>
          <a:p>
            <a:endParaRPr lang="en-US"/>
          </a:p>
        </p:txBody>
      </p:sp>
      <p:sp>
        <p:nvSpPr>
          <p:cNvPr id="20" name="Text 18"/>
          <p:cNvSpPr txBox="1"/>
          <p:nvPr/>
        </p:nvSpPr>
        <p:spPr>
          <a:xfrm>
            <a:off x="777240" y="385419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9"/>
          <p:cNvSpPr txBox="1"/>
          <p:nvPr/>
        </p:nvSpPr>
        <p:spPr>
          <a:xfrm>
            <a:off x="1325880" y="3630168"/>
            <a:ext cx="2994660" cy="868680"/>
          </a:xfrm>
          <a:prstGeom prst="rect">
            <a:avLst/>
          </a:prstGeom>
          <a:noFill/>
          <a:ln/>
        </p:spPr>
        <p:txBody>
          <a:bodyPr wrap="square" lIns="0" tIns="0" rIns="0" bIns="0" rtlCol="0" anchor="ctr"/>
          <a:lstStyle/>
          <a:p>
            <a:pPr marL="0" indent="0">
              <a:buNone/>
            </a:pPr>
            <a:r>
              <a:rPr lang="en-US" sz="1300" b="1" dirty="0">
                <a:solidFill>
                  <a:srgbClr val="1F3B47"/>
                </a:solidFill>
                <a:latin typeface="Calibri" pitchFamily="34" charset="0"/>
                <a:ea typeface="Calibri" pitchFamily="34" charset="-122"/>
                <a:cs typeface="Calibri" pitchFamily="34" charset="-120"/>
              </a:rPr>
              <a:t>Each attribute name should follow a standard format, to keep it unique and clear</a:t>
            </a:r>
            <a:endParaRPr lang="en-US" sz="1300" dirty="0"/>
          </a:p>
        </p:txBody>
      </p:sp>
      <p:sp>
        <p:nvSpPr>
          <p:cNvPr id="22" name="Shape 20"/>
          <p:cNvSpPr/>
          <p:nvPr/>
        </p:nvSpPr>
        <p:spPr>
          <a:xfrm>
            <a:off x="4686300" y="3630168"/>
            <a:ext cx="3817620" cy="868680"/>
          </a:xfrm>
          <a:prstGeom prst="roundRect">
            <a:avLst>
              <a:gd name="adj" fmla="val 12632"/>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21"/>
          <p:cNvSpPr/>
          <p:nvPr/>
        </p:nvSpPr>
        <p:spPr>
          <a:xfrm>
            <a:off x="4823460" y="3854196"/>
            <a:ext cx="420624" cy="420624"/>
          </a:xfrm>
          <a:prstGeom prst="ellipse">
            <a:avLst/>
          </a:prstGeom>
          <a:solidFill>
            <a:srgbClr val="55BFAE"/>
          </a:solidFill>
          <a:ln/>
        </p:spPr>
        <p:txBody>
          <a:bodyPr/>
          <a:lstStyle/>
          <a:p>
            <a:endParaRPr lang="en-US"/>
          </a:p>
        </p:txBody>
      </p:sp>
      <p:sp>
        <p:nvSpPr>
          <p:cNvPr id="24" name="Text 22"/>
          <p:cNvSpPr txBox="1"/>
          <p:nvPr/>
        </p:nvSpPr>
        <p:spPr>
          <a:xfrm>
            <a:off x="4823460" y="385419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5372100" y="3630168"/>
            <a:ext cx="2994660" cy="868680"/>
          </a:xfrm>
          <a:prstGeom prst="rect">
            <a:avLst/>
          </a:prstGeom>
          <a:noFill/>
          <a:ln/>
        </p:spPr>
        <p:txBody>
          <a:bodyPr wrap="square" lIns="0" tIns="0" rIns="0" bIns="0" rtlCol="0" anchor="ctr"/>
          <a:lstStyle/>
          <a:p>
            <a:pPr marL="0" indent="0">
              <a:buNone/>
            </a:pPr>
            <a:r>
              <a:rPr lang="en-US" sz="1300" b="1" dirty="0">
                <a:solidFill>
                  <a:srgbClr val="1F3B47"/>
                </a:solidFill>
                <a:latin typeface="Calibri" pitchFamily="34" charset="0"/>
                <a:ea typeface="Calibri" pitchFamily="34" charset="-122"/>
                <a:cs typeface="Calibri" pitchFamily="34" charset="-120"/>
              </a:rPr>
              <a:t>Similar attributes of different entity types should use similar but distinguishing names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12</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Attributes</a:t>
            </a:r>
            <a:endParaRPr lang="en-US" sz="3000" dirty="0"/>
          </a:p>
        </p:txBody>
      </p:sp>
      <p:sp>
        <p:nvSpPr>
          <p:cNvPr id="7" name="Text 5"/>
          <p:cNvSpPr txBox="1"/>
          <p:nvPr/>
        </p:nvSpPr>
        <p:spPr>
          <a:xfrm>
            <a:off x="640080" y="1005840"/>
            <a:ext cx="45720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Properties of entities in an entity set</a:t>
            </a:r>
            <a:endParaRPr lang="en-US" sz="1500" dirty="0"/>
          </a:p>
        </p:txBody>
      </p:sp>
      <p:sp>
        <p:nvSpPr>
          <p:cNvPr id="8" name="Text 6"/>
          <p:cNvSpPr txBox="1"/>
          <p:nvPr/>
        </p:nvSpPr>
        <p:spPr>
          <a:xfrm>
            <a:off x="640080" y="1417320"/>
            <a:ext cx="4572000" cy="11887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1F3B47"/>
                </a:solidFill>
                <a:latin typeface="Calibri" pitchFamily="34" charset="0"/>
                <a:ea typeface="Calibri" pitchFamily="34" charset="-122"/>
                <a:cs typeface="Calibri" pitchFamily="34" charset="-120"/>
              </a:rPr>
              <a:t>Like fields in a struct</a:t>
            </a:r>
            <a:endParaRPr lang="en-US" sz="1450" dirty="0"/>
          </a:p>
          <a:p>
            <a:pPr marL="342900" indent="-342900">
              <a:spcAft>
                <a:spcPts val="400"/>
              </a:spcAft>
              <a:buSzPct val="100000"/>
              <a:buChar char="•"/>
            </a:pPr>
            <a:r>
              <a:rPr lang="en-US" sz="1450" dirty="0">
                <a:solidFill>
                  <a:srgbClr val="1F3B47"/>
                </a:solidFill>
                <a:latin typeface="Calibri" pitchFamily="34" charset="0"/>
                <a:ea typeface="Calibri" pitchFamily="34" charset="-122"/>
                <a:cs typeface="Calibri" pitchFamily="34" charset="-120"/>
              </a:rPr>
              <a:t>Like columns in a table/spreadsheet</a:t>
            </a:r>
            <a:endParaRPr lang="en-US" sz="1450" dirty="0"/>
          </a:p>
          <a:p>
            <a:pPr marL="342900" indent="-342900">
              <a:spcAft>
                <a:spcPts val="400"/>
              </a:spcAft>
              <a:buSzPct val="100000"/>
              <a:buChar char="•"/>
            </a:pPr>
            <a:r>
              <a:rPr lang="en-US" sz="1450" dirty="0">
                <a:solidFill>
                  <a:srgbClr val="1F3B47"/>
                </a:solidFill>
                <a:latin typeface="Calibri" pitchFamily="34" charset="0"/>
                <a:ea typeface="Calibri" pitchFamily="34" charset="-122"/>
                <a:cs typeface="Calibri" pitchFamily="34" charset="-120"/>
              </a:rPr>
              <a:t>Like data members in an object</a:t>
            </a:r>
            <a:endParaRPr lang="en-US" sz="1450" dirty="0"/>
          </a:p>
        </p:txBody>
      </p:sp>
      <p:sp>
        <p:nvSpPr>
          <p:cNvPr id="9" name="Shape 7"/>
          <p:cNvSpPr/>
          <p:nvPr/>
        </p:nvSpPr>
        <p:spPr>
          <a:xfrm>
            <a:off x="640080" y="2697480"/>
            <a:ext cx="4572000" cy="1051560"/>
          </a:xfrm>
          <a:prstGeom prst="roundRect">
            <a:avLst>
              <a:gd name="adj" fmla="val 10435"/>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txBox="1"/>
          <p:nvPr/>
        </p:nvSpPr>
        <p:spPr>
          <a:xfrm>
            <a:off x="868680" y="2724912"/>
            <a:ext cx="4206240" cy="1005840"/>
          </a:xfrm>
          <a:prstGeom prst="rect">
            <a:avLst/>
          </a:prstGeom>
          <a:noFill/>
          <a:ln/>
        </p:spPr>
        <p:txBody>
          <a:bodyPr wrap="square" lIns="0" tIns="0" rIns="0" bIns="0" rtlCol="0" anchor="ctr"/>
          <a:lstStyle/>
          <a:p>
            <a:pPr marL="0" indent="0">
              <a:buNone/>
            </a:pPr>
            <a:r>
              <a:rPr lang="en-US" sz="1350" b="1" dirty="0">
                <a:solidFill>
                  <a:srgbClr val="143F4F"/>
                </a:solidFill>
                <a:latin typeface="Calibri" pitchFamily="34" charset="0"/>
                <a:ea typeface="Calibri" pitchFamily="34" charset="-122"/>
                <a:cs typeface="Calibri" pitchFamily="34" charset="-120"/>
              </a:rPr>
              <a:t>Domain</a:t>
            </a:r>
            <a:endParaRPr lang="en-US" sz="1350" dirty="0"/>
          </a:p>
          <a:p>
            <a:pPr marL="0" indent="0">
              <a:buNone/>
            </a:pPr>
            <a:r>
              <a:rPr lang="en-US" sz="1350" dirty="0">
                <a:solidFill>
                  <a:srgbClr val="1F3B47"/>
                </a:solidFill>
                <a:latin typeface="Calibri" pitchFamily="34" charset="0"/>
                <a:ea typeface="Calibri" pitchFamily="34" charset="-122"/>
                <a:cs typeface="Calibri" pitchFamily="34" charset="-120"/>
              </a:rPr>
              <a:t>The set of permitted values for each attribute — e.g. Name can be text strings of a certain length.</a:t>
            </a:r>
            <a:endParaRPr lang="en-US" sz="1350" dirty="0"/>
          </a:p>
        </p:txBody>
      </p:sp>
      <p:sp>
        <p:nvSpPr>
          <p:cNvPr id="11" name="Shape 9"/>
          <p:cNvSpPr/>
          <p:nvPr/>
        </p:nvSpPr>
        <p:spPr>
          <a:xfrm>
            <a:off x="5486400" y="1097280"/>
            <a:ext cx="3017520" cy="2651760"/>
          </a:xfrm>
          <a:prstGeom prst="roundRect">
            <a:avLst>
              <a:gd name="adj" fmla="val 4138"/>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p:nvPr/>
        </p:nvSpPr>
        <p:spPr>
          <a:xfrm>
            <a:off x="6469380" y="2871216"/>
            <a:ext cx="105156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Student</a:t>
            </a:r>
            <a:endParaRPr lang="en-US" sz="1100" dirty="0"/>
          </a:p>
        </p:txBody>
      </p:sp>
      <p:sp>
        <p:nvSpPr>
          <p:cNvPr id="13" name="Text 11"/>
          <p:cNvSpPr/>
          <p:nvPr/>
        </p:nvSpPr>
        <p:spPr>
          <a:xfrm>
            <a:off x="5897880" y="1719072"/>
            <a:ext cx="7315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ID</a:t>
            </a:r>
            <a:endParaRPr lang="en-US" sz="1100" dirty="0"/>
          </a:p>
        </p:txBody>
      </p:sp>
      <p:sp>
        <p:nvSpPr>
          <p:cNvPr id="14" name="Text 12"/>
          <p:cNvSpPr/>
          <p:nvPr/>
        </p:nvSpPr>
        <p:spPr>
          <a:xfrm>
            <a:off x="7315200" y="1719072"/>
            <a:ext cx="82296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Name</a:t>
            </a:r>
            <a:endParaRPr lang="en-US" sz="1100" dirty="0"/>
          </a:p>
        </p:txBody>
      </p:sp>
      <p:sp>
        <p:nvSpPr>
          <p:cNvPr id="15" name="Shape 13"/>
          <p:cNvSpPr/>
          <p:nvPr/>
        </p:nvSpPr>
        <p:spPr>
          <a:xfrm>
            <a:off x="6356187" y="2024910"/>
            <a:ext cx="520804" cy="846306"/>
          </a:xfrm>
          <a:prstGeom prst="line">
            <a:avLst/>
          </a:prstGeom>
          <a:noFill/>
          <a:ln w="15875">
            <a:solidFill>
              <a:srgbClr val="3D5A73"/>
            </a:solidFill>
            <a:prstDash val="solid"/>
          </a:ln>
        </p:spPr>
        <p:txBody>
          <a:bodyPr/>
          <a:lstStyle/>
          <a:p>
            <a:endParaRPr lang="en-US"/>
          </a:p>
        </p:txBody>
      </p:sp>
      <p:sp>
        <p:nvSpPr>
          <p:cNvPr id="16" name="Shape 14"/>
          <p:cNvSpPr/>
          <p:nvPr/>
        </p:nvSpPr>
        <p:spPr>
          <a:xfrm flipH="1">
            <a:off x="7113329" y="2025930"/>
            <a:ext cx="520176" cy="845286"/>
          </a:xfrm>
          <a:prstGeom prst="line">
            <a:avLst/>
          </a:prstGeom>
          <a:noFill/>
          <a:ln w="15875">
            <a:solidFill>
              <a:srgbClr val="3D5A73"/>
            </a:solidFill>
            <a:prstDash val="solid"/>
          </a:ln>
        </p:spPr>
        <p:txBody>
          <a:bodyPr/>
          <a:lstStyle/>
          <a:p>
            <a:endParaRPr lang="en-US"/>
          </a:p>
        </p:txBody>
      </p:sp>
      <p:sp>
        <p:nvSpPr>
          <p:cNvPr id="17" name="Text 15"/>
          <p:cNvSpPr txBox="1"/>
          <p:nvPr/>
        </p:nvSpPr>
        <p:spPr>
          <a:xfrm>
            <a:off x="5486400" y="3840480"/>
            <a:ext cx="3017520" cy="256032"/>
          </a:xfrm>
          <a:prstGeom prst="rect">
            <a:avLst/>
          </a:prstGeom>
          <a:noFill/>
          <a:ln/>
        </p:spPr>
        <p:txBody>
          <a:bodyPr wrap="square" lIns="0" tIns="0" rIns="0" bIns="0" rtlCol="0" anchor="ctr"/>
          <a:lstStyle/>
          <a:p>
            <a:pPr marL="0" indent="0" algn="ctr">
              <a:buNone/>
            </a:pPr>
            <a:r>
              <a:rPr lang="en-US" sz="1200" b="1" i="1" dirty="0">
                <a:solidFill>
                  <a:srgbClr val="143F4F"/>
                </a:solidFill>
                <a:latin typeface="Calibri" pitchFamily="34" charset="0"/>
                <a:ea typeface="Calibri" pitchFamily="34" charset="-122"/>
                <a:cs typeface="Calibri" pitchFamily="34" charset="-120"/>
              </a:rPr>
              <a:t>Attributes are represented by ovals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Attributes: Types</a:t>
            </a:r>
            <a:endParaRPr lang="en-US" sz="3000" dirty="0"/>
          </a:p>
        </p:txBody>
      </p:sp>
      <p:sp>
        <p:nvSpPr>
          <p:cNvPr id="7" name="Text 5"/>
          <p:cNvSpPr txBox="1"/>
          <p:nvPr/>
        </p:nvSpPr>
        <p:spPr>
          <a:xfrm>
            <a:off x="640080" y="932688"/>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Simple &amp; Composite Attributes</a:t>
            </a:r>
            <a:endParaRPr lang="en-US" sz="1500" dirty="0"/>
          </a:p>
        </p:txBody>
      </p:sp>
      <p:sp>
        <p:nvSpPr>
          <p:cNvPr id="8" name="Text 6"/>
          <p:cNvSpPr txBox="1"/>
          <p:nvPr/>
        </p:nvSpPr>
        <p:spPr>
          <a:xfrm>
            <a:off x="640080" y="1325880"/>
            <a:ext cx="7863840" cy="41148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Simple attributes contain a single value.</a:t>
            </a:r>
            <a:endParaRPr lang="en-US" sz="1500" dirty="0"/>
          </a:p>
        </p:txBody>
      </p:sp>
      <p:sp>
        <p:nvSpPr>
          <p:cNvPr id="9" name="Shape 7"/>
          <p:cNvSpPr/>
          <p:nvPr/>
        </p:nvSpPr>
        <p:spPr>
          <a:xfrm>
            <a:off x="1188720" y="1874520"/>
            <a:ext cx="6766560" cy="2743200"/>
          </a:xfrm>
          <a:prstGeom prst="roundRect">
            <a:avLst>
              <a:gd name="adj" fmla="val 4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p:nvPr/>
        </p:nvSpPr>
        <p:spPr>
          <a:xfrm>
            <a:off x="2638044" y="305409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1" name="Text 9"/>
          <p:cNvSpPr/>
          <p:nvPr/>
        </p:nvSpPr>
        <p:spPr>
          <a:xfrm>
            <a:off x="5029200" y="2267712"/>
            <a:ext cx="91440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EmpNo</a:t>
            </a:r>
            <a:endParaRPr lang="en-US" sz="1100" dirty="0"/>
          </a:p>
        </p:txBody>
      </p:sp>
      <p:sp>
        <p:nvSpPr>
          <p:cNvPr id="12" name="Shape 10"/>
          <p:cNvSpPr/>
          <p:nvPr/>
        </p:nvSpPr>
        <p:spPr>
          <a:xfrm flipH="1">
            <a:off x="3579876" y="2534060"/>
            <a:ext cx="1586147" cy="549051"/>
          </a:xfrm>
          <a:prstGeom prst="line">
            <a:avLst/>
          </a:prstGeom>
          <a:noFill/>
          <a:ln w="15875">
            <a:solidFill>
              <a:srgbClr val="3D5A73"/>
            </a:solidFill>
            <a:prstDash val="solid"/>
          </a:ln>
        </p:spPr>
        <p:txBody>
          <a:bodyPr/>
          <a:lstStyle/>
          <a:p>
            <a:endParaRPr lang="en-US"/>
          </a:p>
        </p:txBody>
      </p:sp>
      <p:sp>
        <p:nvSpPr>
          <p:cNvPr id="13" name="Text 11"/>
          <p:cNvSpPr/>
          <p:nvPr/>
        </p:nvSpPr>
        <p:spPr>
          <a:xfrm>
            <a:off x="5029200" y="3090672"/>
            <a:ext cx="91440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Name</a:t>
            </a:r>
            <a:endParaRPr lang="en-US" sz="1100" dirty="0"/>
          </a:p>
        </p:txBody>
      </p:sp>
      <p:sp>
        <p:nvSpPr>
          <p:cNvPr id="14" name="Shape 12"/>
          <p:cNvSpPr/>
          <p:nvPr/>
        </p:nvSpPr>
        <p:spPr>
          <a:xfrm flipH="1">
            <a:off x="3579876" y="3246120"/>
            <a:ext cx="1449324" cy="914"/>
          </a:xfrm>
          <a:prstGeom prst="line">
            <a:avLst/>
          </a:prstGeom>
          <a:noFill/>
          <a:ln w="15875">
            <a:solidFill>
              <a:srgbClr val="3D5A73"/>
            </a:solidFill>
            <a:prstDash val="solid"/>
          </a:ln>
        </p:spPr>
        <p:txBody>
          <a:bodyPr/>
          <a:lstStyle/>
          <a:p>
            <a:endParaRPr lang="en-US"/>
          </a:p>
        </p:txBody>
      </p:sp>
      <p:sp>
        <p:nvSpPr>
          <p:cNvPr id="15" name="Text 13"/>
          <p:cNvSpPr/>
          <p:nvPr/>
        </p:nvSpPr>
        <p:spPr>
          <a:xfrm>
            <a:off x="5029200" y="3913632"/>
            <a:ext cx="91440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ID</a:t>
            </a:r>
            <a:endParaRPr lang="en-US" sz="1100" dirty="0"/>
          </a:p>
        </p:txBody>
      </p:sp>
      <p:sp>
        <p:nvSpPr>
          <p:cNvPr id="16" name="Shape 14"/>
          <p:cNvSpPr/>
          <p:nvPr/>
        </p:nvSpPr>
        <p:spPr>
          <a:xfrm flipH="1" flipV="1">
            <a:off x="3579876" y="3409129"/>
            <a:ext cx="1586147" cy="549051"/>
          </a:xfrm>
          <a:prstGeom prst="line">
            <a:avLst/>
          </a:prstGeom>
          <a:noFill/>
          <a:ln w="15875">
            <a:solidFill>
              <a:srgbClr val="3D5A73"/>
            </a:solidFill>
            <a:prstDash val="solid"/>
          </a:ln>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14</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Attributes: Types</a:t>
            </a:r>
            <a:endParaRPr lang="en-US" sz="3000" dirty="0"/>
          </a:p>
        </p:txBody>
      </p:sp>
      <p:sp>
        <p:nvSpPr>
          <p:cNvPr id="7" name="Text 5"/>
          <p:cNvSpPr txBox="1"/>
          <p:nvPr/>
        </p:nvSpPr>
        <p:spPr>
          <a:xfrm>
            <a:off x="640080" y="932688"/>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Simple &amp; Composite Attributes</a:t>
            </a:r>
            <a:endParaRPr lang="en-US" sz="1500" dirty="0"/>
          </a:p>
        </p:txBody>
      </p:sp>
      <p:sp>
        <p:nvSpPr>
          <p:cNvPr id="8" name="Text 6"/>
          <p:cNvSpPr txBox="1"/>
          <p:nvPr/>
        </p:nvSpPr>
        <p:spPr>
          <a:xfrm>
            <a:off x="640080" y="1325880"/>
            <a:ext cx="7863840" cy="41148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Composite attributes can be divided into sub-parts.</a:t>
            </a:r>
            <a:endParaRPr lang="en-US" sz="1500" dirty="0"/>
          </a:p>
        </p:txBody>
      </p:sp>
      <p:sp>
        <p:nvSpPr>
          <p:cNvPr id="9" name="Shape 7"/>
          <p:cNvSpPr/>
          <p:nvPr/>
        </p:nvSpPr>
        <p:spPr>
          <a:xfrm>
            <a:off x="1188720" y="1874520"/>
            <a:ext cx="6766560" cy="2743200"/>
          </a:xfrm>
          <a:prstGeom prst="roundRect">
            <a:avLst>
              <a:gd name="adj" fmla="val 4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p:nvPr/>
        </p:nvSpPr>
        <p:spPr>
          <a:xfrm>
            <a:off x="2089404" y="305409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1" name="Text 9"/>
          <p:cNvSpPr/>
          <p:nvPr/>
        </p:nvSpPr>
        <p:spPr>
          <a:xfrm>
            <a:off x="3840480" y="2176272"/>
            <a:ext cx="91440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EmpNo</a:t>
            </a:r>
            <a:endParaRPr lang="en-US" sz="1100" dirty="0"/>
          </a:p>
        </p:txBody>
      </p:sp>
      <p:sp>
        <p:nvSpPr>
          <p:cNvPr id="12" name="Shape 10"/>
          <p:cNvSpPr/>
          <p:nvPr/>
        </p:nvSpPr>
        <p:spPr>
          <a:xfrm flipH="1">
            <a:off x="2925166" y="2462293"/>
            <a:ext cx="1124427" cy="591803"/>
          </a:xfrm>
          <a:prstGeom prst="line">
            <a:avLst/>
          </a:prstGeom>
          <a:noFill/>
          <a:ln w="15875">
            <a:solidFill>
              <a:srgbClr val="3D5A73"/>
            </a:solidFill>
            <a:prstDash val="solid"/>
          </a:ln>
        </p:spPr>
        <p:txBody>
          <a:bodyPr/>
          <a:lstStyle/>
          <a:p>
            <a:endParaRPr lang="en-US"/>
          </a:p>
        </p:txBody>
      </p:sp>
      <p:sp>
        <p:nvSpPr>
          <p:cNvPr id="13" name="Text 11"/>
          <p:cNvSpPr/>
          <p:nvPr/>
        </p:nvSpPr>
        <p:spPr>
          <a:xfrm>
            <a:off x="3840480" y="4005072"/>
            <a:ext cx="91440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ID</a:t>
            </a:r>
            <a:endParaRPr lang="en-US" sz="1100" dirty="0"/>
          </a:p>
        </p:txBody>
      </p:sp>
      <p:sp>
        <p:nvSpPr>
          <p:cNvPr id="14" name="Shape 12"/>
          <p:cNvSpPr/>
          <p:nvPr/>
        </p:nvSpPr>
        <p:spPr>
          <a:xfrm flipH="1" flipV="1">
            <a:off x="2925166" y="3438144"/>
            <a:ext cx="1124427" cy="591803"/>
          </a:xfrm>
          <a:prstGeom prst="line">
            <a:avLst/>
          </a:prstGeom>
          <a:noFill/>
          <a:ln w="15875">
            <a:solidFill>
              <a:srgbClr val="3D5A73"/>
            </a:solidFill>
            <a:prstDash val="solid"/>
          </a:ln>
        </p:spPr>
        <p:txBody>
          <a:bodyPr/>
          <a:lstStyle/>
          <a:p>
            <a:endParaRPr lang="en-US"/>
          </a:p>
        </p:txBody>
      </p:sp>
      <p:sp>
        <p:nvSpPr>
          <p:cNvPr id="15" name="Text 13"/>
          <p:cNvSpPr/>
          <p:nvPr/>
        </p:nvSpPr>
        <p:spPr>
          <a:xfrm>
            <a:off x="3840480" y="3090672"/>
            <a:ext cx="91440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Name</a:t>
            </a:r>
            <a:endParaRPr lang="en-US" sz="1100" dirty="0"/>
          </a:p>
        </p:txBody>
      </p:sp>
      <p:sp>
        <p:nvSpPr>
          <p:cNvPr id="16" name="Shape 14"/>
          <p:cNvSpPr/>
          <p:nvPr/>
        </p:nvSpPr>
        <p:spPr>
          <a:xfrm flipH="1">
            <a:off x="3031236" y="3246120"/>
            <a:ext cx="809244" cy="914"/>
          </a:xfrm>
          <a:prstGeom prst="line">
            <a:avLst/>
          </a:prstGeom>
          <a:noFill/>
          <a:ln w="15875">
            <a:solidFill>
              <a:srgbClr val="3D5A73"/>
            </a:solidFill>
            <a:prstDash val="solid"/>
          </a:ln>
        </p:spPr>
        <p:txBody>
          <a:bodyPr/>
          <a:lstStyle/>
          <a:p>
            <a:endParaRPr lang="en-US"/>
          </a:p>
        </p:txBody>
      </p:sp>
      <p:sp>
        <p:nvSpPr>
          <p:cNvPr id="17" name="Text 15"/>
          <p:cNvSpPr/>
          <p:nvPr/>
        </p:nvSpPr>
        <p:spPr>
          <a:xfrm>
            <a:off x="5783580" y="2359152"/>
            <a:ext cx="1051560" cy="310896"/>
          </a:xfrm>
          <a:prstGeom prst="ellipse">
            <a:avLst/>
          </a:prstGeom>
          <a:solidFill>
            <a:srgbClr val="FFF6C2"/>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FirstName</a:t>
            </a:r>
            <a:endParaRPr lang="en-US" sz="1100" dirty="0"/>
          </a:p>
        </p:txBody>
      </p:sp>
      <p:sp>
        <p:nvSpPr>
          <p:cNvPr id="18" name="Shape 16"/>
          <p:cNvSpPr/>
          <p:nvPr/>
        </p:nvSpPr>
        <p:spPr>
          <a:xfrm flipH="1">
            <a:off x="4609933" y="2635213"/>
            <a:ext cx="1367740" cy="497360"/>
          </a:xfrm>
          <a:prstGeom prst="line">
            <a:avLst/>
          </a:prstGeom>
          <a:noFill/>
          <a:ln w="15875">
            <a:solidFill>
              <a:srgbClr val="3D5A73"/>
            </a:solidFill>
            <a:prstDash val="solid"/>
          </a:ln>
        </p:spPr>
        <p:txBody>
          <a:bodyPr/>
          <a:lstStyle/>
          <a:p>
            <a:endParaRPr lang="en-US"/>
          </a:p>
        </p:txBody>
      </p:sp>
      <p:sp>
        <p:nvSpPr>
          <p:cNvPr id="19" name="Text 17"/>
          <p:cNvSpPr/>
          <p:nvPr/>
        </p:nvSpPr>
        <p:spPr>
          <a:xfrm>
            <a:off x="5783580" y="3090672"/>
            <a:ext cx="1051560" cy="310896"/>
          </a:xfrm>
          <a:prstGeom prst="ellipse">
            <a:avLst/>
          </a:prstGeom>
          <a:solidFill>
            <a:srgbClr val="FFF6C2"/>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MidName</a:t>
            </a:r>
            <a:endParaRPr lang="en-US" sz="1100" dirty="0"/>
          </a:p>
        </p:txBody>
      </p:sp>
      <p:sp>
        <p:nvSpPr>
          <p:cNvPr id="20" name="Shape 18"/>
          <p:cNvSpPr/>
          <p:nvPr/>
        </p:nvSpPr>
        <p:spPr>
          <a:xfrm flipH="1">
            <a:off x="4754880" y="3246120"/>
            <a:ext cx="1028700" cy="914"/>
          </a:xfrm>
          <a:prstGeom prst="line">
            <a:avLst/>
          </a:prstGeom>
          <a:noFill/>
          <a:ln w="15875">
            <a:solidFill>
              <a:srgbClr val="3D5A73"/>
            </a:solidFill>
            <a:prstDash val="solid"/>
          </a:ln>
        </p:spPr>
        <p:txBody>
          <a:bodyPr/>
          <a:lstStyle/>
          <a:p>
            <a:endParaRPr lang="en-US"/>
          </a:p>
        </p:txBody>
      </p:sp>
      <p:sp>
        <p:nvSpPr>
          <p:cNvPr id="21" name="Text 19"/>
          <p:cNvSpPr/>
          <p:nvPr/>
        </p:nvSpPr>
        <p:spPr>
          <a:xfrm>
            <a:off x="5783580" y="3822192"/>
            <a:ext cx="1051560" cy="310896"/>
          </a:xfrm>
          <a:prstGeom prst="ellipse">
            <a:avLst/>
          </a:prstGeom>
          <a:solidFill>
            <a:srgbClr val="FFF6C2"/>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LastName</a:t>
            </a:r>
            <a:endParaRPr lang="en-US" sz="1100" dirty="0"/>
          </a:p>
        </p:txBody>
      </p:sp>
      <p:sp>
        <p:nvSpPr>
          <p:cNvPr id="22" name="Shape 20"/>
          <p:cNvSpPr/>
          <p:nvPr/>
        </p:nvSpPr>
        <p:spPr>
          <a:xfrm flipH="1" flipV="1">
            <a:off x="4609933" y="3359667"/>
            <a:ext cx="1367740" cy="497360"/>
          </a:xfrm>
          <a:prstGeom prst="line">
            <a:avLst/>
          </a:prstGeom>
          <a:noFill/>
          <a:ln w="15875">
            <a:solidFill>
              <a:srgbClr val="3D5A73"/>
            </a:solidFill>
            <a:prstDash val="solid"/>
          </a:ln>
        </p:spPr>
        <p:txBody>
          <a:bodyPr/>
          <a:lstStyle/>
          <a:p>
            <a:endParaRPr lang="en-US"/>
          </a:p>
        </p:txBody>
      </p:sp>
      <p:sp>
        <p:nvSpPr>
          <p:cNvPr id="23" name="Text 21"/>
          <p:cNvSpPr txBox="1"/>
          <p:nvPr/>
        </p:nvSpPr>
        <p:spPr>
          <a:xfrm>
            <a:off x="5257800" y="4343400"/>
            <a:ext cx="2560320" cy="256032"/>
          </a:xfrm>
          <a:prstGeom prst="rect">
            <a:avLst/>
          </a:prstGeom>
          <a:noFill/>
          <a:ln/>
        </p:spPr>
        <p:txBody>
          <a:bodyPr wrap="square" lIns="0" tIns="0" rIns="0" bIns="0" rtlCol="0" anchor="ctr"/>
          <a:lstStyle/>
          <a:p>
            <a:pPr marL="0" indent="0" algn="ctr">
              <a:buNone/>
            </a:pPr>
            <a:r>
              <a:rPr lang="en-US" sz="1100" i="1" dirty="0">
                <a:solidFill>
                  <a:srgbClr val="5A7079"/>
                </a:solidFill>
                <a:latin typeface="Calibri" pitchFamily="34" charset="0"/>
                <a:ea typeface="Calibri" pitchFamily="34" charset="-122"/>
                <a:cs typeface="Calibri" pitchFamily="34" charset="-120"/>
              </a:rPr>
              <a:t>Name is composite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Attributes: Types</a:t>
            </a:r>
            <a:endParaRPr lang="en-US" sz="3000" dirty="0"/>
          </a:p>
        </p:txBody>
      </p:sp>
      <p:sp>
        <p:nvSpPr>
          <p:cNvPr id="7" name="Text 5"/>
          <p:cNvSpPr txBox="1"/>
          <p:nvPr/>
        </p:nvSpPr>
        <p:spPr>
          <a:xfrm>
            <a:off x="640080" y="932688"/>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Single-Valued &amp; Multi-Valued Attributes</a:t>
            </a:r>
            <a:endParaRPr lang="en-US" sz="1500" dirty="0"/>
          </a:p>
        </p:txBody>
      </p:sp>
      <p:sp>
        <p:nvSpPr>
          <p:cNvPr id="8" name="Text 6"/>
          <p:cNvSpPr txBox="1"/>
          <p:nvPr/>
        </p:nvSpPr>
        <p:spPr>
          <a:xfrm>
            <a:off x="640080" y="1325880"/>
            <a:ext cx="7863840" cy="41148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Multi-valued attributes contain more than one value.</a:t>
            </a:r>
            <a:endParaRPr lang="en-US" sz="1500" dirty="0"/>
          </a:p>
        </p:txBody>
      </p:sp>
      <p:sp>
        <p:nvSpPr>
          <p:cNvPr id="9" name="Shape 7"/>
          <p:cNvSpPr/>
          <p:nvPr/>
        </p:nvSpPr>
        <p:spPr>
          <a:xfrm>
            <a:off x="1188720" y="1874520"/>
            <a:ext cx="6766560" cy="2743200"/>
          </a:xfrm>
          <a:prstGeom prst="roundRect">
            <a:avLst>
              <a:gd name="adj" fmla="val 4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p:nvPr/>
        </p:nvSpPr>
        <p:spPr>
          <a:xfrm>
            <a:off x="2455164" y="305409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1" name="Shape 9"/>
          <p:cNvSpPr/>
          <p:nvPr/>
        </p:nvSpPr>
        <p:spPr>
          <a:xfrm>
            <a:off x="5111496" y="2404872"/>
            <a:ext cx="1115568" cy="402336"/>
          </a:xfrm>
          <a:prstGeom prst="ellipse">
            <a:avLst/>
          </a:prstGeom>
          <a:solidFill>
            <a:srgbClr val="FFFFFF"/>
          </a:solidFill>
          <a:ln w="12700">
            <a:solidFill>
              <a:srgbClr val="2B5797"/>
            </a:solidFill>
            <a:prstDash val="solid"/>
          </a:ln>
        </p:spPr>
        <p:txBody>
          <a:bodyPr/>
          <a:lstStyle/>
          <a:p>
            <a:endParaRPr lang="en-US"/>
          </a:p>
        </p:txBody>
      </p:sp>
      <p:sp>
        <p:nvSpPr>
          <p:cNvPr id="12" name="Text 10"/>
          <p:cNvSpPr/>
          <p:nvPr/>
        </p:nvSpPr>
        <p:spPr>
          <a:xfrm>
            <a:off x="5166360" y="2450592"/>
            <a:ext cx="100584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Phone</a:t>
            </a:r>
            <a:endParaRPr lang="en-US" sz="1100" dirty="0"/>
          </a:p>
        </p:txBody>
      </p:sp>
      <p:sp>
        <p:nvSpPr>
          <p:cNvPr id="13" name="Shape 11"/>
          <p:cNvSpPr/>
          <p:nvPr/>
        </p:nvSpPr>
        <p:spPr>
          <a:xfrm flipH="1">
            <a:off x="3396996" y="2715314"/>
            <a:ext cx="1803966" cy="420925"/>
          </a:xfrm>
          <a:prstGeom prst="line">
            <a:avLst/>
          </a:prstGeom>
          <a:noFill/>
          <a:ln w="15875">
            <a:solidFill>
              <a:srgbClr val="3D5A73"/>
            </a:solidFill>
            <a:prstDash val="solid"/>
          </a:ln>
        </p:spPr>
        <p:txBody>
          <a:bodyPr/>
          <a:lstStyle/>
          <a:p>
            <a:endParaRPr lang="en-US"/>
          </a:p>
        </p:txBody>
      </p:sp>
      <p:sp>
        <p:nvSpPr>
          <p:cNvPr id="14" name="Shape 12"/>
          <p:cNvSpPr/>
          <p:nvPr/>
        </p:nvSpPr>
        <p:spPr>
          <a:xfrm>
            <a:off x="5111496" y="3685032"/>
            <a:ext cx="1115568" cy="402336"/>
          </a:xfrm>
          <a:prstGeom prst="ellipse">
            <a:avLst/>
          </a:prstGeom>
          <a:solidFill>
            <a:srgbClr val="FFFFFF"/>
          </a:solidFill>
          <a:ln w="12700">
            <a:solidFill>
              <a:srgbClr val="2B5797"/>
            </a:solidFill>
            <a:prstDash val="solid"/>
          </a:ln>
        </p:spPr>
        <p:txBody>
          <a:bodyPr/>
          <a:lstStyle/>
          <a:p>
            <a:endParaRPr lang="en-US"/>
          </a:p>
        </p:txBody>
      </p:sp>
      <p:sp>
        <p:nvSpPr>
          <p:cNvPr id="15" name="Text 13"/>
          <p:cNvSpPr/>
          <p:nvPr/>
        </p:nvSpPr>
        <p:spPr>
          <a:xfrm>
            <a:off x="5166360" y="3730752"/>
            <a:ext cx="100584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Email</a:t>
            </a:r>
            <a:endParaRPr lang="en-US" sz="1100" dirty="0"/>
          </a:p>
        </p:txBody>
      </p:sp>
      <p:sp>
        <p:nvSpPr>
          <p:cNvPr id="16" name="Shape 14"/>
          <p:cNvSpPr/>
          <p:nvPr/>
        </p:nvSpPr>
        <p:spPr>
          <a:xfrm flipH="1" flipV="1">
            <a:off x="3396996" y="3356000"/>
            <a:ext cx="1803966" cy="420925"/>
          </a:xfrm>
          <a:prstGeom prst="line">
            <a:avLst/>
          </a:prstGeom>
          <a:noFill/>
          <a:ln w="15875">
            <a:solidFill>
              <a:srgbClr val="3D5A73"/>
            </a:solidFill>
            <a:prstDash val="solid"/>
          </a:ln>
        </p:spPr>
        <p:txBody>
          <a:bodyPr/>
          <a:lstStyle/>
          <a:p>
            <a:endParaRPr lang="en-US"/>
          </a:p>
        </p:txBody>
      </p:sp>
      <p:sp>
        <p:nvSpPr>
          <p:cNvPr id="17" name="Text 15"/>
          <p:cNvSpPr txBox="1"/>
          <p:nvPr/>
        </p:nvSpPr>
        <p:spPr>
          <a:xfrm>
            <a:off x="6492240" y="3108960"/>
            <a:ext cx="1371600" cy="256032"/>
          </a:xfrm>
          <a:prstGeom prst="rect">
            <a:avLst/>
          </a:prstGeom>
          <a:noFill/>
          <a:ln/>
        </p:spPr>
        <p:txBody>
          <a:bodyPr wrap="square" lIns="0" tIns="0" rIns="0" bIns="0" rtlCol="0" anchor="ctr"/>
          <a:lstStyle/>
          <a:p>
            <a:pPr marL="0" indent="0" algn="ctr">
              <a:buNone/>
            </a:pPr>
            <a:r>
              <a:rPr lang="en-US" sz="1050" i="1" dirty="0">
                <a:solidFill>
                  <a:srgbClr val="5A7079"/>
                </a:solidFill>
                <a:latin typeface="Calibri" pitchFamily="34" charset="0"/>
                <a:ea typeface="Calibri" pitchFamily="34" charset="-122"/>
                <a:cs typeface="Calibri" pitchFamily="34" charset="-120"/>
              </a:rPr>
              <a:t>double oval</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Attributes: Types</a:t>
            </a:r>
            <a:endParaRPr lang="en-US" sz="3000" dirty="0"/>
          </a:p>
        </p:txBody>
      </p:sp>
      <p:sp>
        <p:nvSpPr>
          <p:cNvPr id="7" name="Text 5"/>
          <p:cNvSpPr txBox="1"/>
          <p:nvPr/>
        </p:nvSpPr>
        <p:spPr>
          <a:xfrm>
            <a:off x="640080" y="932688"/>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Derived Attributes</a:t>
            </a:r>
            <a:endParaRPr lang="en-US" sz="1500" dirty="0"/>
          </a:p>
        </p:txBody>
      </p:sp>
      <p:sp>
        <p:nvSpPr>
          <p:cNvPr id="8" name="Text 6"/>
          <p:cNvSpPr txBox="1"/>
          <p:nvPr/>
        </p:nvSpPr>
        <p:spPr>
          <a:xfrm>
            <a:off x="640080" y="1325880"/>
            <a:ext cx="7863840" cy="41148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Derived attributes are computed from other attributes.</a:t>
            </a:r>
            <a:endParaRPr lang="en-US" sz="1500" dirty="0"/>
          </a:p>
        </p:txBody>
      </p:sp>
      <p:sp>
        <p:nvSpPr>
          <p:cNvPr id="9" name="Shape 7"/>
          <p:cNvSpPr/>
          <p:nvPr/>
        </p:nvSpPr>
        <p:spPr>
          <a:xfrm>
            <a:off x="1188720" y="1874520"/>
            <a:ext cx="6766560" cy="2743200"/>
          </a:xfrm>
          <a:prstGeom prst="roundRect">
            <a:avLst>
              <a:gd name="adj" fmla="val 4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p:nvPr/>
        </p:nvSpPr>
        <p:spPr>
          <a:xfrm>
            <a:off x="2272284" y="305409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1" name="Text 9"/>
          <p:cNvSpPr/>
          <p:nvPr/>
        </p:nvSpPr>
        <p:spPr>
          <a:xfrm>
            <a:off x="4663440" y="2496312"/>
            <a:ext cx="914400" cy="310896"/>
          </a:xfrm>
          <a:prstGeom prst="ellipse">
            <a:avLst/>
          </a:prstGeom>
          <a:solidFill>
            <a:srgbClr val="FFFFFF"/>
          </a:solidFill>
          <a:ln w="12700">
            <a:solidFill>
              <a:srgbClr val="2B5797"/>
            </a:solidFill>
            <a:prstDash val="dash"/>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Age</a:t>
            </a:r>
            <a:endParaRPr lang="en-US" sz="1100" dirty="0"/>
          </a:p>
        </p:txBody>
      </p:sp>
      <p:sp>
        <p:nvSpPr>
          <p:cNvPr id="12" name="Text 10"/>
          <p:cNvSpPr/>
          <p:nvPr/>
        </p:nvSpPr>
        <p:spPr>
          <a:xfrm>
            <a:off x="4663440" y="3730752"/>
            <a:ext cx="914400" cy="310896"/>
          </a:xfrm>
          <a:prstGeom prst="ellipse">
            <a:avLst/>
          </a:prstGeom>
          <a:solidFill>
            <a:srgbClr val="FFFFFF"/>
          </a:solidFill>
          <a:ln w="12700">
            <a:solidFill>
              <a:srgbClr val="2B5797"/>
            </a:solidFill>
            <a:prstDash val="dash"/>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Bonus</a:t>
            </a:r>
            <a:endParaRPr lang="en-US" sz="1100" dirty="0"/>
          </a:p>
        </p:txBody>
      </p:sp>
      <p:sp>
        <p:nvSpPr>
          <p:cNvPr id="13" name="Shape 11"/>
          <p:cNvSpPr/>
          <p:nvPr/>
        </p:nvSpPr>
        <p:spPr>
          <a:xfrm flipH="1">
            <a:off x="3214116" y="2743846"/>
            <a:ext cx="1538180" cy="384545"/>
          </a:xfrm>
          <a:prstGeom prst="line">
            <a:avLst/>
          </a:prstGeom>
          <a:noFill/>
          <a:ln w="15875">
            <a:solidFill>
              <a:srgbClr val="3D5A73"/>
            </a:solidFill>
            <a:prstDash val="solid"/>
          </a:ln>
        </p:spPr>
        <p:txBody>
          <a:bodyPr/>
          <a:lstStyle/>
          <a:p>
            <a:endParaRPr lang="en-US"/>
          </a:p>
        </p:txBody>
      </p:sp>
      <p:sp>
        <p:nvSpPr>
          <p:cNvPr id="14" name="Shape 12"/>
          <p:cNvSpPr/>
          <p:nvPr/>
        </p:nvSpPr>
        <p:spPr>
          <a:xfrm flipH="1" flipV="1">
            <a:off x="3214116" y="3372905"/>
            <a:ext cx="1548091" cy="416794"/>
          </a:xfrm>
          <a:prstGeom prst="line">
            <a:avLst/>
          </a:prstGeom>
          <a:noFill/>
          <a:ln w="15875">
            <a:solidFill>
              <a:srgbClr val="3D5A73"/>
            </a:solidFill>
            <a:prstDash val="solid"/>
          </a:ln>
        </p:spPr>
        <p:txBody>
          <a:bodyPr/>
          <a:lstStyle/>
          <a:p>
            <a:endParaRPr lang="en-US"/>
          </a:p>
        </p:txBody>
      </p:sp>
      <p:sp>
        <p:nvSpPr>
          <p:cNvPr id="15" name="Text 13"/>
          <p:cNvSpPr/>
          <p:nvPr/>
        </p:nvSpPr>
        <p:spPr>
          <a:xfrm>
            <a:off x="5852160" y="2103120"/>
            <a:ext cx="1828800" cy="310896"/>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050" dirty="0">
                <a:solidFill>
                  <a:srgbClr val="1F2D3D"/>
                </a:solidFill>
                <a:latin typeface="Calibri" pitchFamily="34" charset="0"/>
                <a:ea typeface="Calibri" pitchFamily="34" charset="-122"/>
                <a:cs typeface="Calibri" pitchFamily="34" charset="-120"/>
              </a:rPr>
              <a:t>Can be derived from DoB</a:t>
            </a:r>
            <a:endParaRPr lang="en-US" sz="1050" dirty="0"/>
          </a:p>
        </p:txBody>
      </p:sp>
      <p:sp>
        <p:nvSpPr>
          <p:cNvPr id="16" name="Text 14"/>
          <p:cNvSpPr/>
          <p:nvPr/>
        </p:nvSpPr>
        <p:spPr>
          <a:xfrm>
            <a:off x="5852160" y="4160520"/>
            <a:ext cx="1965960" cy="310896"/>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050" dirty="0">
                <a:solidFill>
                  <a:srgbClr val="1F2D3D"/>
                </a:solidFill>
                <a:latin typeface="Calibri" pitchFamily="34" charset="0"/>
                <a:ea typeface="Calibri" pitchFamily="34" charset="-122"/>
                <a:cs typeface="Calibri" pitchFamily="34" charset="-120"/>
              </a:rPr>
              <a:t>Can be derived from salary</a:t>
            </a:r>
            <a:endParaRPr lang="en-US" sz="1050" dirty="0"/>
          </a:p>
        </p:txBody>
      </p:sp>
      <p:sp>
        <p:nvSpPr>
          <p:cNvPr id="17" name="Text 15"/>
          <p:cNvSpPr txBox="1"/>
          <p:nvPr/>
        </p:nvSpPr>
        <p:spPr>
          <a:xfrm>
            <a:off x="1371600" y="4206240"/>
            <a:ext cx="2286000" cy="256032"/>
          </a:xfrm>
          <a:prstGeom prst="rect">
            <a:avLst/>
          </a:prstGeom>
          <a:noFill/>
          <a:ln/>
        </p:spPr>
        <p:txBody>
          <a:bodyPr wrap="square" lIns="0" tIns="0" rIns="0" bIns="0" rtlCol="0" anchor="ctr"/>
          <a:lstStyle/>
          <a:p>
            <a:pPr marL="0" indent="0" algn="ctr">
              <a:buNone/>
            </a:pPr>
            <a:r>
              <a:rPr lang="en-US" sz="1050" i="1" dirty="0">
                <a:solidFill>
                  <a:srgbClr val="5A7079"/>
                </a:solidFill>
                <a:latin typeface="Calibri" pitchFamily="34" charset="0"/>
                <a:ea typeface="Calibri" pitchFamily="34" charset="-122"/>
                <a:cs typeface="Calibri" pitchFamily="34" charset="-120"/>
              </a:rPr>
              <a:t>dashed oval = derived</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Attributes: Types</a:t>
            </a:r>
            <a:endParaRPr lang="en-US" sz="3000" dirty="0"/>
          </a:p>
        </p:txBody>
      </p:sp>
      <p:sp>
        <p:nvSpPr>
          <p:cNvPr id="7" name="Text 5"/>
          <p:cNvSpPr txBox="1"/>
          <p:nvPr/>
        </p:nvSpPr>
        <p:spPr>
          <a:xfrm>
            <a:off x="640080" y="932688"/>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Key Attributes</a:t>
            </a:r>
            <a:endParaRPr lang="en-US" sz="1500" dirty="0"/>
          </a:p>
        </p:txBody>
      </p:sp>
      <p:sp>
        <p:nvSpPr>
          <p:cNvPr id="8" name="Text 6"/>
          <p:cNvSpPr txBox="1"/>
          <p:nvPr/>
        </p:nvSpPr>
        <p:spPr>
          <a:xfrm>
            <a:off x="640080" y="1325880"/>
            <a:ext cx="7863840" cy="36576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Key attributes uniquely identify an entity.</a:t>
            </a:r>
            <a:endParaRPr lang="en-US" sz="1500" dirty="0"/>
          </a:p>
        </p:txBody>
      </p:sp>
      <p:sp>
        <p:nvSpPr>
          <p:cNvPr id="9" name="Shape 7"/>
          <p:cNvSpPr/>
          <p:nvPr/>
        </p:nvSpPr>
        <p:spPr>
          <a:xfrm>
            <a:off x="640080" y="1874520"/>
            <a:ext cx="3291840" cy="2697480"/>
          </a:xfrm>
          <a:prstGeom prst="roundRect">
            <a:avLst>
              <a:gd name="adj" fmla="val 4068"/>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txBox="1"/>
          <p:nvPr/>
        </p:nvSpPr>
        <p:spPr>
          <a:xfrm>
            <a:off x="777240" y="1965960"/>
            <a:ext cx="914400" cy="256032"/>
          </a:xfrm>
          <a:prstGeom prst="rect">
            <a:avLst/>
          </a:prstGeom>
          <a:noFill/>
          <a:ln/>
        </p:spPr>
        <p:txBody>
          <a:bodyPr wrap="square" lIns="0" tIns="0" rIns="0" bIns="0" rtlCol="0" anchor="ctr"/>
          <a:lstStyle/>
          <a:p>
            <a:pPr marL="0" indent="0" algn="l">
              <a:buNone/>
            </a:pPr>
            <a:r>
              <a:rPr lang="en-US" sz="1200" b="1" i="1" dirty="0">
                <a:solidFill>
                  <a:srgbClr val="55BFAE"/>
                </a:solidFill>
                <a:latin typeface="Calibri" pitchFamily="34" charset="0"/>
                <a:ea typeface="Calibri" pitchFamily="34" charset="-122"/>
                <a:cs typeface="Calibri" pitchFamily="34" charset="-120"/>
              </a:rPr>
              <a:t>ERD</a:t>
            </a:r>
            <a:endParaRPr lang="en-US" sz="1200" dirty="0"/>
          </a:p>
        </p:txBody>
      </p:sp>
      <p:sp>
        <p:nvSpPr>
          <p:cNvPr id="11" name="Text 9"/>
          <p:cNvSpPr/>
          <p:nvPr/>
        </p:nvSpPr>
        <p:spPr>
          <a:xfrm>
            <a:off x="1129284" y="305409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2" name="Text 10"/>
          <p:cNvSpPr/>
          <p:nvPr/>
        </p:nvSpPr>
        <p:spPr>
          <a:xfrm>
            <a:off x="2628900" y="2542032"/>
            <a:ext cx="86868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b="1" u="sng" dirty="0">
                <a:solidFill>
                  <a:srgbClr val="1F2D3D"/>
                </a:solidFill>
                <a:latin typeface="Calibri" pitchFamily="34" charset="0"/>
                <a:ea typeface="Calibri" pitchFamily="34" charset="-122"/>
                <a:cs typeface="Calibri" pitchFamily="34" charset="-120"/>
              </a:rPr>
              <a:t>EmpNo</a:t>
            </a:r>
            <a:endParaRPr lang="en-US" sz="1000" dirty="0"/>
          </a:p>
        </p:txBody>
      </p:sp>
      <p:sp>
        <p:nvSpPr>
          <p:cNvPr id="13" name="Shape 11"/>
          <p:cNvSpPr/>
          <p:nvPr/>
        </p:nvSpPr>
        <p:spPr>
          <a:xfrm flipH="1">
            <a:off x="2071116" y="2809933"/>
            <a:ext cx="692249" cy="259593"/>
          </a:xfrm>
          <a:prstGeom prst="line">
            <a:avLst/>
          </a:prstGeom>
          <a:noFill/>
          <a:ln w="15875">
            <a:solidFill>
              <a:srgbClr val="3D5A73"/>
            </a:solidFill>
            <a:prstDash val="solid"/>
          </a:ln>
        </p:spPr>
        <p:txBody>
          <a:bodyPr/>
          <a:lstStyle/>
          <a:p>
            <a:endParaRPr lang="en-US"/>
          </a:p>
        </p:txBody>
      </p:sp>
      <p:sp>
        <p:nvSpPr>
          <p:cNvPr id="14" name="Text 12"/>
          <p:cNvSpPr/>
          <p:nvPr/>
        </p:nvSpPr>
        <p:spPr>
          <a:xfrm>
            <a:off x="2628900" y="3639312"/>
            <a:ext cx="86868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Name</a:t>
            </a:r>
            <a:endParaRPr lang="en-US" sz="1000" dirty="0"/>
          </a:p>
        </p:txBody>
      </p:sp>
      <p:sp>
        <p:nvSpPr>
          <p:cNvPr id="15" name="Shape 13"/>
          <p:cNvSpPr/>
          <p:nvPr/>
        </p:nvSpPr>
        <p:spPr>
          <a:xfrm flipH="1" flipV="1">
            <a:off x="2071116" y="3422714"/>
            <a:ext cx="692249" cy="259593"/>
          </a:xfrm>
          <a:prstGeom prst="line">
            <a:avLst/>
          </a:prstGeom>
          <a:noFill/>
          <a:ln w="15875">
            <a:solidFill>
              <a:srgbClr val="3D5A73"/>
            </a:solidFill>
            <a:prstDash val="solid"/>
          </a:ln>
        </p:spPr>
        <p:txBody>
          <a:bodyPr/>
          <a:lstStyle/>
          <a:p>
            <a:endParaRPr lang="en-US"/>
          </a:p>
        </p:txBody>
      </p:sp>
      <p:sp>
        <p:nvSpPr>
          <p:cNvPr id="16" name="Shape 14"/>
          <p:cNvSpPr/>
          <p:nvPr/>
        </p:nvSpPr>
        <p:spPr>
          <a:xfrm>
            <a:off x="4206240" y="1874520"/>
            <a:ext cx="4297680" cy="2697480"/>
          </a:xfrm>
          <a:prstGeom prst="roundRect">
            <a:avLst>
              <a:gd name="adj" fmla="val 4068"/>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5"/>
          <p:cNvSpPr txBox="1"/>
          <p:nvPr/>
        </p:nvSpPr>
        <p:spPr>
          <a:xfrm>
            <a:off x="4343400" y="1965960"/>
            <a:ext cx="1371600" cy="256032"/>
          </a:xfrm>
          <a:prstGeom prst="rect">
            <a:avLst/>
          </a:prstGeom>
          <a:noFill/>
          <a:ln/>
        </p:spPr>
        <p:txBody>
          <a:bodyPr wrap="square" lIns="0" tIns="0" rIns="0" bIns="0" rtlCol="0" anchor="ctr"/>
          <a:lstStyle/>
          <a:p>
            <a:pPr marL="0" indent="0" algn="l">
              <a:buNone/>
            </a:pPr>
            <a:r>
              <a:rPr lang="en-US" sz="1200" b="1" i="1" dirty="0">
                <a:solidFill>
                  <a:srgbClr val="55BFAE"/>
                </a:solidFill>
                <a:latin typeface="Calibri" pitchFamily="34" charset="0"/>
                <a:ea typeface="Calibri" pitchFamily="34" charset="-122"/>
                <a:cs typeface="Calibri" pitchFamily="34" charset="-120"/>
              </a:rPr>
              <a:t>Tabular</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434840" y="2331720"/>
          <a:ext cx="3840480" cy="1755648"/>
        </p:xfrm>
        <a:graphic>
          <a:graphicData uri="http://schemas.openxmlformats.org/drawingml/2006/table">
            <a:tbl>
              <a:tblPr/>
              <a:tblGrid>
                <a:gridCol w="11887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tblGrid>
              <a:tr h="43891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EmpNo</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Name</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438912">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123456</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John Wong</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r h="438912">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456789</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Mary Cheung</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438912">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146777</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John Wong</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Attributes: Types</a:t>
            </a:r>
            <a:endParaRPr lang="en-US" sz="3000" dirty="0"/>
          </a:p>
        </p:txBody>
      </p:sp>
      <p:sp>
        <p:nvSpPr>
          <p:cNvPr id="7" name="Text 5"/>
          <p:cNvSpPr txBox="1"/>
          <p:nvPr/>
        </p:nvSpPr>
        <p:spPr>
          <a:xfrm>
            <a:off x="640080" y="932688"/>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Composite Key</a:t>
            </a:r>
            <a:endParaRPr lang="en-US" sz="1500" dirty="0"/>
          </a:p>
        </p:txBody>
      </p:sp>
      <p:sp>
        <p:nvSpPr>
          <p:cNvPr id="8" name="Text 6"/>
          <p:cNvSpPr txBox="1"/>
          <p:nvPr/>
        </p:nvSpPr>
        <p:spPr>
          <a:xfrm>
            <a:off x="640080" y="1325880"/>
            <a:ext cx="7863840" cy="457200"/>
          </a:xfrm>
          <a:prstGeom prst="rect">
            <a:avLst/>
          </a:prstGeom>
          <a:noFill/>
          <a:ln/>
        </p:spPr>
        <p:txBody>
          <a:bodyPr wrap="square" lIns="0" tIns="0" rIns="0" bIns="0" rtlCol="0" anchor="ctr"/>
          <a:lstStyle/>
          <a:p>
            <a:pPr marL="0" indent="0">
              <a:buNone/>
            </a:pPr>
            <a:r>
              <a:rPr lang="en-US" sz="1500" b="1" i="1" dirty="0">
                <a:solidFill>
                  <a:srgbClr val="B03A2E"/>
                </a:solidFill>
                <a:latin typeface="Calibri" pitchFamily="34" charset="0"/>
                <a:ea typeface="Calibri" pitchFamily="34" charset="-122"/>
                <a:cs typeface="Calibri" pitchFamily="34" charset="-120"/>
              </a:rPr>
              <a:t>Name</a:t>
            </a:r>
            <a:r>
              <a:rPr lang="en-US" sz="1500" dirty="0">
                <a:solidFill>
                  <a:srgbClr val="1F3B47"/>
                </a:solidFill>
                <a:latin typeface="Calibri" pitchFamily="34" charset="0"/>
                <a:ea typeface="Calibri" pitchFamily="34" charset="-122"/>
                <a:cs typeface="Calibri" pitchFamily="34" charset="-120"/>
              </a:rPr>
              <a:t> or </a:t>
            </a:r>
            <a:r>
              <a:rPr lang="en-US" sz="1500" b="1" i="1" dirty="0">
                <a:solidFill>
                  <a:srgbClr val="B03A2E"/>
                </a:solidFill>
                <a:latin typeface="Calibri" pitchFamily="34" charset="0"/>
                <a:ea typeface="Calibri" pitchFamily="34" charset="-122"/>
                <a:cs typeface="Calibri" pitchFamily="34" charset="-120"/>
              </a:rPr>
              <a:t>Address</a:t>
            </a:r>
            <a:r>
              <a:rPr lang="en-US" sz="1500" dirty="0">
                <a:solidFill>
                  <a:srgbClr val="1F3B47"/>
                </a:solidFill>
                <a:latin typeface="Calibri" pitchFamily="34" charset="0"/>
                <a:ea typeface="Calibri" pitchFamily="34" charset="-122"/>
                <a:cs typeface="Calibri" pitchFamily="34" charset="-120"/>
              </a:rPr>
              <a:t> alone cannot uniquely identify an employee, but together they can!</a:t>
            </a:r>
            <a:endParaRPr lang="en-US" sz="1500" dirty="0"/>
          </a:p>
        </p:txBody>
      </p:sp>
      <p:sp>
        <p:nvSpPr>
          <p:cNvPr id="9" name="Shape 7"/>
          <p:cNvSpPr/>
          <p:nvPr/>
        </p:nvSpPr>
        <p:spPr>
          <a:xfrm>
            <a:off x="1188720" y="1965960"/>
            <a:ext cx="6766560" cy="2606040"/>
          </a:xfrm>
          <a:prstGeom prst="roundRect">
            <a:avLst>
              <a:gd name="adj" fmla="val 4211"/>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p:nvPr/>
        </p:nvSpPr>
        <p:spPr>
          <a:xfrm>
            <a:off x="2546604" y="305409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1" name="Text 9"/>
          <p:cNvSpPr/>
          <p:nvPr/>
        </p:nvSpPr>
        <p:spPr>
          <a:xfrm>
            <a:off x="5052060" y="2542032"/>
            <a:ext cx="105156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b="1" u="sng" dirty="0">
                <a:solidFill>
                  <a:srgbClr val="1F2D3D"/>
                </a:solidFill>
                <a:latin typeface="Calibri" pitchFamily="34" charset="0"/>
                <a:ea typeface="Calibri" pitchFamily="34" charset="-122"/>
                <a:cs typeface="Calibri" pitchFamily="34" charset="-120"/>
              </a:rPr>
              <a:t>Address</a:t>
            </a:r>
            <a:endParaRPr lang="en-US" sz="1100" dirty="0"/>
          </a:p>
        </p:txBody>
      </p:sp>
      <p:sp>
        <p:nvSpPr>
          <p:cNvPr id="12" name="Shape 10"/>
          <p:cNvSpPr/>
          <p:nvPr/>
        </p:nvSpPr>
        <p:spPr>
          <a:xfrm flipH="1">
            <a:off x="3488436" y="2788706"/>
            <a:ext cx="1663685" cy="356504"/>
          </a:xfrm>
          <a:prstGeom prst="line">
            <a:avLst/>
          </a:prstGeom>
          <a:noFill/>
          <a:ln w="15875">
            <a:solidFill>
              <a:srgbClr val="3D5A73"/>
            </a:solidFill>
            <a:prstDash val="solid"/>
          </a:ln>
        </p:spPr>
        <p:txBody>
          <a:bodyPr/>
          <a:lstStyle/>
          <a:p>
            <a:endParaRPr lang="en-US"/>
          </a:p>
        </p:txBody>
      </p:sp>
      <p:sp>
        <p:nvSpPr>
          <p:cNvPr id="13" name="Text 11"/>
          <p:cNvSpPr/>
          <p:nvPr/>
        </p:nvSpPr>
        <p:spPr>
          <a:xfrm>
            <a:off x="5052060" y="3639312"/>
            <a:ext cx="105156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b="1" u="sng" dirty="0">
                <a:solidFill>
                  <a:srgbClr val="1F2D3D"/>
                </a:solidFill>
                <a:latin typeface="Calibri" pitchFamily="34" charset="0"/>
                <a:ea typeface="Calibri" pitchFamily="34" charset="-122"/>
                <a:cs typeface="Calibri" pitchFamily="34" charset="-120"/>
              </a:rPr>
              <a:t>Name</a:t>
            </a:r>
            <a:endParaRPr lang="en-US" sz="1100" dirty="0"/>
          </a:p>
        </p:txBody>
      </p:sp>
      <p:sp>
        <p:nvSpPr>
          <p:cNvPr id="14" name="Shape 12"/>
          <p:cNvSpPr/>
          <p:nvPr/>
        </p:nvSpPr>
        <p:spPr>
          <a:xfrm flipH="1" flipV="1">
            <a:off x="3488436" y="3347031"/>
            <a:ext cx="1663685" cy="356504"/>
          </a:xfrm>
          <a:prstGeom prst="line">
            <a:avLst/>
          </a:prstGeom>
          <a:noFill/>
          <a:ln w="15875">
            <a:solidFill>
              <a:srgbClr val="3D5A73"/>
            </a:solidFill>
            <a:prstDash val="solid"/>
          </a:ln>
        </p:spPr>
        <p:txBody>
          <a:bodyPr/>
          <a:lstStyle/>
          <a:p>
            <a:endParaRPr lang="en-US"/>
          </a:p>
        </p:txBody>
      </p:sp>
      <p:sp>
        <p:nvSpPr>
          <p:cNvPr id="15" name="Text 13"/>
          <p:cNvSpPr txBox="1"/>
          <p:nvPr/>
        </p:nvSpPr>
        <p:spPr>
          <a:xfrm>
            <a:off x="6309360" y="3108960"/>
            <a:ext cx="1645920" cy="256032"/>
          </a:xfrm>
          <a:prstGeom prst="rect">
            <a:avLst/>
          </a:prstGeom>
          <a:noFill/>
          <a:ln/>
        </p:spPr>
        <p:txBody>
          <a:bodyPr wrap="square" lIns="0" tIns="0" rIns="0" bIns="0" rtlCol="0" anchor="ctr"/>
          <a:lstStyle/>
          <a:p>
            <a:pPr marL="0" indent="0" algn="ctr">
              <a:buNone/>
            </a:pPr>
            <a:r>
              <a:rPr lang="en-US" sz="1100" i="1" dirty="0">
                <a:solidFill>
                  <a:srgbClr val="5A7079"/>
                </a:solidFill>
                <a:latin typeface="Calibri" pitchFamily="34" charset="0"/>
                <a:ea typeface="Calibri" pitchFamily="34" charset="-122"/>
                <a:cs typeface="Calibri" pitchFamily="34" charset="-120"/>
              </a:rPr>
              <a:t>together = key</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Attributes: Types</a:t>
            </a:r>
            <a:endParaRPr lang="en-US" sz="3000" dirty="0"/>
          </a:p>
        </p:txBody>
      </p:sp>
      <p:sp>
        <p:nvSpPr>
          <p:cNvPr id="7" name="Text 5"/>
          <p:cNvSpPr txBox="1"/>
          <p:nvPr/>
        </p:nvSpPr>
        <p:spPr>
          <a:xfrm>
            <a:off x="640080" y="1005840"/>
            <a:ext cx="7863840" cy="13716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3B47"/>
                </a:solidFill>
                <a:latin typeface="Calibri" pitchFamily="34" charset="0"/>
                <a:ea typeface="Calibri" pitchFamily="34" charset="-122"/>
                <a:cs typeface="Calibri" pitchFamily="34" charset="-120"/>
              </a:rPr>
              <a:t>An entity can have more than one candidate key.</a:t>
            </a:r>
            <a:endParaRPr lang="en-US" sz="1500" dirty="0"/>
          </a:p>
          <a:p>
            <a:pPr marL="342900" indent="-342900">
              <a:spcAft>
                <a:spcPts val="600"/>
              </a:spcAft>
              <a:buSzPct val="100000"/>
              <a:buChar char="•"/>
            </a:pPr>
            <a:r>
              <a:rPr lang="en-US" sz="1500" dirty="0">
                <a:solidFill>
                  <a:srgbClr val="1F3B47"/>
                </a:solidFill>
                <a:latin typeface="Calibri" pitchFamily="34" charset="0"/>
                <a:ea typeface="Calibri" pitchFamily="34" charset="-122"/>
                <a:cs typeface="Calibri" pitchFamily="34" charset="-120"/>
              </a:rPr>
              <a:t>One of them is selected as the key — the primary key.</a:t>
            </a:r>
            <a:endParaRPr lang="en-US" sz="1500" dirty="0"/>
          </a:p>
          <a:p>
            <a:pPr marL="342900" indent="-342900">
              <a:spcAft>
                <a:spcPts val="600"/>
              </a:spcAft>
              <a:buSzPct val="100000"/>
              <a:buChar char="•"/>
            </a:pPr>
            <a:r>
              <a:rPr lang="en-US" sz="1500" dirty="0">
                <a:solidFill>
                  <a:srgbClr val="1F3B47"/>
                </a:solidFill>
                <a:latin typeface="Calibri" pitchFamily="34" charset="0"/>
                <a:ea typeface="Calibri" pitchFamily="34" charset="-122"/>
                <a:cs typeface="Calibri" pitchFamily="34" charset="-120"/>
              </a:rPr>
              <a:t>In many cases, a key is artificially introduced (e.g. EmpNo) to make applications more efficient.</a:t>
            </a:r>
            <a:endParaRPr lang="en-US" sz="1500" dirty="0"/>
          </a:p>
        </p:txBody>
      </p:sp>
      <p:sp>
        <p:nvSpPr>
          <p:cNvPr id="8" name="Shape 6"/>
          <p:cNvSpPr/>
          <p:nvPr/>
        </p:nvSpPr>
        <p:spPr>
          <a:xfrm>
            <a:off x="1188720" y="2423160"/>
            <a:ext cx="6766560" cy="2194560"/>
          </a:xfrm>
          <a:prstGeom prst="roundRect">
            <a:avLst>
              <a:gd name="adj" fmla="val 5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2272284" y="332841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0" name="Text 8"/>
          <p:cNvSpPr/>
          <p:nvPr/>
        </p:nvSpPr>
        <p:spPr>
          <a:xfrm>
            <a:off x="4549140" y="2770632"/>
            <a:ext cx="9601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b="1" u="sng" dirty="0">
                <a:solidFill>
                  <a:srgbClr val="1F2D3D"/>
                </a:solidFill>
                <a:latin typeface="Calibri" pitchFamily="34" charset="0"/>
                <a:ea typeface="Calibri" pitchFamily="34" charset="-122"/>
                <a:cs typeface="Calibri" pitchFamily="34" charset="-120"/>
              </a:rPr>
              <a:t>EmpNo</a:t>
            </a:r>
            <a:endParaRPr lang="en-US" sz="1100" dirty="0"/>
          </a:p>
        </p:txBody>
      </p:sp>
      <p:sp>
        <p:nvSpPr>
          <p:cNvPr id="11" name="Text 9"/>
          <p:cNvSpPr/>
          <p:nvPr/>
        </p:nvSpPr>
        <p:spPr>
          <a:xfrm>
            <a:off x="4549140" y="3364992"/>
            <a:ext cx="9601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Name</a:t>
            </a:r>
            <a:endParaRPr lang="en-US" sz="1100" dirty="0"/>
          </a:p>
        </p:txBody>
      </p:sp>
      <p:sp>
        <p:nvSpPr>
          <p:cNvPr id="12" name="Text 10"/>
          <p:cNvSpPr/>
          <p:nvPr/>
        </p:nvSpPr>
        <p:spPr>
          <a:xfrm>
            <a:off x="4457700" y="4005072"/>
            <a:ext cx="114300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SS_Number</a:t>
            </a:r>
            <a:endParaRPr lang="en-US" sz="1100" dirty="0"/>
          </a:p>
        </p:txBody>
      </p:sp>
      <p:sp>
        <p:nvSpPr>
          <p:cNvPr id="13" name="Shape 11"/>
          <p:cNvSpPr/>
          <p:nvPr/>
        </p:nvSpPr>
        <p:spPr>
          <a:xfrm flipH="1">
            <a:off x="3214116" y="3023405"/>
            <a:ext cx="1440758" cy="374597"/>
          </a:xfrm>
          <a:prstGeom prst="line">
            <a:avLst/>
          </a:prstGeom>
          <a:noFill/>
          <a:ln w="15875">
            <a:solidFill>
              <a:srgbClr val="3D5A73"/>
            </a:solidFill>
            <a:prstDash val="solid"/>
          </a:ln>
        </p:spPr>
        <p:txBody>
          <a:bodyPr/>
          <a:lstStyle/>
          <a:p>
            <a:endParaRPr lang="en-US"/>
          </a:p>
        </p:txBody>
      </p:sp>
      <p:sp>
        <p:nvSpPr>
          <p:cNvPr id="14" name="Shape 12"/>
          <p:cNvSpPr/>
          <p:nvPr/>
        </p:nvSpPr>
        <p:spPr>
          <a:xfrm flipH="1">
            <a:off x="3214116" y="3520440"/>
            <a:ext cx="1335024" cy="914"/>
          </a:xfrm>
          <a:prstGeom prst="line">
            <a:avLst/>
          </a:prstGeom>
          <a:noFill/>
          <a:ln w="15875">
            <a:solidFill>
              <a:srgbClr val="3D5A73"/>
            </a:solidFill>
            <a:prstDash val="solid"/>
          </a:ln>
        </p:spPr>
        <p:txBody>
          <a:bodyPr/>
          <a:lstStyle/>
          <a:p>
            <a:endParaRPr lang="en-US"/>
          </a:p>
        </p:txBody>
      </p:sp>
      <p:sp>
        <p:nvSpPr>
          <p:cNvPr id="15" name="Shape 13"/>
          <p:cNvSpPr/>
          <p:nvPr/>
        </p:nvSpPr>
        <p:spPr>
          <a:xfrm flipH="1" flipV="1">
            <a:off x="3214116" y="3652296"/>
            <a:ext cx="1416871" cy="396724"/>
          </a:xfrm>
          <a:prstGeom prst="line">
            <a:avLst/>
          </a:prstGeom>
          <a:noFill/>
          <a:ln w="15875">
            <a:solidFill>
              <a:srgbClr val="3D5A73"/>
            </a:solidFill>
            <a:prstDash val="solid"/>
          </a:ln>
        </p:spPr>
        <p:txBody>
          <a:bodyPr/>
          <a:lstStyle/>
          <a:p>
            <a:endParaRPr lang="en-US"/>
          </a:p>
        </p:txBody>
      </p:sp>
      <p:sp>
        <p:nvSpPr>
          <p:cNvPr id="16" name="Text 14"/>
          <p:cNvSpPr/>
          <p:nvPr/>
        </p:nvSpPr>
        <p:spPr>
          <a:xfrm>
            <a:off x="6492240" y="2770632"/>
            <a:ext cx="1188720" cy="310896"/>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Primary Key</a:t>
            </a:r>
            <a:endParaRPr lang="en-US" sz="1050" dirty="0"/>
          </a:p>
        </p:txBody>
      </p:sp>
      <p:sp>
        <p:nvSpPr>
          <p:cNvPr id="17" name="Shape 15"/>
          <p:cNvSpPr/>
          <p:nvPr/>
        </p:nvSpPr>
        <p:spPr>
          <a:xfrm flipH="1">
            <a:off x="5532120" y="2926080"/>
            <a:ext cx="941832" cy="914"/>
          </a:xfrm>
          <a:prstGeom prst="line">
            <a:avLst/>
          </a:prstGeom>
          <a:noFill/>
          <a:ln w="15875">
            <a:solidFill>
              <a:srgbClr val="3D5A73"/>
            </a:solidFill>
            <a:prstDash val="solid"/>
            <a:tailEnd type="triangle"/>
          </a:ln>
        </p:spPr>
        <p:txBody>
          <a:bodyPr/>
          <a:lstStyle/>
          <a:p>
            <a:endParaRPr lang="en-US"/>
          </a:p>
        </p:txBody>
      </p:sp>
      <p:sp>
        <p:nvSpPr>
          <p:cNvPr id="18" name="Text 16"/>
          <p:cNvSpPr/>
          <p:nvPr/>
        </p:nvSpPr>
        <p:spPr>
          <a:xfrm>
            <a:off x="3703320" y="2542032"/>
            <a:ext cx="822960" cy="274320"/>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050" dirty="0">
                <a:solidFill>
                  <a:srgbClr val="1F2D3D"/>
                </a:solidFill>
                <a:latin typeface="Calibri" pitchFamily="34" charset="0"/>
                <a:ea typeface="Calibri" pitchFamily="34" charset="-122"/>
                <a:cs typeface="Calibri" pitchFamily="34" charset="-120"/>
              </a:rPr>
              <a:t>Unique</a:t>
            </a:r>
            <a:endParaRPr lang="en-US" sz="1050" dirty="0"/>
          </a:p>
        </p:txBody>
      </p:sp>
      <p:sp>
        <p:nvSpPr>
          <p:cNvPr id="19" name="Shape 17"/>
          <p:cNvSpPr/>
          <p:nvPr/>
        </p:nvSpPr>
        <p:spPr>
          <a:xfrm>
            <a:off x="4526280" y="2679192"/>
            <a:ext cx="91440" cy="109728"/>
          </a:xfrm>
          <a:prstGeom prst="line">
            <a:avLst/>
          </a:prstGeom>
          <a:noFill/>
          <a:ln w="15875">
            <a:solidFill>
              <a:srgbClr val="3D5A73"/>
            </a:solidFill>
            <a:prstDash val="solid"/>
            <a:tailEnd type="triangle"/>
          </a:ln>
        </p:spPr>
        <p:txBody>
          <a:bodyPr/>
          <a:lstStyle/>
          <a:p>
            <a:endParaRPr lang="en-US"/>
          </a:p>
        </p:txBody>
      </p:sp>
      <p:sp>
        <p:nvSpPr>
          <p:cNvPr id="20" name="Text 18"/>
          <p:cNvSpPr/>
          <p:nvPr/>
        </p:nvSpPr>
        <p:spPr>
          <a:xfrm>
            <a:off x="6492240" y="4023360"/>
            <a:ext cx="822960" cy="274320"/>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050" dirty="0">
                <a:solidFill>
                  <a:srgbClr val="1F2D3D"/>
                </a:solidFill>
                <a:latin typeface="Calibri" pitchFamily="34" charset="0"/>
                <a:ea typeface="Calibri" pitchFamily="34" charset="-122"/>
                <a:cs typeface="Calibri" pitchFamily="34" charset="-120"/>
              </a:rPr>
              <a:t>Unique</a:t>
            </a:r>
            <a:endParaRPr lang="en-US" sz="1050" dirty="0"/>
          </a:p>
        </p:txBody>
      </p:sp>
      <p:sp>
        <p:nvSpPr>
          <p:cNvPr id="21" name="Shape 19"/>
          <p:cNvSpPr/>
          <p:nvPr/>
        </p:nvSpPr>
        <p:spPr>
          <a:xfrm flipH="1">
            <a:off x="5623560" y="4160520"/>
            <a:ext cx="850392" cy="914"/>
          </a:xfrm>
          <a:prstGeom prst="line">
            <a:avLst/>
          </a:prstGeom>
          <a:noFill/>
          <a:ln w="15875">
            <a:solidFill>
              <a:srgbClr val="3D5A73"/>
            </a:solidFill>
            <a:prstDash val="solid"/>
            <a:tailEnd type="triangle"/>
          </a:ln>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Relationship</a:t>
            </a:r>
            <a:endParaRPr lang="en-US" sz="3000" dirty="0"/>
          </a:p>
        </p:txBody>
      </p:sp>
      <p:sp>
        <p:nvSpPr>
          <p:cNvPr id="7" name="Text 5"/>
          <p:cNvSpPr txBox="1"/>
          <p:nvPr/>
        </p:nvSpPr>
        <p:spPr>
          <a:xfrm>
            <a:off x="640080" y="1005840"/>
            <a:ext cx="7863840" cy="9144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F3B47"/>
                </a:solidFill>
                <a:latin typeface="Calibri" pitchFamily="34" charset="0"/>
                <a:ea typeface="Calibri" pitchFamily="34" charset="-122"/>
                <a:cs typeface="Calibri" pitchFamily="34" charset="-120"/>
              </a:rPr>
              <a:t>A relationship is an association among several entities.</a:t>
            </a:r>
            <a:endParaRPr lang="en-US" sz="1600" dirty="0"/>
          </a:p>
          <a:p>
            <a:pPr marL="342900" indent="-342900">
              <a:spcAft>
                <a:spcPts val="600"/>
              </a:spcAft>
              <a:buSzPct val="100000"/>
              <a:buChar char="•"/>
            </a:pPr>
            <a:r>
              <a:rPr lang="en-US" sz="1600" dirty="0">
                <a:solidFill>
                  <a:srgbClr val="1F3B47"/>
                </a:solidFill>
                <a:latin typeface="Calibri" pitchFamily="34" charset="0"/>
                <a:ea typeface="Calibri" pitchFamily="34" charset="-122"/>
                <a:cs typeface="Calibri" pitchFamily="34" charset="-120"/>
              </a:rPr>
              <a:t>A relationship name is an active or a passive verb.</a:t>
            </a:r>
            <a:endParaRPr lang="en-US" sz="1600" dirty="0"/>
          </a:p>
        </p:txBody>
      </p:sp>
      <p:sp>
        <p:nvSpPr>
          <p:cNvPr id="8" name="Shape 6"/>
          <p:cNvSpPr/>
          <p:nvPr/>
        </p:nvSpPr>
        <p:spPr>
          <a:xfrm>
            <a:off x="1188720" y="2103120"/>
            <a:ext cx="6766560" cy="2468880"/>
          </a:xfrm>
          <a:prstGeom prst="roundRect">
            <a:avLst>
              <a:gd name="adj" fmla="val 4444"/>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1965960" y="2871216"/>
            <a:ext cx="118872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Author</a:t>
            </a:r>
            <a:endParaRPr lang="en-US" sz="1100" dirty="0"/>
          </a:p>
        </p:txBody>
      </p:sp>
      <p:sp>
        <p:nvSpPr>
          <p:cNvPr id="10" name="Text 8"/>
          <p:cNvSpPr/>
          <p:nvPr/>
        </p:nvSpPr>
        <p:spPr>
          <a:xfrm>
            <a:off x="3977640" y="2825496"/>
            <a:ext cx="118872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writes</a:t>
            </a:r>
            <a:endParaRPr lang="en-US" sz="1050" dirty="0"/>
          </a:p>
        </p:txBody>
      </p:sp>
      <p:sp>
        <p:nvSpPr>
          <p:cNvPr id="11" name="Text 9"/>
          <p:cNvSpPr/>
          <p:nvPr/>
        </p:nvSpPr>
        <p:spPr>
          <a:xfrm>
            <a:off x="5989320" y="2871216"/>
            <a:ext cx="118872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Book</a:t>
            </a:r>
            <a:endParaRPr lang="en-US" sz="1100" dirty="0"/>
          </a:p>
        </p:txBody>
      </p:sp>
      <p:sp>
        <p:nvSpPr>
          <p:cNvPr id="12" name="Shape 10"/>
          <p:cNvSpPr/>
          <p:nvPr/>
        </p:nvSpPr>
        <p:spPr>
          <a:xfrm>
            <a:off x="3154680" y="3063240"/>
            <a:ext cx="822960" cy="914"/>
          </a:xfrm>
          <a:prstGeom prst="line">
            <a:avLst/>
          </a:prstGeom>
          <a:noFill/>
          <a:ln w="15875">
            <a:solidFill>
              <a:srgbClr val="3D5A73"/>
            </a:solidFill>
            <a:prstDash val="solid"/>
          </a:ln>
        </p:spPr>
        <p:txBody>
          <a:bodyPr/>
          <a:lstStyle/>
          <a:p>
            <a:endParaRPr lang="en-US"/>
          </a:p>
        </p:txBody>
      </p:sp>
      <p:sp>
        <p:nvSpPr>
          <p:cNvPr id="13" name="Shape 11"/>
          <p:cNvSpPr/>
          <p:nvPr/>
        </p:nvSpPr>
        <p:spPr>
          <a:xfrm>
            <a:off x="5166360" y="3063240"/>
            <a:ext cx="822960" cy="914"/>
          </a:xfrm>
          <a:prstGeom prst="line">
            <a:avLst/>
          </a:prstGeom>
          <a:noFill/>
          <a:ln w="15875">
            <a:solidFill>
              <a:srgbClr val="3D5A73"/>
            </a:solidFill>
            <a:prstDash val="solid"/>
          </a:ln>
        </p:spPr>
        <p:txBody>
          <a:bodyPr/>
          <a:lstStyle/>
          <a:p>
            <a:endParaRPr lang="en-US"/>
          </a:p>
        </p:txBody>
      </p:sp>
      <p:sp>
        <p:nvSpPr>
          <p:cNvPr id="14" name="Text 12"/>
          <p:cNvSpPr/>
          <p:nvPr/>
        </p:nvSpPr>
        <p:spPr>
          <a:xfrm>
            <a:off x="3794760" y="2286000"/>
            <a:ext cx="1554480" cy="292608"/>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050" dirty="0">
                <a:solidFill>
                  <a:srgbClr val="1F2D3D"/>
                </a:solidFill>
                <a:latin typeface="Calibri" pitchFamily="34" charset="0"/>
                <a:ea typeface="Calibri" pitchFamily="34" charset="-122"/>
                <a:cs typeface="Calibri" pitchFamily="34" charset="-120"/>
              </a:rPr>
              <a:t>Relationship name</a:t>
            </a:r>
            <a:endParaRPr lang="en-US" sz="1050" dirty="0"/>
          </a:p>
        </p:txBody>
      </p:sp>
      <p:sp>
        <p:nvSpPr>
          <p:cNvPr id="15" name="Text 13"/>
          <p:cNvSpPr/>
          <p:nvPr/>
        </p:nvSpPr>
        <p:spPr>
          <a:xfrm>
            <a:off x="2286000" y="3794760"/>
            <a:ext cx="4572000" cy="566928"/>
          </a:xfrm>
          <a:prstGeom prst="rect">
            <a:avLst/>
          </a:prstGeom>
          <a:solidFill>
            <a:srgbClr val="E8F4FB"/>
          </a:solidFill>
          <a:ln w="9525">
            <a:solidFill>
              <a:srgbClr val="7FB5D9"/>
            </a:solidFill>
          </a:ln>
        </p:spPr>
        <p:txBody>
          <a:bodyPr wrap="square" lIns="38100" tIns="38100" rIns="38100" bIns="38100" rtlCol="0" anchor="ctr"/>
          <a:lstStyle/>
          <a:p>
            <a:pPr marL="0" indent="0" algn="ctr">
              <a:buNone/>
            </a:pPr>
            <a:r>
              <a:rPr lang="en-US" sz="1200" dirty="0">
                <a:solidFill>
                  <a:srgbClr val="1F2D3D"/>
                </a:solidFill>
                <a:latin typeface="Calibri" pitchFamily="34" charset="0"/>
                <a:ea typeface="Calibri" pitchFamily="34" charset="-122"/>
                <a:cs typeface="Calibri" pitchFamily="34" charset="-120"/>
              </a:rPr>
              <a:t>An author writes a book.</a:t>
            </a:r>
            <a:endParaRPr lang="en-US" sz="1200" dirty="0"/>
          </a:p>
          <a:p>
            <a:pPr marL="0" indent="0" algn="ctr">
              <a:buNone/>
            </a:pPr>
            <a:r>
              <a:rPr lang="en-US" sz="1200" dirty="0">
                <a:solidFill>
                  <a:srgbClr val="1F2D3D"/>
                </a:solidFill>
                <a:latin typeface="Calibri" pitchFamily="34" charset="0"/>
                <a:ea typeface="Calibri" pitchFamily="34" charset="-122"/>
                <a:cs typeface="Calibri" pitchFamily="34" charset="-120"/>
              </a:rPr>
              <a:t>A book can be written by an author.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Relationship</a:t>
            </a:r>
            <a:endParaRPr lang="en-US" sz="3000" dirty="0"/>
          </a:p>
        </p:txBody>
      </p:sp>
      <p:sp>
        <p:nvSpPr>
          <p:cNvPr id="7" name="Text 5"/>
          <p:cNvSpPr txBox="1"/>
          <p:nvPr/>
        </p:nvSpPr>
        <p:spPr>
          <a:xfrm>
            <a:off x="640080" y="1005840"/>
            <a:ext cx="7863840" cy="59436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Given a </a:t>
            </a:r>
            <a:r>
              <a:rPr lang="en-US" sz="1500" i="1" dirty="0">
                <a:solidFill>
                  <a:srgbClr val="B03A2E"/>
                </a:solidFill>
                <a:latin typeface="Calibri" pitchFamily="34" charset="0"/>
                <a:ea typeface="Calibri" pitchFamily="34" charset="-122"/>
                <a:cs typeface="Calibri" pitchFamily="34" charset="-120"/>
              </a:rPr>
              <a:t>customer</a:t>
            </a:r>
            <a:r>
              <a:rPr lang="en-US" sz="1500" dirty="0">
                <a:solidFill>
                  <a:srgbClr val="1F3B47"/>
                </a:solidFill>
                <a:latin typeface="Calibri" pitchFamily="34" charset="0"/>
                <a:ea typeface="Calibri" pitchFamily="34" charset="-122"/>
                <a:cs typeface="Calibri" pitchFamily="34" charset="-120"/>
              </a:rPr>
              <a:t> and an </a:t>
            </a:r>
            <a:r>
              <a:rPr lang="en-US" sz="1500" i="1" dirty="0">
                <a:solidFill>
                  <a:srgbClr val="B03A2E"/>
                </a:solidFill>
                <a:latin typeface="Calibri" pitchFamily="34" charset="0"/>
                <a:ea typeface="Calibri" pitchFamily="34" charset="-122"/>
                <a:cs typeface="Calibri" pitchFamily="34" charset="-120"/>
              </a:rPr>
              <a:t>account</a:t>
            </a:r>
            <a:r>
              <a:rPr lang="en-US" sz="1500" dirty="0">
                <a:solidFill>
                  <a:srgbClr val="1F3B47"/>
                </a:solidFill>
                <a:latin typeface="Calibri" pitchFamily="34" charset="0"/>
                <a:ea typeface="Calibri" pitchFamily="34" charset="-122"/>
                <a:cs typeface="Calibri" pitchFamily="34" charset="-120"/>
              </a:rPr>
              <a:t>, the relationship </a:t>
            </a:r>
            <a:r>
              <a:rPr lang="en-US" sz="1500" i="1" dirty="0">
                <a:solidFill>
                  <a:srgbClr val="B03A2E"/>
                </a:solidFill>
                <a:latin typeface="Calibri" pitchFamily="34" charset="0"/>
                <a:ea typeface="Calibri" pitchFamily="34" charset="-122"/>
                <a:cs typeface="Calibri" pitchFamily="34" charset="-120"/>
              </a:rPr>
              <a:t>deposits</a:t>
            </a:r>
            <a:r>
              <a:rPr lang="en-US" sz="1500" dirty="0">
                <a:solidFill>
                  <a:srgbClr val="1F3B47"/>
                </a:solidFill>
                <a:latin typeface="Calibri" pitchFamily="34" charset="0"/>
                <a:ea typeface="Calibri" pitchFamily="34" charset="-122"/>
                <a:cs typeface="Calibri" pitchFamily="34" charset="-120"/>
              </a:rPr>
              <a:t> between them indicates that the customer deposits money into the account.</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1645920" y="1737360"/>
          <a:ext cx="5852160" cy="768096"/>
        </p:xfrm>
        <a:graphic>
          <a:graphicData uri="http://schemas.openxmlformats.org/drawingml/2006/table">
            <a:tbl>
              <a:tblPr/>
              <a:tblGrid>
                <a:gridCol w="192024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38404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Hayes</a:t>
                      </a:r>
                      <a:endParaRPr lang="en-US" sz="15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deposits</a:t>
                      </a:r>
                      <a:endParaRPr lang="en-US" sz="15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A-102</a:t>
                      </a:r>
                      <a:endParaRPr lang="en-US" sz="15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customer entity</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relationship</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00" dirty="0">
                          <a:solidFill>
                            <a:srgbClr val="1F3B47"/>
                          </a:solidFill>
                          <a:latin typeface="Calibri" pitchFamily="34" charset="0"/>
                          <a:ea typeface="Calibri" pitchFamily="34" charset="-122"/>
                          <a:cs typeface="Calibri" pitchFamily="34" charset="-120"/>
                        </a:rPr>
                        <a:t>account entity</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bl>
          </a:graphicData>
        </a:graphic>
      </p:graphicFrame>
      <p:sp>
        <p:nvSpPr>
          <p:cNvPr id="9" name="Text 6"/>
          <p:cNvSpPr txBox="1"/>
          <p:nvPr/>
        </p:nvSpPr>
        <p:spPr>
          <a:xfrm>
            <a:off x="640080" y="2743200"/>
            <a:ext cx="7315200" cy="320040"/>
          </a:xfrm>
          <a:prstGeom prst="rect">
            <a:avLst/>
          </a:prstGeom>
          <a:noFill/>
          <a:ln/>
        </p:spPr>
        <p:txBody>
          <a:bodyPr wrap="square" lIns="0" tIns="0" rIns="0" bIns="0" rtlCol="0" anchor="ctr"/>
          <a:lstStyle/>
          <a:p>
            <a:pPr marL="0" indent="0">
              <a:buNone/>
            </a:pPr>
            <a:r>
              <a:rPr lang="en-US" sz="1400" b="1" dirty="0">
                <a:solidFill>
                  <a:srgbClr val="55BFAE"/>
                </a:solidFill>
                <a:latin typeface="Calibri" pitchFamily="34" charset="0"/>
                <a:ea typeface="Calibri" pitchFamily="34" charset="-122"/>
                <a:cs typeface="Calibri" pitchFamily="34" charset="-120"/>
              </a:rPr>
              <a:t>Students enroll in courses</a:t>
            </a:r>
            <a:endParaRPr lang="en-US" sz="1400" dirty="0"/>
          </a:p>
        </p:txBody>
      </p:sp>
      <p:sp>
        <p:nvSpPr>
          <p:cNvPr id="10" name="Text 7"/>
          <p:cNvSpPr/>
          <p:nvPr/>
        </p:nvSpPr>
        <p:spPr>
          <a:xfrm>
            <a:off x="1783080" y="3328416"/>
            <a:ext cx="118872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Students</a:t>
            </a:r>
            <a:endParaRPr lang="en-US" sz="1100" dirty="0"/>
          </a:p>
        </p:txBody>
      </p:sp>
      <p:sp>
        <p:nvSpPr>
          <p:cNvPr id="11" name="Text 8"/>
          <p:cNvSpPr/>
          <p:nvPr/>
        </p:nvSpPr>
        <p:spPr>
          <a:xfrm>
            <a:off x="3977640" y="3282696"/>
            <a:ext cx="118872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Enroll</a:t>
            </a:r>
            <a:endParaRPr lang="en-US" sz="1050" dirty="0"/>
          </a:p>
        </p:txBody>
      </p:sp>
      <p:sp>
        <p:nvSpPr>
          <p:cNvPr id="12" name="Text 9"/>
          <p:cNvSpPr/>
          <p:nvPr/>
        </p:nvSpPr>
        <p:spPr>
          <a:xfrm>
            <a:off x="6172200" y="3328416"/>
            <a:ext cx="118872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Courses</a:t>
            </a:r>
            <a:endParaRPr lang="en-US" sz="1100" dirty="0"/>
          </a:p>
        </p:txBody>
      </p:sp>
      <p:sp>
        <p:nvSpPr>
          <p:cNvPr id="13" name="Shape 10"/>
          <p:cNvSpPr/>
          <p:nvPr/>
        </p:nvSpPr>
        <p:spPr>
          <a:xfrm>
            <a:off x="2971800" y="3520440"/>
            <a:ext cx="1005840" cy="914"/>
          </a:xfrm>
          <a:prstGeom prst="line">
            <a:avLst/>
          </a:prstGeom>
          <a:noFill/>
          <a:ln w="15875">
            <a:solidFill>
              <a:srgbClr val="3D5A73"/>
            </a:solidFill>
            <a:prstDash val="solid"/>
          </a:ln>
        </p:spPr>
        <p:txBody>
          <a:bodyPr/>
          <a:lstStyle/>
          <a:p>
            <a:endParaRPr lang="en-US"/>
          </a:p>
        </p:txBody>
      </p:sp>
      <p:sp>
        <p:nvSpPr>
          <p:cNvPr id="14" name="Shape 11"/>
          <p:cNvSpPr/>
          <p:nvPr/>
        </p:nvSpPr>
        <p:spPr>
          <a:xfrm>
            <a:off x="5166360" y="3520440"/>
            <a:ext cx="1005840" cy="914"/>
          </a:xfrm>
          <a:prstGeom prst="line">
            <a:avLst/>
          </a:prstGeom>
          <a:noFill/>
          <a:ln w="15875">
            <a:solidFill>
              <a:srgbClr val="3D5A73"/>
            </a:solidFill>
            <a:prstDash val="solid"/>
          </a:ln>
        </p:spPr>
        <p:txBody>
          <a:bodyPr/>
          <a:lstStyle/>
          <a:p>
            <a:endParaRPr lang="en-US"/>
          </a:p>
        </p:txBody>
      </p:sp>
      <p:sp>
        <p:nvSpPr>
          <p:cNvPr id="15" name="Text 12"/>
          <p:cNvSpPr/>
          <p:nvPr/>
        </p:nvSpPr>
        <p:spPr>
          <a:xfrm>
            <a:off x="3703320" y="4206240"/>
            <a:ext cx="1737360" cy="292608"/>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050" dirty="0">
                <a:solidFill>
                  <a:srgbClr val="1F2D3D"/>
                </a:solidFill>
                <a:latin typeface="Calibri" pitchFamily="34" charset="0"/>
                <a:ea typeface="Calibri" pitchFamily="34" charset="-122"/>
                <a:cs typeface="Calibri" pitchFamily="34" charset="-120"/>
              </a:rPr>
              <a:t>Represented by a diamond</a:t>
            </a:r>
            <a:endParaRPr lang="en-US" sz="1050" dirty="0"/>
          </a:p>
        </p:txBody>
      </p:sp>
      <p:sp>
        <p:nvSpPr>
          <p:cNvPr id="16" name="Shape 13"/>
          <p:cNvSpPr/>
          <p:nvPr/>
        </p:nvSpPr>
        <p:spPr>
          <a:xfrm flipV="1">
            <a:off x="4572000" y="3767328"/>
            <a:ext cx="914" cy="438912"/>
          </a:xfrm>
          <a:prstGeom prst="line">
            <a:avLst/>
          </a:prstGeom>
          <a:noFill/>
          <a:ln w="15875">
            <a:solidFill>
              <a:srgbClr val="3D5A73"/>
            </a:solidFill>
            <a:prstDash val="solid"/>
            <a:tailEnd type="triangle"/>
          </a:ln>
        </p:spPr>
        <p:txBody>
          <a:bodyP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22</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Relationships</a:t>
            </a:r>
            <a:endParaRPr lang="en-US" sz="3000" dirty="0"/>
          </a:p>
        </p:txBody>
      </p:sp>
      <p:sp>
        <p:nvSpPr>
          <p:cNvPr id="7" name="Text 5"/>
          <p:cNvSpPr txBox="1"/>
          <p:nvPr/>
        </p:nvSpPr>
        <p:spPr>
          <a:xfrm>
            <a:off x="640080" y="1005840"/>
            <a:ext cx="7863840" cy="8229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1F3B47"/>
                </a:solidFill>
                <a:latin typeface="Calibri" pitchFamily="34" charset="0"/>
                <a:ea typeface="Calibri" pitchFamily="34" charset="-122"/>
                <a:cs typeface="Calibri" pitchFamily="34" charset="-120"/>
              </a:rPr>
              <a:t>Students enroll in courses</a:t>
            </a:r>
            <a:endParaRPr lang="en-US" sz="1600" dirty="0"/>
          </a:p>
          <a:p>
            <a:pPr marL="342900" indent="-342900">
              <a:spcAft>
                <a:spcPts val="400"/>
              </a:spcAft>
              <a:buSzPct val="100000"/>
              <a:buChar char="•"/>
            </a:pPr>
            <a:r>
              <a:rPr lang="en-US" sz="1600" dirty="0">
                <a:solidFill>
                  <a:srgbClr val="1F3B47"/>
                </a:solidFill>
                <a:latin typeface="Calibri" pitchFamily="34" charset="0"/>
                <a:ea typeface="Calibri" pitchFamily="34" charset="-122"/>
                <a:cs typeface="Calibri" pitchFamily="34" charset="-120"/>
              </a:rPr>
              <a:t>Courses are held in rooms</a:t>
            </a:r>
            <a:endParaRPr lang="en-US" sz="1600" dirty="0"/>
          </a:p>
        </p:txBody>
      </p:sp>
      <p:sp>
        <p:nvSpPr>
          <p:cNvPr id="8" name="Shape 6"/>
          <p:cNvSpPr/>
          <p:nvPr/>
        </p:nvSpPr>
        <p:spPr>
          <a:xfrm>
            <a:off x="1188720" y="1874520"/>
            <a:ext cx="6766560" cy="2743200"/>
          </a:xfrm>
          <a:prstGeom prst="roundRect">
            <a:avLst>
              <a:gd name="adj" fmla="val 4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2080260" y="2322576"/>
            <a:ext cx="114300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Students</a:t>
            </a:r>
            <a:endParaRPr lang="en-US" sz="1100" dirty="0"/>
          </a:p>
        </p:txBody>
      </p:sp>
      <p:sp>
        <p:nvSpPr>
          <p:cNvPr id="10" name="Text 8"/>
          <p:cNvSpPr/>
          <p:nvPr/>
        </p:nvSpPr>
        <p:spPr>
          <a:xfrm>
            <a:off x="4023360" y="2276856"/>
            <a:ext cx="109728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Enroll</a:t>
            </a:r>
            <a:endParaRPr lang="en-US" sz="1050" dirty="0"/>
          </a:p>
        </p:txBody>
      </p:sp>
      <p:sp>
        <p:nvSpPr>
          <p:cNvPr id="11" name="Text 9"/>
          <p:cNvSpPr/>
          <p:nvPr/>
        </p:nvSpPr>
        <p:spPr>
          <a:xfrm>
            <a:off x="5920740" y="2322576"/>
            <a:ext cx="114300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Courses</a:t>
            </a:r>
            <a:endParaRPr lang="en-US" sz="1100" dirty="0"/>
          </a:p>
        </p:txBody>
      </p:sp>
      <p:sp>
        <p:nvSpPr>
          <p:cNvPr id="12" name="Text 10"/>
          <p:cNvSpPr/>
          <p:nvPr/>
        </p:nvSpPr>
        <p:spPr>
          <a:xfrm>
            <a:off x="6012180" y="3191256"/>
            <a:ext cx="96012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held</a:t>
            </a:r>
            <a:endParaRPr lang="en-US" sz="1050" dirty="0"/>
          </a:p>
        </p:txBody>
      </p:sp>
      <p:sp>
        <p:nvSpPr>
          <p:cNvPr id="13" name="Text 11"/>
          <p:cNvSpPr/>
          <p:nvPr/>
        </p:nvSpPr>
        <p:spPr>
          <a:xfrm>
            <a:off x="5920740" y="4014216"/>
            <a:ext cx="114300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Rooms</a:t>
            </a:r>
            <a:endParaRPr lang="en-US" sz="1100" dirty="0"/>
          </a:p>
        </p:txBody>
      </p:sp>
      <p:sp>
        <p:nvSpPr>
          <p:cNvPr id="14" name="Shape 12"/>
          <p:cNvSpPr/>
          <p:nvPr/>
        </p:nvSpPr>
        <p:spPr>
          <a:xfrm>
            <a:off x="3223260" y="2514600"/>
            <a:ext cx="800100" cy="914"/>
          </a:xfrm>
          <a:prstGeom prst="line">
            <a:avLst/>
          </a:prstGeom>
          <a:noFill/>
          <a:ln w="15875">
            <a:solidFill>
              <a:srgbClr val="3D5A73"/>
            </a:solidFill>
            <a:prstDash val="solid"/>
          </a:ln>
        </p:spPr>
        <p:txBody>
          <a:bodyPr/>
          <a:lstStyle/>
          <a:p>
            <a:endParaRPr lang="en-US"/>
          </a:p>
        </p:txBody>
      </p:sp>
      <p:sp>
        <p:nvSpPr>
          <p:cNvPr id="15" name="Shape 13"/>
          <p:cNvSpPr/>
          <p:nvPr/>
        </p:nvSpPr>
        <p:spPr>
          <a:xfrm>
            <a:off x="5120640" y="2514600"/>
            <a:ext cx="800100" cy="914"/>
          </a:xfrm>
          <a:prstGeom prst="line">
            <a:avLst/>
          </a:prstGeom>
          <a:noFill/>
          <a:ln w="15875">
            <a:solidFill>
              <a:srgbClr val="3D5A73"/>
            </a:solidFill>
            <a:prstDash val="solid"/>
          </a:ln>
        </p:spPr>
        <p:txBody>
          <a:bodyPr/>
          <a:lstStyle/>
          <a:p>
            <a:endParaRPr lang="en-US"/>
          </a:p>
        </p:txBody>
      </p:sp>
      <p:sp>
        <p:nvSpPr>
          <p:cNvPr id="16" name="Shape 14"/>
          <p:cNvSpPr/>
          <p:nvPr/>
        </p:nvSpPr>
        <p:spPr>
          <a:xfrm>
            <a:off x="6492240" y="2706624"/>
            <a:ext cx="914" cy="484632"/>
          </a:xfrm>
          <a:prstGeom prst="line">
            <a:avLst/>
          </a:prstGeom>
          <a:noFill/>
          <a:ln w="15875">
            <a:solidFill>
              <a:srgbClr val="3D5A73"/>
            </a:solidFill>
            <a:prstDash val="solid"/>
          </a:ln>
        </p:spPr>
        <p:txBody>
          <a:bodyPr/>
          <a:lstStyle/>
          <a:p>
            <a:endParaRPr lang="en-US"/>
          </a:p>
        </p:txBody>
      </p:sp>
      <p:sp>
        <p:nvSpPr>
          <p:cNvPr id="17" name="Shape 15"/>
          <p:cNvSpPr/>
          <p:nvPr/>
        </p:nvSpPr>
        <p:spPr>
          <a:xfrm>
            <a:off x="6492240" y="3666744"/>
            <a:ext cx="914" cy="347472"/>
          </a:xfrm>
          <a:prstGeom prst="line">
            <a:avLst/>
          </a:prstGeom>
          <a:noFill/>
          <a:ln w="15875">
            <a:solidFill>
              <a:srgbClr val="3D5A73"/>
            </a:solidFill>
            <a:prstDash val="solid"/>
          </a:ln>
        </p:spPr>
        <p:txBody>
          <a:bodyPr/>
          <a:lstStyle/>
          <a:p>
            <a:endParaRPr lang="en-US"/>
          </a:p>
        </p:txBody>
      </p:sp>
      <p:sp>
        <p:nvSpPr>
          <p:cNvPr id="18" name="Text 16"/>
          <p:cNvSpPr/>
          <p:nvPr/>
        </p:nvSpPr>
        <p:spPr>
          <a:xfrm>
            <a:off x="1737360" y="3364992"/>
            <a:ext cx="7315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ID</a:t>
            </a:r>
            <a:endParaRPr lang="en-US" sz="1100" dirty="0"/>
          </a:p>
        </p:txBody>
      </p:sp>
      <p:sp>
        <p:nvSpPr>
          <p:cNvPr id="19" name="Shape 17"/>
          <p:cNvSpPr/>
          <p:nvPr/>
        </p:nvSpPr>
        <p:spPr>
          <a:xfrm flipV="1">
            <a:off x="2185719" y="2706624"/>
            <a:ext cx="361300" cy="662384"/>
          </a:xfrm>
          <a:prstGeom prst="line">
            <a:avLst/>
          </a:prstGeom>
          <a:noFill/>
          <a:ln w="15875">
            <a:solidFill>
              <a:srgbClr val="3D5A73"/>
            </a:solidFill>
            <a:prstDash val="solid"/>
          </a:ln>
        </p:spPr>
        <p:txBody>
          <a:bodyPr/>
          <a:lstStyle/>
          <a:p>
            <a:endParaRPr lang="en-US"/>
          </a:p>
        </p:txBody>
      </p:sp>
      <p:sp>
        <p:nvSpPr>
          <p:cNvPr id="20" name="Text 18"/>
          <p:cNvSpPr/>
          <p:nvPr/>
        </p:nvSpPr>
        <p:spPr>
          <a:xfrm>
            <a:off x="2788920" y="3364992"/>
            <a:ext cx="82296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100" dirty="0">
                <a:solidFill>
                  <a:srgbClr val="1F2D3D"/>
                </a:solidFill>
                <a:latin typeface="Calibri" pitchFamily="34" charset="0"/>
                <a:ea typeface="Calibri" pitchFamily="34" charset="-122"/>
                <a:cs typeface="Calibri" pitchFamily="34" charset="-120"/>
              </a:rPr>
              <a:t>Name</a:t>
            </a:r>
            <a:endParaRPr lang="en-US" sz="1100" dirty="0"/>
          </a:p>
        </p:txBody>
      </p:sp>
      <p:sp>
        <p:nvSpPr>
          <p:cNvPr id="21" name="Shape 19"/>
          <p:cNvSpPr/>
          <p:nvPr/>
        </p:nvSpPr>
        <p:spPr>
          <a:xfrm flipH="1" flipV="1">
            <a:off x="2756500" y="2706624"/>
            <a:ext cx="360855" cy="661567"/>
          </a:xfrm>
          <a:prstGeom prst="line">
            <a:avLst/>
          </a:prstGeom>
          <a:noFill/>
          <a:ln w="15875">
            <a:solidFill>
              <a:srgbClr val="3D5A73"/>
            </a:solidFill>
            <a:prstDash val="solid"/>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Relationship Sets</a:t>
            </a:r>
            <a:endParaRPr lang="en-US" sz="3000" dirty="0"/>
          </a:p>
        </p:txBody>
      </p:sp>
      <p:sp>
        <p:nvSpPr>
          <p:cNvPr id="7" name="Text 5"/>
          <p:cNvSpPr txBox="1"/>
          <p:nvPr/>
        </p:nvSpPr>
        <p:spPr>
          <a:xfrm>
            <a:off x="640080" y="1005840"/>
            <a:ext cx="7863840" cy="146304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rgbClr val="1F3B47"/>
                </a:solidFill>
                <a:latin typeface="Calibri" pitchFamily="34" charset="0"/>
                <a:ea typeface="Calibri" pitchFamily="34" charset="-122"/>
                <a:cs typeface="Calibri" pitchFamily="34" charset="-120"/>
              </a:rPr>
              <a:t>A relationship set is a set of relationships of the same type.</a:t>
            </a:r>
            <a:endParaRPr lang="en-US" sz="1550" dirty="0"/>
          </a:p>
          <a:p>
            <a:pPr marL="342900" indent="-342900">
              <a:spcAft>
                <a:spcPts val="800"/>
              </a:spcAft>
              <a:buSzPct val="100000"/>
              <a:buChar char="•"/>
            </a:pPr>
            <a:r>
              <a:rPr lang="en-US" sz="1550" dirty="0">
                <a:solidFill>
                  <a:srgbClr val="1F3B47"/>
                </a:solidFill>
                <a:latin typeface="Calibri" pitchFamily="34" charset="0"/>
                <a:ea typeface="Calibri" pitchFamily="34" charset="-122"/>
                <a:cs typeface="Calibri" pitchFamily="34" charset="-120"/>
              </a:rPr>
              <a:t>Mathematically, a relationship set is a relation among n ≥ 2 entity sets. If E1, E2, …, En are entity sets, then a relationship set R is a subset of:</a:t>
            </a:r>
            <a:endParaRPr lang="en-US" sz="1550" dirty="0"/>
          </a:p>
        </p:txBody>
      </p:sp>
      <p:sp>
        <p:nvSpPr>
          <p:cNvPr id="8" name="Text 6"/>
          <p:cNvSpPr/>
          <p:nvPr/>
        </p:nvSpPr>
        <p:spPr>
          <a:xfrm>
            <a:off x="1371600" y="2560320"/>
            <a:ext cx="6400800" cy="594360"/>
          </a:xfrm>
          <a:prstGeom prst="roundRect">
            <a:avLst>
              <a:gd name="adj" fmla="val 12308"/>
            </a:avLst>
          </a:prstGeom>
          <a:solidFill>
            <a:srgbClr val="FFF6C2"/>
          </a:solidFill>
          <a:ln>
            <a:solidFill>
              <a:srgbClr val="C9A227"/>
            </a:solidFill>
          </a:ln>
        </p:spPr>
        <p:txBody>
          <a:bodyPr wrap="square" lIns="0" tIns="0" rIns="0" bIns="0" rtlCol="0" anchor="ctr"/>
          <a:lstStyle/>
          <a:p>
            <a:pPr marL="0" indent="0" algn="ctr">
              <a:buNone/>
            </a:pPr>
            <a:r>
              <a:rPr lang="en-US" sz="1800" i="1" dirty="0">
                <a:solidFill>
                  <a:srgbClr val="1F2D3D"/>
                </a:solidFill>
                <a:latin typeface="Cambria" pitchFamily="34" charset="0"/>
                <a:ea typeface="Cambria" pitchFamily="34" charset="-122"/>
                <a:cs typeface="Cambria" pitchFamily="34" charset="-120"/>
              </a:rPr>
              <a:t>{ (e1, e2, …, en) | e1 ∈ E1, e2 ∈ E2, …, en ∈ En }</a:t>
            </a:r>
            <a:endParaRPr lang="en-US" sz="1800" dirty="0"/>
          </a:p>
        </p:txBody>
      </p:sp>
      <p:sp>
        <p:nvSpPr>
          <p:cNvPr id="9" name="Text 7"/>
          <p:cNvSpPr txBox="1"/>
          <p:nvPr/>
        </p:nvSpPr>
        <p:spPr>
          <a:xfrm>
            <a:off x="640080" y="3291840"/>
            <a:ext cx="7863840" cy="32004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where (e1, e2, …, en) is a relationship.</a:t>
            </a:r>
            <a:endParaRPr lang="en-US" sz="1500" dirty="0"/>
          </a:p>
        </p:txBody>
      </p:sp>
      <p:sp>
        <p:nvSpPr>
          <p:cNvPr id="10" name="Shape 8"/>
          <p:cNvSpPr/>
          <p:nvPr/>
        </p:nvSpPr>
        <p:spPr>
          <a:xfrm>
            <a:off x="640080" y="3749040"/>
            <a:ext cx="7863840" cy="685800"/>
          </a:xfrm>
          <a:prstGeom prst="roundRect">
            <a:avLst>
              <a:gd name="adj" fmla="val 13333"/>
            </a:avLst>
          </a:prstGeom>
          <a:solidFill>
            <a:srgbClr val="143F4F"/>
          </a:solidFill>
          <a:ln/>
        </p:spPr>
        <p:txBody>
          <a:bodyPr/>
          <a:lstStyle/>
          <a:p>
            <a:endParaRPr lang="en-US"/>
          </a:p>
        </p:txBody>
      </p:sp>
      <p:sp>
        <p:nvSpPr>
          <p:cNvPr id="11" name="Text 9"/>
          <p:cNvSpPr txBox="1"/>
          <p:nvPr/>
        </p:nvSpPr>
        <p:spPr>
          <a:xfrm>
            <a:off x="868680" y="3749040"/>
            <a:ext cx="7406640" cy="685800"/>
          </a:xfrm>
          <a:prstGeom prst="rect">
            <a:avLst/>
          </a:prstGeom>
          <a:noFill/>
          <a:ln/>
        </p:spPr>
        <p:txBody>
          <a:bodyPr wrap="square" lIns="0" tIns="0" rIns="0" bIns="0" rtlCol="0" anchor="ctr"/>
          <a:lstStyle/>
          <a:p>
            <a:pPr marL="0" indent="0">
              <a:buNone/>
            </a:pPr>
            <a:r>
              <a:rPr lang="en-US" sz="1400" b="1" dirty="0">
                <a:solidFill>
                  <a:srgbClr val="55BFAE"/>
                </a:solidFill>
                <a:latin typeface="Calibri" pitchFamily="34" charset="0"/>
                <a:ea typeface="Calibri" pitchFamily="34" charset="-122"/>
                <a:cs typeface="Calibri" pitchFamily="34" charset="-120"/>
              </a:rPr>
              <a:t>Example:  </a:t>
            </a:r>
            <a:r>
              <a:rPr lang="en-US" sz="1400" b="1" i="1" dirty="0">
                <a:solidFill>
                  <a:srgbClr val="FFFFFF"/>
                </a:solidFill>
                <a:latin typeface="Calibri" pitchFamily="34" charset="0"/>
                <a:ea typeface="Calibri" pitchFamily="34" charset="-122"/>
                <a:cs typeface="Calibri" pitchFamily="34" charset="-120"/>
              </a:rPr>
              <a:t>(Hayes, A-102) ∈ Deposits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24</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Representation of a Relationship</a:t>
            </a:r>
            <a:endParaRPr lang="en-US" sz="3000" dirty="0"/>
          </a:p>
        </p:txBody>
      </p:sp>
      <p:sp>
        <p:nvSpPr>
          <p:cNvPr id="7" name="Text 5"/>
          <p:cNvSpPr txBox="1"/>
          <p:nvPr/>
        </p:nvSpPr>
        <p:spPr>
          <a:xfrm>
            <a:off x="822960" y="1051560"/>
            <a:ext cx="2743200" cy="320040"/>
          </a:xfrm>
          <a:prstGeom prst="rect">
            <a:avLst/>
          </a:prstGeom>
          <a:noFill/>
          <a:ln/>
        </p:spPr>
        <p:txBody>
          <a:bodyPr wrap="square" lIns="0" tIns="0" rIns="0" bIns="0" rtlCol="0" anchor="ctr"/>
          <a:lstStyle/>
          <a:p>
            <a:pPr marL="0" indent="0">
              <a:buNone/>
            </a:pPr>
            <a:r>
              <a:rPr lang="en-US" sz="1400" b="1" i="1" dirty="0">
                <a:solidFill>
                  <a:srgbClr val="B03A2E"/>
                </a:solidFill>
                <a:latin typeface="Calibri" pitchFamily="34" charset="0"/>
                <a:ea typeface="Calibri" pitchFamily="34" charset="-122"/>
                <a:cs typeface="Calibri" pitchFamily="34" charset="-120"/>
              </a:rPr>
              <a:t>Deposits</a:t>
            </a:r>
            <a:endParaRPr lang="en-US" sz="1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822960" y="1417320"/>
          <a:ext cx="3108960" cy="1755648"/>
        </p:xfrm>
        <a:graphic>
          <a:graphicData uri="http://schemas.openxmlformats.org/drawingml/2006/table">
            <a:tbl>
              <a:tblPr/>
              <a:tblGrid>
                <a:gridCol w="155448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438912">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CustomerNo</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AccountNo</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A123456</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A-101</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r h="438912">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B456789</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A-201</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438912">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B456789</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A-302</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3"/>
                  </a:ext>
                </a:extLst>
              </a:tr>
            </a:tbl>
          </a:graphicData>
        </a:graphic>
      </p:graphicFrame>
      <p:sp>
        <p:nvSpPr>
          <p:cNvPr id="9" name="Shape 6"/>
          <p:cNvSpPr/>
          <p:nvPr/>
        </p:nvSpPr>
        <p:spPr>
          <a:xfrm>
            <a:off x="4389120" y="1097280"/>
            <a:ext cx="4114800" cy="3291840"/>
          </a:xfrm>
          <a:prstGeom prst="roundRect">
            <a:avLst>
              <a:gd name="adj" fmla="val 3333"/>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4526280" y="1234440"/>
            <a:ext cx="1645920" cy="256032"/>
          </a:xfrm>
          <a:prstGeom prst="rect">
            <a:avLst/>
          </a:prstGeom>
          <a:noFill/>
          <a:ln/>
        </p:spPr>
        <p:txBody>
          <a:bodyPr wrap="square" lIns="0" tIns="0" rIns="0" bIns="0" rtlCol="0" anchor="ctr"/>
          <a:lstStyle/>
          <a:p>
            <a:pPr marL="0" indent="0" algn="ctr">
              <a:buNone/>
            </a:pPr>
            <a:r>
              <a:rPr lang="en-US" sz="1200" b="1" dirty="0">
                <a:solidFill>
                  <a:srgbClr val="143F4F"/>
                </a:solidFill>
                <a:latin typeface="Calibri" pitchFamily="34" charset="0"/>
                <a:ea typeface="Calibri" pitchFamily="34" charset="-122"/>
                <a:cs typeface="Calibri" pitchFamily="34" charset="-120"/>
              </a:rPr>
              <a:t>Customers</a:t>
            </a:r>
            <a:endParaRPr lang="en-US" sz="1200" dirty="0"/>
          </a:p>
        </p:txBody>
      </p:sp>
      <p:sp>
        <p:nvSpPr>
          <p:cNvPr id="11" name="Text 8"/>
          <p:cNvSpPr txBox="1"/>
          <p:nvPr/>
        </p:nvSpPr>
        <p:spPr>
          <a:xfrm>
            <a:off x="6766560" y="1234440"/>
            <a:ext cx="1645920" cy="256032"/>
          </a:xfrm>
          <a:prstGeom prst="rect">
            <a:avLst/>
          </a:prstGeom>
          <a:noFill/>
          <a:ln/>
        </p:spPr>
        <p:txBody>
          <a:bodyPr wrap="square" lIns="0" tIns="0" rIns="0" bIns="0" rtlCol="0" anchor="ctr"/>
          <a:lstStyle/>
          <a:p>
            <a:pPr marL="0" indent="0" algn="ctr">
              <a:buNone/>
            </a:pPr>
            <a:r>
              <a:rPr lang="en-US" sz="1200" b="1" dirty="0">
                <a:solidFill>
                  <a:srgbClr val="143F4F"/>
                </a:solidFill>
                <a:latin typeface="Calibri" pitchFamily="34" charset="0"/>
                <a:ea typeface="Calibri" pitchFamily="34" charset="-122"/>
                <a:cs typeface="Calibri" pitchFamily="34" charset="-120"/>
              </a:rPr>
              <a:t>Accounts</a:t>
            </a:r>
            <a:endParaRPr lang="en-US" sz="1200" dirty="0"/>
          </a:p>
        </p:txBody>
      </p:sp>
      <p:sp>
        <p:nvSpPr>
          <p:cNvPr id="12" name="Shape 9"/>
          <p:cNvSpPr/>
          <p:nvPr/>
        </p:nvSpPr>
        <p:spPr>
          <a:xfrm>
            <a:off x="5833872" y="1947672"/>
            <a:ext cx="128016" cy="128016"/>
          </a:xfrm>
          <a:prstGeom prst="ellipse">
            <a:avLst/>
          </a:prstGeom>
          <a:solidFill>
            <a:srgbClr val="143F4F"/>
          </a:solidFill>
          <a:ln/>
        </p:spPr>
        <p:txBody>
          <a:bodyPr/>
          <a:lstStyle/>
          <a:p>
            <a:endParaRPr lang="en-US"/>
          </a:p>
        </p:txBody>
      </p:sp>
      <p:sp>
        <p:nvSpPr>
          <p:cNvPr id="13" name="Text 10"/>
          <p:cNvSpPr txBox="1"/>
          <p:nvPr/>
        </p:nvSpPr>
        <p:spPr>
          <a:xfrm>
            <a:off x="4663440" y="1874520"/>
            <a:ext cx="1097280" cy="274320"/>
          </a:xfrm>
          <a:prstGeom prst="rect">
            <a:avLst/>
          </a:prstGeom>
          <a:noFill/>
          <a:ln/>
        </p:spPr>
        <p:txBody>
          <a:bodyPr wrap="square" lIns="0" tIns="0" rIns="0" bIns="0" rtlCol="0" anchor="ctr"/>
          <a:lstStyle/>
          <a:p>
            <a:pPr marL="0" indent="0" algn="r">
              <a:buNone/>
            </a:pPr>
            <a:r>
              <a:rPr lang="en-US" sz="1200" dirty="0">
                <a:solidFill>
                  <a:srgbClr val="1F3B47"/>
                </a:solidFill>
                <a:latin typeface="Calibri" pitchFamily="34" charset="0"/>
                <a:ea typeface="Calibri" pitchFamily="34" charset="-122"/>
                <a:cs typeface="Calibri" pitchFamily="34" charset="-120"/>
              </a:rPr>
              <a:t>A123456</a:t>
            </a:r>
            <a:endParaRPr lang="en-US" sz="1200" dirty="0"/>
          </a:p>
        </p:txBody>
      </p:sp>
      <p:sp>
        <p:nvSpPr>
          <p:cNvPr id="14" name="Shape 11"/>
          <p:cNvSpPr/>
          <p:nvPr/>
        </p:nvSpPr>
        <p:spPr>
          <a:xfrm>
            <a:off x="5833872" y="2862072"/>
            <a:ext cx="128016" cy="128016"/>
          </a:xfrm>
          <a:prstGeom prst="ellipse">
            <a:avLst/>
          </a:prstGeom>
          <a:solidFill>
            <a:srgbClr val="143F4F"/>
          </a:solidFill>
          <a:ln/>
        </p:spPr>
        <p:txBody>
          <a:bodyPr/>
          <a:lstStyle/>
          <a:p>
            <a:endParaRPr lang="en-US"/>
          </a:p>
        </p:txBody>
      </p:sp>
      <p:sp>
        <p:nvSpPr>
          <p:cNvPr id="15" name="Text 12"/>
          <p:cNvSpPr txBox="1"/>
          <p:nvPr/>
        </p:nvSpPr>
        <p:spPr>
          <a:xfrm>
            <a:off x="4663440" y="2788920"/>
            <a:ext cx="1097280" cy="274320"/>
          </a:xfrm>
          <a:prstGeom prst="rect">
            <a:avLst/>
          </a:prstGeom>
          <a:noFill/>
          <a:ln/>
        </p:spPr>
        <p:txBody>
          <a:bodyPr wrap="square" lIns="0" tIns="0" rIns="0" bIns="0" rtlCol="0" anchor="ctr"/>
          <a:lstStyle/>
          <a:p>
            <a:pPr marL="0" indent="0" algn="r">
              <a:buNone/>
            </a:pPr>
            <a:r>
              <a:rPr lang="en-US" sz="1200" dirty="0">
                <a:solidFill>
                  <a:srgbClr val="1F3B47"/>
                </a:solidFill>
                <a:latin typeface="Calibri" pitchFamily="34" charset="0"/>
                <a:ea typeface="Calibri" pitchFamily="34" charset="-122"/>
                <a:cs typeface="Calibri" pitchFamily="34" charset="-120"/>
              </a:rPr>
              <a:t>B456789</a:t>
            </a:r>
            <a:endParaRPr lang="en-US" sz="1200" dirty="0"/>
          </a:p>
        </p:txBody>
      </p:sp>
      <p:sp>
        <p:nvSpPr>
          <p:cNvPr id="16" name="Shape 13"/>
          <p:cNvSpPr/>
          <p:nvPr/>
        </p:nvSpPr>
        <p:spPr>
          <a:xfrm>
            <a:off x="7114032" y="1764792"/>
            <a:ext cx="128016" cy="128016"/>
          </a:xfrm>
          <a:prstGeom prst="ellipse">
            <a:avLst/>
          </a:prstGeom>
          <a:solidFill>
            <a:srgbClr val="143F4F"/>
          </a:solidFill>
          <a:ln/>
        </p:spPr>
        <p:txBody>
          <a:bodyPr/>
          <a:lstStyle/>
          <a:p>
            <a:endParaRPr lang="en-US"/>
          </a:p>
        </p:txBody>
      </p:sp>
      <p:sp>
        <p:nvSpPr>
          <p:cNvPr id="17" name="Text 14"/>
          <p:cNvSpPr txBox="1"/>
          <p:nvPr/>
        </p:nvSpPr>
        <p:spPr>
          <a:xfrm>
            <a:off x="7315200" y="1691640"/>
            <a:ext cx="1097280" cy="274320"/>
          </a:xfrm>
          <a:prstGeom prst="rect">
            <a:avLst/>
          </a:prstGeom>
          <a:noFill/>
          <a:ln/>
        </p:spPr>
        <p:txBody>
          <a:bodyPr wrap="square" lIns="0" tIns="0" rIns="0" bIns="0" rtlCol="0" anchor="ctr"/>
          <a:lstStyle/>
          <a:p>
            <a:pPr marL="0" indent="0" algn="l">
              <a:buNone/>
            </a:pPr>
            <a:r>
              <a:rPr lang="en-US" sz="1200" dirty="0">
                <a:solidFill>
                  <a:srgbClr val="1F3B47"/>
                </a:solidFill>
                <a:latin typeface="Calibri" pitchFamily="34" charset="0"/>
                <a:ea typeface="Calibri" pitchFamily="34" charset="-122"/>
                <a:cs typeface="Calibri" pitchFamily="34" charset="-120"/>
              </a:rPr>
              <a:t>A-101</a:t>
            </a:r>
            <a:endParaRPr lang="en-US" sz="1200" dirty="0"/>
          </a:p>
        </p:txBody>
      </p:sp>
      <p:sp>
        <p:nvSpPr>
          <p:cNvPr id="18" name="Shape 15"/>
          <p:cNvSpPr/>
          <p:nvPr/>
        </p:nvSpPr>
        <p:spPr>
          <a:xfrm>
            <a:off x="7114032" y="2587752"/>
            <a:ext cx="128016" cy="128016"/>
          </a:xfrm>
          <a:prstGeom prst="ellipse">
            <a:avLst/>
          </a:prstGeom>
          <a:solidFill>
            <a:srgbClr val="143F4F"/>
          </a:solidFill>
          <a:ln/>
        </p:spPr>
        <p:txBody>
          <a:bodyPr/>
          <a:lstStyle/>
          <a:p>
            <a:endParaRPr lang="en-US"/>
          </a:p>
        </p:txBody>
      </p:sp>
      <p:sp>
        <p:nvSpPr>
          <p:cNvPr id="19" name="Text 16"/>
          <p:cNvSpPr txBox="1"/>
          <p:nvPr/>
        </p:nvSpPr>
        <p:spPr>
          <a:xfrm>
            <a:off x="7315200" y="2514600"/>
            <a:ext cx="1097280" cy="274320"/>
          </a:xfrm>
          <a:prstGeom prst="rect">
            <a:avLst/>
          </a:prstGeom>
          <a:noFill/>
          <a:ln/>
        </p:spPr>
        <p:txBody>
          <a:bodyPr wrap="square" lIns="0" tIns="0" rIns="0" bIns="0" rtlCol="0" anchor="ctr"/>
          <a:lstStyle/>
          <a:p>
            <a:pPr marL="0" indent="0" algn="l">
              <a:buNone/>
            </a:pPr>
            <a:r>
              <a:rPr lang="en-US" sz="1200" dirty="0">
                <a:solidFill>
                  <a:srgbClr val="1F3B47"/>
                </a:solidFill>
                <a:latin typeface="Calibri" pitchFamily="34" charset="0"/>
                <a:ea typeface="Calibri" pitchFamily="34" charset="-122"/>
                <a:cs typeface="Calibri" pitchFamily="34" charset="-120"/>
              </a:rPr>
              <a:t>A-201</a:t>
            </a:r>
            <a:endParaRPr lang="en-US" sz="1200" dirty="0"/>
          </a:p>
        </p:txBody>
      </p:sp>
      <p:sp>
        <p:nvSpPr>
          <p:cNvPr id="20" name="Shape 17"/>
          <p:cNvSpPr/>
          <p:nvPr/>
        </p:nvSpPr>
        <p:spPr>
          <a:xfrm>
            <a:off x="7114032" y="3410712"/>
            <a:ext cx="128016" cy="128016"/>
          </a:xfrm>
          <a:prstGeom prst="ellipse">
            <a:avLst/>
          </a:prstGeom>
          <a:solidFill>
            <a:srgbClr val="143F4F"/>
          </a:solidFill>
          <a:ln/>
        </p:spPr>
        <p:txBody>
          <a:bodyPr/>
          <a:lstStyle/>
          <a:p>
            <a:endParaRPr lang="en-US"/>
          </a:p>
        </p:txBody>
      </p:sp>
      <p:sp>
        <p:nvSpPr>
          <p:cNvPr id="21" name="Text 18"/>
          <p:cNvSpPr txBox="1"/>
          <p:nvPr/>
        </p:nvSpPr>
        <p:spPr>
          <a:xfrm>
            <a:off x="7315200" y="3337560"/>
            <a:ext cx="1097280" cy="274320"/>
          </a:xfrm>
          <a:prstGeom prst="rect">
            <a:avLst/>
          </a:prstGeom>
          <a:noFill/>
          <a:ln/>
        </p:spPr>
        <p:txBody>
          <a:bodyPr wrap="square" lIns="0" tIns="0" rIns="0" bIns="0" rtlCol="0" anchor="ctr"/>
          <a:lstStyle/>
          <a:p>
            <a:pPr marL="0" indent="0" algn="l">
              <a:buNone/>
            </a:pPr>
            <a:r>
              <a:rPr lang="en-US" sz="1200" dirty="0">
                <a:solidFill>
                  <a:srgbClr val="1F3B47"/>
                </a:solidFill>
                <a:latin typeface="Calibri" pitchFamily="34" charset="0"/>
                <a:ea typeface="Calibri" pitchFamily="34" charset="-122"/>
                <a:cs typeface="Calibri" pitchFamily="34" charset="-120"/>
              </a:rPr>
              <a:t>A-302</a:t>
            </a:r>
            <a:endParaRPr lang="en-US" sz="1200" dirty="0"/>
          </a:p>
        </p:txBody>
      </p:sp>
      <p:sp>
        <p:nvSpPr>
          <p:cNvPr id="22" name="Shape 19"/>
          <p:cNvSpPr/>
          <p:nvPr/>
        </p:nvSpPr>
        <p:spPr>
          <a:xfrm flipV="1">
            <a:off x="5961888" y="1828800"/>
            <a:ext cx="1152144" cy="182880"/>
          </a:xfrm>
          <a:prstGeom prst="line">
            <a:avLst/>
          </a:prstGeom>
          <a:noFill/>
          <a:ln w="25400">
            <a:solidFill>
              <a:srgbClr val="55BFAE"/>
            </a:solidFill>
            <a:prstDash val="solid"/>
          </a:ln>
        </p:spPr>
        <p:txBody>
          <a:bodyPr/>
          <a:lstStyle/>
          <a:p>
            <a:endParaRPr lang="en-US"/>
          </a:p>
        </p:txBody>
      </p:sp>
      <p:sp>
        <p:nvSpPr>
          <p:cNvPr id="23" name="Shape 20"/>
          <p:cNvSpPr/>
          <p:nvPr/>
        </p:nvSpPr>
        <p:spPr>
          <a:xfrm flipV="1">
            <a:off x="5961888" y="2651760"/>
            <a:ext cx="1152144" cy="274320"/>
          </a:xfrm>
          <a:prstGeom prst="line">
            <a:avLst/>
          </a:prstGeom>
          <a:noFill/>
          <a:ln w="25400">
            <a:solidFill>
              <a:srgbClr val="55BFAE"/>
            </a:solidFill>
            <a:prstDash val="solid"/>
          </a:ln>
        </p:spPr>
        <p:txBody>
          <a:bodyPr/>
          <a:lstStyle/>
          <a:p>
            <a:endParaRPr lang="en-US"/>
          </a:p>
        </p:txBody>
      </p:sp>
      <p:sp>
        <p:nvSpPr>
          <p:cNvPr id="24" name="Shape 21"/>
          <p:cNvSpPr/>
          <p:nvPr/>
        </p:nvSpPr>
        <p:spPr>
          <a:xfrm>
            <a:off x="5961888" y="2926080"/>
            <a:ext cx="1152144" cy="548640"/>
          </a:xfrm>
          <a:prstGeom prst="line">
            <a:avLst/>
          </a:prstGeom>
          <a:noFill/>
          <a:ln w="25400">
            <a:solidFill>
              <a:srgbClr val="55BFAE"/>
            </a:solidFill>
            <a:prstDash val="solid"/>
          </a:ln>
        </p:spPr>
        <p:txBody>
          <a:bodyPr/>
          <a:lstStyle/>
          <a:p>
            <a:endParaRPr lang="en-US"/>
          </a:p>
        </p:txBody>
      </p:sp>
      <p:sp>
        <p:nvSpPr>
          <p:cNvPr id="8" name="Text 22"/>
          <p:cNvSpPr txBox="1"/>
          <p:nvPr/>
        </p:nvSpPr>
        <p:spPr>
          <a:xfrm>
            <a:off x="4526280" y="3931920"/>
            <a:ext cx="3840480" cy="256032"/>
          </a:xfrm>
          <a:prstGeom prst="rect">
            <a:avLst/>
          </a:prstGeom>
          <a:noFill/>
          <a:ln/>
        </p:spPr>
        <p:txBody>
          <a:bodyPr wrap="square" lIns="0" tIns="0" rIns="0" bIns="0" rtlCol="0" anchor="ctr"/>
          <a:lstStyle/>
          <a:p>
            <a:pPr marL="0" indent="0" algn="ctr">
              <a:buNone/>
            </a:pPr>
            <a:r>
              <a:rPr lang="en-US" sz="1100" i="1" dirty="0">
                <a:solidFill>
                  <a:srgbClr val="5A7079"/>
                </a:solidFill>
                <a:latin typeface="Calibri" pitchFamily="34" charset="0"/>
                <a:ea typeface="Calibri" pitchFamily="34" charset="-122"/>
                <a:cs typeface="Calibri" pitchFamily="34" charset="-120"/>
              </a:rPr>
              <a:t>Each line is one relationship in the Deposits set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Relationship Sets</a:t>
            </a:r>
            <a:endParaRPr lang="en-US" sz="3000" dirty="0"/>
          </a:p>
        </p:txBody>
      </p:sp>
      <p:sp>
        <p:nvSpPr>
          <p:cNvPr id="7" name="Text 5"/>
          <p:cNvSpPr txBox="1"/>
          <p:nvPr/>
        </p:nvSpPr>
        <p:spPr>
          <a:xfrm>
            <a:off x="640080" y="1005840"/>
            <a:ext cx="7863840" cy="1143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3B47"/>
                </a:solidFill>
                <a:latin typeface="Calibri" pitchFamily="34" charset="0"/>
                <a:ea typeface="Calibri" pitchFamily="34" charset="-122"/>
                <a:cs typeface="Calibri" pitchFamily="34" charset="-120"/>
              </a:rPr>
              <a:t>Relationships can have descriptive attributes.</a:t>
            </a:r>
            <a:endParaRPr lang="en-US" sz="1500" dirty="0"/>
          </a:p>
          <a:p>
            <a:pPr marL="342900" indent="-342900">
              <a:spcAft>
                <a:spcPts val="600"/>
              </a:spcAft>
              <a:buSzPct val="100000"/>
              <a:buChar char="•"/>
            </a:pPr>
            <a:r>
              <a:rPr lang="en-US" sz="1500" dirty="0">
                <a:solidFill>
                  <a:srgbClr val="1F3B47"/>
                </a:solidFill>
                <a:latin typeface="Calibri" pitchFamily="34" charset="0"/>
                <a:ea typeface="Calibri" pitchFamily="34" charset="-122"/>
                <a:cs typeface="Calibri" pitchFamily="34" charset="-120"/>
              </a:rPr>
              <a:t>For instance, the deposits relationship set between entity sets customer and account may have the attribute access-date.</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4937760" cy="1536192"/>
        </p:xfrm>
        <a:graphic>
          <a:graphicData uri="http://schemas.openxmlformats.org/drawingml/2006/table">
            <a:tbl>
              <a:tblPr/>
              <a:tblGrid>
                <a:gridCol w="1645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8404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CustomerNo</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AccountNo</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AccessDate</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384048">
                <a:tc>
                  <a:txBody>
                    <a:bodyPr/>
                    <a:lstStyle/>
                    <a:p>
                      <a:pPr marL="0" indent="0">
                        <a:buNone/>
                      </a:pPr>
                      <a:r>
                        <a:rPr lang="en-US" sz="1350" dirty="0">
                          <a:solidFill>
                            <a:srgbClr val="1F3B47"/>
                          </a:solidFill>
                          <a:latin typeface="Calibri" pitchFamily="34" charset="0"/>
                          <a:ea typeface="Calibri" pitchFamily="34" charset="-122"/>
                          <a:cs typeface="Calibri" pitchFamily="34" charset="-120"/>
                        </a:rPr>
                        <a:t>A123456</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50" dirty="0">
                          <a:solidFill>
                            <a:srgbClr val="1F3B47"/>
                          </a:solidFill>
                          <a:latin typeface="Calibri" pitchFamily="34" charset="0"/>
                          <a:ea typeface="Calibri" pitchFamily="34" charset="-122"/>
                          <a:cs typeface="Calibri" pitchFamily="34" charset="-120"/>
                        </a:rPr>
                        <a:t>A-101</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50" dirty="0">
                          <a:solidFill>
                            <a:srgbClr val="1F3B47"/>
                          </a:solidFill>
                          <a:latin typeface="Calibri" pitchFamily="34" charset="0"/>
                          <a:ea typeface="Calibri" pitchFamily="34" charset="-122"/>
                          <a:cs typeface="Calibri" pitchFamily="34" charset="-120"/>
                        </a:rPr>
                        <a:t>25 Aug 2010</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r h="384048">
                <a:tc>
                  <a:txBody>
                    <a:bodyPr/>
                    <a:lstStyle/>
                    <a:p>
                      <a:pPr marL="0" indent="0">
                        <a:buNone/>
                      </a:pPr>
                      <a:r>
                        <a:rPr lang="en-US" sz="1350" dirty="0">
                          <a:solidFill>
                            <a:srgbClr val="1F3B47"/>
                          </a:solidFill>
                          <a:latin typeface="Calibri" pitchFamily="34" charset="0"/>
                          <a:ea typeface="Calibri" pitchFamily="34" charset="-122"/>
                          <a:cs typeface="Calibri" pitchFamily="34" charset="-120"/>
                        </a:rPr>
                        <a:t>B456789</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350" dirty="0">
                          <a:solidFill>
                            <a:srgbClr val="1F3B47"/>
                          </a:solidFill>
                          <a:latin typeface="Calibri" pitchFamily="34" charset="0"/>
                          <a:ea typeface="Calibri" pitchFamily="34" charset="-122"/>
                          <a:cs typeface="Calibri" pitchFamily="34" charset="-120"/>
                        </a:rPr>
                        <a:t>A-201</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350" dirty="0">
                          <a:solidFill>
                            <a:srgbClr val="1F3B47"/>
                          </a:solidFill>
                          <a:latin typeface="Calibri" pitchFamily="34" charset="0"/>
                          <a:ea typeface="Calibri" pitchFamily="34" charset="-122"/>
                          <a:cs typeface="Calibri" pitchFamily="34" charset="-120"/>
                        </a:rPr>
                        <a:t>3 June 2009</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384048">
                <a:tc>
                  <a:txBody>
                    <a:bodyPr/>
                    <a:lstStyle/>
                    <a:p>
                      <a:pPr marL="0" indent="0">
                        <a:buNone/>
                      </a:pPr>
                      <a:r>
                        <a:rPr lang="en-US" sz="1350" dirty="0">
                          <a:solidFill>
                            <a:srgbClr val="1F3B47"/>
                          </a:solidFill>
                          <a:latin typeface="Calibri" pitchFamily="34" charset="0"/>
                          <a:ea typeface="Calibri" pitchFamily="34" charset="-122"/>
                          <a:cs typeface="Calibri" pitchFamily="34" charset="-120"/>
                        </a:rPr>
                        <a:t>B456789</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50" dirty="0">
                          <a:solidFill>
                            <a:srgbClr val="1F3B47"/>
                          </a:solidFill>
                          <a:latin typeface="Calibri" pitchFamily="34" charset="0"/>
                          <a:ea typeface="Calibri" pitchFamily="34" charset="-122"/>
                          <a:cs typeface="Calibri" pitchFamily="34" charset="-120"/>
                        </a:rPr>
                        <a:t>A-302</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350" dirty="0">
                          <a:solidFill>
                            <a:srgbClr val="1F3B47"/>
                          </a:solidFill>
                          <a:latin typeface="Calibri" pitchFamily="34" charset="0"/>
                          <a:ea typeface="Calibri" pitchFamily="34" charset="-122"/>
                          <a:cs typeface="Calibri" pitchFamily="34" charset="-120"/>
                        </a:rPr>
                        <a:t>2 Mar 2010</a:t>
                      </a:r>
                      <a:endParaRPr lang="en-US" sz="13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3"/>
                  </a:ext>
                </a:extLst>
              </a:tr>
            </a:tbl>
          </a:graphicData>
        </a:graphic>
      </p:graphicFrame>
      <p:sp>
        <p:nvSpPr>
          <p:cNvPr id="9" name="Text 6"/>
          <p:cNvSpPr/>
          <p:nvPr/>
        </p:nvSpPr>
        <p:spPr>
          <a:xfrm>
            <a:off x="5897880" y="2286000"/>
            <a:ext cx="2606040" cy="640080"/>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300" b="1" dirty="0">
                <a:solidFill>
                  <a:srgbClr val="1F2D3D"/>
                </a:solidFill>
                <a:latin typeface="Calibri" pitchFamily="34" charset="0"/>
                <a:ea typeface="Calibri" pitchFamily="34" charset="-122"/>
                <a:cs typeface="Calibri" pitchFamily="34" charset="-120"/>
              </a:rPr>
              <a:t>Can we add multiple access dates?</a:t>
            </a:r>
            <a:endParaRPr lang="en-US" sz="1300" dirty="0"/>
          </a:p>
        </p:txBody>
      </p:sp>
      <p:sp>
        <p:nvSpPr>
          <p:cNvPr id="10" name="Text 7"/>
          <p:cNvSpPr/>
          <p:nvPr/>
        </p:nvSpPr>
        <p:spPr>
          <a:xfrm>
            <a:off x="640080" y="3931920"/>
            <a:ext cx="7863840" cy="685800"/>
          </a:xfrm>
          <a:prstGeom prst="roundRect">
            <a:avLst>
              <a:gd name="adj" fmla="val 13333"/>
            </a:avLst>
          </a:prstGeom>
          <a:solidFill>
            <a:srgbClr val="143F4F"/>
          </a:solidFill>
          <a:ln/>
        </p:spPr>
        <p:txBody>
          <a:bodyPr wrap="square" lIns="0" tIns="152400" rIns="152400" bIns="0" rtlCol="0" anchor="ctr"/>
          <a:lstStyle/>
          <a:p>
            <a:pPr marL="0" indent="0">
              <a:buNone/>
            </a:pPr>
            <a:r>
              <a:rPr lang="en-US" sz="1350" b="1" dirty="0">
                <a:solidFill>
                  <a:srgbClr val="55BFAE"/>
                </a:solidFill>
                <a:latin typeface="Calibri" pitchFamily="34" charset="0"/>
                <a:ea typeface="Calibri" pitchFamily="34" charset="-122"/>
                <a:cs typeface="Calibri" pitchFamily="34" charset="-120"/>
              </a:rPr>
              <a:t>Note: </a:t>
            </a:r>
            <a:r>
              <a:rPr lang="en-US" sz="1350" dirty="0">
                <a:solidFill>
                  <a:srgbClr val="FFFFFF"/>
                </a:solidFill>
                <a:latin typeface="Calibri" pitchFamily="34" charset="0"/>
                <a:ea typeface="Calibri" pitchFamily="34" charset="-122"/>
                <a:cs typeface="Calibri" pitchFamily="34" charset="-120"/>
              </a:rPr>
              <a:t>A relationship instance in a relationship set must be uniquely identifiable from its participating entities, without using the descriptive attributes.</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Degree of Relationships</a:t>
            </a:r>
            <a:endParaRPr lang="en-US" sz="3000" dirty="0"/>
          </a:p>
        </p:txBody>
      </p:sp>
      <p:sp>
        <p:nvSpPr>
          <p:cNvPr id="7" name="Text 5"/>
          <p:cNvSpPr txBox="1"/>
          <p:nvPr/>
        </p:nvSpPr>
        <p:spPr>
          <a:xfrm>
            <a:off x="640080" y="1005840"/>
            <a:ext cx="7863840" cy="41148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Degree: the number of entity types that participate in a relationship. Three cases:</a:t>
            </a:r>
            <a:endParaRPr lang="en-US" sz="1500" dirty="0"/>
          </a:p>
        </p:txBody>
      </p:sp>
      <p:sp>
        <p:nvSpPr>
          <p:cNvPr id="8" name="Shape 6"/>
          <p:cNvSpPr/>
          <p:nvPr/>
        </p:nvSpPr>
        <p:spPr>
          <a:xfrm>
            <a:off x="640080" y="1600200"/>
            <a:ext cx="2468880" cy="3017520"/>
          </a:xfrm>
          <a:prstGeom prst="roundRect">
            <a:avLst>
              <a:gd name="adj" fmla="val 4444"/>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822960" y="1691640"/>
            <a:ext cx="2103120" cy="365760"/>
          </a:xfrm>
          <a:prstGeom prst="rect">
            <a:avLst/>
          </a:prstGeom>
          <a:noFill/>
          <a:ln/>
        </p:spPr>
        <p:txBody>
          <a:bodyPr wrap="square" lIns="0" tIns="0" rIns="0" bIns="0" rtlCol="0" anchor="ctr"/>
          <a:lstStyle/>
          <a:p>
            <a:pPr marL="0" indent="0">
              <a:buNone/>
            </a:pPr>
            <a:r>
              <a:rPr lang="en-US" sz="1800" b="1" dirty="0">
                <a:solidFill>
                  <a:srgbClr val="143F4F"/>
                </a:solidFill>
                <a:latin typeface="Century Schoolbook" pitchFamily="34" charset="0"/>
                <a:ea typeface="Century Schoolbook" pitchFamily="34" charset="-122"/>
                <a:cs typeface="Century Schoolbook" pitchFamily="34" charset="-120"/>
              </a:rPr>
              <a:t>Unary</a:t>
            </a:r>
            <a:endParaRPr lang="en-US" sz="1800" dirty="0"/>
          </a:p>
        </p:txBody>
      </p:sp>
      <p:sp>
        <p:nvSpPr>
          <p:cNvPr id="10" name="Text 8"/>
          <p:cNvSpPr txBox="1"/>
          <p:nvPr/>
        </p:nvSpPr>
        <p:spPr>
          <a:xfrm>
            <a:off x="822960" y="2057400"/>
            <a:ext cx="2103120" cy="548640"/>
          </a:xfrm>
          <a:prstGeom prst="rect">
            <a:avLst/>
          </a:prstGeom>
          <a:noFill/>
          <a:ln/>
        </p:spPr>
        <p:txBody>
          <a:bodyPr wrap="square" lIns="0" tIns="0" rIns="0" bIns="0" rtlCol="0" anchor="ctr"/>
          <a:lstStyle/>
          <a:p>
            <a:pPr marL="0" indent="0">
              <a:buNone/>
            </a:pPr>
            <a:r>
              <a:rPr lang="en-US" sz="1250" dirty="0">
                <a:solidFill>
                  <a:srgbClr val="1F3B47"/>
                </a:solidFill>
                <a:latin typeface="Calibri" pitchFamily="34" charset="0"/>
                <a:ea typeface="Calibri" pitchFamily="34" charset="-122"/>
                <a:cs typeface="Calibri" pitchFamily="34" charset="-120"/>
              </a:rPr>
              <a:t>Between two instances of one entity type</a:t>
            </a:r>
            <a:endParaRPr lang="en-US" sz="1250" dirty="0"/>
          </a:p>
        </p:txBody>
      </p:sp>
      <p:sp>
        <p:nvSpPr>
          <p:cNvPr id="11" name="Text 9"/>
          <p:cNvSpPr/>
          <p:nvPr/>
        </p:nvSpPr>
        <p:spPr>
          <a:xfrm>
            <a:off x="1005840" y="3063240"/>
            <a:ext cx="640080" cy="365760"/>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a:t>
            </a:r>
            <a:endParaRPr lang="en-US" sz="1100" dirty="0"/>
          </a:p>
        </p:txBody>
      </p:sp>
      <p:sp>
        <p:nvSpPr>
          <p:cNvPr id="12" name="Text 10"/>
          <p:cNvSpPr/>
          <p:nvPr/>
        </p:nvSpPr>
        <p:spPr>
          <a:xfrm>
            <a:off x="2103120" y="3017520"/>
            <a:ext cx="640080" cy="457200"/>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R</a:t>
            </a:r>
            <a:endParaRPr lang="en-US" sz="1050" dirty="0"/>
          </a:p>
        </p:txBody>
      </p:sp>
      <p:sp>
        <p:nvSpPr>
          <p:cNvPr id="13" name="Shape 11"/>
          <p:cNvSpPr/>
          <p:nvPr/>
        </p:nvSpPr>
        <p:spPr>
          <a:xfrm flipV="1">
            <a:off x="1508760" y="2743200"/>
            <a:ext cx="914" cy="320040"/>
          </a:xfrm>
          <a:prstGeom prst="line">
            <a:avLst/>
          </a:prstGeom>
          <a:noFill/>
          <a:ln w="15875">
            <a:solidFill>
              <a:srgbClr val="3D5A73"/>
            </a:solidFill>
            <a:prstDash val="solid"/>
          </a:ln>
        </p:spPr>
        <p:txBody>
          <a:bodyPr/>
          <a:lstStyle/>
          <a:p>
            <a:endParaRPr lang="en-US"/>
          </a:p>
        </p:txBody>
      </p:sp>
      <p:sp>
        <p:nvSpPr>
          <p:cNvPr id="14" name="Shape 12"/>
          <p:cNvSpPr/>
          <p:nvPr/>
        </p:nvSpPr>
        <p:spPr>
          <a:xfrm>
            <a:off x="1508760" y="2743200"/>
            <a:ext cx="914400" cy="914"/>
          </a:xfrm>
          <a:prstGeom prst="line">
            <a:avLst/>
          </a:prstGeom>
          <a:noFill/>
          <a:ln w="15875">
            <a:solidFill>
              <a:srgbClr val="3D5A73"/>
            </a:solidFill>
            <a:prstDash val="solid"/>
          </a:ln>
        </p:spPr>
        <p:txBody>
          <a:bodyPr/>
          <a:lstStyle/>
          <a:p>
            <a:endParaRPr lang="en-US"/>
          </a:p>
        </p:txBody>
      </p:sp>
      <p:sp>
        <p:nvSpPr>
          <p:cNvPr id="15" name="Shape 13"/>
          <p:cNvSpPr/>
          <p:nvPr/>
        </p:nvSpPr>
        <p:spPr>
          <a:xfrm>
            <a:off x="2423160" y="2743200"/>
            <a:ext cx="914" cy="274320"/>
          </a:xfrm>
          <a:prstGeom prst="line">
            <a:avLst/>
          </a:prstGeom>
          <a:noFill/>
          <a:ln w="15875">
            <a:solidFill>
              <a:srgbClr val="3D5A73"/>
            </a:solidFill>
            <a:prstDash val="solid"/>
          </a:ln>
        </p:spPr>
        <p:txBody>
          <a:bodyPr/>
          <a:lstStyle/>
          <a:p>
            <a:endParaRPr lang="en-US"/>
          </a:p>
        </p:txBody>
      </p:sp>
      <p:sp>
        <p:nvSpPr>
          <p:cNvPr id="16" name="Shape 14"/>
          <p:cNvSpPr/>
          <p:nvPr/>
        </p:nvSpPr>
        <p:spPr>
          <a:xfrm>
            <a:off x="1508760" y="3429000"/>
            <a:ext cx="914" cy="320040"/>
          </a:xfrm>
          <a:prstGeom prst="line">
            <a:avLst/>
          </a:prstGeom>
          <a:noFill/>
          <a:ln w="15875">
            <a:solidFill>
              <a:srgbClr val="3D5A73"/>
            </a:solidFill>
            <a:prstDash val="solid"/>
          </a:ln>
        </p:spPr>
        <p:txBody>
          <a:bodyPr/>
          <a:lstStyle/>
          <a:p>
            <a:endParaRPr lang="en-US"/>
          </a:p>
        </p:txBody>
      </p:sp>
      <p:sp>
        <p:nvSpPr>
          <p:cNvPr id="17" name="Shape 15"/>
          <p:cNvSpPr/>
          <p:nvPr/>
        </p:nvSpPr>
        <p:spPr>
          <a:xfrm>
            <a:off x="1508760" y="3749040"/>
            <a:ext cx="914400" cy="914"/>
          </a:xfrm>
          <a:prstGeom prst="line">
            <a:avLst/>
          </a:prstGeom>
          <a:noFill/>
          <a:ln w="15875">
            <a:solidFill>
              <a:srgbClr val="3D5A73"/>
            </a:solidFill>
            <a:prstDash val="solid"/>
          </a:ln>
        </p:spPr>
        <p:txBody>
          <a:bodyPr/>
          <a:lstStyle/>
          <a:p>
            <a:endParaRPr lang="en-US"/>
          </a:p>
        </p:txBody>
      </p:sp>
      <p:sp>
        <p:nvSpPr>
          <p:cNvPr id="18" name="Shape 16"/>
          <p:cNvSpPr/>
          <p:nvPr/>
        </p:nvSpPr>
        <p:spPr>
          <a:xfrm flipV="1">
            <a:off x="2423160" y="3474720"/>
            <a:ext cx="914" cy="274320"/>
          </a:xfrm>
          <a:prstGeom prst="line">
            <a:avLst/>
          </a:prstGeom>
          <a:noFill/>
          <a:ln w="15875">
            <a:solidFill>
              <a:srgbClr val="3D5A73"/>
            </a:solidFill>
            <a:prstDash val="solid"/>
          </a:ln>
        </p:spPr>
        <p:txBody>
          <a:bodyPr/>
          <a:lstStyle/>
          <a:p>
            <a:endParaRPr lang="en-US"/>
          </a:p>
        </p:txBody>
      </p:sp>
      <p:sp>
        <p:nvSpPr>
          <p:cNvPr id="19" name="Shape 17"/>
          <p:cNvSpPr/>
          <p:nvPr/>
        </p:nvSpPr>
        <p:spPr>
          <a:xfrm>
            <a:off x="3337560" y="1600200"/>
            <a:ext cx="2468880" cy="3017520"/>
          </a:xfrm>
          <a:prstGeom prst="roundRect">
            <a:avLst>
              <a:gd name="adj" fmla="val 4444"/>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0" name="Text 18"/>
          <p:cNvSpPr txBox="1"/>
          <p:nvPr/>
        </p:nvSpPr>
        <p:spPr>
          <a:xfrm>
            <a:off x="3520440" y="1691640"/>
            <a:ext cx="2103120" cy="365760"/>
          </a:xfrm>
          <a:prstGeom prst="rect">
            <a:avLst/>
          </a:prstGeom>
          <a:noFill/>
          <a:ln/>
        </p:spPr>
        <p:txBody>
          <a:bodyPr wrap="square" lIns="0" tIns="0" rIns="0" bIns="0" rtlCol="0" anchor="ctr"/>
          <a:lstStyle/>
          <a:p>
            <a:pPr marL="0" indent="0">
              <a:buNone/>
            </a:pPr>
            <a:r>
              <a:rPr lang="en-US" sz="1800" b="1" dirty="0">
                <a:solidFill>
                  <a:srgbClr val="143F4F"/>
                </a:solidFill>
                <a:latin typeface="Century Schoolbook" pitchFamily="34" charset="0"/>
                <a:ea typeface="Century Schoolbook" pitchFamily="34" charset="-122"/>
                <a:cs typeface="Century Schoolbook" pitchFamily="34" charset="-120"/>
              </a:rPr>
              <a:t>Binary</a:t>
            </a:r>
            <a:endParaRPr lang="en-US" sz="1800" dirty="0"/>
          </a:p>
        </p:txBody>
      </p:sp>
      <p:sp>
        <p:nvSpPr>
          <p:cNvPr id="21" name="Text 19"/>
          <p:cNvSpPr txBox="1"/>
          <p:nvPr/>
        </p:nvSpPr>
        <p:spPr>
          <a:xfrm>
            <a:off x="3520440" y="2057400"/>
            <a:ext cx="2103120" cy="548640"/>
          </a:xfrm>
          <a:prstGeom prst="rect">
            <a:avLst/>
          </a:prstGeom>
          <a:noFill/>
          <a:ln/>
        </p:spPr>
        <p:txBody>
          <a:bodyPr wrap="square" lIns="0" tIns="0" rIns="0" bIns="0" rtlCol="0" anchor="ctr"/>
          <a:lstStyle/>
          <a:p>
            <a:pPr marL="0" indent="0">
              <a:buNone/>
            </a:pPr>
            <a:r>
              <a:rPr lang="en-US" sz="1250" dirty="0">
                <a:solidFill>
                  <a:srgbClr val="1F3B47"/>
                </a:solidFill>
                <a:latin typeface="Calibri" pitchFamily="34" charset="0"/>
                <a:ea typeface="Calibri" pitchFamily="34" charset="-122"/>
                <a:cs typeface="Calibri" pitchFamily="34" charset="-120"/>
              </a:rPr>
              <a:t>Between the instances of two entity types</a:t>
            </a:r>
            <a:endParaRPr lang="en-US" sz="1250" dirty="0"/>
          </a:p>
        </p:txBody>
      </p:sp>
      <p:sp>
        <p:nvSpPr>
          <p:cNvPr id="22" name="Text 20"/>
          <p:cNvSpPr/>
          <p:nvPr/>
        </p:nvSpPr>
        <p:spPr>
          <a:xfrm>
            <a:off x="3520440" y="3063240"/>
            <a:ext cx="548640" cy="365760"/>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E1</a:t>
            </a:r>
            <a:endParaRPr lang="en-US" sz="1100" dirty="0"/>
          </a:p>
        </p:txBody>
      </p:sp>
      <p:sp>
        <p:nvSpPr>
          <p:cNvPr id="23" name="Text 21"/>
          <p:cNvSpPr/>
          <p:nvPr/>
        </p:nvSpPr>
        <p:spPr>
          <a:xfrm>
            <a:off x="4297680" y="3026664"/>
            <a:ext cx="548640" cy="438912"/>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R</a:t>
            </a:r>
            <a:endParaRPr lang="en-US" sz="1050" dirty="0"/>
          </a:p>
        </p:txBody>
      </p:sp>
      <p:sp>
        <p:nvSpPr>
          <p:cNvPr id="24" name="Text 22"/>
          <p:cNvSpPr/>
          <p:nvPr/>
        </p:nvSpPr>
        <p:spPr>
          <a:xfrm>
            <a:off x="5074920" y="3063240"/>
            <a:ext cx="548640" cy="365760"/>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E2</a:t>
            </a:r>
            <a:endParaRPr lang="en-US" sz="1100" dirty="0"/>
          </a:p>
        </p:txBody>
      </p:sp>
      <p:sp>
        <p:nvSpPr>
          <p:cNvPr id="25" name="Shape 23"/>
          <p:cNvSpPr/>
          <p:nvPr/>
        </p:nvSpPr>
        <p:spPr>
          <a:xfrm>
            <a:off x="4069080" y="3246120"/>
            <a:ext cx="228600" cy="914"/>
          </a:xfrm>
          <a:prstGeom prst="line">
            <a:avLst/>
          </a:prstGeom>
          <a:noFill/>
          <a:ln w="15875">
            <a:solidFill>
              <a:srgbClr val="3D5A73"/>
            </a:solidFill>
            <a:prstDash val="solid"/>
          </a:ln>
        </p:spPr>
        <p:txBody>
          <a:bodyPr/>
          <a:lstStyle/>
          <a:p>
            <a:endParaRPr lang="en-US"/>
          </a:p>
        </p:txBody>
      </p:sp>
      <p:sp>
        <p:nvSpPr>
          <p:cNvPr id="26" name="Shape 24"/>
          <p:cNvSpPr/>
          <p:nvPr/>
        </p:nvSpPr>
        <p:spPr>
          <a:xfrm>
            <a:off x="4846320" y="3246120"/>
            <a:ext cx="228600" cy="914"/>
          </a:xfrm>
          <a:prstGeom prst="line">
            <a:avLst/>
          </a:prstGeom>
          <a:noFill/>
          <a:ln w="15875">
            <a:solidFill>
              <a:srgbClr val="3D5A73"/>
            </a:solidFill>
            <a:prstDash val="solid"/>
          </a:ln>
        </p:spPr>
        <p:txBody>
          <a:bodyPr/>
          <a:lstStyle/>
          <a:p>
            <a:endParaRPr lang="en-US"/>
          </a:p>
        </p:txBody>
      </p:sp>
      <p:sp>
        <p:nvSpPr>
          <p:cNvPr id="27" name="Shape 25"/>
          <p:cNvSpPr/>
          <p:nvPr/>
        </p:nvSpPr>
        <p:spPr>
          <a:xfrm>
            <a:off x="6035040" y="1600200"/>
            <a:ext cx="2468880" cy="3017520"/>
          </a:xfrm>
          <a:prstGeom prst="roundRect">
            <a:avLst>
              <a:gd name="adj" fmla="val 4444"/>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8" name="Text 26"/>
          <p:cNvSpPr txBox="1"/>
          <p:nvPr/>
        </p:nvSpPr>
        <p:spPr>
          <a:xfrm>
            <a:off x="6217920" y="1691640"/>
            <a:ext cx="2103120" cy="365760"/>
          </a:xfrm>
          <a:prstGeom prst="rect">
            <a:avLst/>
          </a:prstGeom>
          <a:noFill/>
          <a:ln/>
        </p:spPr>
        <p:txBody>
          <a:bodyPr wrap="square" lIns="0" tIns="0" rIns="0" bIns="0" rtlCol="0" anchor="ctr"/>
          <a:lstStyle/>
          <a:p>
            <a:pPr marL="0" indent="0">
              <a:buNone/>
            </a:pPr>
            <a:r>
              <a:rPr lang="en-US" sz="1800" b="1" dirty="0">
                <a:solidFill>
                  <a:srgbClr val="143F4F"/>
                </a:solidFill>
                <a:latin typeface="Century Schoolbook" pitchFamily="34" charset="0"/>
                <a:ea typeface="Century Schoolbook" pitchFamily="34" charset="-122"/>
                <a:cs typeface="Century Schoolbook" pitchFamily="34" charset="-120"/>
              </a:rPr>
              <a:t>Ternary</a:t>
            </a:r>
            <a:endParaRPr lang="en-US" sz="1800" dirty="0"/>
          </a:p>
        </p:txBody>
      </p:sp>
      <p:sp>
        <p:nvSpPr>
          <p:cNvPr id="29" name="Text 27"/>
          <p:cNvSpPr txBox="1"/>
          <p:nvPr/>
        </p:nvSpPr>
        <p:spPr>
          <a:xfrm>
            <a:off x="6217920" y="2057400"/>
            <a:ext cx="2103120" cy="548640"/>
          </a:xfrm>
          <a:prstGeom prst="rect">
            <a:avLst/>
          </a:prstGeom>
          <a:noFill/>
          <a:ln/>
        </p:spPr>
        <p:txBody>
          <a:bodyPr wrap="square" lIns="0" tIns="0" rIns="0" bIns="0" rtlCol="0" anchor="ctr"/>
          <a:lstStyle/>
          <a:p>
            <a:pPr marL="0" indent="0">
              <a:buNone/>
            </a:pPr>
            <a:r>
              <a:rPr lang="en-US" sz="1250" dirty="0">
                <a:solidFill>
                  <a:srgbClr val="1F3B47"/>
                </a:solidFill>
                <a:latin typeface="Calibri" pitchFamily="34" charset="0"/>
                <a:ea typeface="Calibri" pitchFamily="34" charset="-122"/>
                <a:cs typeface="Calibri" pitchFamily="34" charset="-120"/>
              </a:rPr>
              <a:t>Among the instances of three entity types</a:t>
            </a:r>
            <a:endParaRPr lang="en-US" sz="1250" dirty="0"/>
          </a:p>
        </p:txBody>
      </p:sp>
      <p:sp>
        <p:nvSpPr>
          <p:cNvPr id="30" name="Text 28"/>
          <p:cNvSpPr/>
          <p:nvPr/>
        </p:nvSpPr>
        <p:spPr>
          <a:xfrm>
            <a:off x="6217920" y="3063240"/>
            <a:ext cx="548640" cy="365760"/>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E1</a:t>
            </a:r>
            <a:endParaRPr lang="en-US" sz="1100" dirty="0"/>
          </a:p>
        </p:txBody>
      </p:sp>
      <p:sp>
        <p:nvSpPr>
          <p:cNvPr id="31" name="Text 29"/>
          <p:cNvSpPr/>
          <p:nvPr/>
        </p:nvSpPr>
        <p:spPr>
          <a:xfrm>
            <a:off x="6995160" y="3026664"/>
            <a:ext cx="548640" cy="438912"/>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R</a:t>
            </a:r>
            <a:endParaRPr lang="en-US" sz="1050" dirty="0"/>
          </a:p>
        </p:txBody>
      </p:sp>
      <p:sp>
        <p:nvSpPr>
          <p:cNvPr id="32" name="Text 30"/>
          <p:cNvSpPr/>
          <p:nvPr/>
        </p:nvSpPr>
        <p:spPr>
          <a:xfrm>
            <a:off x="7772400" y="3063240"/>
            <a:ext cx="548640" cy="365760"/>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E2</a:t>
            </a:r>
            <a:endParaRPr lang="en-US" sz="1100" dirty="0"/>
          </a:p>
        </p:txBody>
      </p:sp>
      <p:sp>
        <p:nvSpPr>
          <p:cNvPr id="33" name="Text 31"/>
          <p:cNvSpPr/>
          <p:nvPr/>
        </p:nvSpPr>
        <p:spPr>
          <a:xfrm>
            <a:off x="6995160" y="3840480"/>
            <a:ext cx="548640" cy="365760"/>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E3</a:t>
            </a:r>
            <a:endParaRPr lang="en-US" sz="1100" dirty="0"/>
          </a:p>
        </p:txBody>
      </p:sp>
      <p:sp>
        <p:nvSpPr>
          <p:cNvPr id="34" name="Shape 32"/>
          <p:cNvSpPr/>
          <p:nvPr/>
        </p:nvSpPr>
        <p:spPr>
          <a:xfrm>
            <a:off x="6766560" y="3246120"/>
            <a:ext cx="228600" cy="914"/>
          </a:xfrm>
          <a:prstGeom prst="line">
            <a:avLst/>
          </a:prstGeom>
          <a:noFill/>
          <a:ln w="15875">
            <a:solidFill>
              <a:srgbClr val="3D5A73"/>
            </a:solidFill>
            <a:prstDash val="solid"/>
          </a:ln>
        </p:spPr>
        <p:txBody>
          <a:bodyPr/>
          <a:lstStyle/>
          <a:p>
            <a:endParaRPr lang="en-US"/>
          </a:p>
        </p:txBody>
      </p:sp>
      <p:sp>
        <p:nvSpPr>
          <p:cNvPr id="35" name="Shape 33"/>
          <p:cNvSpPr/>
          <p:nvPr/>
        </p:nvSpPr>
        <p:spPr>
          <a:xfrm>
            <a:off x="7543800" y="3246120"/>
            <a:ext cx="228600" cy="914"/>
          </a:xfrm>
          <a:prstGeom prst="line">
            <a:avLst/>
          </a:prstGeom>
          <a:noFill/>
          <a:ln w="15875">
            <a:solidFill>
              <a:srgbClr val="3D5A73"/>
            </a:solidFill>
            <a:prstDash val="solid"/>
          </a:ln>
        </p:spPr>
        <p:txBody>
          <a:bodyPr/>
          <a:lstStyle/>
          <a:p>
            <a:endParaRPr lang="en-US"/>
          </a:p>
        </p:txBody>
      </p:sp>
      <p:sp>
        <p:nvSpPr>
          <p:cNvPr id="36" name="Shape 34"/>
          <p:cNvSpPr/>
          <p:nvPr/>
        </p:nvSpPr>
        <p:spPr>
          <a:xfrm>
            <a:off x="7269480" y="3465576"/>
            <a:ext cx="914" cy="374904"/>
          </a:xfrm>
          <a:prstGeom prst="line">
            <a:avLst/>
          </a:prstGeom>
          <a:noFill/>
          <a:ln w="15875">
            <a:solidFill>
              <a:srgbClr val="3D5A73"/>
            </a:solidFill>
            <a:prstDash val="solid"/>
          </a:ln>
        </p:spPr>
        <p:txBody>
          <a:bodyP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Unary / Recursive Relationships</a:t>
            </a:r>
            <a:endParaRPr lang="en-US" sz="3000" dirty="0"/>
          </a:p>
        </p:txBody>
      </p:sp>
      <p:sp>
        <p:nvSpPr>
          <p:cNvPr id="7" name="Text 5"/>
          <p:cNvSpPr txBox="1"/>
          <p:nvPr/>
        </p:nvSpPr>
        <p:spPr>
          <a:xfrm>
            <a:off x="640080" y="1005840"/>
            <a:ext cx="7863840" cy="36576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A relationship relating entities of the same type.</a:t>
            </a:r>
            <a:endParaRPr lang="en-US" sz="1500" dirty="0"/>
          </a:p>
        </p:txBody>
      </p:sp>
      <p:sp>
        <p:nvSpPr>
          <p:cNvPr id="8" name="Shape 6"/>
          <p:cNvSpPr/>
          <p:nvPr/>
        </p:nvSpPr>
        <p:spPr>
          <a:xfrm>
            <a:off x="640080" y="1508760"/>
            <a:ext cx="4206240" cy="1600200"/>
          </a:xfrm>
          <a:prstGeom prst="roundRect">
            <a:avLst>
              <a:gd name="adj" fmla="val 685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1129284" y="213969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0" name="Text 8"/>
          <p:cNvSpPr/>
          <p:nvPr/>
        </p:nvSpPr>
        <p:spPr>
          <a:xfrm>
            <a:off x="3063240" y="2093976"/>
            <a:ext cx="118872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work-for</a:t>
            </a:r>
            <a:endParaRPr lang="en-US" sz="1050" dirty="0"/>
          </a:p>
        </p:txBody>
      </p:sp>
      <p:sp>
        <p:nvSpPr>
          <p:cNvPr id="11" name="Shape 9"/>
          <p:cNvSpPr/>
          <p:nvPr/>
        </p:nvSpPr>
        <p:spPr>
          <a:xfrm flipV="1">
            <a:off x="2103120" y="2130552"/>
            <a:ext cx="1325880" cy="82296"/>
          </a:xfrm>
          <a:prstGeom prst="line">
            <a:avLst/>
          </a:prstGeom>
          <a:noFill/>
          <a:ln w="15875">
            <a:solidFill>
              <a:srgbClr val="3D5A73"/>
            </a:solidFill>
            <a:prstDash val="solid"/>
          </a:ln>
        </p:spPr>
        <p:txBody>
          <a:bodyPr/>
          <a:lstStyle/>
          <a:p>
            <a:endParaRPr lang="en-US"/>
          </a:p>
        </p:txBody>
      </p:sp>
      <p:sp>
        <p:nvSpPr>
          <p:cNvPr id="12" name="Shape 10"/>
          <p:cNvSpPr/>
          <p:nvPr/>
        </p:nvSpPr>
        <p:spPr>
          <a:xfrm>
            <a:off x="2103120" y="2450592"/>
            <a:ext cx="1325880" cy="82296"/>
          </a:xfrm>
          <a:prstGeom prst="line">
            <a:avLst/>
          </a:prstGeom>
          <a:noFill/>
          <a:ln w="15875">
            <a:solidFill>
              <a:srgbClr val="3D5A73"/>
            </a:solidFill>
            <a:prstDash val="solid"/>
          </a:ln>
        </p:spPr>
        <p:txBody>
          <a:bodyPr/>
          <a:lstStyle/>
          <a:p>
            <a:endParaRPr lang="en-US"/>
          </a:p>
        </p:txBody>
      </p:sp>
      <p:sp>
        <p:nvSpPr>
          <p:cNvPr id="13" name="Text 11"/>
          <p:cNvSpPr txBox="1"/>
          <p:nvPr/>
        </p:nvSpPr>
        <p:spPr>
          <a:xfrm>
            <a:off x="2331720" y="1828800"/>
            <a:ext cx="1005840" cy="256032"/>
          </a:xfrm>
          <a:prstGeom prst="rect">
            <a:avLst/>
          </a:prstGeom>
          <a:noFill/>
          <a:ln/>
        </p:spPr>
        <p:txBody>
          <a:bodyPr wrap="square" lIns="0" tIns="0" rIns="0" bIns="0" rtlCol="0" anchor="ctr"/>
          <a:lstStyle/>
          <a:p>
            <a:pPr marL="0" indent="0" algn="ctr">
              <a:buNone/>
            </a:pPr>
            <a:r>
              <a:rPr lang="en-US" sz="1100" i="1" dirty="0">
                <a:solidFill>
                  <a:srgbClr val="B03A2E"/>
                </a:solidFill>
                <a:latin typeface="Calibri" pitchFamily="34" charset="0"/>
                <a:ea typeface="Calibri" pitchFamily="34" charset="-122"/>
                <a:cs typeface="Calibri" pitchFamily="34" charset="-120"/>
              </a:rPr>
              <a:t>manager</a:t>
            </a:r>
            <a:endParaRPr lang="en-US" sz="1100" dirty="0"/>
          </a:p>
        </p:txBody>
      </p:sp>
      <p:sp>
        <p:nvSpPr>
          <p:cNvPr id="14" name="Text 12"/>
          <p:cNvSpPr txBox="1"/>
          <p:nvPr/>
        </p:nvSpPr>
        <p:spPr>
          <a:xfrm>
            <a:off x="2331720" y="2606040"/>
            <a:ext cx="1005840" cy="256032"/>
          </a:xfrm>
          <a:prstGeom prst="rect">
            <a:avLst/>
          </a:prstGeom>
          <a:noFill/>
          <a:ln/>
        </p:spPr>
        <p:txBody>
          <a:bodyPr wrap="square" lIns="0" tIns="0" rIns="0" bIns="0" rtlCol="0" anchor="ctr"/>
          <a:lstStyle/>
          <a:p>
            <a:pPr marL="0" indent="0" algn="ctr">
              <a:buNone/>
            </a:pPr>
            <a:r>
              <a:rPr lang="en-US" sz="1100" i="1" dirty="0">
                <a:solidFill>
                  <a:srgbClr val="B03A2E"/>
                </a:solidFill>
                <a:latin typeface="Calibri" pitchFamily="34" charset="0"/>
                <a:ea typeface="Calibri" pitchFamily="34" charset="-122"/>
                <a:cs typeface="Calibri" pitchFamily="34" charset="-120"/>
              </a:rPr>
              <a:t>worker</a:t>
            </a:r>
            <a:endParaRPr lang="en-US" sz="1100" dirty="0"/>
          </a:p>
        </p:txBody>
      </p:sp>
      <p:sp>
        <p:nvSpPr>
          <p:cNvPr id="15" name="Text 13"/>
          <p:cNvSpPr txBox="1"/>
          <p:nvPr/>
        </p:nvSpPr>
        <p:spPr>
          <a:xfrm>
            <a:off x="5120640" y="1600200"/>
            <a:ext cx="3383280" cy="14630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3B47"/>
                </a:solidFill>
                <a:latin typeface="Calibri" pitchFamily="34" charset="0"/>
                <a:ea typeface="Calibri" pitchFamily="34" charset="-122"/>
                <a:cs typeface="Calibri" pitchFamily="34" charset="-120"/>
              </a:rPr>
              <a:t>Employees play different roles: manager or worker.</a:t>
            </a:r>
            <a:endParaRPr lang="en-US" sz="1400" dirty="0"/>
          </a:p>
          <a:p>
            <a:pPr marL="342900" indent="-342900">
              <a:spcAft>
                <a:spcPts val="800"/>
              </a:spcAft>
              <a:buSzPct val="100000"/>
              <a:buChar char="•"/>
            </a:pPr>
            <a:r>
              <a:rPr lang="en-US" sz="1400" dirty="0">
                <a:solidFill>
                  <a:srgbClr val="1F3B47"/>
                </a:solidFill>
                <a:latin typeface="Calibri" pitchFamily="34" charset="0"/>
                <a:ea typeface="Calibri" pitchFamily="34" charset="-122"/>
                <a:cs typeface="Calibri" pitchFamily="34" charset="-120"/>
              </a:rPr>
              <a:t>You can “unfold” a recursive relationship to understand it:</a:t>
            </a:r>
            <a:endParaRPr lang="en-US" sz="1400" dirty="0"/>
          </a:p>
        </p:txBody>
      </p:sp>
      <p:sp>
        <p:nvSpPr>
          <p:cNvPr id="16" name="Shape 14"/>
          <p:cNvSpPr/>
          <p:nvPr/>
        </p:nvSpPr>
        <p:spPr>
          <a:xfrm>
            <a:off x="640080" y="3291840"/>
            <a:ext cx="7863840" cy="1325880"/>
          </a:xfrm>
          <a:prstGeom prst="roundRect">
            <a:avLst>
              <a:gd name="adj" fmla="val 8276"/>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7" name="Text 15"/>
          <p:cNvSpPr/>
          <p:nvPr/>
        </p:nvSpPr>
        <p:spPr>
          <a:xfrm>
            <a:off x="1357884" y="3758184"/>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8" name="Text 16"/>
          <p:cNvSpPr/>
          <p:nvPr/>
        </p:nvSpPr>
        <p:spPr>
          <a:xfrm>
            <a:off x="3977640" y="3712464"/>
            <a:ext cx="118872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work-for</a:t>
            </a:r>
            <a:endParaRPr lang="en-US" sz="1050" dirty="0"/>
          </a:p>
        </p:txBody>
      </p:sp>
      <p:sp>
        <p:nvSpPr>
          <p:cNvPr id="19" name="Text 17"/>
          <p:cNvSpPr/>
          <p:nvPr/>
        </p:nvSpPr>
        <p:spPr>
          <a:xfrm>
            <a:off x="6844284" y="3758184"/>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20" name="Shape 18"/>
          <p:cNvSpPr/>
          <p:nvPr/>
        </p:nvSpPr>
        <p:spPr>
          <a:xfrm>
            <a:off x="2299716" y="3950208"/>
            <a:ext cx="1677924" cy="914"/>
          </a:xfrm>
          <a:prstGeom prst="line">
            <a:avLst/>
          </a:prstGeom>
          <a:noFill/>
          <a:ln w="15875">
            <a:solidFill>
              <a:srgbClr val="3D5A73"/>
            </a:solidFill>
            <a:prstDash val="solid"/>
          </a:ln>
        </p:spPr>
        <p:txBody>
          <a:bodyPr/>
          <a:lstStyle/>
          <a:p>
            <a:endParaRPr lang="en-US"/>
          </a:p>
        </p:txBody>
      </p:sp>
      <p:sp>
        <p:nvSpPr>
          <p:cNvPr id="21" name="Shape 19"/>
          <p:cNvSpPr/>
          <p:nvPr/>
        </p:nvSpPr>
        <p:spPr>
          <a:xfrm>
            <a:off x="5166360" y="3950208"/>
            <a:ext cx="1677924" cy="914"/>
          </a:xfrm>
          <a:prstGeom prst="line">
            <a:avLst/>
          </a:prstGeom>
          <a:noFill/>
          <a:ln w="15875">
            <a:solidFill>
              <a:srgbClr val="3D5A73"/>
            </a:solidFill>
            <a:prstDash val="solid"/>
          </a:ln>
        </p:spPr>
        <p:txBody>
          <a:bodyPr/>
          <a:lstStyle/>
          <a:p>
            <a:endParaRPr lang="en-US"/>
          </a:p>
        </p:txBody>
      </p:sp>
      <p:sp>
        <p:nvSpPr>
          <p:cNvPr id="22" name="Text 20"/>
          <p:cNvSpPr txBox="1"/>
          <p:nvPr/>
        </p:nvSpPr>
        <p:spPr>
          <a:xfrm>
            <a:off x="2651760" y="3566160"/>
            <a:ext cx="1188720" cy="256032"/>
          </a:xfrm>
          <a:prstGeom prst="rect">
            <a:avLst/>
          </a:prstGeom>
          <a:noFill/>
          <a:ln/>
        </p:spPr>
        <p:txBody>
          <a:bodyPr wrap="square" lIns="0" tIns="0" rIns="0" bIns="0" rtlCol="0" anchor="ctr"/>
          <a:lstStyle/>
          <a:p>
            <a:pPr marL="0" indent="0" algn="ctr">
              <a:buNone/>
            </a:pPr>
            <a:r>
              <a:rPr lang="en-US" sz="1100" i="1" dirty="0">
                <a:solidFill>
                  <a:srgbClr val="B03A2E"/>
                </a:solidFill>
                <a:latin typeface="Calibri" pitchFamily="34" charset="0"/>
                <a:ea typeface="Calibri" pitchFamily="34" charset="-122"/>
                <a:cs typeface="Calibri" pitchFamily="34" charset="-120"/>
              </a:rPr>
              <a:t>manager</a:t>
            </a:r>
            <a:endParaRPr lang="en-US" sz="1100" dirty="0"/>
          </a:p>
        </p:txBody>
      </p:sp>
      <p:sp>
        <p:nvSpPr>
          <p:cNvPr id="23" name="Text 21"/>
          <p:cNvSpPr txBox="1"/>
          <p:nvPr/>
        </p:nvSpPr>
        <p:spPr>
          <a:xfrm>
            <a:off x="5303520" y="3566160"/>
            <a:ext cx="1188720" cy="256032"/>
          </a:xfrm>
          <a:prstGeom prst="rect">
            <a:avLst/>
          </a:prstGeom>
          <a:noFill/>
          <a:ln/>
        </p:spPr>
        <p:txBody>
          <a:bodyPr wrap="square" lIns="0" tIns="0" rIns="0" bIns="0" rtlCol="0" anchor="ctr"/>
          <a:lstStyle/>
          <a:p>
            <a:pPr marL="0" indent="0" algn="ctr">
              <a:buNone/>
            </a:pPr>
            <a:r>
              <a:rPr lang="en-US" sz="1100" i="1" dirty="0">
                <a:solidFill>
                  <a:srgbClr val="B03A2E"/>
                </a:solidFill>
                <a:latin typeface="Calibri" pitchFamily="34" charset="0"/>
                <a:ea typeface="Calibri" pitchFamily="34" charset="-122"/>
                <a:cs typeface="Calibri" pitchFamily="34" charset="-120"/>
              </a:rPr>
              <a:t>worker</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Unary / Recursive Relationships</a:t>
            </a:r>
            <a:endParaRPr lang="en-US" sz="3000" dirty="0"/>
          </a:p>
        </p:txBody>
      </p:sp>
      <p:sp>
        <p:nvSpPr>
          <p:cNvPr id="7" name="Shape 5"/>
          <p:cNvSpPr/>
          <p:nvPr/>
        </p:nvSpPr>
        <p:spPr>
          <a:xfrm>
            <a:off x="640080" y="1097280"/>
            <a:ext cx="3794760" cy="2514600"/>
          </a:xfrm>
          <a:prstGeom prst="roundRect">
            <a:avLst>
              <a:gd name="adj" fmla="val 4364"/>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68680" y="1234440"/>
            <a:ext cx="3383280" cy="365760"/>
          </a:xfrm>
          <a:prstGeom prst="rect">
            <a:avLst/>
          </a:prstGeom>
          <a:noFill/>
          <a:ln/>
        </p:spPr>
        <p:txBody>
          <a:bodyPr wrap="square" lIns="0" tIns="0" rIns="0" bIns="0" rtlCol="0" anchor="ctr"/>
          <a:lstStyle/>
          <a:p>
            <a:pPr marL="0" indent="0">
              <a:buNone/>
            </a:pPr>
            <a:r>
              <a:rPr lang="en-US" sz="1600" b="1" dirty="0">
                <a:solidFill>
                  <a:srgbClr val="143F4F"/>
                </a:solidFill>
                <a:latin typeface="Calibri" pitchFamily="34" charset="0"/>
                <a:ea typeface="Calibri" pitchFamily="34" charset="-122"/>
                <a:cs typeface="Calibri" pitchFamily="34" charset="-120"/>
              </a:rPr>
              <a:t>Without role names</a:t>
            </a:r>
            <a:endParaRPr lang="en-US" sz="16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14400" y="1783080"/>
          <a:ext cx="3246120" cy="1316736"/>
        </p:xfrm>
        <a:graphic>
          <a:graphicData uri="http://schemas.openxmlformats.org/drawingml/2006/table">
            <a:tbl>
              <a:tblPr/>
              <a:tblGrid>
                <a:gridCol w="1623060">
                  <a:extLst>
                    <a:ext uri="{9D8B030D-6E8A-4147-A177-3AD203B41FA5}">
                      <a16:colId xmlns:a16="http://schemas.microsoft.com/office/drawing/2014/main" val="20000"/>
                    </a:ext>
                  </a:extLst>
                </a:gridCol>
                <a:gridCol w="1623060">
                  <a:extLst>
                    <a:ext uri="{9D8B030D-6E8A-4147-A177-3AD203B41FA5}">
                      <a16:colId xmlns:a16="http://schemas.microsoft.com/office/drawing/2014/main" val="20001"/>
                    </a:ext>
                  </a:extLst>
                </a:gridCol>
              </a:tblGrid>
              <a:tr h="438912">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EmployeeNo</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EmployeeNo</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A1234</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A6543</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r h="438912">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A1234</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A8734</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bl>
          </a:graphicData>
        </a:graphic>
      </p:graphicFrame>
      <p:sp>
        <p:nvSpPr>
          <p:cNvPr id="10" name="Shape 7"/>
          <p:cNvSpPr/>
          <p:nvPr/>
        </p:nvSpPr>
        <p:spPr>
          <a:xfrm>
            <a:off x="4709160" y="1097280"/>
            <a:ext cx="3794760" cy="2514600"/>
          </a:xfrm>
          <a:prstGeom prst="roundRect">
            <a:avLst>
              <a:gd name="adj" fmla="val 4364"/>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4937760" y="1234440"/>
            <a:ext cx="3383280" cy="365760"/>
          </a:xfrm>
          <a:prstGeom prst="rect">
            <a:avLst/>
          </a:prstGeom>
          <a:noFill/>
          <a:ln/>
        </p:spPr>
        <p:txBody>
          <a:bodyPr wrap="square" lIns="0" tIns="0" rIns="0" bIns="0" rtlCol="0" anchor="ctr"/>
          <a:lstStyle/>
          <a:p>
            <a:pPr marL="0" indent="0">
              <a:buNone/>
            </a:pPr>
            <a:r>
              <a:rPr lang="en-US" sz="1600" b="1" dirty="0">
                <a:solidFill>
                  <a:srgbClr val="143F4F"/>
                </a:solidFill>
                <a:latin typeface="Calibri" pitchFamily="34" charset="0"/>
                <a:ea typeface="Calibri" pitchFamily="34" charset="-122"/>
                <a:cs typeface="Calibri" pitchFamily="34" charset="-120"/>
              </a:rPr>
              <a:t>With role names</a:t>
            </a:r>
            <a:endParaRPr lang="en-US" sz="160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4983480" y="1783080"/>
          <a:ext cx="3246120" cy="1316736"/>
        </p:xfrm>
        <a:graphic>
          <a:graphicData uri="http://schemas.openxmlformats.org/drawingml/2006/table">
            <a:tbl>
              <a:tblPr/>
              <a:tblGrid>
                <a:gridCol w="1623060">
                  <a:extLst>
                    <a:ext uri="{9D8B030D-6E8A-4147-A177-3AD203B41FA5}">
                      <a16:colId xmlns:a16="http://schemas.microsoft.com/office/drawing/2014/main" val="20000"/>
                    </a:ext>
                  </a:extLst>
                </a:gridCol>
                <a:gridCol w="1623060">
                  <a:extLst>
                    <a:ext uri="{9D8B030D-6E8A-4147-A177-3AD203B41FA5}">
                      <a16:colId xmlns:a16="http://schemas.microsoft.com/office/drawing/2014/main" val="20001"/>
                    </a:ext>
                  </a:extLst>
                </a:gridCol>
              </a:tblGrid>
              <a:tr h="438912">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ManagerNo</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WorkerNo</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A1234</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A6543</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r h="438912">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A1234</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A8734</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bl>
          </a:graphicData>
        </a:graphic>
      </p:graphicFrame>
      <p:sp>
        <p:nvSpPr>
          <p:cNvPr id="13" name="Text 9"/>
          <p:cNvSpPr/>
          <p:nvPr/>
        </p:nvSpPr>
        <p:spPr>
          <a:xfrm>
            <a:off x="640080" y="3840480"/>
            <a:ext cx="7863840" cy="640080"/>
          </a:xfrm>
          <a:prstGeom prst="roundRect">
            <a:avLst>
              <a:gd name="adj" fmla="val 14286"/>
            </a:avLst>
          </a:prstGeom>
          <a:solidFill>
            <a:srgbClr val="143F4F"/>
          </a:solid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Here, ManagerNo and WorkerNo are valid EmployeeNo values.</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Binary &amp; Ternary Relationships</a:t>
            </a:r>
            <a:endParaRPr lang="en-US" sz="3000" dirty="0"/>
          </a:p>
        </p:txBody>
      </p:sp>
      <p:sp>
        <p:nvSpPr>
          <p:cNvPr id="7" name="Shape 5"/>
          <p:cNvSpPr/>
          <p:nvPr/>
        </p:nvSpPr>
        <p:spPr>
          <a:xfrm>
            <a:off x="640080" y="1051560"/>
            <a:ext cx="7863840" cy="1371600"/>
          </a:xfrm>
          <a:prstGeom prst="roundRect">
            <a:avLst>
              <a:gd name="adj" fmla="val 8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68680" y="1143000"/>
            <a:ext cx="7315200" cy="320040"/>
          </a:xfrm>
          <a:prstGeom prst="rect">
            <a:avLst/>
          </a:prstGeom>
          <a:noFill/>
          <a:ln/>
        </p:spPr>
        <p:txBody>
          <a:bodyPr wrap="square" lIns="0" tIns="0" rIns="0" bIns="0" rtlCol="0" anchor="ctr"/>
          <a:lstStyle/>
          <a:p>
            <a:pPr marL="0" indent="0">
              <a:buNone/>
            </a:pPr>
            <a:r>
              <a:rPr lang="en-US" sz="1400" b="1" dirty="0">
                <a:solidFill>
                  <a:srgbClr val="55BFAE"/>
                </a:solidFill>
                <a:latin typeface="Calibri" pitchFamily="34" charset="0"/>
                <a:ea typeface="Calibri" pitchFamily="34" charset="-122"/>
                <a:cs typeface="Calibri" pitchFamily="34" charset="-120"/>
              </a:rPr>
              <a:t>Binary: </a:t>
            </a:r>
            <a:r>
              <a:rPr lang="en-US" sz="1400" dirty="0">
                <a:solidFill>
                  <a:srgbClr val="1F3B47"/>
                </a:solidFill>
                <a:latin typeface="Calibri" pitchFamily="34" charset="0"/>
                <a:ea typeface="Calibri" pitchFamily="34" charset="-122"/>
                <a:cs typeface="Calibri" pitchFamily="34" charset="-120"/>
              </a:rPr>
              <a:t>Employee works in a Department</a:t>
            </a:r>
            <a:endParaRPr lang="en-US" sz="1400" dirty="0"/>
          </a:p>
        </p:txBody>
      </p:sp>
      <p:sp>
        <p:nvSpPr>
          <p:cNvPr id="9" name="Text 7"/>
          <p:cNvSpPr/>
          <p:nvPr/>
        </p:nvSpPr>
        <p:spPr>
          <a:xfrm>
            <a:off x="1906524" y="172821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0" name="Text 8"/>
          <p:cNvSpPr/>
          <p:nvPr/>
        </p:nvSpPr>
        <p:spPr>
          <a:xfrm>
            <a:off x="3977640" y="1682496"/>
            <a:ext cx="118872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Works_In</a:t>
            </a:r>
            <a:endParaRPr lang="en-US" sz="1050" dirty="0"/>
          </a:p>
        </p:txBody>
      </p:sp>
      <p:sp>
        <p:nvSpPr>
          <p:cNvPr id="11" name="Text 9"/>
          <p:cNvSpPr/>
          <p:nvPr/>
        </p:nvSpPr>
        <p:spPr>
          <a:xfrm>
            <a:off x="6172200" y="1728216"/>
            <a:ext cx="118872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Department</a:t>
            </a:r>
            <a:endParaRPr lang="en-US" sz="1100" dirty="0"/>
          </a:p>
        </p:txBody>
      </p:sp>
      <p:sp>
        <p:nvSpPr>
          <p:cNvPr id="12" name="Shape 10"/>
          <p:cNvSpPr/>
          <p:nvPr/>
        </p:nvSpPr>
        <p:spPr>
          <a:xfrm>
            <a:off x="2848356" y="1920240"/>
            <a:ext cx="1129284" cy="914"/>
          </a:xfrm>
          <a:prstGeom prst="line">
            <a:avLst/>
          </a:prstGeom>
          <a:noFill/>
          <a:ln w="15875">
            <a:solidFill>
              <a:srgbClr val="3D5A73"/>
            </a:solidFill>
            <a:prstDash val="solid"/>
          </a:ln>
        </p:spPr>
        <p:txBody>
          <a:bodyPr/>
          <a:lstStyle/>
          <a:p>
            <a:endParaRPr lang="en-US"/>
          </a:p>
        </p:txBody>
      </p:sp>
      <p:sp>
        <p:nvSpPr>
          <p:cNvPr id="13" name="Shape 11"/>
          <p:cNvSpPr/>
          <p:nvPr/>
        </p:nvSpPr>
        <p:spPr>
          <a:xfrm>
            <a:off x="5166360" y="1920240"/>
            <a:ext cx="1005840" cy="914"/>
          </a:xfrm>
          <a:prstGeom prst="line">
            <a:avLst/>
          </a:prstGeom>
          <a:noFill/>
          <a:ln w="15875">
            <a:solidFill>
              <a:srgbClr val="3D5A73"/>
            </a:solidFill>
            <a:prstDash val="solid"/>
          </a:ln>
        </p:spPr>
        <p:txBody>
          <a:bodyPr/>
          <a:lstStyle/>
          <a:p>
            <a:endParaRPr lang="en-US"/>
          </a:p>
        </p:txBody>
      </p:sp>
      <p:sp>
        <p:nvSpPr>
          <p:cNvPr id="14" name="Shape 12"/>
          <p:cNvSpPr/>
          <p:nvPr/>
        </p:nvSpPr>
        <p:spPr>
          <a:xfrm>
            <a:off x="640080" y="2606040"/>
            <a:ext cx="7863840" cy="2011680"/>
          </a:xfrm>
          <a:prstGeom prst="roundRect">
            <a:avLst>
              <a:gd name="adj" fmla="val 5455"/>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868680" y="2697480"/>
            <a:ext cx="7315200" cy="320040"/>
          </a:xfrm>
          <a:prstGeom prst="rect">
            <a:avLst/>
          </a:prstGeom>
          <a:noFill/>
          <a:ln/>
        </p:spPr>
        <p:txBody>
          <a:bodyPr wrap="square" lIns="0" tIns="0" rIns="0" bIns="0" rtlCol="0" anchor="ctr"/>
          <a:lstStyle/>
          <a:p>
            <a:pPr marL="0" indent="0">
              <a:buNone/>
            </a:pPr>
            <a:r>
              <a:rPr lang="en-US" sz="1400" b="1" dirty="0">
                <a:solidFill>
                  <a:srgbClr val="55BFAE"/>
                </a:solidFill>
                <a:latin typeface="Calibri" pitchFamily="34" charset="0"/>
                <a:ea typeface="Calibri" pitchFamily="34" charset="-122"/>
                <a:cs typeface="Calibri" pitchFamily="34" charset="-120"/>
              </a:rPr>
              <a:t>Ternary: </a:t>
            </a:r>
            <a:r>
              <a:rPr lang="en-US" sz="1400" dirty="0">
                <a:solidFill>
                  <a:srgbClr val="1F3B47"/>
                </a:solidFill>
                <a:latin typeface="Calibri" pitchFamily="34" charset="0"/>
                <a:ea typeface="Calibri" pitchFamily="34" charset="-122"/>
                <a:cs typeface="Calibri" pitchFamily="34" charset="-120"/>
              </a:rPr>
              <a:t>Employee works in a Department at a particular Location</a:t>
            </a:r>
            <a:endParaRPr lang="en-US" sz="1400" dirty="0"/>
          </a:p>
        </p:txBody>
      </p:sp>
      <p:sp>
        <p:nvSpPr>
          <p:cNvPr id="16" name="Text 14"/>
          <p:cNvSpPr/>
          <p:nvPr/>
        </p:nvSpPr>
        <p:spPr>
          <a:xfrm>
            <a:off x="1906524" y="3191256"/>
            <a:ext cx="94183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a:t>
            </a:r>
            <a:endParaRPr lang="en-US" sz="1100" dirty="0"/>
          </a:p>
        </p:txBody>
      </p:sp>
      <p:sp>
        <p:nvSpPr>
          <p:cNvPr id="17" name="Text 15"/>
          <p:cNvSpPr/>
          <p:nvPr/>
        </p:nvSpPr>
        <p:spPr>
          <a:xfrm>
            <a:off x="3977640" y="3145536"/>
            <a:ext cx="118872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Works_In</a:t>
            </a:r>
            <a:endParaRPr lang="en-US" sz="1050" dirty="0"/>
          </a:p>
        </p:txBody>
      </p:sp>
      <p:sp>
        <p:nvSpPr>
          <p:cNvPr id="18" name="Text 16"/>
          <p:cNvSpPr/>
          <p:nvPr/>
        </p:nvSpPr>
        <p:spPr>
          <a:xfrm>
            <a:off x="6172200" y="3191256"/>
            <a:ext cx="118872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Department</a:t>
            </a:r>
            <a:endParaRPr lang="en-US" sz="1100" dirty="0"/>
          </a:p>
        </p:txBody>
      </p:sp>
      <p:sp>
        <p:nvSpPr>
          <p:cNvPr id="19" name="Text 17"/>
          <p:cNvSpPr/>
          <p:nvPr/>
        </p:nvSpPr>
        <p:spPr>
          <a:xfrm>
            <a:off x="4023360" y="4014216"/>
            <a:ext cx="109728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Location</a:t>
            </a:r>
            <a:endParaRPr lang="en-US" sz="1100" dirty="0"/>
          </a:p>
        </p:txBody>
      </p:sp>
      <p:sp>
        <p:nvSpPr>
          <p:cNvPr id="20" name="Shape 18"/>
          <p:cNvSpPr/>
          <p:nvPr/>
        </p:nvSpPr>
        <p:spPr>
          <a:xfrm>
            <a:off x="2848356" y="3383280"/>
            <a:ext cx="1129284" cy="914"/>
          </a:xfrm>
          <a:prstGeom prst="line">
            <a:avLst/>
          </a:prstGeom>
          <a:noFill/>
          <a:ln w="15875">
            <a:solidFill>
              <a:srgbClr val="3D5A73"/>
            </a:solidFill>
            <a:prstDash val="solid"/>
          </a:ln>
        </p:spPr>
        <p:txBody>
          <a:bodyPr/>
          <a:lstStyle/>
          <a:p>
            <a:endParaRPr lang="en-US"/>
          </a:p>
        </p:txBody>
      </p:sp>
      <p:sp>
        <p:nvSpPr>
          <p:cNvPr id="21" name="Shape 19"/>
          <p:cNvSpPr/>
          <p:nvPr/>
        </p:nvSpPr>
        <p:spPr>
          <a:xfrm>
            <a:off x="5166360" y="3383280"/>
            <a:ext cx="1005840" cy="914"/>
          </a:xfrm>
          <a:prstGeom prst="line">
            <a:avLst/>
          </a:prstGeom>
          <a:noFill/>
          <a:ln w="15875">
            <a:solidFill>
              <a:srgbClr val="3D5A73"/>
            </a:solidFill>
            <a:prstDash val="solid"/>
          </a:ln>
        </p:spPr>
        <p:txBody>
          <a:bodyPr/>
          <a:lstStyle/>
          <a:p>
            <a:endParaRPr lang="en-US"/>
          </a:p>
        </p:txBody>
      </p:sp>
      <p:sp>
        <p:nvSpPr>
          <p:cNvPr id="22" name="Shape 20"/>
          <p:cNvSpPr/>
          <p:nvPr/>
        </p:nvSpPr>
        <p:spPr>
          <a:xfrm>
            <a:off x="4572000" y="3621024"/>
            <a:ext cx="914" cy="393192"/>
          </a:xfrm>
          <a:prstGeom prst="line">
            <a:avLst/>
          </a:prstGeom>
          <a:noFill/>
          <a:ln w="15875">
            <a:solidFill>
              <a:srgbClr val="3D5A73"/>
            </a:solidFill>
            <a:prstDash val="solid"/>
          </a:ln>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Mapping Cardinalities</a:t>
            </a:r>
            <a:endParaRPr lang="en-US" sz="3000" dirty="0"/>
          </a:p>
        </p:txBody>
      </p:sp>
      <p:sp>
        <p:nvSpPr>
          <p:cNvPr id="7" name="Text 5"/>
          <p:cNvSpPr txBox="1"/>
          <p:nvPr/>
        </p:nvSpPr>
        <p:spPr>
          <a:xfrm>
            <a:off x="640080" y="1005840"/>
            <a:ext cx="786384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3B47"/>
                </a:solidFill>
                <a:latin typeface="Calibri" pitchFamily="34" charset="0"/>
                <a:ea typeface="Calibri" pitchFamily="34" charset="-122"/>
                <a:cs typeface="Calibri" pitchFamily="34" charset="-120"/>
              </a:rPr>
              <a:t>Express the number of entities to which another entity can be associated via a relationship set.</a:t>
            </a:r>
            <a:endParaRPr lang="en-US" sz="1500" dirty="0"/>
          </a:p>
          <a:p>
            <a:pPr marL="342900" indent="-342900">
              <a:spcAft>
                <a:spcPts val="600"/>
              </a:spcAft>
              <a:buSzPct val="100000"/>
              <a:buChar char="•"/>
            </a:pPr>
            <a:r>
              <a:rPr lang="en-US" sz="1500" dirty="0">
                <a:solidFill>
                  <a:srgbClr val="1F3B47"/>
                </a:solidFill>
                <a:latin typeface="Calibri" pitchFamily="34" charset="0"/>
                <a:ea typeface="Calibri" pitchFamily="34" charset="-122"/>
                <a:cs typeface="Calibri" pitchFamily="34" charset="-120"/>
              </a:rPr>
              <a:t>Most useful in describing binary relationship sets.</a:t>
            </a:r>
            <a:endParaRPr lang="en-US" sz="1500" dirty="0"/>
          </a:p>
          <a:p>
            <a:pPr marL="342900" indent="-342900">
              <a:spcAft>
                <a:spcPts val="600"/>
              </a:spcAft>
              <a:buSzPct val="100000"/>
              <a:buChar char="•"/>
            </a:pPr>
            <a:r>
              <a:rPr lang="en-US" sz="1500" dirty="0">
                <a:solidFill>
                  <a:srgbClr val="1F3B47"/>
                </a:solidFill>
                <a:latin typeface="Calibri" pitchFamily="34" charset="0"/>
                <a:ea typeface="Calibri" pitchFamily="34" charset="-122"/>
                <a:cs typeface="Calibri" pitchFamily="34" charset="-120"/>
              </a:rPr>
              <a:t>For a binary relationship set, the mapping cardinality must be one of the following types:</a:t>
            </a:r>
            <a:endParaRPr lang="en-US" sz="1500" dirty="0"/>
          </a:p>
        </p:txBody>
      </p:sp>
      <p:sp>
        <p:nvSpPr>
          <p:cNvPr id="8" name="Shape 6"/>
          <p:cNvSpPr/>
          <p:nvPr/>
        </p:nvSpPr>
        <p:spPr>
          <a:xfrm>
            <a:off x="640080" y="2788920"/>
            <a:ext cx="1828800" cy="1554480"/>
          </a:xfrm>
          <a:prstGeom prst="roundRect">
            <a:avLst>
              <a:gd name="adj" fmla="val 705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40080" y="2880360"/>
            <a:ext cx="1828800" cy="777240"/>
          </a:xfrm>
          <a:prstGeom prst="rect">
            <a:avLst/>
          </a:prstGeom>
          <a:noFill/>
          <a:ln/>
        </p:spPr>
        <p:txBody>
          <a:bodyPr wrap="square" lIns="0" tIns="0" rIns="0" bIns="0" rtlCol="0" anchor="ctr"/>
          <a:lstStyle/>
          <a:p>
            <a:pPr marL="0" indent="0" algn="ctr">
              <a:buNone/>
            </a:pPr>
            <a:r>
              <a:rPr lang="en-US" sz="2800" b="1" dirty="0">
                <a:solidFill>
                  <a:srgbClr val="55BFAE"/>
                </a:solidFill>
                <a:latin typeface="Century Schoolbook" pitchFamily="34" charset="0"/>
                <a:ea typeface="Century Schoolbook" pitchFamily="34" charset="-122"/>
                <a:cs typeface="Century Schoolbook" pitchFamily="34" charset="-120"/>
              </a:rPr>
              <a:t>1 : 1</a:t>
            </a:r>
            <a:endParaRPr lang="en-US" sz="2800" dirty="0"/>
          </a:p>
        </p:txBody>
      </p:sp>
      <p:sp>
        <p:nvSpPr>
          <p:cNvPr id="10" name="Text 8"/>
          <p:cNvSpPr txBox="1"/>
          <p:nvPr/>
        </p:nvSpPr>
        <p:spPr>
          <a:xfrm>
            <a:off x="640080" y="3657600"/>
            <a:ext cx="1828800" cy="457200"/>
          </a:xfrm>
          <a:prstGeom prst="rect">
            <a:avLst/>
          </a:prstGeom>
          <a:noFill/>
          <a:ln/>
        </p:spPr>
        <p:txBody>
          <a:bodyPr wrap="square" lIns="0" tIns="0" rIns="0" bIns="0" rtlCol="0" anchor="ctr"/>
          <a:lstStyle/>
          <a:p>
            <a:pPr marL="0" indent="0" algn="ctr">
              <a:buNone/>
            </a:pPr>
            <a:r>
              <a:rPr lang="en-US" sz="1400" b="1" dirty="0">
                <a:solidFill>
                  <a:srgbClr val="1F3B47"/>
                </a:solidFill>
                <a:latin typeface="Calibri" pitchFamily="34" charset="0"/>
                <a:ea typeface="Calibri" pitchFamily="34" charset="-122"/>
                <a:cs typeface="Calibri" pitchFamily="34" charset="-120"/>
              </a:rPr>
              <a:t>One to one</a:t>
            </a:r>
            <a:endParaRPr lang="en-US" sz="1400" dirty="0"/>
          </a:p>
        </p:txBody>
      </p:sp>
      <p:sp>
        <p:nvSpPr>
          <p:cNvPr id="11" name="Shape 9"/>
          <p:cNvSpPr/>
          <p:nvPr/>
        </p:nvSpPr>
        <p:spPr>
          <a:xfrm>
            <a:off x="2651760" y="2788920"/>
            <a:ext cx="1828800" cy="1554480"/>
          </a:xfrm>
          <a:prstGeom prst="roundRect">
            <a:avLst>
              <a:gd name="adj" fmla="val 7059"/>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2651760" y="2880360"/>
            <a:ext cx="1828800" cy="777240"/>
          </a:xfrm>
          <a:prstGeom prst="rect">
            <a:avLst/>
          </a:prstGeom>
          <a:noFill/>
          <a:ln/>
        </p:spPr>
        <p:txBody>
          <a:bodyPr wrap="square" lIns="0" tIns="0" rIns="0" bIns="0" rtlCol="0" anchor="ctr"/>
          <a:lstStyle/>
          <a:p>
            <a:pPr marL="0" indent="0" algn="ctr">
              <a:buNone/>
            </a:pPr>
            <a:r>
              <a:rPr lang="en-US" sz="2800" b="1" dirty="0">
                <a:solidFill>
                  <a:srgbClr val="143F4F"/>
                </a:solidFill>
                <a:latin typeface="Century Schoolbook" pitchFamily="34" charset="0"/>
                <a:ea typeface="Century Schoolbook" pitchFamily="34" charset="-122"/>
                <a:cs typeface="Century Schoolbook" pitchFamily="34" charset="-120"/>
              </a:rPr>
              <a:t>1 : M</a:t>
            </a:r>
            <a:endParaRPr lang="en-US" sz="2800" dirty="0"/>
          </a:p>
        </p:txBody>
      </p:sp>
      <p:sp>
        <p:nvSpPr>
          <p:cNvPr id="13" name="Text 11"/>
          <p:cNvSpPr txBox="1"/>
          <p:nvPr/>
        </p:nvSpPr>
        <p:spPr>
          <a:xfrm>
            <a:off x="2651760" y="3657600"/>
            <a:ext cx="1828800" cy="457200"/>
          </a:xfrm>
          <a:prstGeom prst="rect">
            <a:avLst/>
          </a:prstGeom>
          <a:noFill/>
          <a:ln/>
        </p:spPr>
        <p:txBody>
          <a:bodyPr wrap="square" lIns="0" tIns="0" rIns="0" bIns="0" rtlCol="0" anchor="ctr"/>
          <a:lstStyle/>
          <a:p>
            <a:pPr marL="0" indent="0" algn="ctr">
              <a:buNone/>
            </a:pPr>
            <a:r>
              <a:rPr lang="en-US" sz="1400" b="1" dirty="0">
                <a:solidFill>
                  <a:srgbClr val="1F3B47"/>
                </a:solidFill>
                <a:latin typeface="Calibri" pitchFamily="34" charset="0"/>
                <a:ea typeface="Calibri" pitchFamily="34" charset="-122"/>
                <a:cs typeface="Calibri" pitchFamily="34" charset="-120"/>
              </a:rPr>
              <a:t>One to many</a:t>
            </a:r>
            <a:endParaRPr lang="en-US" sz="1400" dirty="0"/>
          </a:p>
        </p:txBody>
      </p:sp>
      <p:sp>
        <p:nvSpPr>
          <p:cNvPr id="14" name="Shape 12"/>
          <p:cNvSpPr/>
          <p:nvPr/>
        </p:nvSpPr>
        <p:spPr>
          <a:xfrm>
            <a:off x="4663440" y="2788920"/>
            <a:ext cx="1828800" cy="1554480"/>
          </a:xfrm>
          <a:prstGeom prst="roundRect">
            <a:avLst>
              <a:gd name="adj" fmla="val 705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4663440" y="2880360"/>
            <a:ext cx="1828800" cy="777240"/>
          </a:xfrm>
          <a:prstGeom prst="rect">
            <a:avLst/>
          </a:prstGeom>
          <a:noFill/>
          <a:ln/>
        </p:spPr>
        <p:txBody>
          <a:bodyPr wrap="square" lIns="0" tIns="0" rIns="0" bIns="0" rtlCol="0" anchor="ctr"/>
          <a:lstStyle/>
          <a:p>
            <a:pPr marL="0" indent="0" algn="ctr">
              <a:buNone/>
            </a:pPr>
            <a:r>
              <a:rPr lang="en-US" sz="2800" b="1" dirty="0">
                <a:solidFill>
                  <a:srgbClr val="55BFAE"/>
                </a:solidFill>
                <a:latin typeface="Century Schoolbook" pitchFamily="34" charset="0"/>
                <a:ea typeface="Century Schoolbook" pitchFamily="34" charset="-122"/>
                <a:cs typeface="Century Schoolbook" pitchFamily="34" charset="-120"/>
              </a:rPr>
              <a:t>M : 1</a:t>
            </a:r>
            <a:endParaRPr lang="en-US" sz="2800" dirty="0"/>
          </a:p>
        </p:txBody>
      </p:sp>
      <p:sp>
        <p:nvSpPr>
          <p:cNvPr id="16" name="Text 14"/>
          <p:cNvSpPr txBox="1"/>
          <p:nvPr/>
        </p:nvSpPr>
        <p:spPr>
          <a:xfrm>
            <a:off x="4663440" y="3657600"/>
            <a:ext cx="1828800" cy="457200"/>
          </a:xfrm>
          <a:prstGeom prst="rect">
            <a:avLst/>
          </a:prstGeom>
          <a:noFill/>
          <a:ln/>
        </p:spPr>
        <p:txBody>
          <a:bodyPr wrap="square" lIns="0" tIns="0" rIns="0" bIns="0" rtlCol="0" anchor="ctr"/>
          <a:lstStyle/>
          <a:p>
            <a:pPr marL="0" indent="0" algn="ctr">
              <a:buNone/>
            </a:pPr>
            <a:r>
              <a:rPr lang="en-US" sz="1400" b="1" dirty="0">
                <a:solidFill>
                  <a:srgbClr val="1F3B47"/>
                </a:solidFill>
                <a:latin typeface="Calibri" pitchFamily="34" charset="0"/>
                <a:ea typeface="Calibri" pitchFamily="34" charset="-122"/>
                <a:cs typeface="Calibri" pitchFamily="34" charset="-120"/>
              </a:rPr>
              <a:t>Many to one</a:t>
            </a:r>
            <a:endParaRPr lang="en-US" sz="1400" dirty="0"/>
          </a:p>
        </p:txBody>
      </p:sp>
      <p:sp>
        <p:nvSpPr>
          <p:cNvPr id="17" name="Shape 15"/>
          <p:cNvSpPr/>
          <p:nvPr/>
        </p:nvSpPr>
        <p:spPr>
          <a:xfrm>
            <a:off x="6675120" y="2788920"/>
            <a:ext cx="1828800" cy="1554480"/>
          </a:xfrm>
          <a:prstGeom prst="roundRect">
            <a:avLst>
              <a:gd name="adj" fmla="val 7059"/>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8" name="Text 16"/>
          <p:cNvSpPr txBox="1"/>
          <p:nvPr/>
        </p:nvSpPr>
        <p:spPr>
          <a:xfrm>
            <a:off x="6675120" y="2880360"/>
            <a:ext cx="1828800" cy="777240"/>
          </a:xfrm>
          <a:prstGeom prst="rect">
            <a:avLst/>
          </a:prstGeom>
          <a:noFill/>
          <a:ln/>
        </p:spPr>
        <p:txBody>
          <a:bodyPr wrap="square" lIns="0" tIns="0" rIns="0" bIns="0" rtlCol="0" anchor="ctr"/>
          <a:lstStyle/>
          <a:p>
            <a:pPr marL="0" indent="0" algn="ctr">
              <a:buNone/>
            </a:pPr>
            <a:r>
              <a:rPr lang="en-US" sz="2800" b="1" dirty="0">
                <a:solidFill>
                  <a:srgbClr val="143F4F"/>
                </a:solidFill>
                <a:latin typeface="Century Schoolbook" pitchFamily="34" charset="0"/>
                <a:ea typeface="Century Schoolbook" pitchFamily="34" charset="-122"/>
                <a:cs typeface="Century Schoolbook" pitchFamily="34" charset="-120"/>
              </a:rPr>
              <a:t>M : N</a:t>
            </a:r>
            <a:endParaRPr lang="en-US" sz="2800" dirty="0"/>
          </a:p>
        </p:txBody>
      </p:sp>
      <p:sp>
        <p:nvSpPr>
          <p:cNvPr id="19" name="Text 17"/>
          <p:cNvSpPr txBox="1"/>
          <p:nvPr/>
        </p:nvSpPr>
        <p:spPr>
          <a:xfrm>
            <a:off x="6675120" y="3657600"/>
            <a:ext cx="1828800" cy="457200"/>
          </a:xfrm>
          <a:prstGeom prst="rect">
            <a:avLst/>
          </a:prstGeom>
          <a:noFill/>
          <a:ln/>
        </p:spPr>
        <p:txBody>
          <a:bodyPr wrap="square" lIns="0" tIns="0" rIns="0" bIns="0" rtlCol="0" anchor="ctr"/>
          <a:lstStyle/>
          <a:p>
            <a:pPr marL="0" indent="0" algn="ctr">
              <a:buNone/>
            </a:pPr>
            <a:r>
              <a:rPr lang="en-US" sz="1400" b="1" dirty="0">
                <a:solidFill>
                  <a:srgbClr val="1F3B47"/>
                </a:solidFill>
                <a:latin typeface="Calibri" pitchFamily="34" charset="0"/>
                <a:ea typeface="Calibri" pitchFamily="34" charset="-122"/>
                <a:cs typeface="Calibri" pitchFamily="34" charset="-120"/>
              </a:rPr>
              <a:t>Many to many</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Mapping Cardinalities</a:t>
            </a:r>
            <a:endParaRPr lang="en-US" sz="3000" dirty="0"/>
          </a:p>
        </p:txBody>
      </p:sp>
      <p:sp>
        <p:nvSpPr>
          <p:cNvPr id="7" name="Text 5"/>
          <p:cNvSpPr txBox="1"/>
          <p:nvPr/>
        </p:nvSpPr>
        <p:spPr>
          <a:xfrm>
            <a:off x="640080" y="914400"/>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One to One (1:1)</a:t>
            </a:r>
            <a:endParaRPr lang="en-US" sz="1500" dirty="0"/>
          </a:p>
        </p:txBody>
      </p:sp>
      <p:sp>
        <p:nvSpPr>
          <p:cNvPr id="8" name="Text 6"/>
          <p:cNvSpPr/>
          <p:nvPr/>
        </p:nvSpPr>
        <p:spPr>
          <a:xfrm>
            <a:off x="640080" y="1298448"/>
            <a:ext cx="7863840" cy="731520"/>
          </a:xfrm>
          <a:prstGeom prst="roundRect">
            <a:avLst>
              <a:gd name="adj" fmla="val 10000"/>
            </a:avLst>
          </a:prstGeom>
          <a:solidFill>
            <a:srgbClr val="FFFFFF"/>
          </a:solidFill>
          <a:ln>
            <a:solidFill>
              <a:srgbClr val="C9D6DC"/>
            </a:solidFill>
          </a:ln>
        </p:spPr>
        <p:txBody>
          <a:bodyPr wrap="square" lIns="0" tIns="152400" rIns="152400" bIns="0" rtlCol="0" anchor="ctr"/>
          <a:lstStyle/>
          <a:p>
            <a:pPr marL="0" indent="0">
              <a:buNone/>
            </a:pPr>
            <a:r>
              <a:rPr lang="en-US" sz="1350" dirty="0">
                <a:solidFill>
                  <a:srgbClr val="1F3B47"/>
                </a:solidFill>
                <a:latin typeface="Calibri" pitchFamily="34" charset="0"/>
                <a:ea typeface="Calibri" pitchFamily="34" charset="-122"/>
                <a:cs typeface="Calibri" pitchFamily="34" charset="-120"/>
              </a:rPr>
              <a:t>An entity in A is associated with </a:t>
            </a:r>
            <a:r>
              <a:rPr lang="en-US" sz="1350" b="1" i="1" dirty="0">
                <a:solidFill>
                  <a:srgbClr val="B03A2E"/>
                </a:solidFill>
                <a:latin typeface="Calibri" pitchFamily="34" charset="0"/>
                <a:ea typeface="Calibri" pitchFamily="34" charset="-122"/>
                <a:cs typeface="Calibri" pitchFamily="34" charset="-120"/>
              </a:rPr>
              <a:t>at most</a:t>
            </a:r>
            <a:r>
              <a:rPr lang="en-US" sz="1350" dirty="0">
                <a:solidFill>
                  <a:srgbClr val="1F3B47"/>
                </a:solidFill>
                <a:latin typeface="Calibri" pitchFamily="34" charset="0"/>
                <a:ea typeface="Calibri" pitchFamily="34" charset="-122"/>
                <a:cs typeface="Calibri" pitchFamily="34" charset="-120"/>
              </a:rPr>
              <a:t> one entity in B, and an entity in B is associated with </a:t>
            </a:r>
            <a:r>
              <a:rPr lang="en-US" sz="1350" b="1" i="1" dirty="0">
                <a:solidFill>
                  <a:srgbClr val="B03A2E"/>
                </a:solidFill>
                <a:latin typeface="Calibri" pitchFamily="34" charset="0"/>
                <a:ea typeface="Calibri" pitchFamily="34" charset="-122"/>
                <a:cs typeface="Calibri" pitchFamily="34" charset="-120"/>
              </a:rPr>
              <a:t>at most</a:t>
            </a:r>
            <a:r>
              <a:rPr lang="en-US" sz="1350" dirty="0">
                <a:solidFill>
                  <a:srgbClr val="1F3B47"/>
                </a:solidFill>
                <a:latin typeface="Calibri" pitchFamily="34" charset="0"/>
                <a:ea typeface="Calibri" pitchFamily="34" charset="-122"/>
                <a:cs typeface="Calibri" pitchFamily="34" charset="-120"/>
              </a:rPr>
              <a:t> one entity in A.</a:t>
            </a:r>
            <a:endParaRPr lang="en-US" sz="1350" dirty="0"/>
          </a:p>
        </p:txBody>
      </p:sp>
      <p:sp>
        <p:nvSpPr>
          <p:cNvPr id="9" name="Shape 7"/>
          <p:cNvSpPr/>
          <p:nvPr/>
        </p:nvSpPr>
        <p:spPr>
          <a:xfrm>
            <a:off x="640080" y="2194560"/>
            <a:ext cx="2651760" cy="2423160"/>
          </a:xfrm>
          <a:prstGeom prst="roundRect">
            <a:avLst>
              <a:gd name="adj" fmla="val 4528"/>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8"/>
          <p:cNvSpPr/>
          <p:nvPr/>
        </p:nvSpPr>
        <p:spPr>
          <a:xfrm>
            <a:off x="1024128" y="2514600"/>
            <a:ext cx="603504" cy="1636776"/>
          </a:xfrm>
          <a:prstGeom prst="ellipse">
            <a:avLst/>
          </a:prstGeom>
          <a:solidFill>
            <a:srgbClr val="D9DEE3"/>
          </a:solidFill>
          <a:ln w="12700">
            <a:solidFill>
              <a:srgbClr val="5A6B78"/>
            </a:solidFill>
            <a:prstDash val="solid"/>
          </a:ln>
        </p:spPr>
        <p:txBody>
          <a:bodyPr/>
          <a:lstStyle/>
          <a:p>
            <a:endParaRPr lang="en-US"/>
          </a:p>
        </p:txBody>
      </p:sp>
      <p:sp>
        <p:nvSpPr>
          <p:cNvPr id="11" name="Text 9"/>
          <p:cNvSpPr txBox="1"/>
          <p:nvPr/>
        </p:nvSpPr>
        <p:spPr>
          <a:xfrm>
            <a:off x="1024128" y="2240280"/>
            <a:ext cx="603504" cy="237744"/>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170432" y="2729484"/>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a1</a:t>
            </a:r>
            <a:endParaRPr lang="en-US" sz="900" dirty="0"/>
          </a:p>
        </p:txBody>
      </p:sp>
      <p:sp>
        <p:nvSpPr>
          <p:cNvPr id="13" name="Text 11"/>
          <p:cNvSpPr/>
          <p:nvPr/>
        </p:nvSpPr>
        <p:spPr>
          <a:xfrm>
            <a:off x="1170432" y="3058668"/>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a2</a:t>
            </a:r>
            <a:endParaRPr lang="en-US" sz="900" dirty="0"/>
          </a:p>
        </p:txBody>
      </p:sp>
      <p:sp>
        <p:nvSpPr>
          <p:cNvPr id="14" name="Text 12"/>
          <p:cNvSpPr/>
          <p:nvPr/>
        </p:nvSpPr>
        <p:spPr>
          <a:xfrm>
            <a:off x="1170432" y="3387852"/>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a3</a:t>
            </a:r>
            <a:endParaRPr lang="en-US" sz="900" dirty="0"/>
          </a:p>
        </p:txBody>
      </p:sp>
      <p:sp>
        <p:nvSpPr>
          <p:cNvPr id="15" name="Text 13"/>
          <p:cNvSpPr/>
          <p:nvPr/>
        </p:nvSpPr>
        <p:spPr>
          <a:xfrm>
            <a:off x="1170432" y="3717036"/>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a4</a:t>
            </a:r>
            <a:endParaRPr lang="en-US" sz="900" dirty="0"/>
          </a:p>
        </p:txBody>
      </p:sp>
      <p:sp>
        <p:nvSpPr>
          <p:cNvPr id="16" name="Shape 14"/>
          <p:cNvSpPr/>
          <p:nvPr/>
        </p:nvSpPr>
        <p:spPr>
          <a:xfrm>
            <a:off x="2258568" y="2514600"/>
            <a:ext cx="603504" cy="1636776"/>
          </a:xfrm>
          <a:prstGeom prst="ellipse">
            <a:avLst/>
          </a:prstGeom>
          <a:solidFill>
            <a:srgbClr val="D9DEE3"/>
          </a:solidFill>
          <a:ln w="12700">
            <a:solidFill>
              <a:srgbClr val="5A6B78"/>
            </a:solidFill>
            <a:prstDash val="solid"/>
          </a:ln>
        </p:spPr>
        <p:txBody>
          <a:bodyPr/>
          <a:lstStyle/>
          <a:p>
            <a:endParaRPr lang="en-US"/>
          </a:p>
        </p:txBody>
      </p:sp>
      <p:sp>
        <p:nvSpPr>
          <p:cNvPr id="17" name="Text 15"/>
          <p:cNvSpPr txBox="1"/>
          <p:nvPr/>
        </p:nvSpPr>
        <p:spPr>
          <a:xfrm>
            <a:off x="2258568" y="2240280"/>
            <a:ext cx="603504" cy="237744"/>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B</a:t>
            </a:r>
            <a:endParaRPr lang="en-US" sz="1100" dirty="0"/>
          </a:p>
        </p:txBody>
      </p:sp>
      <p:sp>
        <p:nvSpPr>
          <p:cNvPr id="18" name="Text 16"/>
          <p:cNvSpPr/>
          <p:nvPr/>
        </p:nvSpPr>
        <p:spPr>
          <a:xfrm>
            <a:off x="2404872" y="2729484"/>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b1</a:t>
            </a:r>
            <a:endParaRPr lang="en-US" sz="900" dirty="0"/>
          </a:p>
        </p:txBody>
      </p:sp>
      <p:sp>
        <p:nvSpPr>
          <p:cNvPr id="19" name="Text 17"/>
          <p:cNvSpPr/>
          <p:nvPr/>
        </p:nvSpPr>
        <p:spPr>
          <a:xfrm>
            <a:off x="2404872" y="3058668"/>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b2</a:t>
            </a:r>
            <a:endParaRPr lang="en-US" sz="900" dirty="0"/>
          </a:p>
        </p:txBody>
      </p:sp>
      <p:sp>
        <p:nvSpPr>
          <p:cNvPr id="20" name="Text 18"/>
          <p:cNvSpPr/>
          <p:nvPr/>
        </p:nvSpPr>
        <p:spPr>
          <a:xfrm>
            <a:off x="2404872" y="3387852"/>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b3</a:t>
            </a:r>
            <a:endParaRPr lang="en-US" sz="900" dirty="0"/>
          </a:p>
        </p:txBody>
      </p:sp>
      <p:sp>
        <p:nvSpPr>
          <p:cNvPr id="21" name="Text 19"/>
          <p:cNvSpPr/>
          <p:nvPr/>
        </p:nvSpPr>
        <p:spPr>
          <a:xfrm>
            <a:off x="2404872" y="3717036"/>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b4</a:t>
            </a:r>
            <a:endParaRPr lang="en-US" sz="900" dirty="0"/>
          </a:p>
        </p:txBody>
      </p:sp>
      <p:sp>
        <p:nvSpPr>
          <p:cNvPr id="22" name="Shape 20"/>
          <p:cNvSpPr/>
          <p:nvPr/>
        </p:nvSpPr>
        <p:spPr>
          <a:xfrm>
            <a:off x="1481328" y="2843784"/>
            <a:ext cx="923544" cy="329184"/>
          </a:xfrm>
          <a:prstGeom prst="line">
            <a:avLst/>
          </a:prstGeom>
          <a:noFill/>
          <a:ln w="12700">
            <a:solidFill>
              <a:srgbClr val="2E3B44"/>
            </a:solidFill>
            <a:prstDash val="solid"/>
          </a:ln>
        </p:spPr>
        <p:txBody>
          <a:bodyPr/>
          <a:lstStyle/>
          <a:p>
            <a:endParaRPr lang="en-US"/>
          </a:p>
        </p:txBody>
      </p:sp>
      <p:sp>
        <p:nvSpPr>
          <p:cNvPr id="23" name="Shape 21"/>
          <p:cNvSpPr/>
          <p:nvPr/>
        </p:nvSpPr>
        <p:spPr>
          <a:xfrm flipV="1">
            <a:off x="1481328" y="2843784"/>
            <a:ext cx="923544" cy="329184"/>
          </a:xfrm>
          <a:prstGeom prst="line">
            <a:avLst/>
          </a:prstGeom>
          <a:noFill/>
          <a:ln w="12700">
            <a:solidFill>
              <a:srgbClr val="2E3B44"/>
            </a:solidFill>
            <a:prstDash val="solid"/>
          </a:ln>
        </p:spPr>
        <p:txBody>
          <a:bodyPr/>
          <a:lstStyle/>
          <a:p>
            <a:endParaRPr lang="en-US"/>
          </a:p>
        </p:txBody>
      </p:sp>
      <p:sp>
        <p:nvSpPr>
          <p:cNvPr id="24" name="Shape 22"/>
          <p:cNvSpPr/>
          <p:nvPr/>
        </p:nvSpPr>
        <p:spPr>
          <a:xfrm>
            <a:off x="1481328" y="3502152"/>
            <a:ext cx="923544" cy="329184"/>
          </a:xfrm>
          <a:prstGeom prst="line">
            <a:avLst/>
          </a:prstGeom>
          <a:noFill/>
          <a:ln w="12700">
            <a:solidFill>
              <a:srgbClr val="2E3B44"/>
            </a:solidFill>
            <a:prstDash val="solid"/>
          </a:ln>
        </p:spPr>
        <p:txBody>
          <a:bodyPr/>
          <a:lstStyle/>
          <a:p>
            <a:endParaRPr lang="en-US"/>
          </a:p>
        </p:txBody>
      </p:sp>
      <p:sp>
        <p:nvSpPr>
          <p:cNvPr id="25" name="Shape 23"/>
          <p:cNvSpPr/>
          <p:nvPr/>
        </p:nvSpPr>
        <p:spPr>
          <a:xfrm>
            <a:off x="3520440" y="2194560"/>
            <a:ext cx="4983480" cy="2423160"/>
          </a:xfrm>
          <a:prstGeom prst="roundRect">
            <a:avLst>
              <a:gd name="adj" fmla="val 4528"/>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4"/>
          <p:cNvSpPr/>
          <p:nvPr/>
        </p:nvSpPr>
        <p:spPr>
          <a:xfrm>
            <a:off x="3817620" y="2688336"/>
            <a:ext cx="1051560" cy="384048"/>
          </a:xfrm>
          <a:prstGeom prst="rect">
            <a:avLst/>
          </a:prstGeom>
          <a:solidFill>
            <a:srgbClr val="B8E6E0"/>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Customer</a:t>
            </a:r>
            <a:endParaRPr lang="en-US" sz="1100" dirty="0"/>
          </a:p>
        </p:txBody>
      </p:sp>
      <p:sp>
        <p:nvSpPr>
          <p:cNvPr id="27" name="Text 25"/>
          <p:cNvSpPr/>
          <p:nvPr/>
        </p:nvSpPr>
        <p:spPr>
          <a:xfrm>
            <a:off x="5440680" y="2642616"/>
            <a:ext cx="109728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Borrows</a:t>
            </a:r>
            <a:endParaRPr lang="en-US" sz="1050" dirty="0"/>
          </a:p>
        </p:txBody>
      </p:sp>
      <p:sp>
        <p:nvSpPr>
          <p:cNvPr id="28" name="Text 26"/>
          <p:cNvSpPr/>
          <p:nvPr/>
        </p:nvSpPr>
        <p:spPr>
          <a:xfrm>
            <a:off x="7178040" y="2688336"/>
            <a:ext cx="914400" cy="384048"/>
          </a:xfrm>
          <a:prstGeom prst="rect">
            <a:avLst/>
          </a:prstGeom>
          <a:solidFill>
            <a:srgbClr val="B8E6E0"/>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Loan</a:t>
            </a:r>
            <a:endParaRPr lang="en-US" sz="1100" dirty="0"/>
          </a:p>
        </p:txBody>
      </p:sp>
      <p:sp>
        <p:nvSpPr>
          <p:cNvPr id="29" name="Shape 27"/>
          <p:cNvSpPr/>
          <p:nvPr/>
        </p:nvSpPr>
        <p:spPr>
          <a:xfrm flipH="1">
            <a:off x="4869180" y="2880360"/>
            <a:ext cx="571500" cy="914"/>
          </a:xfrm>
          <a:prstGeom prst="line">
            <a:avLst/>
          </a:prstGeom>
          <a:noFill/>
          <a:ln w="15875">
            <a:solidFill>
              <a:srgbClr val="3D5A73"/>
            </a:solidFill>
            <a:prstDash val="solid"/>
            <a:tailEnd type="triangle"/>
          </a:ln>
        </p:spPr>
        <p:txBody>
          <a:bodyPr/>
          <a:lstStyle/>
          <a:p>
            <a:endParaRPr lang="en-US"/>
          </a:p>
        </p:txBody>
      </p:sp>
      <p:sp>
        <p:nvSpPr>
          <p:cNvPr id="30" name="Shape 28"/>
          <p:cNvSpPr/>
          <p:nvPr/>
        </p:nvSpPr>
        <p:spPr>
          <a:xfrm>
            <a:off x="6537960" y="2880360"/>
            <a:ext cx="640080" cy="914"/>
          </a:xfrm>
          <a:prstGeom prst="line">
            <a:avLst/>
          </a:prstGeom>
          <a:noFill/>
          <a:ln w="15875">
            <a:solidFill>
              <a:srgbClr val="3D5A73"/>
            </a:solidFill>
            <a:prstDash val="solid"/>
            <a:tailEnd type="triangle"/>
          </a:ln>
        </p:spPr>
        <p:txBody>
          <a:bodyPr/>
          <a:lstStyle/>
          <a:p>
            <a:endParaRPr lang="en-US"/>
          </a:p>
        </p:txBody>
      </p:sp>
      <p:sp>
        <p:nvSpPr>
          <p:cNvPr id="31" name="Text 29"/>
          <p:cNvSpPr txBox="1"/>
          <p:nvPr/>
        </p:nvSpPr>
        <p:spPr>
          <a:xfrm>
            <a:off x="3749040" y="3383280"/>
            <a:ext cx="457200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B03A2E"/>
                </a:solidFill>
                <a:latin typeface="Calibri" pitchFamily="34" charset="0"/>
                <a:ea typeface="Calibri" pitchFamily="34" charset="-122"/>
                <a:cs typeface="Calibri" pitchFamily="34" charset="-120"/>
              </a:rPr>
              <a:t>A customer can borrow 1 loan, and vice versa.</a:t>
            </a:r>
            <a:endParaRPr lang="en-US" sz="1300" dirty="0"/>
          </a:p>
          <a:p>
            <a:pPr marL="342900" indent="-342900">
              <a:spcAft>
                <a:spcPts val="300"/>
              </a:spcAft>
              <a:buSzPct val="100000"/>
              <a:buChar char="•"/>
            </a:pPr>
            <a:r>
              <a:rPr lang="en-US" sz="1300" dirty="0">
                <a:solidFill>
                  <a:srgbClr val="B03A2E"/>
                </a:solidFill>
                <a:latin typeface="Calibri" pitchFamily="34" charset="0"/>
                <a:ea typeface="Calibri" pitchFamily="34" charset="-122"/>
                <a:cs typeface="Calibri" pitchFamily="34" charset="-120"/>
              </a:rPr>
              <a:t>Some elements in A and B may not be mapped to any elements in the other set.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32</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Mapping Cardinalities</a:t>
            </a:r>
            <a:endParaRPr lang="en-US" sz="3000" dirty="0"/>
          </a:p>
        </p:txBody>
      </p:sp>
      <p:sp>
        <p:nvSpPr>
          <p:cNvPr id="7" name="Text 5"/>
          <p:cNvSpPr txBox="1"/>
          <p:nvPr/>
        </p:nvSpPr>
        <p:spPr>
          <a:xfrm>
            <a:off x="640080" y="914400"/>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One to Many (1:M)</a:t>
            </a:r>
            <a:endParaRPr lang="en-US" sz="1500" dirty="0"/>
          </a:p>
        </p:txBody>
      </p:sp>
      <p:sp>
        <p:nvSpPr>
          <p:cNvPr id="8" name="Text 6"/>
          <p:cNvSpPr/>
          <p:nvPr/>
        </p:nvSpPr>
        <p:spPr>
          <a:xfrm>
            <a:off x="640080" y="1298448"/>
            <a:ext cx="7863840" cy="731520"/>
          </a:xfrm>
          <a:prstGeom prst="roundRect">
            <a:avLst>
              <a:gd name="adj" fmla="val 10000"/>
            </a:avLst>
          </a:prstGeom>
          <a:solidFill>
            <a:srgbClr val="FFFFFF"/>
          </a:solidFill>
          <a:ln>
            <a:solidFill>
              <a:srgbClr val="C9D6DC"/>
            </a:solidFill>
          </a:ln>
        </p:spPr>
        <p:txBody>
          <a:bodyPr wrap="square" lIns="0" tIns="152400" rIns="152400" bIns="0" rtlCol="0" anchor="ctr"/>
          <a:lstStyle/>
          <a:p>
            <a:pPr marL="0" indent="0">
              <a:buNone/>
            </a:pPr>
            <a:r>
              <a:rPr lang="en-US" sz="1350" dirty="0">
                <a:solidFill>
                  <a:srgbClr val="1F3B47"/>
                </a:solidFill>
                <a:latin typeface="Calibri" pitchFamily="34" charset="0"/>
                <a:ea typeface="Calibri" pitchFamily="34" charset="-122"/>
                <a:cs typeface="Calibri" pitchFamily="34" charset="-120"/>
              </a:rPr>
              <a:t>An entity in A is associated with </a:t>
            </a:r>
            <a:r>
              <a:rPr lang="en-US" sz="1350" b="1" i="1" dirty="0">
                <a:solidFill>
                  <a:srgbClr val="B03A2E"/>
                </a:solidFill>
                <a:latin typeface="Calibri" pitchFamily="34" charset="0"/>
                <a:ea typeface="Calibri" pitchFamily="34" charset="-122"/>
                <a:cs typeface="Calibri" pitchFamily="34" charset="-120"/>
              </a:rPr>
              <a:t>any number</a:t>
            </a:r>
            <a:r>
              <a:rPr lang="en-US" sz="1350" dirty="0">
                <a:solidFill>
                  <a:srgbClr val="1F3B47"/>
                </a:solidFill>
                <a:latin typeface="Calibri" pitchFamily="34" charset="0"/>
                <a:ea typeface="Calibri" pitchFamily="34" charset="-122"/>
                <a:cs typeface="Calibri" pitchFamily="34" charset="-120"/>
              </a:rPr>
              <a:t> (zero or more) of entities in B. An entity in B, however, can be associated with </a:t>
            </a:r>
            <a:r>
              <a:rPr lang="en-US" sz="1350" b="1" i="1" dirty="0">
                <a:solidFill>
                  <a:srgbClr val="B03A2E"/>
                </a:solidFill>
                <a:latin typeface="Calibri" pitchFamily="34" charset="0"/>
                <a:ea typeface="Calibri" pitchFamily="34" charset="-122"/>
                <a:cs typeface="Calibri" pitchFamily="34" charset="-120"/>
              </a:rPr>
              <a:t>at most</a:t>
            </a:r>
            <a:r>
              <a:rPr lang="en-US" sz="1350" dirty="0">
                <a:solidFill>
                  <a:srgbClr val="1F3B47"/>
                </a:solidFill>
                <a:latin typeface="Calibri" pitchFamily="34" charset="0"/>
                <a:ea typeface="Calibri" pitchFamily="34" charset="-122"/>
                <a:cs typeface="Calibri" pitchFamily="34" charset="-120"/>
              </a:rPr>
              <a:t> one entity in A.</a:t>
            </a:r>
            <a:endParaRPr lang="en-US" sz="1350" dirty="0"/>
          </a:p>
        </p:txBody>
      </p:sp>
      <p:sp>
        <p:nvSpPr>
          <p:cNvPr id="9" name="Shape 7"/>
          <p:cNvSpPr/>
          <p:nvPr/>
        </p:nvSpPr>
        <p:spPr>
          <a:xfrm>
            <a:off x="640080" y="2194560"/>
            <a:ext cx="2651760" cy="2423160"/>
          </a:xfrm>
          <a:prstGeom prst="roundRect">
            <a:avLst>
              <a:gd name="adj" fmla="val 4528"/>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8"/>
          <p:cNvSpPr/>
          <p:nvPr/>
        </p:nvSpPr>
        <p:spPr>
          <a:xfrm>
            <a:off x="1024128" y="2514600"/>
            <a:ext cx="603504" cy="1965960"/>
          </a:xfrm>
          <a:prstGeom prst="ellipse">
            <a:avLst/>
          </a:prstGeom>
          <a:solidFill>
            <a:srgbClr val="D9DEE3"/>
          </a:solidFill>
          <a:ln w="12700">
            <a:solidFill>
              <a:srgbClr val="5A6B78"/>
            </a:solidFill>
            <a:prstDash val="solid"/>
          </a:ln>
        </p:spPr>
        <p:txBody>
          <a:bodyPr/>
          <a:lstStyle/>
          <a:p>
            <a:endParaRPr lang="en-US"/>
          </a:p>
        </p:txBody>
      </p:sp>
      <p:sp>
        <p:nvSpPr>
          <p:cNvPr id="11" name="Text 9"/>
          <p:cNvSpPr txBox="1"/>
          <p:nvPr/>
        </p:nvSpPr>
        <p:spPr>
          <a:xfrm>
            <a:off x="1024128" y="2240280"/>
            <a:ext cx="603504" cy="237744"/>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170432" y="3058668"/>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a1</a:t>
            </a:r>
            <a:endParaRPr lang="en-US" sz="900" dirty="0"/>
          </a:p>
        </p:txBody>
      </p:sp>
      <p:sp>
        <p:nvSpPr>
          <p:cNvPr id="13" name="Text 11"/>
          <p:cNvSpPr/>
          <p:nvPr/>
        </p:nvSpPr>
        <p:spPr>
          <a:xfrm>
            <a:off x="1170432" y="3387852"/>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a2</a:t>
            </a:r>
            <a:endParaRPr lang="en-US" sz="900" dirty="0"/>
          </a:p>
        </p:txBody>
      </p:sp>
      <p:sp>
        <p:nvSpPr>
          <p:cNvPr id="14" name="Text 12"/>
          <p:cNvSpPr/>
          <p:nvPr/>
        </p:nvSpPr>
        <p:spPr>
          <a:xfrm>
            <a:off x="1170432" y="3717036"/>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a3</a:t>
            </a:r>
            <a:endParaRPr lang="en-US" sz="900" dirty="0"/>
          </a:p>
        </p:txBody>
      </p:sp>
      <p:sp>
        <p:nvSpPr>
          <p:cNvPr id="15" name="Shape 13"/>
          <p:cNvSpPr/>
          <p:nvPr/>
        </p:nvSpPr>
        <p:spPr>
          <a:xfrm>
            <a:off x="2258568" y="2514600"/>
            <a:ext cx="603504" cy="1965960"/>
          </a:xfrm>
          <a:prstGeom prst="ellipse">
            <a:avLst/>
          </a:prstGeom>
          <a:solidFill>
            <a:srgbClr val="D9DEE3"/>
          </a:solidFill>
          <a:ln w="12700">
            <a:solidFill>
              <a:srgbClr val="5A6B78"/>
            </a:solidFill>
            <a:prstDash val="solid"/>
          </a:ln>
        </p:spPr>
        <p:txBody>
          <a:bodyPr/>
          <a:lstStyle/>
          <a:p>
            <a:endParaRPr lang="en-US"/>
          </a:p>
        </p:txBody>
      </p:sp>
      <p:sp>
        <p:nvSpPr>
          <p:cNvPr id="16" name="Text 14"/>
          <p:cNvSpPr txBox="1"/>
          <p:nvPr/>
        </p:nvSpPr>
        <p:spPr>
          <a:xfrm>
            <a:off x="2258568" y="2240280"/>
            <a:ext cx="603504" cy="237744"/>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B</a:t>
            </a:r>
            <a:endParaRPr lang="en-US" sz="1100" dirty="0"/>
          </a:p>
        </p:txBody>
      </p:sp>
      <p:sp>
        <p:nvSpPr>
          <p:cNvPr id="17" name="Text 15"/>
          <p:cNvSpPr/>
          <p:nvPr/>
        </p:nvSpPr>
        <p:spPr>
          <a:xfrm>
            <a:off x="2404872" y="2729484"/>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b1</a:t>
            </a:r>
            <a:endParaRPr lang="en-US" sz="900" dirty="0"/>
          </a:p>
        </p:txBody>
      </p:sp>
      <p:sp>
        <p:nvSpPr>
          <p:cNvPr id="18" name="Text 16"/>
          <p:cNvSpPr/>
          <p:nvPr/>
        </p:nvSpPr>
        <p:spPr>
          <a:xfrm>
            <a:off x="2404872" y="3058668"/>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b2</a:t>
            </a:r>
            <a:endParaRPr lang="en-US" sz="900" dirty="0"/>
          </a:p>
        </p:txBody>
      </p:sp>
      <p:sp>
        <p:nvSpPr>
          <p:cNvPr id="19" name="Text 17"/>
          <p:cNvSpPr/>
          <p:nvPr/>
        </p:nvSpPr>
        <p:spPr>
          <a:xfrm>
            <a:off x="2404872" y="3387852"/>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b3</a:t>
            </a:r>
            <a:endParaRPr lang="en-US" sz="900" dirty="0"/>
          </a:p>
        </p:txBody>
      </p:sp>
      <p:sp>
        <p:nvSpPr>
          <p:cNvPr id="20" name="Text 18"/>
          <p:cNvSpPr/>
          <p:nvPr/>
        </p:nvSpPr>
        <p:spPr>
          <a:xfrm>
            <a:off x="2404872" y="3717036"/>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b4</a:t>
            </a:r>
            <a:endParaRPr lang="en-US" sz="900" dirty="0"/>
          </a:p>
        </p:txBody>
      </p:sp>
      <p:sp>
        <p:nvSpPr>
          <p:cNvPr id="21" name="Text 19"/>
          <p:cNvSpPr/>
          <p:nvPr/>
        </p:nvSpPr>
        <p:spPr>
          <a:xfrm>
            <a:off x="2404872" y="4046220"/>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b5</a:t>
            </a:r>
            <a:endParaRPr lang="en-US" sz="900" dirty="0"/>
          </a:p>
        </p:txBody>
      </p:sp>
      <p:sp>
        <p:nvSpPr>
          <p:cNvPr id="22" name="Shape 20"/>
          <p:cNvSpPr/>
          <p:nvPr/>
        </p:nvSpPr>
        <p:spPr>
          <a:xfrm flipV="1">
            <a:off x="1481328" y="2843784"/>
            <a:ext cx="923544" cy="329184"/>
          </a:xfrm>
          <a:prstGeom prst="line">
            <a:avLst/>
          </a:prstGeom>
          <a:noFill/>
          <a:ln w="12700">
            <a:solidFill>
              <a:srgbClr val="2E3B44"/>
            </a:solidFill>
            <a:prstDash val="solid"/>
          </a:ln>
        </p:spPr>
        <p:txBody>
          <a:bodyPr/>
          <a:lstStyle/>
          <a:p>
            <a:endParaRPr lang="en-US"/>
          </a:p>
        </p:txBody>
      </p:sp>
      <p:sp>
        <p:nvSpPr>
          <p:cNvPr id="23" name="Shape 21"/>
          <p:cNvSpPr/>
          <p:nvPr/>
        </p:nvSpPr>
        <p:spPr>
          <a:xfrm>
            <a:off x="1481328" y="3172968"/>
            <a:ext cx="923544" cy="914"/>
          </a:xfrm>
          <a:prstGeom prst="line">
            <a:avLst/>
          </a:prstGeom>
          <a:noFill/>
          <a:ln w="12700">
            <a:solidFill>
              <a:srgbClr val="2E3B44"/>
            </a:solidFill>
            <a:prstDash val="solid"/>
          </a:ln>
        </p:spPr>
        <p:txBody>
          <a:bodyPr/>
          <a:lstStyle/>
          <a:p>
            <a:endParaRPr lang="en-US"/>
          </a:p>
        </p:txBody>
      </p:sp>
      <p:sp>
        <p:nvSpPr>
          <p:cNvPr id="24" name="Shape 22"/>
          <p:cNvSpPr/>
          <p:nvPr/>
        </p:nvSpPr>
        <p:spPr>
          <a:xfrm>
            <a:off x="1481328" y="3502152"/>
            <a:ext cx="923544" cy="914"/>
          </a:xfrm>
          <a:prstGeom prst="line">
            <a:avLst/>
          </a:prstGeom>
          <a:noFill/>
          <a:ln w="12700">
            <a:solidFill>
              <a:srgbClr val="2E3B44"/>
            </a:solidFill>
            <a:prstDash val="solid"/>
          </a:ln>
        </p:spPr>
        <p:txBody>
          <a:bodyPr/>
          <a:lstStyle/>
          <a:p>
            <a:endParaRPr lang="en-US"/>
          </a:p>
        </p:txBody>
      </p:sp>
      <p:sp>
        <p:nvSpPr>
          <p:cNvPr id="25" name="Shape 23"/>
          <p:cNvSpPr/>
          <p:nvPr/>
        </p:nvSpPr>
        <p:spPr>
          <a:xfrm>
            <a:off x="1481328" y="3831336"/>
            <a:ext cx="923544" cy="914"/>
          </a:xfrm>
          <a:prstGeom prst="line">
            <a:avLst/>
          </a:prstGeom>
          <a:noFill/>
          <a:ln w="12700">
            <a:solidFill>
              <a:srgbClr val="2E3B44"/>
            </a:solidFill>
            <a:prstDash val="solid"/>
          </a:ln>
        </p:spPr>
        <p:txBody>
          <a:bodyPr/>
          <a:lstStyle/>
          <a:p>
            <a:endParaRPr lang="en-US"/>
          </a:p>
        </p:txBody>
      </p:sp>
      <p:sp>
        <p:nvSpPr>
          <p:cNvPr id="26" name="Shape 24"/>
          <p:cNvSpPr/>
          <p:nvPr/>
        </p:nvSpPr>
        <p:spPr>
          <a:xfrm>
            <a:off x="1481328" y="3831336"/>
            <a:ext cx="923544" cy="329184"/>
          </a:xfrm>
          <a:prstGeom prst="line">
            <a:avLst/>
          </a:prstGeom>
          <a:noFill/>
          <a:ln w="12700">
            <a:solidFill>
              <a:srgbClr val="2E3B44"/>
            </a:solidFill>
            <a:prstDash val="solid"/>
          </a:ln>
        </p:spPr>
        <p:txBody>
          <a:bodyPr/>
          <a:lstStyle/>
          <a:p>
            <a:endParaRPr lang="en-US"/>
          </a:p>
        </p:txBody>
      </p:sp>
      <p:sp>
        <p:nvSpPr>
          <p:cNvPr id="27" name="Shape 25"/>
          <p:cNvSpPr/>
          <p:nvPr/>
        </p:nvSpPr>
        <p:spPr>
          <a:xfrm>
            <a:off x="3520440" y="2194560"/>
            <a:ext cx="4983480" cy="2423160"/>
          </a:xfrm>
          <a:prstGeom prst="roundRect">
            <a:avLst>
              <a:gd name="adj" fmla="val 4528"/>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8" name="Text 26"/>
          <p:cNvSpPr/>
          <p:nvPr/>
        </p:nvSpPr>
        <p:spPr>
          <a:xfrm>
            <a:off x="3817620" y="2688336"/>
            <a:ext cx="1051560" cy="384048"/>
          </a:xfrm>
          <a:prstGeom prst="rect">
            <a:avLst/>
          </a:prstGeom>
          <a:solidFill>
            <a:srgbClr val="B8E6E0"/>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Customer</a:t>
            </a:r>
            <a:endParaRPr lang="en-US" sz="1100" dirty="0"/>
          </a:p>
        </p:txBody>
      </p:sp>
      <p:sp>
        <p:nvSpPr>
          <p:cNvPr id="29" name="Text 27"/>
          <p:cNvSpPr/>
          <p:nvPr/>
        </p:nvSpPr>
        <p:spPr>
          <a:xfrm>
            <a:off x="5440680" y="2642616"/>
            <a:ext cx="109728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Borrows</a:t>
            </a:r>
            <a:endParaRPr lang="en-US" sz="1050" dirty="0"/>
          </a:p>
        </p:txBody>
      </p:sp>
      <p:sp>
        <p:nvSpPr>
          <p:cNvPr id="30" name="Text 28"/>
          <p:cNvSpPr/>
          <p:nvPr/>
        </p:nvSpPr>
        <p:spPr>
          <a:xfrm>
            <a:off x="7178040" y="2688336"/>
            <a:ext cx="914400" cy="384048"/>
          </a:xfrm>
          <a:prstGeom prst="rect">
            <a:avLst/>
          </a:prstGeom>
          <a:solidFill>
            <a:srgbClr val="B8E6E0"/>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Loan</a:t>
            </a:r>
            <a:endParaRPr lang="en-US" sz="1100" dirty="0"/>
          </a:p>
        </p:txBody>
      </p:sp>
      <p:sp>
        <p:nvSpPr>
          <p:cNvPr id="31" name="Shape 29"/>
          <p:cNvSpPr/>
          <p:nvPr/>
        </p:nvSpPr>
        <p:spPr>
          <a:xfrm flipH="1">
            <a:off x="4869180" y="2880360"/>
            <a:ext cx="571500" cy="914"/>
          </a:xfrm>
          <a:prstGeom prst="line">
            <a:avLst/>
          </a:prstGeom>
          <a:noFill/>
          <a:ln w="15875">
            <a:solidFill>
              <a:srgbClr val="3D5A73"/>
            </a:solidFill>
            <a:prstDash val="solid"/>
            <a:tailEnd type="triangle"/>
          </a:ln>
        </p:spPr>
        <p:txBody>
          <a:bodyPr/>
          <a:lstStyle/>
          <a:p>
            <a:endParaRPr lang="en-US"/>
          </a:p>
        </p:txBody>
      </p:sp>
      <p:sp>
        <p:nvSpPr>
          <p:cNvPr id="32" name="Shape 30"/>
          <p:cNvSpPr/>
          <p:nvPr/>
        </p:nvSpPr>
        <p:spPr>
          <a:xfrm>
            <a:off x="6537960" y="2880360"/>
            <a:ext cx="640080" cy="914"/>
          </a:xfrm>
          <a:prstGeom prst="line">
            <a:avLst/>
          </a:prstGeom>
          <a:noFill/>
          <a:ln w="15875">
            <a:solidFill>
              <a:srgbClr val="3D5A73"/>
            </a:solidFill>
            <a:prstDash val="solid"/>
          </a:ln>
        </p:spPr>
        <p:txBody>
          <a:bodyPr/>
          <a:lstStyle/>
          <a:p>
            <a:endParaRPr lang="en-US"/>
          </a:p>
        </p:txBody>
      </p:sp>
      <p:sp>
        <p:nvSpPr>
          <p:cNvPr id="33" name="Text 31"/>
          <p:cNvSpPr txBox="1"/>
          <p:nvPr/>
        </p:nvSpPr>
        <p:spPr>
          <a:xfrm>
            <a:off x="3749040" y="3383280"/>
            <a:ext cx="457200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B03A2E"/>
                </a:solidFill>
                <a:latin typeface="Calibri" pitchFamily="34" charset="0"/>
                <a:ea typeface="Calibri" pitchFamily="34" charset="-122"/>
                <a:cs typeface="Calibri" pitchFamily="34" charset="-120"/>
              </a:rPr>
              <a:t>A customer can borrow more than 1 loan, whereas a loan has only one borrower.</a:t>
            </a:r>
            <a:endParaRPr lang="en-US" sz="1300" dirty="0"/>
          </a:p>
          <a:p>
            <a:pPr marL="342900" indent="-342900">
              <a:spcAft>
                <a:spcPts val="300"/>
              </a:spcAft>
              <a:buSzPct val="100000"/>
              <a:buChar char="•"/>
            </a:pPr>
            <a:r>
              <a:rPr lang="en-US" sz="1300" dirty="0">
                <a:solidFill>
                  <a:srgbClr val="B03A2E"/>
                </a:solidFill>
                <a:latin typeface="Calibri" pitchFamily="34" charset="0"/>
                <a:ea typeface="Calibri" pitchFamily="34" charset="-122"/>
                <a:cs typeface="Calibri" pitchFamily="34" charset="-120"/>
              </a:rPr>
              <a:t>Some elements in A and B may not be mapped to any elements in the other set.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Mapping Cardinalities</a:t>
            </a:r>
            <a:endParaRPr lang="en-US" sz="3000" dirty="0"/>
          </a:p>
        </p:txBody>
      </p:sp>
      <p:sp>
        <p:nvSpPr>
          <p:cNvPr id="7" name="Text 5"/>
          <p:cNvSpPr txBox="1"/>
          <p:nvPr/>
        </p:nvSpPr>
        <p:spPr>
          <a:xfrm>
            <a:off x="640080" y="914400"/>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Many to One (M:1)</a:t>
            </a:r>
            <a:endParaRPr lang="en-US" sz="1500" dirty="0"/>
          </a:p>
        </p:txBody>
      </p:sp>
      <p:sp>
        <p:nvSpPr>
          <p:cNvPr id="8" name="Text 6"/>
          <p:cNvSpPr/>
          <p:nvPr/>
        </p:nvSpPr>
        <p:spPr>
          <a:xfrm>
            <a:off x="640080" y="1298448"/>
            <a:ext cx="7863840" cy="731520"/>
          </a:xfrm>
          <a:prstGeom prst="roundRect">
            <a:avLst>
              <a:gd name="adj" fmla="val 10000"/>
            </a:avLst>
          </a:prstGeom>
          <a:solidFill>
            <a:srgbClr val="FFFFFF"/>
          </a:solidFill>
          <a:ln>
            <a:solidFill>
              <a:srgbClr val="C9D6DC"/>
            </a:solidFill>
          </a:ln>
        </p:spPr>
        <p:txBody>
          <a:bodyPr wrap="square" lIns="0" tIns="152400" rIns="152400" bIns="0" rtlCol="0" anchor="ctr"/>
          <a:lstStyle/>
          <a:p>
            <a:pPr marL="0" indent="0">
              <a:buNone/>
            </a:pPr>
            <a:r>
              <a:rPr lang="en-US" sz="1350" dirty="0">
                <a:solidFill>
                  <a:srgbClr val="1F3B47"/>
                </a:solidFill>
                <a:latin typeface="Calibri" pitchFamily="34" charset="0"/>
                <a:ea typeface="Calibri" pitchFamily="34" charset="-122"/>
                <a:cs typeface="Calibri" pitchFamily="34" charset="-120"/>
              </a:rPr>
              <a:t>An entity in A is associated with </a:t>
            </a:r>
            <a:r>
              <a:rPr lang="en-US" sz="1350" b="1" i="1" dirty="0">
                <a:solidFill>
                  <a:srgbClr val="B03A2E"/>
                </a:solidFill>
                <a:latin typeface="Calibri" pitchFamily="34" charset="0"/>
                <a:ea typeface="Calibri" pitchFamily="34" charset="-122"/>
                <a:cs typeface="Calibri" pitchFamily="34" charset="-120"/>
              </a:rPr>
              <a:t>at most</a:t>
            </a:r>
            <a:r>
              <a:rPr lang="en-US" sz="1350" dirty="0">
                <a:solidFill>
                  <a:srgbClr val="1F3B47"/>
                </a:solidFill>
                <a:latin typeface="Calibri" pitchFamily="34" charset="0"/>
                <a:ea typeface="Calibri" pitchFamily="34" charset="-122"/>
                <a:cs typeface="Calibri" pitchFamily="34" charset="-120"/>
              </a:rPr>
              <a:t> one entity in B. An entity in B, however, can be associated with </a:t>
            </a:r>
            <a:r>
              <a:rPr lang="en-US" sz="1350" b="1" i="1" dirty="0">
                <a:solidFill>
                  <a:srgbClr val="B03A2E"/>
                </a:solidFill>
                <a:latin typeface="Calibri" pitchFamily="34" charset="0"/>
                <a:ea typeface="Calibri" pitchFamily="34" charset="-122"/>
                <a:cs typeface="Calibri" pitchFamily="34" charset="-120"/>
              </a:rPr>
              <a:t>any number</a:t>
            </a:r>
            <a:r>
              <a:rPr lang="en-US" sz="1350" dirty="0">
                <a:solidFill>
                  <a:srgbClr val="1F3B47"/>
                </a:solidFill>
                <a:latin typeface="Calibri" pitchFamily="34" charset="0"/>
                <a:ea typeface="Calibri" pitchFamily="34" charset="-122"/>
                <a:cs typeface="Calibri" pitchFamily="34" charset="-120"/>
              </a:rPr>
              <a:t> (zero or more) of entities in A.</a:t>
            </a:r>
            <a:endParaRPr lang="en-US" sz="1350" dirty="0"/>
          </a:p>
        </p:txBody>
      </p:sp>
      <p:sp>
        <p:nvSpPr>
          <p:cNvPr id="9" name="Shape 7"/>
          <p:cNvSpPr/>
          <p:nvPr/>
        </p:nvSpPr>
        <p:spPr>
          <a:xfrm>
            <a:off x="640080" y="2194560"/>
            <a:ext cx="2651760" cy="2423160"/>
          </a:xfrm>
          <a:prstGeom prst="roundRect">
            <a:avLst>
              <a:gd name="adj" fmla="val 4528"/>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8"/>
          <p:cNvSpPr/>
          <p:nvPr/>
        </p:nvSpPr>
        <p:spPr>
          <a:xfrm>
            <a:off x="1024128" y="2514600"/>
            <a:ext cx="603504" cy="1965960"/>
          </a:xfrm>
          <a:prstGeom prst="ellipse">
            <a:avLst/>
          </a:prstGeom>
          <a:solidFill>
            <a:srgbClr val="D9DEE3"/>
          </a:solidFill>
          <a:ln w="12700">
            <a:solidFill>
              <a:srgbClr val="5A6B78"/>
            </a:solidFill>
            <a:prstDash val="solid"/>
          </a:ln>
        </p:spPr>
        <p:txBody>
          <a:bodyPr/>
          <a:lstStyle/>
          <a:p>
            <a:endParaRPr lang="en-US"/>
          </a:p>
        </p:txBody>
      </p:sp>
      <p:sp>
        <p:nvSpPr>
          <p:cNvPr id="11" name="Text 9"/>
          <p:cNvSpPr txBox="1"/>
          <p:nvPr/>
        </p:nvSpPr>
        <p:spPr>
          <a:xfrm>
            <a:off x="1024128" y="2240280"/>
            <a:ext cx="603504" cy="237744"/>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170432" y="2729484"/>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a1</a:t>
            </a:r>
            <a:endParaRPr lang="en-US" sz="900" dirty="0"/>
          </a:p>
        </p:txBody>
      </p:sp>
      <p:sp>
        <p:nvSpPr>
          <p:cNvPr id="13" name="Text 11"/>
          <p:cNvSpPr/>
          <p:nvPr/>
        </p:nvSpPr>
        <p:spPr>
          <a:xfrm>
            <a:off x="1170432" y="3058668"/>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a2</a:t>
            </a:r>
            <a:endParaRPr lang="en-US" sz="900" dirty="0"/>
          </a:p>
        </p:txBody>
      </p:sp>
      <p:sp>
        <p:nvSpPr>
          <p:cNvPr id="14" name="Text 12"/>
          <p:cNvSpPr/>
          <p:nvPr/>
        </p:nvSpPr>
        <p:spPr>
          <a:xfrm>
            <a:off x="1170432" y="3387852"/>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a3</a:t>
            </a:r>
            <a:endParaRPr lang="en-US" sz="900" dirty="0"/>
          </a:p>
        </p:txBody>
      </p:sp>
      <p:sp>
        <p:nvSpPr>
          <p:cNvPr id="15" name="Text 13"/>
          <p:cNvSpPr/>
          <p:nvPr/>
        </p:nvSpPr>
        <p:spPr>
          <a:xfrm>
            <a:off x="1170432" y="3717036"/>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a4</a:t>
            </a:r>
            <a:endParaRPr lang="en-US" sz="900" dirty="0"/>
          </a:p>
        </p:txBody>
      </p:sp>
      <p:sp>
        <p:nvSpPr>
          <p:cNvPr id="16" name="Text 14"/>
          <p:cNvSpPr/>
          <p:nvPr/>
        </p:nvSpPr>
        <p:spPr>
          <a:xfrm>
            <a:off x="1170432" y="4046220"/>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a5</a:t>
            </a:r>
            <a:endParaRPr lang="en-US" sz="900" dirty="0"/>
          </a:p>
        </p:txBody>
      </p:sp>
      <p:sp>
        <p:nvSpPr>
          <p:cNvPr id="17" name="Shape 15"/>
          <p:cNvSpPr/>
          <p:nvPr/>
        </p:nvSpPr>
        <p:spPr>
          <a:xfrm>
            <a:off x="2258568" y="2514600"/>
            <a:ext cx="603504" cy="1965960"/>
          </a:xfrm>
          <a:prstGeom prst="ellipse">
            <a:avLst/>
          </a:prstGeom>
          <a:solidFill>
            <a:srgbClr val="D9DEE3"/>
          </a:solidFill>
          <a:ln w="12700">
            <a:solidFill>
              <a:srgbClr val="5A6B78"/>
            </a:solidFill>
            <a:prstDash val="solid"/>
          </a:ln>
        </p:spPr>
        <p:txBody>
          <a:bodyPr/>
          <a:lstStyle/>
          <a:p>
            <a:endParaRPr lang="en-US"/>
          </a:p>
        </p:txBody>
      </p:sp>
      <p:sp>
        <p:nvSpPr>
          <p:cNvPr id="18" name="Text 16"/>
          <p:cNvSpPr txBox="1"/>
          <p:nvPr/>
        </p:nvSpPr>
        <p:spPr>
          <a:xfrm>
            <a:off x="2258568" y="2240280"/>
            <a:ext cx="603504" cy="237744"/>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B</a:t>
            </a:r>
            <a:endParaRPr lang="en-US" sz="1100" dirty="0"/>
          </a:p>
        </p:txBody>
      </p:sp>
      <p:sp>
        <p:nvSpPr>
          <p:cNvPr id="19" name="Text 17"/>
          <p:cNvSpPr/>
          <p:nvPr/>
        </p:nvSpPr>
        <p:spPr>
          <a:xfrm>
            <a:off x="2404872" y="3058668"/>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b1</a:t>
            </a:r>
            <a:endParaRPr lang="en-US" sz="900" dirty="0"/>
          </a:p>
        </p:txBody>
      </p:sp>
      <p:sp>
        <p:nvSpPr>
          <p:cNvPr id="20" name="Text 18"/>
          <p:cNvSpPr/>
          <p:nvPr/>
        </p:nvSpPr>
        <p:spPr>
          <a:xfrm>
            <a:off x="2404872" y="3387852"/>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b2</a:t>
            </a:r>
            <a:endParaRPr lang="en-US" sz="900" dirty="0"/>
          </a:p>
        </p:txBody>
      </p:sp>
      <p:sp>
        <p:nvSpPr>
          <p:cNvPr id="21" name="Text 19"/>
          <p:cNvSpPr/>
          <p:nvPr/>
        </p:nvSpPr>
        <p:spPr>
          <a:xfrm>
            <a:off x="2404872" y="3717036"/>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b3</a:t>
            </a:r>
            <a:endParaRPr lang="en-US" sz="900" dirty="0"/>
          </a:p>
        </p:txBody>
      </p:sp>
      <p:sp>
        <p:nvSpPr>
          <p:cNvPr id="22" name="Shape 20"/>
          <p:cNvSpPr/>
          <p:nvPr/>
        </p:nvSpPr>
        <p:spPr>
          <a:xfrm>
            <a:off x="1481328" y="2843784"/>
            <a:ext cx="923544" cy="329184"/>
          </a:xfrm>
          <a:prstGeom prst="line">
            <a:avLst/>
          </a:prstGeom>
          <a:noFill/>
          <a:ln w="12700">
            <a:solidFill>
              <a:srgbClr val="2E3B44"/>
            </a:solidFill>
            <a:prstDash val="solid"/>
          </a:ln>
        </p:spPr>
        <p:txBody>
          <a:bodyPr/>
          <a:lstStyle/>
          <a:p>
            <a:endParaRPr lang="en-US"/>
          </a:p>
        </p:txBody>
      </p:sp>
      <p:sp>
        <p:nvSpPr>
          <p:cNvPr id="23" name="Shape 21"/>
          <p:cNvSpPr/>
          <p:nvPr/>
        </p:nvSpPr>
        <p:spPr>
          <a:xfrm>
            <a:off x="1481328" y="3172968"/>
            <a:ext cx="923544" cy="914"/>
          </a:xfrm>
          <a:prstGeom prst="line">
            <a:avLst/>
          </a:prstGeom>
          <a:noFill/>
          <a:ln w="12700">
            <a:solidFill>
              <a:srgbClr val="2E3B44"/>
            </a:solidFill>
            <a:prstDash val="solid"/>
          </a:ln>
        </p:spPr>
        <p:txBody>
          <a:bodyPr/>
          <a:lstStyle/>
          <a:p>
            <a:endParaRPr lang="en-US"/>
          </a:p>
        </p:txBody>
      </p:sp>
      <p:sp>
        <p:nvSpPr>
          <p:cNvPr id="24" name="Shape 22"/>
          <p:cNvSpPr/>
          <p:nvPr/>
        </p:nvSpPr>
        <p:spPr>
          <a:xfrm flipV="1">
            <a:off x="1481328" y="3502152"/>
            <a:ext cx="923544" cy="914"/>
          </a:xfrm>
          <a:prstGeom prst="line">
            <a:avLst/>
          </a:prstGeom>
          <a:noFill/>
          <a:ln w="12700">
            <a:solidFill>
              <a:srgbClr val="2E3B44"/>
            </a:solidFill>
            <a:prstDash val="solid"/>
          </a:ln>
        </p:spPr>
        <p:txBody>
          <a:bodyPr/>
          <a:lstStyle/>
          <a:p>
            <a:endParaRPr lang="en-US"/>
          </a:p>
        </p:txBody>
      </p:sp>
      <p:sp>
        <p:nvSpPr>
          <p:cNvPr id="25" name="Shape 23"/>
          <p:cNvSpPr/>
          <p:nvPr/>
        </p:nvSpPr>
        <p:spPr>
          <a:xfrm>
            <a:off x="1481328" y="3831336"/>
            <a:ext cx="923544" cy="914"/>
          </a:xfrm>
          <a:prstGeom prst="line">
            <a:avLst/>
          </a:prstGeom>
          <a:noFill/>
          <a:ln w="12700">
            <a:solidFill>
              <a:srgbClr val="2E3B44"/>
            </a:solidFill>
            <a:prstDash val="solid"/>
          </a:ln>
        </p:spPr>
        <p:txBody>
          <a:bodyPr/>
          <a:lstStyle/>
          <a:p>
            <a:endParaRPr lang="en-US"/>
          </a:p>
        </p:txBody>
      </p:sp>
      <p:sp>
        <p:nvSpPr>
          <p:cNvPr id="26" name="Shape 24"/>
          <p:cNvSpPr/>
          <p:nvPr/>
        </p:nvSpPr>
        <p:spPr>
          <a:xfrm flipV="1">
            <a:off x="1481328" y="3831336"/>
            <a:ext cx="923544" cy="329184"/>
          </a:xfrm>
          <a:prstGeom prst="line">
            <a:avLst/>
          </a:prstGeom>
          <a:noFill/>
          <a:ln w="12700">
            <a:solidFill>
              <a:srgbClr val="2E3B44"/>
            </a:solidFill>
            <a:prstDash val="solid"/>
          </a:ln>
        </p:spPr>
        <p:txBody>
          <a:bodyPr/>
          <a:lstStyle/>
          <a:p>
            <a:endParaRPr lang="en-US"/>
          </a:p>
        </p:txBody>
      </p:sp>
      <p:sp>
        <p:nvSpPr>
          <p:cNvPr id="27" name="Text 25"/>
          <p:cNvSpPr txBox="1"/>
          <p:nvPr/>
        </p:nvSpPr>
        <p:spPr>
          <a:xfrm>
            <a:off x="3657600" y="2926080"/>
            <a:ext cx="4754880" cy="914400"/>
          </a:xfrm>
          <a:prstGeom prst="rect">
            <a:avLst/>
          </a:prstGeom>
          <a:noFill/>
          <a:ln/>
        </p:spPr>
        <p:txBody>
          <a:bodyPr wrap="square" lIns="0" tIns="0" rIns="0" bIns="0" rtlCol="0" anchor="ctr"/>
          <a:lstStyle/>
          <a:p>
            <a:pPr marL="0" indent="0">
              <a:buNone/>
            </a:pPr>
            <a:r>
              <a:rPr lang="en-US" sz="1500" i="1" dirty="0">
                <a:solidFill>
                  <a:srgbClr val="5A7079"/>
                </a:solidFill>
                <a:latin typeface="Calibri" pitchFamily="34" charset="0"/>
                <a:ea typeface="Calibri" pitchFamily="34" charset="-122"/>
                <a:cs typeface="Calibri" pitchFamily="34" charset="-120"/>
              </a:rPr>
              <a:t>An arrow (→) in the ER diagram points to the “one” side of a relationship.</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34</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Mapping Cardinalities</a:t>
            </a:r>
            <a:endParaRPr lang="en-US" sz="3000" dirty="0"/>
          </a:p>
        </p:txBody>
      </p:sp>
      <p:sp>
        <p:nvSpPr>
          <p:cNvPr id="7" name="Text 5"/>
          <p:cNvSpPr txBox="1"/>
          <p:nvPr/>
        </p:nvSpPr>
        <p:spPr>
          <a:xfrm>
            <a:off x="640080" y="914400"/>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Many to Many (M:N)</a:t>
            </a:r>
            <a:endParaRPr lang="en-US" sz="1500" dirty="0"/>
          </a:p>
        </p:txBody>
      </p:sp>
      <p:sp>
        <p:nvSpPr>
          <p:cNvPr id="8" name="Text 6"/>
          <p:cNvSpPr/>
          <p:nvPr/>
        </p:nvSpPr>
        <p:spPr>
          <a:xfrm>
            <a:off x="640080" y="1298448"/>
            <a:ext cx="7863840" cy="731520"/>
          </a:xfrm>
          <a:prstGeom prst="roundRect">
            <a:avLst>
              <a:gd name="adj" fmla="val 10000"/>
            </a:avLst>
          </a:prstGeom>
          <a:solidFill>
            <a:srgbClr val="FFFFFF"/>
          </a:solidFill>
          <a:ln>
            <a:solidFill>
              <a:srgbClr val="C9D6DC"/>
            </a:solidFill>
          </a:ln>
        </p:spPr>
        <p:txBody>
          <a:bodyPr wrap="square" lIns="0" tIns="152400" rIns="152400" bIns="0" rtlCol="0" anchor="ctr"/>
          <a:lstStyle/>
          <a:p>
            <a:pPr marL="0" indent="0">
              <a:buNone/>
            </a:pPr>
            <a:r>
              <a:rPr lang="en-US" sz="1350" dirty="0">
                <a:solidFill>
                  <a:srgbClr val="1F3B47"/>
                </a:solidFill>
                <a:latin typeface="Calibri" pitchFamily="34" charset="0"/>
                <a:ea typeface="Calibri" pitchFamily="34" charset="-122"/>
                <a:cs typeface="Calibri" pitchFamily="34" charset="-120"/>
              </a:rPr>
              <a:t>An entity in A is associated with </a:t>
            </a:r>
            <a:r>
              <a:rPr lang="en-US" sz="1350" b="1" i="1" dirty="0">
                <a:solidFill>
                  <a:srgbClr val="B03A2E"/>
                </a:solidFill>
                <a:latin typeface="Calibri" pitchFamily="34" charset="0"/>
                <a:ea typeface="Calibri" pitchFamily="34" charset="-122"/>
                <a:cs typeface="Calibri" pitchFamily="34" charset="-120"/>
              </a:rPr>
              <a:t>any number</a:t>
            </a:r>
            <a:r>
              <a:rPr lang="en-US" sz="1350" dirty="0">
                <a:solidFill>
                  <a:srgbClr val="1F3B47"/>
                </a:solidFill>
                <a:latin typeface="Calibri" pitchFamily="34" charset="0"/>
                <a:ea typeface="Calibri" pitchFamily="34" charset="-122"/>
                <a:cs typeface="Calibri" pitchFamily="34" charset="-120"/>
              </a:rPr>
              <a:t> (zero or more) of entities in B, and an entity in B is associated with </a:t>
            </a:r>
            <a:r>
              <a:rPr lang="en-US" sz="1350" b="1" i="1" dirty="0">
                <a:solidFill>
                  <a:srgbClr val="B03A2E"/>
                </a:solidFill>
                <a:latin typeface="Calibri" pitchFamily="34" charset="0"/>
                <a:ea typeface="Calibri" pitchFamily="34" charset="-122"/>
                <a:cs typeface="Calibri" pitchFamily="34" charset="-120"/>
              </a:rPr>
              <a:t>any number</a:t>
            </a:r>
            <a:r>
              <a:rPr lang="en-US" sz="1350" dirty="0">
                <a:solidFill>
                  <a:srgbClr val="1F3B47"/>
                </a:solidFill>
                <a:latin typeface="Calibri" pitchFamily="34" charset="0"/>
                <a:ea typeface="Calibri" pitchFamily="34" charset="-122"/>
                <a:cs typeface="Calibri" pitchFamily="34" charset="-120"/>
              </a:rPr>
              <a:t> (zero or more) of entities in A.</a:t>
            </a:r>
            <a:endParaRPr lang="en-US" sz="1350" dirty="0"/>
          </a:p>
        </p:txBody>
      </p:sp>
      <p:sp>
        <p:nvSpPr>
          <p:cNvPr id="9" name="Shape 7"/>
          <p:cNvSpPr/>
          <p:nvPr/>
        </p:nvSpPr>
        <p:spPr>
          <a:xfrm>
            <a:off x="640080" y="2194560"/>
            <a:ext cx="2651760" cy="2423160"/>
          </a:xfrm>
          <a:prstGeom prst="roundRect">
            <a:avLst>
              <a:gd name="adj" fmla="val 4528"/>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8"/>
          <p:cNvSpPr/>
          <p:nvPr/>
        </p:nvSpPr>
        <p:spPr>
          <a:xfrm>
            <a:off x="1024128" y="2514600"/>
            <a:ext cx="603504" cy="1636776"/>
          </a:xfrm>
          <a:prstGeom prst="ellipse">
            <a:avLst/>
          </a:prstGeom>
          <a:solidFill>
            <a:srgbClr val="D9DEE3"/>
          </a:solidFill>
          <a:ln w="12700">
            <a:solidFill>
              <a:srgbClr val="5A6B78"/>
            </a:solidFill>
            <a:prstDash val="solid"/>
          </a:ln>
        </p:spPr>
        <p:txBody>
          <a:bodyPr/>
          <a:lstStyle/>
          <a:p>
            <a:endParaRPr lang="en-US"/>
          </a:p>
        </p:txBody>
      </p:sp>
      <p:sp>
        <p:nvSpPr>
          <p:cNvPr id="11" name="Text 9"/>
          <p:cNvSpPr txBox="1"/>
          <p:nvPr/>
        </p:nvSpPr>
        <p:spPr>
          <a:xfrm>
            <a:off x="1024128" y="2240280"/>
            <a:ext cx="603504" cy="237744"/>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a:t>
            </a:r>
            <a:endParaRPr lang="en-US" sz="1100" dirty="0"/>
          </a:p>
        </p:txBody>
      </p:sp>
      <p:sp>
        <p:nvSpPr>
          <p:cNvPr id="12" name="Text 10"/>
          <p:cNvSpPr/>
          <p:nvPr/>
        </p:nvSpPr>
        <p:spPr>
          <a:xfrm>
            <a:off x="1170432" y="2729484"/>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a1</a:t>
            </a:r>
            <a:endParaRPr lang="en-US" sz="900" dirty="0"/>
          </a:p>
        </p:txBody>
      </p:sp>
      <p:sp>
        <p:nvSpPr>
          <p:cNvPr id="13" name="Text 11"/>
          <p:cNvSpPr/>
          <p:nvPr/>
        </p:nvSpPr>
        <p:spPr>
          <a:xfrm>
            <a:off x="1170432" y="3058668"/>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a2</a:t>
            </a:r>
            <a:endParaRPr lang="en-US" sz="900" dirty="0"/>
          </a:p>
        </p:txBody>
      </p:sp>
      <p:sp>
        <p:nvSpPr>
          <p:cNvPr id="14" name="Text 12"/>
          <p:cNvSpPr/>
          <p:nvPr/>
        </p:nvSpPr>
        <p:spPr>
          <a:xfrm>
            <a:off x="1170432" y="3387852"/>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a3</a:t>
            </a:r>
            <a:endParaRPr lang="en-US" sz="900" dirty="0"/>
          </a:p>
        </p:txBody>
      </p:sp>
      <p:sp>
        <p:nvSpPr>
          <p:cNvPr id="15" name="Text 13"/>
          <p:cNvSpPr/>
          <p:nvPr/>
        </p:nvSpPr>
        <p:spPr>
          <a:xfrm>
            <a:off x="1170432" y="3717036"/>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a4</a:t>
            </a:r>
            <a:endParaRPr lang="en-US" sz="900" dirty="0"/>
          </a:p>
        </p:txBody>
      </p:sp>
      <p:sp>
        <p:nvSpPr>
          <p:cNvPr id="16" name="Shape 14"/>
          <p:cNvSpPr/>
          <p:nvPr/>
        </p:nvSpPr>
        <p:spPr>
          <a:xfrm>
            <a:off x="2258568" y="2514600"/>
            <a:ext cx="603504" cy="1636776"/>
          </a:xfrm>
          <a:prstGeom prst="ellipse">
            <a:avLst/>
          </a:prstGeom>
          <a:solidFill>
            <a:srgbClr val="D9DEE3"/>
          </a:solidFill>
          <a:ln w="12700">
            <a:solidFill>
              <a:srgbClr val="5A6B78"/>
            </a:solidFill>
            <a:prstDash val="solid"/>
          </a:ln>
        </p:spPr>
        <p:txBody>
          <a:bodyPr/>
          <a:lstStyle/>
          <a:p>
            <a:endParaRPr lang="en-US"/>
          </a:p>
        </p:txBody>
      </p:sp>
      <p:sp>
        <p:nvSpPr>
          <p:cNvPr id="17" name="Text 15"/>
          <p:cNvSpPr txBox="1"/>
          <p:nvPr/>
        </p:nvSpPr>
        <p:spPr>
          <a:xfrm>
            <a:off x="2258568" y="2240280"/>
            <a:ext cx="603504" cy="237744"/>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B</a:t>
            </a:r>
            <a:endParaRPr lang="en-US" sz="1100" dirty="0"/>
          </a:p>
        </p:txBody>
      </p:sp>
      <p:sp>
        <p:nvSpPr>
          <p:cNvPr id="18" name="Text 16"/>
          <p:cNvSpPr/>
          <p:nvPr/>
        </p:nvSpPr>
        <p:spPr>
          <a:xfrm>
            <a:off x="2404872" y="2729484"/>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b1</a:t>
            </a:r>
            <a:endParaRPr lang="en-US" sz="900" dirty="0"/>
          </a:p>
        </p:txBody>
      </p:sp>
      <p:sp>
        <p:nvSpPr>
          <p:cNvPr id="19" name="Text 17"/>
          <p:cNvSpPr/>
          <p:nvPr/>
        </p:nvSpPr>
        <p:spPr>
          <a:xfrm>
            <a:off x="2404872" y="3058668"/>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b2</a:t>
            </a:r>
            <a:endParaRPr lang="en-US" sz="900" dirty="0"/>
          </a:p>
        </p:txBody>
      </p:sp>
      <p:sp>
        <p:nvSpPr>
          <p:cNvPr id="20" name="Text 18"/>
          <p:cNvSpPr/>
          <p:nvPr/>
        </p:nvSpPr>
        <p:spPr>
          <a:xfrm>
            <a:off x="2404872" y="3387852"/>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b3</a:t>
            </a:r>
            <a:endParaRPr lang="en-US" sz="900" dirty="0"/>
          </a:p>
        </p:txBody>
      </p:sp>
      <p:sp>
        <p:nvSpPr>
          <p:cNvPr id="21" name="Text 19"/>
          <p:cNvSpPr/>
          <p:nvPr/>
        </p:nvSpPr>
        <p:spPr>
          <a:xfrm>
            <a:off x="2404872" y="3717036"/>
            <a:ext cx="310896" cy="228600"/>
          </a:xfrm>
          <a:prstGeom prst="rect">
            <a:avLst/>
          </a:prstGeom>
          <a:solidFill>
            <a:srgbClr val="FFFFFF"/>
          </a:solidFill>
          <a:ln w="9525">
            <a:solidFill>
              <a:srgbClr val="2E3B44"/>
            </a:solidFill>
          </a:ln>
        </p:spPr>
        <p:txBody>
          <a:bodyPr wrap="square" lIns="0" tIns="0" rIns="0" bIns="0" rtlCol="0" anchor="ctr"/>
          <a:lstStyle/>
          <a:p>
            <a:pPr marL="0" indent="0" algn="ctr">
              <a:buNone/>
            </a:pPr>
            <a:r>
              <a:rPr lang="en-US" sz="900" i="1" dirty="0">
                <a:solidFill>
                  <a:srgbClr val="1F2D3D"/>
                </a:solidFill>
                <a:latin typeface="Calibri" pitchFamily="34" charset="0"/>
                <a:ea typeface="Calibri" pitchFamily="34" charset="-122"/>
                <a:cs typeface="Calibri" pitchFamily="34" charset="-120"/>
              </a:rPr>
              <a:t>b4</a:t>
            </a:r>
            <a:endParaRPr lang="en-US" sz="900" dirty="0"/>
          </a:p>
        </p:txBody>
      </p:sp>
      <p:sp>
        <p:nvSpPr>
          <p:cNvPr id="22" name="Shape 20"/>
          <p:cNvSpPr/>
          <p:nvPr/>
        </p:nvSpPr>
        <p:spPr>
          <a:xfrm>
            <a:off x="1481328" y="2843784"/>
            <a:ext cx="923544" cy="914"/>
          </a:xfrm>
          <a:prstGeom prst="line">
            <a:avLst/>
          </a:prstGeom>
          <a:noFill/>
          <a:ln w="12700">
            <a:solidFill>
              <a:srgbClr val="2E3B44"/>
            </a:solidFill>
            <a:prstDash val="solid"/>
          </a:ln>
        </p:spPr>
        <p:txBody>
          <a:bodyPr/>
          <a:lstStyle/>
          <a:p>
            <a:endParaRPr lang="en-US"/>
          </a:p>
        </p:txBody>
      </p:sp>
      <p:sp>
        <p:nvSpPr>
          <p:cNvPr id="23" name="Shape 21"/>
          <p:cNvSpPr/>
          <p:nvPr/>
        </p:nvSpPr>
        <p:spPr>
          <a:xfrm>
            <a:off x="1481328" y="2843784"/>
            <a:ext cx="923544" cy="329184"/>
          </a:xfrm>
          <a:prstGeom prst="line">
            <a:avLst/>
          </a:prstGeom>
          <a:noFill/>
          <a:ln w="12700">
            <a:solidFill>
              <a:srgbClr val="2E3B44"/>
            </a:solidFill>
            <a:prstDash val="solid"/>
          </a:ln>
        </p:spPr>
        <p:txBody>
          <a:bodyPr/>
          <a:lstStyle/>
          <a:p>
            <a:endParaRPr lang="en-US"/>
          </a:p>
        </p:txBody>
      </p:sp>
      <p:sp>
        <p:nvSpPr>
          <p:cNvPr id="24" name="Shape 22"/>
          <p:cNvSpPr/>
          <p:nvPr/>
        </p:nvSpPr>
        <p:spPr>
          <a:xfrm flipV="1">
            <a:off x="1481328" y="2843784"/>
            <a:ext cx="923544" cy="329184"/>
          </a:xfrm>
          <a:prstGeom prst="line">
            <a:avLst/>
          </a:prstGeom>
          <a:noFill/>
          <a:ln w="12700">
            <a:solidFill>
              <a:srgbClr val="2E3B44"/>
            </a:solidFill>
            <a:prstDash val="solid"/>
          </a:ln>
        </p:spPr>
        <p:txBody>
          <a:bodyPr/>
          <a:lstStyle/>
          <a:p>
            <a:endParaRPr lang="en-US"/>
          </a:p>
        </p:txBody>
      </p:sp>
      <p:sp>
        <p:nvSpPr>
          <p:cNvPr id="25" name="Shape 23"/>
          <p:cNvSpPr/>
          <p:nvPr/>
        </p:nvSpPr>
        <p:spPr>
          <a:xfrm>
            <a:off x="1481328" y="3172968"/>
            <a:ext cx="923544" cy="329184"/>
          </a:xfrm>
          <a:prstGeom prst="line">
            <a:avLst/>
          </a:prstGeom>
          <a:noFill/>
          <a:ln w="12700">
            <a:solidFill>
              <a:srgbClr val="2E3B44"/>
            </a:solidFill>
            <a:prstDash val="solid"/>
          </a:ln>
        </p:spPr>
        <p:txBody>
          <a:bodyPr/>
          <a:lstStyle/>
          <a:p>
            <a:endParaRPr lang="en-US"/>
          </a:p>
        </p:txBody>
      </p:sp>
      <p:sp>
        <p:nvSpPr>
          <p:cNvPr id="26" name="Shape 24"/>
          <p:cNvSpPr/>
          <p:nvPr/>
        </p:nvSpPr>
        <p:spPr>
          <a:xfrm flipV="1">
            <a:off x="1481328" y="3172968"/>
            <a:ext cx="923544" cy="329184"/>
          </a:xfrm>
          <a:prstGeom prst="line">
            <a:avLst/>
          </a:prstGeom>
          <a:noFill/>
          <a:ln w="12700">
            <a:solidFill>
              <a:srgbClr val="2E3B44"/>
            </a:solidFill>
            <a:prstDash val="solid"/>
          </a:ln>
        </p:spPr>
        <p:txBody>
          <a:bodyPr/>
          <a:lstStyle/>
          <a:p>
            <a:endParaRPr lang="en-US"/>
          </a:p>
        </p:txBody>
      </p:sp>
      <p:sp>
        <p:nvSpPr>
          <p:cNvPr id="27" name="Shape 25"/>
          <p:cNvSpPr/>
          <p:nvPr/>
        </p:nvSpPr>
        <p:spPr>
          <a:xfrm>
            <a:off x="1481328" y="3502152"/>
            <a:ext cx="923544" cy="329184"/>
          </a:xfrm>
          <a:prstGeom prst="line">
            <a:avLst/>
          </a:prstGeom>
          <a:noFill/>
          <a:ln w="12700">
            <a:solidFill>
              <a:srgbClr val="2E3B44"/>
            </a:solidFill>
            <a:prstDash val="solid"/>
          </a:ln>
        </p:spPr>
        <p:txBody>
          <a:bodyPr/>
          <a:lstStyle/>
          <a:p>
            <a:endParaRPr lang="en-US"/>
          </a:p>
        </p:txBody>
      </p:sp>
      <p:sp>
        <p:nvSpPr>
          <p:cNvPr id="28" name="Shape 26"/>
          <p:cNvSpPr/>
          <p:nvPr/>
        </p:nvSpPr>
        <p:spPr>
          <a:xfrm flipV="1">
            <a:off x="1481328" y="3502152"/>
            <a:ext cx="923544" cy="329184"/>
          </a:xfrm>
          <a:prstGeom prst="line">
            <a:avLst/>
          </a:prstGeom>
          <a:noFill/>
          <a:ln w="12700">
            <a:solidFill>
              <a:srgbClr val="2E3B44"/>
            </a:solidFill>
            <a:prstDash val="solid"/>
          </a:ln>
        </p:spPr>
        <p:txBody>
          <a:bodyPr/>
          <a:lstStyle/>
          <a:p>
            <a:endParaRPr lang="en-US"/>
          </a:p>
        </p:txBody>
      </p:sp>
      <p:sp>
        <p:nvSpPr>
          <p:cNvPr id="29" name="Shape 27"/>
          <p:cNvSpPr/>
          <p:nvPr/>
        </p:nvSpPr>
        <p:spPr>
          <a:xfrm>
            <a:off x="3520440" y="2194560"/>
            <a:ext cx="4983480" cy="2423160"/>
          </a:xfrm>
          <a:prstGeom prst="roundRect">
            <a:avLst>
              <a:gd name="adj" fmla="val 4528"/>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30" name="Text 28"/>
          <p:cNvSpPr/>
          <p:nvPr/>
        </p:nvSpPr>
        <p:spPr>
          <a:xfrm>
            <a:off x="3817620" y="2688336"/>
            <a:ext cx="1051560" cy="384048"/>
          </a:xfrm>
          <a:prstGeom prst="rect">
            <a:avLst/>
          </a:prstGeom>
          <a:solidFill>
            <a:srgbClr val="B8E6E0"/>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Customer</a:t>
            </a:r>
            <a:endParaRPr lang="en-US" sz="1100" dirty="0"/>
          </a:p>
        </p:txBody>
      </p:sp>
      <p:sp>
        <p:nvSpPr>
          <p:cNvPr id="31" name="Text 29"/>
          <p:cNvSpPr/>
          <p:nvPr/>
        </p:nvSpPr>
        <p:spPr>
          <a:xfrm>
            <a:off x="5440680" y="2642616"/>
            <a:ext cx="109728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Borrows</a:t>
            </a:r>
            <a:endParaRPr lang="en-US" sz="1050" dirty="0"/>
          </a:p>
        </p:txBody>
      </p:sp>
      <p:sp>
        <p:nvSpPr>
          <p:cNvPr id="32" name="Text 30"/>
          <p:cNvSpPr/>
          <p:nvPr/>
        </p:nvSpPr>
        <p:spPr>
          <a:xfrm>
            <a:off x="7178040" y="2688336"/>
            <a:ext cx="914400" cy="384048"/>
          </a:xfrm>
          <a:prstGeom prst="rect">
            <a:avLst/>
          </a:prstGeom>
          <a:solidFill>
            <a:srgbClr val="B8E6E0"/>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Loan</a:t>
            </a:r>
            <a:endParaRPr lang="en-US" sz="1100" dirty="0"/>
          </a:p>
        </p:txBody>
      </p:sp>
      <p:sp>
        <p:nvSpPr>
          <p:cNvPr id="33" name="Shape 31"/>
          <p:cNvSpPr/>
          <p:nvPr/>
        </p:nvSpPr>
        <p:spPr>
          <a:xfrm flipH="1">
            <a:off x="4869180" y="2880360"/>
            <a:ext cx="571500" cy="914"/>
          </a:xfrm>
          <a:prstGeom prst="line">
            <a:avLst/>
          </a:prstGeom>
          <a:noFill/>
          <a:ln w="15875">
            <a:solidFill>
              <a:srgbClr val="3D5A73"/>
            </a:solidFill>
            <a:prstDash val="solid"/>
          </a:ln>
        </p:spPr>
        <p:txBody>
          <a:bodyPr/>
          <a:lstStyle/>
          <a:p>
            <a:endParaRPr lang="en-US"/>
          </a:p>
        </p:txBody>
      </p:sp>
      <p:sp>
        <p:nvSpPr>
          <p:cNvPr id="34" name="Shape 32"/>
          <p:cNvSpPr/>
          <p:nvPr/>
        </p:nvSpPr>
        <p:spPr>
          <a:xfrm>
            <a:off x="6537960" y="2880360"/>
            <a:ext cx="640080" cy="914"/>
          </a:xfrm>
          <a:prstGeom prst="line">
            <a:avLst/>
          </a:prstGeom>
          <a:noFill/>
          <a:ln w="15875">
            <a:solidFill>
              <a:srgbClr val="3D5A73"/>
            </a:solidFill>
            <a:prstDash val="solid"/>
          </a:ln>
        </p:spPr>
        <p:txBody>
          <a:bodyPr/>
          <a:lstStyle/>
          <a:p>
            <a:endParaRPr lang="en-US"/>
          </a:p>
        </p:txBody>
      </p:sp>
      <p:sp>
        <p:nvSpPr>
          <p:cNvPr id="35" name="Text 33"/>
          <p:cNvSpPr txBox="1"/>
          <p:nvPr/>
        </p:nvSpPr>
        <p:spPr>
          <a:xfrm>
            <a:off x="3749040" y="3383280"/>
            <a:ext cx="4572000" cy="10972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B03A2E"/>
                </a:solidFill>
                <a:latin typeface="Calibri" pitchFamily="34" charset="0"/>
                <a:ea typeface="Calibri" pitchFamily="34" charset="-122"/>
                <a:cs typeface="Calibri" pitchFamily="34" charset="-120"/>
              </a:rPr>
              <a:t>A customer can borrow more than one loan.</a:t>
            </a:r>
            <a:endParaRPr lang="en-US" sz="1300" dirty="0"/>
          </a:p>
          <a:p>
            <a:pPr marL="342900" indent="-342900">
              <a:spcAft>
                <a:spcPts val="300"/>
              </a:spcAft>
              <a:buSzPct val="100000"/>
              <a:buChar char="•"/>
            </a:pPr>
            <a:r>
              <a:rPr lang="en-US" sz="1300" dirty="0">
                <a:solidFill>
                  <a:srgbClr val="B03A2E"/>
                </a:solidFill>
                <a:latin typeface="Calibri" pitchFamily="34" charset="0"/>
                <a:ea typeface="Calibri" pitchFamily="34" charset="-122"/>
                <a:cs typeface="Calibri" pitchFamily="34" charset="-120"/>
              </a:rPr>
              <a:t>A loan can have more than one borrower.</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35</a:t>
            </a:r>
            <a:endParaRPr lang="en-US" sz="1400" dirty="0"/>
          </a:p>
        </p:txBody>
      </p:sp>
      <p:sp>
        <p:nvSpPr>
          <p:cNvPr id="6" name="Shape 4"/>
          <p:cNvSpPr/>
          <p:nvPr/>
        </p:nvSpPr>
        <p:spPr>
          <a:xfrm>
            <a:off x="-274320" y="868680"/>
            <a:ext cx="3566160" cy="2560320"/>
          </a:xfrm>
          <a:prstGeom prst="roundRect">
            <a:avLst>
              <a:gd name="adj" fmla="val 10714"/>
            </a:avLst>
          </a:prstGeom>
          <a:solidFill>
            <a:srgbClr val="143F4F"/>
          </a:solidFill>
          <a:ln/>
        </p:spPr>
        <p:txBody>
          <a:bodyPr/>
          <a:lstStyle/>
          <a:p>
            <a:endParaRPr lang="en-US"/>
          </a:p>
        </p:txBody>
      </p:sp>
      <p:sp>
        <p:nvSpPr>
          <p:cNvPr id="7" name="Text 5"/>
          <p:cNvSpPr txBox="1"/>
          <p:nvPr/>
        </p:nvSpPr>
        <p:spPr>
          <a:xfrm>
            <a:off x="182880" y="868680"/>
            <a:ext cx="2926080" cy="2560320"/>
          </a:xfrm>
          <a:prstGeom prst="rect">
            <a:avLst/>
          </a:prstGeom>
          <a:noFill/>
          <a:ln/>
        </p:spPr>
        <p:txBody>
          <a:bodyPr wrap="square" lIns="0" tIns="0" rIns="0" bIns="0" rtlCol="0" anchor="ctr"/>
          <a:lstStyle/>
          <a:p>
            <a:pPr marL="0" indent="0" algn="r">
              <a:buNone/>
            </a:pPr>
            <a:r>
              <a:rPr lang="en-US" sz="2800" b="1" dirty="0">
                <a:solidFill>
                  <a:srgbClr val="FFFFFF"/>
                </a:solidFill>
                <a:latin typeface="Century Schoolbook" pitchFamily="34" charset="0"/>
                <a:ea typeface="Century Schoolbook" pitchFamily="34" charset="-122"/>
                <a:cs typeface="Century Schoolbook" pitchFamily="34" charset="-120"/>
              </a:rPr>
              <a:t>Lecture</a:t>
            </a:r>
            <a:endParaRPr lang="en-US" sz="2800" dirty="0"/>
          </a:p>
        </p:txBody>
      </p:sp>
      <p:sp>
        <p:nvSpPr>
          <p:cNvPr id="8" name="Text 6"/>
          <p:cNvSpPr txBox="1"/>
          <p:nvPr/>
        </p:nvSpPr>
        <p:spPr>
          <a:xfrm>
            <a:off x="3657600" y="1005840"/>
            <a:ext cx="4846320" cy="822960"/>
          </a:xfrm>
          <a:prstGeom prst="rect">
            <a:avLst/>
          </a:prstGeom>
          <a:noFill/>
          <a:ln/>
        </p:spPr>
        <p:txBody>
          <a:bodyPr wrap="square" lIns="0" tIns="0" rIns="0" bIns="0" rtlCol="0" anchor="ctr"/>
          <a:lstStyle/>
          <a:p>
            <a:pPr marL="0" indent="0">
              <a:buNone/>
            </a:pPr>
            <a:r>
              <a:rPr lang="en-US" sz="2400" b="1" dirty="0">
                <a:solidFill>
                  <a:srgbClr val="143F4F"/>
                </a:solidFill>
                <a:latin typeface="Century Schoolbook" pitchFamily="34" charset="0"/>
                <a:ea typeface="Century Schoolbook" pitchFamily="34" charset="-122"/>
                <a:cs typeface="Century Schoolbook" pitchFamily="34" charset="-120"/>
              </a:rPr>
              <a:t>ER Constraints &amp; Conceptual Design</a:t>
            </a:r>
            <a:endParaRPr lang="en-US" sz="2400" dirty="0"/>
          </a:p>
        </p:txBody>
      </p:sp>
      <p:sp>
        <p:nvSpPr>
          <p:cNvPr id="9" name="Shape 7"/>
          <p:cNvSpPr/>
          <p:nvPr/>
        </p:nvSpPr>
        <p:spPr>
          <a:xfrm>
            <a:off x="3657600" y="1965960"/>
            <a:ext cx="365760" cy="365760"/>
          </a:xfrm>
          <a:prstGeom prst="ellipse">
            <a:avLst/>
          </a:prstGeom>
          <a:solidFill>
            <a:srgbClr val="143F4F"/>
          </a:solidFill>
          <a:ln/>
        </p:spPr>
        <p:txBody>
          <a:bodyPr/>
          <a:lstStyle/>
          <a:p>
            <a:endParaRPr lang="en-US"/>
          </a:p>
        </p:txBody>
      </p:sp>
      <p:sp>
        <p:nvSpPr>
          <p:cNvPr id="10" name="Text 8"/>
          <p:cNvSpPr txBox="1"/>
          <p:nvPr/>
        </p:nvSpPr>
        <p:spPr>
          <a:xfrm>
            <a:off x="3657600" y="19659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4160520" y="1965960"/>
            <a:ext cx="4206240" cy="365760"/>
          </a:xfrm>
          <a:prstGeom prst="rect">
            <a:avLst/>
          </a:prstGeom>
          <a:noFill/>
          <a:ln/>
        </p:spPr>
        <p:txBody>
          <a:bodyPr wrap="square" lIns="0" tIns="0" rIns="0" bIns="0" rtlCol="0" anchor="ctr"/>
          <a:lstStyle/>
          <a:p>
            <a:pPr marL="0" indent="0">
              <a:buNone/>
            </a:pPr>
            <a:r>
              <a:rPr lang="en-US" sz="1450" b="1" dirty="0">
                <a:solidFill>
                  <a:srgbClr val="1F3B47"/>
                </a:solidFill>
                <a:latin typeface="Calibri" pitchFamily="34" charset="0"/>
                <a:ea typeface="Calibri" pitchFamily="34" charset="-122"/>
                <a:cs typeface="Calibri" pitchFamily="34" charset="-120"/>
              </a:rPr>
              <a:t>Participation constraints</a:t>
            </a:r>
            <a:endParaRPr lang="en-US" sz="1450" dirty="0"/>
          </a:p>
        </p:txBody>
      </p:sp>
      <p:sp>
        <p:nvSpPr>
          <p:cNvPr id="12" name="Shape 10"/>
          <p:cNvSpPr/>
          <p:nvPr/>
        </p:nvSpPr>
        <p:spPr>
          <a:xfrm>
            <a:off x="3657600" y="2468880"/>
            <a:ext cx="365760" cy="365760"/>
          </a:xfrm>
          <a:prstGeom prst="ellipse">
            <a:avLst/>
          </a:prstGeom>
          <a:solidFill>
            <a:srgbClr val="55BFAE"/>
          </a:solidFill>
          <a:ln/>
        </p:spPr>
        <p:txBody>
          <a:bodyPr/>
          <a:lstStyle/>
          <a:p>
            <a:endParaRPr lang="en-US"/>
          </a:p>
        </p:txBody>
      </p:sp>
      <p:sp>
        <p:nvSpPr>
          <p:cNvPr id="13" name="Text 11"/>
          <p:cNvSpPr txBox="1"/>
          <p:nvPr/>
        </p:nvSpPr>
        <p:spPr>
          <a:xfrm>
            <a:off x="3657600" y="24688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4160520" y="2468880"/>
            <a:ext cx="4206240" cy="365760"/>
          </a:xfrm>
          <a:prstGeom prst="rect">
            <a:avLst/>
          </a:prstGeom>
          <a:noFill/>
          <a:ln/>
        </p:spPr>
        <p:txBody>
          <a:bodyPr wrap="square" lIns="0" tIns="0" rIns="0" bIns="0" rtlCol="0" anchor="ctr"/>
          <a:lstStyle/>
          <a:p>
            <a:pPr marL="0" indent="0">
              <a:buNone/>
            </a:pPr>
            <a:r>
              <a:rPr lang="en-US" sz="1450" b="1" dirty="0">
                <a:solidFill>
                  <a:srgbClr val="1F3B47"/>
                </a:solidFill>
                <a:latin typeface="Calibri" pitchFamily="34" charset="0"/>
                <a:ea typeface="Calibri" pitchFamily="34" charset="-122"/>
                <a:cs typeface="Calibri" pitchFamily="34" charset="-120"/>
              </a:rPr>
              <a:t>Weak entities</a:t>
            </a:r>
            <a:endParaRPr lang="en-US" sz="1450" dirty="0"/>
          </a:p>
        </p:txBody>
      </p:sp>
      <p:sp>
        <p:nvSpPr>
          <p:cNvPr id="15" name="Shape 13"/>
          <p:cNvSpPr/>
          <p:nvPr/>
        </p:nvSpPr>
        <p:spPr>
          <a:xfrm>
            <a:off x="3657600" y="2971800"/>
            <a:ext cx="365760" cy="365760"/>
          </a:xfrm>
          <a:prstGeom prst="ellipse">
            <a:avLst/>
          </a:prstGeom>
          <a:solidFill>
            <a:srgbClr val="143F4F"/>
          </a:solidFill>
          <a:ln/>
        </p:spPr>
        <p:txBody>
          <a:bodyPr/>
          <a:lstStyle/>
          <a:p>
            <a:endParaRPr lang="en-US"/>
          </a:p>
        </p:txBody>
      </p:sp>
      <p:sp>
        <p:nvSpPr>
          <p:cNvPr id="16" name="Text 14"/>
          <p:cNvSpPr txBox="1"/>
          <p:nvPr/>
        </p:nvSpPr>
        <p:spPr>
          <a:xfrm>
            <a:off x="3657600" y="29718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4160520" y="2971800"/>
            <a:ext cx="4206240" cy="365760"/>
          </a:xfrm>
          <a:prstGeom prst="rect">
            <a:avLst/>
          </a:prstGeom>
          <a:noFill/>
          <a:ln/>
        </p:spPr>
        <p:txBody>
          <a:bodyPr wrap="square" lIns="0" tIns="0" rIns="0" bIns="0" rtlCol="0" anchor="ctr"/>
          <a:lstStyle/>
          <a:p>
            <a:pPr marL="0" indent="0">
              <a:buNone/>
            </a:pPr>
            <a:r>
              <a:rPr lang="en-US" sz="1450" b="1" dirty="0">
                <a:solidFill>
                  <a:srgbClr val="1F3B47"/>
                </a:solidFill>
                <a:latin typeface="Calibri" pitchFamily="34" charset="0"/>
                <a:ea typeface="Calibri" pitchFamily="34" charset="-122"/>
                <a:cs typeface="Calibri" pitchFamily="34" charset="-120"/>
              </a:rPr>
              <a:t>ISA hierarchies &amp; aggregation</a:t>
            </a:r>
            <a:endParaRPr lang="en-US" sz="1450" dirty="0"/>
          </a:p>
        </p:txBody>
      </p:sp>
      <p:sp>
        <p:nvSpPr>
          <p:cNvPr id="18" name="Shape 16"/>
          <p:cNvSpPr/>
          <p:nvPr/>
        </p:nvSpPr>
        <p:spPr>
          <a:xfrm>
            <a:off x="3657600" y="3474720"/>
            <a:ext cx="365760" cy="365760"/>
          </a:xfrm>
          <a:prstGeom prst="ellipse">
            <a:avLst/>
          </a:prstGeom>
          <a:solidFill>
            <a:srgbClr val="55BFAE"/>
          </a:solidFill>
          <a:ln/>
        </p:spPr>
        <p:txBody>
          <a:bodyPr/>
          <a:lstStyle/>
          <a:p>
            <a:endParaRPr lang="en-US"/>
          </a:p>
        </p:txBody>
      </p:sp>
      <p:sp>
        <p:nvSpPr>
          <p:cNvPr id="19" name="Text 17"/>
          <p:cNvSpPr txBox="1"/>
          <p:nvPr/>
        </p:nvSpPr>
        <p:spPr>
          <a:xfrm>
            <a:off x="3657600" y="3474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4160520" y="3474720"/>
            <a:ext cx="4206240" cy="365760"/>
          </a:xfrm>
          <a:prstGeom prst="rect">
            <a:avLst/>
          </a:prstGeom>
          <a:noFill/>
          <a:ln/>
        </p:spPr>
        <p:txBody>
          <a:bodyPr wrap="square" lIns="0" tIns="0" rIns="0" bIns="0" rtlCol="0" anchor="ctr"/>
          <a:lstStyle/>
          <a:p>
            <a:pPr marL="0" indent="0">
              <a:buNone/>
            </a:pPr>
            <a:r>
              <a:rPr lang="en-US" sz="1450" b="1" dirty="0">
                <a:solidFill>
                  <a:srgbClr val="1F3B47"/>
                </a:solidFill>
                <a:latin typeface="Calibri" pitchFamily="34" charset="0"/>
                <a:ea typeface="Calibri" pitchFamily="34" charset="-122"/>
                <a:cs typeface="Calibri" pitchFamily="34" charset="-120"/>
              </a:rPr>
              <a:t>Conceptual design choices</a:t>
            </a:r>
            <a:endParaRPr lang="en-US" sz="1450" dirty="0"/>
          </a:p>
        </p:txBody>
      </p:sp>
      <p:sp>
        <p:nvSpPr>
          <p:cNvPr id="21" name="Shape 19"/>
          <p:cNvSpPr/>
          <p:nvPr/>
        </p:nvSpPr>
        <p:spPr>
          <a:xfrm>
            <a:off x="3657600" y="3977640"/>
            <a:ext cx="365760" cy="365760"/>
          </a:xfrm>
          <a:prstGeom prst="ellipse">
            <a:avLst/>
          </a:prstGeom>
          <a:solidFill>
            <a:srgbClr val="143F4F"/>
          </a:solidFill>
          <a:ln/>
        </p:spPr>
        <p:txBody>
          <a:bodyPr/>
          <a:lstStyle/>
          <a:p>
            <a:endParaRPr lang="en-US"/>
          </a:p>
        </p:txBody>
      </p:sp>
      <p:sp>
        <p:nvSpPr>
          <p:cNvPr id="22" name="Text 20"/>
          <p:cNvSpPr txBox="1"/>
          <p:nvPr/>
        </p:nvSpPr>
        <p:spPr>
          <a:xfrm>
            <a:off x="3657600" y="39776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txBox="1"/>
          <p:nvPr/>
        </p:nvSpPr>
        <p:spPr>
          <a:xfrm>
            <a:off x="4160520" y="3977640"/>
            <a:ext cx="4206240" cy="365760"/>
          </a:xfrm>
          <a:prstGeom prst="rect">
            <a:avLst/>
          </a:prstGeom>
          <a:noFill/>
          <a:ln/>
        </p:spPr>
        <p:txBody>
          <a:bodyPr wrap="square" lIns="0" tIns="0" rIns="0" bIns="0" rtlCol="0" anchor="ctr"/>
          <a:lstStyle/>
          <a:p>
            <a:pPr marL="0" indent="0">
              <a:buNone/>
            </a:pPr>
            <a:r>
              <a:rPr lang="en-US" sz="1450" b="1" dirty="0">
                <a:solidFill>
                  <a:srgbClr val="1F3B47"/>
                </a:solidFill>
                <a:latin typeface="Calibri" pitchFamily="34" charset="0"/>
                <a:ea typeface="Calibri" pitchFamily="34" charset="-122"/>
                <a:cs typeface="Calibri" pitchFamily="34" charset="-120"/>
              </a:rPr>
              <a:t>ER diagram practice</a:t>
            </a:r>
            <a:endParaRPr lang="en-US" sz="14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Participation Constraints</a:t>
            </a:r>
            <a:endParaRPr lang="en-US" sz="3000" dirty="0"/>
          </a:p>
        </p:txBody>
      </p:sp>
      <p:sp>
        <p:nvSpPr>
          <p:cNvPr id="7" name="Shape 5"/>
          <p:cNvSpPr/>
          <p:nvPr/>
        </p:nvSpPr>
        <p:spPr>
          <a:xfrm>
            <a:off x="640080" y="1097280"/>
            <a:ext cx="7863840" cy="1508760"/>
          </a:xfrm>
          <a:prstGeom prst="roundRect">
            <a:avLst>
              <a:gd name="adj" fmla="val 7273"/>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p:nvPr/>
        </p:nvSpPr>
        <p:spPr>
          <a:xfrm>
            <a:off x="868680" y="1280160"/>
            <a:ext cx="2286000" cy="457200"/>
          </a:xfrm>
          <a:prstGeom prst="roundRect">
            <a:avLst>
              <a:gd name="adj" fmla="val 50000"/>
            </a:avLst>
          </a:prstGeom>
          <a:solidFill>
            <a:srgbClr val="143F4F"/>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Total Participation</a:t>
            </a:r>
            <a:endParaRPr lang="en-US" sz="1400" dirty="0"/>
          </a:p>
        </p:txBody>
      </p:sp>
      <p:sp>
        <p:nvSpPr>
          <p:cNvPr id="9" name="Text 7"/>
          <p:cNvSpPr txBox="1"/>
          <p:nvPr/>
        </p:nvSpPr>
        <p:spPr>
          <a:xfrm>
            <a:off x="868680" y="1828800"/>
            <a:ext cx="7406640" cy="685800"/>
          </a:xfrm>
          <a:prstGeom prst="rect">
            <a:avLst/>
          </a:prstGeom>
          <a:noFill/>
          <a:ln/>
        </p:spPr>
        <p:txBody>
          <a:bodyPr wrap="square" lIns="0" tIns="0" rIns="0" bIns="0" rtlCol="0" anchor="t"/>
          <a:lstStyle/>
          <a:p>
            <a:pPr marL="0" indent="0">
              <a:buNone/>
            </a:pPr>
            <a:r>
              <a:rPr lang="en-US" sz="1500" dirty="0">
                <a:solidFill>
                  <a:srgbClr val="1F3B47"/>
                </a:solidFill>
                <a:latin typeface="Calibri" pitchFamily="34" charset="0"/>
                <a:ea typeface="Calibri" pitchFamily="34" charset="-122"/>
                <a:cs typeface="Calibri" pitchFamily="34" charset="-120"/>
              </a:rPr>
              <a:t>The participation of an entity set E in a relationship set R is said to be total if every entity in E participates in at least one relationship in R.</a:t>
            </a:r>
            <a:endParaRPr lang="en-US" sz="1500" dirty="0"/>
          </a:p>
        </p:txBody>
      </p:sp>
      <p:sp>
        <p:nvSpPr>
          <p:cNvPr id="10" name="Shape 8"/>
          <p:cNvSpPr/>
          <p:nvPr/>
        </p:nvSpPr>
        <p:spPr>
          <a:xfrm>
            <a:off x="640080" y="2834640"/>
            <a:ext cx="7863840" cy="1508760"/>
          </a:xfrm>
          <a:prstGeom prst="roundRect">
            <a:avLst>
              <a:gd name="adj" fmla="val 7273"/>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p:nvPr/>
        </p:nvSpPr>
        <p:spPr>
          <a:xfrm>
            <a:off x="868680" y="3017520"/>
            <a:ext cx="2286000" cy="457200"/>
          </a:xfrm>
          <a:prstGeom prst="roundRect">
            <a:avLst>
              <a:gd name="adj" fmla="val 50000"/>
            </a:avLst>
          </a:prstGeom>
          <a:solidFill>
            <a:srgbClr val="55BFAE"/>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Partial Participation</a:t>
            </a:r>
            <a:endParaRPr lang="en-US" sz="1400" dirty="0"/>
          </a:p>
        </p:txBody>
      </p:sp>
      <p:sp>
        <p:nvSpPr>
          <p:cNvPr id="12" name="Text 10"/>
          <p:cNvSpPr txBox="1"/>
          <p:nvPr/>
        </p:nvSpPr>
        <p:spPr>
          <a:xfrm>
            <a:off x="868680" y="3566160"/>
            <a:ext cx="7406640" cy="685800"/>
          </a:xfrm>
          <a:prstGeom prst="rect">
            <a:avLst/>
          </a:prstGeom>
          <a:noFill/>
          <a:ln/>
        </p:spPr>
        <p:txBody>
          <a:bodyPr wrap="square" lIns="0" tIns="0" rIns="0" bIns="0" rtlCol="0" anchor="t"/>
          <a:lstStyle/>
          <a:p>
            <a:pPr marL="0" indent="0">
              <a:buNone/>
            </a:pPr>
            <a:r>
              <a:rPr lang="en-US" sz="1500" dirty="0">
                <a:solidFill>
                  <a:srgbClr val="1F3B47"/>
                </a:solidFill>
                <a:latin typeface="Calibri" pitchFamily="34" charset="0"/>
                <a:ea typeface="Calibri" pitchFamily="34" charset="-122"/>
                <a:cs typeface="Calibri" pitchFamily="34" charset="-120"/>
              </a:rPr>
              <a:t>If only some entities in E participate in relationships in R, the participation of entity set E in relationship R is said to be partial.</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Participation Constraints</a:t>
            </a:r>
            <a:endParaRPr lang="en-US" sz="3000" dirty="0"/>
          </a:p>
        </p:txBody>
      </p:sp>
      <p:sp>
        <p:nvSpPr>
          <p:cNvPr id="7" name="Text 5"/>
          <p:cNvSpPr txBox="1"/>
          <p:nvPr/>
        </p:nvSpPr>
        <p:spPr>
          <a:xfrm>
            <a:off x="640080" y="914400"/>
            <a:ext cx="7315200" cy="347472"/>
          </a:xfrm>
          <a:prstGeom prst="rect">
            <a:avLst/>
          </a:prstGeom>
          <a:noFill/>
          <a:ln/>
        </p:spPr>
        <p:txBody>
          <a:bodyPr wrap="square" lIns="0" tIns="0" rIns="0" bIns="0" rtlCol="0" anchor="ctr"/>
          <a:lstStyle/>
          <a:p>
            <a:pPr marL="0" indent="0">
              <a:buNone/>
            </a:pPr>
            <a:r>
              <a:rPr lang="en-US" sz="1500" b="1" dirty="0">
                <a:solidFill>
                  <a:srgbClr val="55BFAE"/>
                </a:solidFill>
                <a:latin typeface="Calibri" pitchFamily="34" charset="0"/>
                <a:ea typeface="Calibri" pitchFamily="34" charset="-122"/>
                <a:cs typeface="Calibri" pitchFamily="34" charset="-120"/>
              </a:rPr>
              <a:t>Example</a:t>
            </a:r>
            <a:endParaRPr lang="en-US" sz="1500" dirty="0"/>
          </a:p>
        </p:txBody>
      </p:sp>
      <p:sp>
        <p:nvSpPr>
          <p:cNvPr id="8" name="Shape 6"/>
          <p:cNvSpPr/>
          <p:nvPr/>
        </p:nvSpPr>
        <p:spPr>
          <a:xfrm>
            <a:off x="640080" y="1371600"/>
            <a:ext cx="7863840" cy="2194560"/>
          </a:xfrm>
          <a:prstGeom prst="roundRect">
            <a:avLst>
              <a:gd name="adj" fmla="val 5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1440180" y="2322576"/>
            <a:ext cx="1143000" cy="384048"/>
          </a:xfrm>
          <a:prstGeom prst="rect">
            <a:avLst/>
          </a:prstGeom>
          <a:solidFill>
            <a:srgbClr val="B8E6E0"/>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Customer</a:t>
            </a:r>
            <a:endParaRPr lang="en-US" sz="1100" dirty="0"/>
          </a:p>
        </p:txBody>
      </p:sp>
      <p:sp>
        <p:nvSpPr>
          <p:cNvPr id="10" name="Text 8"/>
          <p:cNvSpPr/>
          <p:nvPr/>
        </p:nvSpPr>
        <p:spPr>
          <a:xfrm>
            <a:off x="3977640" y="2276856"/>
            <a:ext cx="118872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Borrows</a:t>
            </a:r>
            <a:endParaRPr lang="en-US" sz="1050" dirty="0"/>
          </a:p>
        </p:txBody>
      </p:sp>
      <p:sp>
        <p:nvSpPr>
          <p:cNvPr id="11" name="Text 9"/>
          <p:cNvSpPr/>
          <p:nvPr/>
        </p:nvSpPr>
        <p:spPr>
          <a:xfrm>
            <a:off x="6629400" y="2322576"/>
            <a:ext cx="1005840" cy="384048"/>
          </a:xfrm>
          <a:prstGeom prst="rect">
            <a:avLst/>
          </a:prstGeom>
          <a:solidFill>
            <a:srgbClr val="B8E6E0"/>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Loan</a:t>
            </a:r>
            <a:endParaRPr lang="en-US" sz="1100" dirty="0"/>
          </a:p>
        </p:txBody>
      </p:sp>
      <p:sp>
        <p:nvSpPr>
          <p:cNvPr id="12" name="Shape 10"/>
          <p:cNvSpPr/>
          <p:nvPr/>
        </p:nvSpPr>
        <p:spPr>
          <a:xfrm>
            <a:off x="2583180" y="2514600"/>
            <a:ext cx="1394460" cy="914"/>
          </a:xfrm>
          <a:prstGeom prst="line">
            <a:avLst/>
          </a:prstGeom>
          <a:noFill/>
          <a:ln w="15875">
            <a:solidFill>
              <a:srgbClr val="3D5A73"/>
            </a:solidFill>
            <a:prstDash val="solid"/>
          </a:ln>
        </p:spPr>
        <p:txBody>
          <a:bodyPr/>
          <a:lstStyle/>
          <a:p>
            <a:endParaRPr lang="en-US"/>
          </a:p>
        </p:txBody>
      </p:sp>
      <p:sp>
        <p:nvSpPr>
          <p:cNvPr id="13" name="Shape 11"/>
          <p:cNvSpPr/>
          <p:nvPr/>
        </p:nvSpPr>
        <p:spPr>
          <a:xfrm>
            <a:off x="5166360" y="2514600"/>
            <a:ext cx="1463040" cy="914"/>
          </a:xfrm>
          <a:prstGeom prst="line">
            <a:avLst/>
          </a:prstGeom>
          <a:noFill/>
          <a:ln w="34925">
            <a:solidFill>
              <a:srgbClr val="3D5A73"/>
            </a:solidFill>
            <a:prstDash val="solid"/>
          </a:ln>
        </p:spPr>
        <p:txBody>
          <a:bodyPr/>
          <a:lstStyle/>
          <a:p>
            <a:endParaRPr lang="en-US"/>
          </a:p>
        </p:txBody>
      </p:sp>
      <p:sp>
        <p:nvSpPr>
          <p:cNvPr id="14" name="Text 12"/>
          <p:cNvSpPr/>
          <p:nvPr/>
        </p:nvSpPr>
        <p:spPr>
          <a:xfrm>
            <a:off x="2651760" y="1600200"/>
            <a:ext cx="914400" cy="292608"/>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Partial</a:t>
            </a:r>
            <a:endParaRPr lang="en-US" sz="1050" dirty="0"/>
          </a:p>
        </p:txBody>
      </p:sp>
      <p:sp>
        <p:nvSpPr>
          <p:cNvPr id="15" name="Shape 13"/>
          <p:cNvSpPr/>
          <p:nvPr/>
        </p:nvSpPr>
        <p:spPr>
          <a:xfrm flipH="1">
            <a:off x="3017520" y="1892808"/>
            <a:ext cx="91440" cy="530352"/>
          </a:xfrm>
          <a:prstGeom prst="line">
            <a:avLst/>
          </a:prstGeom>
          <a:noFill/>
          <a:ln w="15875">
            <a:solidFill>
              <a:srgbClr val="3D5A73"/>
            </a:solidFill>
            <a:prstDash val="solid"/>
            <a:tailEnd type="triangle"/>
          </a:ln>
        </p:spPr>
        <p:txBody>
          <a:bodyPr/>
          <a:lstStyle/>
          <a:p>
            <a:endParaRPr lang="en-US"/>
          </a:p>
        </p:txBody>
      </p:sp>
      <p:sp>
        <p:nvSpPr>
          <p:cNvPr id="16" name="Text 14"/>
          <p:cNvSpPr/>
          <p:nvPr/>
        </p:nvSpPr>
        <p:spPr>
          <a:xfrm>
            <a:off x="5623560" y="1600200"/>
            <a:ext cx="914400" cy="292608"/>
          </a:xfrm>
          <a:prstGeom prst="rect">
            <a:avLst/>
          </a:prstGeom>
          <a:solidFill>
            <a:srgbClr val="FFF6C2"/>
          </a:solidFill>
          <a:ln w="9525">
            <a:solidFill>
              <a:srgbClr val="C9A227"/>
            </a:solidFill>
          </a:ln>
        </p:spPr>
        <p:txBody>
          <a:bodyPr wrap="square" lIns="38100" tIns="38100" rIns="38100" bIns="3810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Total</a:t>
            </a:r>
            <a:endParaRPr lang="en-US" sz="1050" dirty="0"/>
          </a:p>
        </p:txBody>
      </p:sp>
      <p:sp>
        <p:nvSpPr>
          <p:cNvPr id="17" name="Shape 15"/>
          <p:cNvSpPr/>
          <p:nvPr/>
        </p:nvSpPr>
        <p:spPr>
          <a:xfrm flipH="1">
            <a:off x="6035040" y="1892808"/>
            <a:ext cx="45720" cy="530352"/>
          </a:xfrm>
          <a:prstGeom prst="line">
            <a:avLst/>
          </a:prstGeom>
          <a:noFill/>
          <a:ln w="15875">
            <a:solidFill>
              <a:srgbClr val="3D5A73"/>
            </a:solidFill>
            <a:prstDash val="solid"/>
            <a:tailEnd type="triangle"/>
          </a:ln>
        </p:spPr>
        <p:txBody>
          <a:bodyPr/>
          <a:lstStyle/>
          <a:p>
            <a:endParaRPr lang="en-US"/>
          </a:p>
        </p:txBody>
      </p:sp>
      <p:sp>
        <p:nvSpPr>
          <p:cNvPr id="18" name="Text 16"/>
          <p:cNvSpPr txBox="1"/>
          <p:nvPr/>
        </p:nvSpPr>
        <p:spPr>
          <a:xfrm>
            <a:off x="822960" y="3108960"/>
            <a:ext cx="7498080" cy="256032"/>
          </a:xfrm>
          <a:prstGeom prst="rect">
            <a:avLst/>
          </a:prstGeom>
          <a:noFill/>
          <a:ln/>
        </p:spPr>
        <p:txBody>
          <a:bodyPr wrap="square" lIns="0" tIns="0" rIns="0" bIns="0" rtlCol="0" anchor="ctr"/>
          <a:lstStyle/>
          <a:p>
            <a:pPr marL="0" indent="0" algn="ctr">
              <a:buNone/>
            </a:pPr>
            <a:r>
              <a:rPr lang="en-US" sz="1100" i="1" dirty="0">
                <a:solidFill>
                  <a:srgbClr val="5A7079"/>
                </a:solidFill>
                <a:latin typeface="Calibri" pitchFamily="34" charset="0"/>
                <a:ea typeface="Calibri" pitchFamily="34" charset="-122"/>
                <a:cs typeface="Calibri" pitchFamily="34" charset="-120"/>
              </a:rPr>
              <a:t>Thin line = partial participation · Thick line = total participation</a:t>
            </a:r>
            <a:endParaRPr lang="en-US" sz="1100" dirty="0"/>
          </a:p>
        </p:txBody>
      </p:sp>
      <p:sp>
        <p:nvSpPr>
          <p:cNvPr id="19" name="Text 17"/>
          <p:cNvSpPr/>
          <p:nvPr/>
        </p:nvSpPr>
        <p:spPr>
          <a:xfrm>
            <a:off x="640080" y="3749040"/>
            <a:ext cx="7863840" cy="868680"/>
          </a:xfrm>
          <a:prstGeom prst="roundRect">
            <a:avLst>
              <a:gd name="adj" fmla="val 10526"/>
            </a:avLst>
          </a:prstGeom>
          <a:solidFill>
            <a:srgbClr val="143F4F"/>
          </a:solidFill>
          <a:ln/>
        </p:spPr>
        <p:txBody>
          <a:bodyPr wrap="square" lIns="0" tIns="177800" rIns="177800" bIns="0" rtlCol="0" anchor="ctr"/>
          <a:lstStyle/>
          <a:p>
            <a:pPr marL="203200" indent="-2032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Every loan must have a customer.</a:t>
            </a:r>
            <a:endParaRPr lang="en-US" sz="1500" dirty="0"/>
          </a:p>
          <a:p>
            <a:pPr marL="203200" indent="-203200">
              <a:spcAft>
                <a:spcPts val="400"/>
              </a:spcAft>
              <a:buSzPct val="100000"/>
              <a:buChar char="•"/>
            </a:pPr>
            <a:r>
              <a:rPr lang="en-US" sz="1500" dirty="0">
                <a:solidFill>
                  <a:srgbClr val="FFFFFF"/>
                </a:solidFill>
                <a:latin typeface="Calibri" pitchFamily="34" charset="0"/>
                <a:ea typeface="Calibri" pitchFamily="34" charset="-122"/>
                <a:cs typeface="Calibri" pitchFamily="34" charset="-120"/>
              </a:rPr>
              <a:t>Not every customer (of the bank) borrows a loan.</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Participation Constraints</a:t>
            </a:r>
            <a:endParaRPr lang="en-US" sz="3000" dirty="0"/>
          </a:p>
        </p:txBody>
      </p:sp>
      <p:sp>
        <p:nvSpPr>
          <p:cNvPr id="7" name="Text 5"/>
          <p:cNvSpPr txBox="1"/>
          <p:nvPr/>
        </p:nvSpPr>
        <p:spPr>
          <a:xfrm>
            <a:off x="640080" y="960120"/>
            <a:ext cx="7863840" cy="731520"/>
          </a:xfrm>
          <a:prstGeom prst="rect">
            <a:avLst/>
          </a:prstGeom>
          <a:noFill/>
          <a:ln/>
        </p:spPr>
        <p:txBody>
          <a:bodyPr wrap="square" lIns="0" tIns="0" rIns="0" bIns="0" rtlCol="0" anchor="ctr"/>
          <a:lstStyle/>
          <a:p>
            <a:pPr marL="0" indent="0">
              <a:buNone/>
            </a:pPr>
            <a:r>
              <a:rPr lang="en-US" sz="1400" b="1" dirty="0">
                <a:solidFill>
                  <a:srgbClr val="143F4F"/>
                </a:solidFill>
                <a:latin typeface="Calibri" pitchFamily="34" charset="0"/>
                <a:ea typeface="Calibri" pitchFamily="34" charset="-122"/>
                <a:cs typeface="Calibri" pitchFamily="34" charset="-120"/>
              </a:rPr>
              <a:t>Does every department have a manager? </a:t>
            </a:r>
            <a:endParaRPr lang="en-US" sz="1400" dirty="0"/>
          </a:p>
          <a:p>
            <a:pPr marL="0" indent="0">
              <a:buNone/>
            </a:pPr>
            <a:r>
              <a:rPr lang="en-US" sz="1400" dirty="0">
                <a:solidFill>
                  <a:srgbClr val="1F3B47"/>
                </a:solidFill>
                <a:latin typeface="Calibri" pitchFamily="34" charset="0"/>
                <a:ea typeface="Calibri" pitchFamily="34" charset="-122"/>
                <a:cs typeface="Calibri" pitchFamily="34" charset="-120"/>
              </a:rPr>
              <a:t>If so, this is a </a:t>
            </a:r>
            <a:r>
              <a:rPr lang="en-US" sz="1400" i="1" dirty="0">
                <a:solidFill>
                  <a:srgbClr val="1F8FB5"/>
                </a:solidFill>
                <a:latin typeface="Calibri" pitchFamily="34" charset="0"/>
                <a:ea typeface="Calibri" pitchFamily="34" charset="-122"/>
                <a:cs typeface="Calibri" pitchFamily="34" charset="-120"/>
              </a:rPr>
              <a:t>participation constraint</a:t>
            </a:r>
            <a:r>
              <a:rPr lang="en-US" sz="1400" dirty="0">
                <a:solidFill>
                  <a:srgbClr val="1F3B47"/>
                </a:solidFill>
                <a:latin typeface="Calibri" pitchFamily="34" charset="0"/>
                <a:ea typeface="Calibri" pitchFamily="34" charset="-122"/>
                <a:cs typeface="Calibri" pitchFamily="34" charset="-120"/>
              </a:rPr>
              <a:t>: the participation of Departments in Manages is said to be </a:t>
            </a:r>
            <a:r>
              <a:rPr lang="en-US" sz="1400" i="1" dirty="0">
                <a:solidFill>
                  <a:srgbClr val="1F8FB5"/>
                </a:solidFill>
                <a:latin typeface="Calibri" pitchFamily="34" charset="0"/>
                <a:ea typeface="Calibri" pitchFamily="34" charset="-122"/>
                <a:cs typeface="Calibri" pitchFamily="34" charset="-120"/>
              </a:rPr>
              <a:t>total</a:t>
            </a:r>
            <a:r>
              <a:rPr lang="en-US" sz="1400" dirty="0">
                <a:solidFill>
                  <a:srgbClr val="1F3B47"/>
                </a:solidFill>
                <a:latin typeface="Calibri" pitchFamily="34" charset="0"/>
                <a:ea typeface="Calibri" pitchFamily="34" charset="-122"/>
                <a:cs typeface="Calibri" pitchFamily="34" charset="-120"/>
              </a:rPr>
              <a:t> (vs. </a:t>
            </a:r>
            <a:r>
              <a:rPr lang="en-US" sz="1400" i="1" dirty="0">
                <a:solidFill>
                  <a:srgbClr val="1F8FB5"/>
                </a:solidFill>
                <a:latin typeface="Calibri" pitchFamily="34" charset="0"/>
                <a:ea typeface="Calibri" pitchFamily="34" charset="-122"/>
                <a:cs typeface="Calibri" pitchFamily="34" charset="-120"/>
              </a:rPr>
              <a:t>partial</a:t>
            </a:r>
            <a:r>
              <a:rPr lang="en-US" sz="1400" dirty="0">
                <a:solidFill>
                  <a:srgbClr val="1F3B47"/>
                </a:solidFill>
                <a:latin typeface="Calibri" pitchFamily="34" charset="0"/>
                <a:ea typeface="Calibri" pitchFamily="34" charset="-122"/>
                <a:cs typeface="Calibri" pitchFamily="34" charset="-120"/>
              </a:rPr>
              <a:t>).</a:t>
            </a:r>
            <a:endParaRPr lang="en-US" sz="1400" dirty="0"/>
          </a:p>
        </p:txBody>
      </p:sp>
      <p:sp>
        <p:nvSpPr>
          <p:cNvPr id="8" name="Text 6"/>
          <p:cNvSpPr txBox="1"/>
          <p:nvPr/>
        </p:nvSpPr>
        <p:spPr>
          <a:xfrm>
            <a:off x="640080" y="1737360"/>
            <a:ext cx="7863840" cy="914400"/>
          </a:xfrm>
          <a:prstGeom prst="rect">
            <a:avLst/>
          </a:prstGeom>
          <a:noFill/>
          <a:ln/>
        </p:spPr>
        <p:txBody>
          <a:bodyPr wrap="square" lIns="0" tIns="0" rIns="0" bIns="0" rtlCol="0" anchor="t"/>
          <a:lstStyle/>
          <a:p>
            <a:pPr marL="342900" indent="-342900">
              <a:spcAft>
                <a:spcPts val="100"/>
              </a:spcAft>
              <a:buSzPct val="100000"/>
              <a:buChar char="•"/>
            </a:pPr>
            <a:r>
              <a:rPr lang="en-US" sz="1300" dirty="0">
                <a:solidFill>
                  <a:srgbClr val="1F3B47"/>
                </a:solidFill>
                <a:latin typeface="Calibri" pitchFamily="34" charset="0"/>
                <a:ea typeface="Calibri" pitchFamily="34" charset="-122"/>
                <a:cs typeface="Calibri" pitchFamily="34" charset="-120"/>
              </a:rPr>
              <a:t>Every department MUST have at least one employee.</a:t>
            </a:r>
            <a:endParaRPr lang="en-US" sz="1300" dirty="0"/>
          </a:p>
          <a:p>
            <a:pPr marL="342900" indent="-342900">
              <a:spcAft>
                <a:spcPts val="100"/>
              </a:spcAft>
              <a:buSzPct val="100000"/>
              <a:buChar char="•"/>
            </a:pPr>
            <a:r>
              <a:rPr lang="en-US" sz="1300" dirty="0">
                <a:solidFill>
                  <a:srgbClr val="1F3B47"/>
                </a:solidFill>
                <a:latin typeface="Calibri" pitchFamily="34" charset="0"/>
                <a:ea typeface="Calibri" pitchFamily="34" charset="-122"/>
                <a:cs typeface="Calibri" pitchFamily="34" charset="-120"/>
              </a:rPr>
              <a:t>Every employee MUST work in at least one department.</a:t>
            </a:r>
            <a:endParaRPr lang="en-US" sz="1300" dirty="0"/>
          </a:p>
          <a:p>
            <a:pPr marL="342900" indent="-342900">
              <a:spcAft>
                <a:spcPts val="100"/>
              </a:spcAft>
              <a:buSzPct val="100000"/>
              <a:buChar char="•"/>
            </a:pPr>
            <a:r>
              <a:rPr lang="en-US" sz="1300" dirty="0">
                <a:solidFill>
                  <a:srgbClr val="1F3B47"/>
                </a:solidFill>
                <a:latin typeface="Calibri" pitchFamily="34" charset="0"/>
                <a:ea typeface="Calibri" pitchFamily="34" charset="-122"/>
                <a:cs typeface="Calibri" pitchFamily="34" charset="-120"/>
              </a:rPr>
              <a:t>There may exist employees managing no department.</a:t>
            </a:r>
            <a:endParaRPr lang="en-US" sz="1300" dirty="0"/>
          </a:p>
        </p:txBody>
      </p:sp>
      <p:sp>
        <p:nvSpPr>
          <p:cNvPr id="9" name="Text 7"/>
          <p:cNvSpPr/>
          <p:nvPr/>
        </p:nvSpPr>
        <p:spPr>
          <a:xfrm>
            <a:off x="1684782" y="3236976"/>
            <a:ext cx="1019556"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Employees</a:t>
            </a:r>
            <a:endParaRPr lang="en-US" sz="1100" dirty="0"/>
          </a:p>
        </p:txBody>
      </p:sp>
      <p:sp>
        <p:nvSpPr>
          <p:cNvPr id="10" name="Text 8"/>
          <p:cNvSpPr/>
          <p:nvPr/>
        </p:nvSpPr>
        <p:spPr>
          <a:xfrm>
            <a:off x="3954780" y="3191256"/>
            <a:ext cx="1143000" cy="47548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Manages</a:t>
            </a:r>
            <a:endParaRPr lang="en-US" sz="1050" dirty="0"/>
          </a:p>
        </p:txBody>
      </p:sp>
      <p:sp>
        <p:nvSpPr>
          <p:cNvPr id="11" name="Text 9"/>
          <p:cNvSpPr/>
          <p:nvPr/>
        </p:nvSpPr>
        <p:spPr>
          <a:xfrm>
            <a:off x="6240780" y="3236976"/>
            <a:ext cx="123444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Departments</a:t>
            </a:r>
            <a:endParaRPr lang="en-US" sz="1100" dirty="0"/>
          </a:p>
        </p:txBody>
      </p:sp>
      <p:sp>
        <p:nvSpPr>
          <p:cNvPr id="12" name="Text 10"/>
          <p:cNvSpPr/>
          <p:nvPr/>
        </p:nvSpPr>
        <p:spPr>
          <a:xfrm>
            <a:off x="3931920" y="4032504"/>
            <a:ext cx="1188720" cy="438912"/>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Works_In</a:t>
            </a:r>
            <a:endParaRPr lang="en-US" sz="1050" dirty="0"/>
          </a:p>
        </p:txBody>
      </p:sp>
      <p:sp>
        <p:nvSpPr>
          <p:cNvPr id="13" name="Text 11"/>
          <p:cNvSpPr/>
          <p:nvPr/>
        </p:nvSpPr>
        <p:spPr>
          <a:xfrm>
            <a:off x="1072134" y="2862072"/>
            <a:ext cx="507492"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b="1" u="sng" dirty="0">
                <a:solidFill>
                  <a:srgbClr val="1F2D3D"/>
                </a:solidFill>
                <a:latin typeface="Calibri" pitchFamily="34" charset="0"/>
                <a:ea typeface="Calibri" pitchFamily="34" charset="-122"/>
                <a:cs typeface="Calibri" pitchFamily="34" charset="-120"/>
              </a:rPr>
              <a:t>ssn</a:t>
            </a:r>
            <a:endParaRPr lang="en-US" sz="1000" dirty="0"/>
          </a:p>
        </p:txBody>
      </p:sp>
      <p:sp>
        <p:nvSpPr>
          <p:cNvPr id="14" name="Shape 12"/>
          <p:cNvSpPr/>
          <p:nvPr/>
        </p:nvSpPr>
        <p:spPr>
          <a:xfrm>
            <a:off x="1526618" y="3112606"/>
            <a:ext cx="262558" cy="124370"/>
          </a:xfrm>
          <a:prstGeom prst="line">
            <a:avLst/>
          </a:prstGeom>
          <a:noFill/>
          <a:ln w="15875">
            <a:solidFill>
              <a:srgbClr val="3D5A73"/>
            </a:solidFill>
            <a:prstDash val="solid"/>
          </a:ln>
        </p:spPr>
        <p:txBody>
          <a:bodyPr/>
          <a:lstStyle/>
          <a:p>
            <a:endParaRPr lang="en-US"/>
          </a:p>
        </p:txBody>
      </p:sp>
      <p:sp>
        <p:nvSpPr>
          <p:cNvPr id="15" name="Text 13"/>
          <p:cNvSpPr/>
          <p:nvPr/>
        </p:nvSpPr>
        <p:spPr>
          <a:xfrm>
            <a:off x="1901952" y="2679192"/>
            <a:ext cx="585216"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name</a:t>
            </a:r>
            <a:endParaRPr lang="en-US" sz="1000" dirty="0"/>
          </a:p>
        </p:txBody>
      </p:sp>
      <p:sp>
        <p:nvSpPr>
          <p:cNvPr id="16" name="Shape 14"/>
          <p:cNvSpPr/>
          <p:nvPr/>
        </p:nvSpPr>
        <p:spPr>
          <a:xfrm>
            <a:off x="2194560" y="2990088"/>
            <a:ext cx="914" cy="246888"/>
          </a:xfrm>
          <a:prstGeom prst="line">
            <a:avLst/>
          </a:prstGeom>
          <a:noFill/>
          <a:ln w="15875">
            <a:solidFill>
              <a:srgbClr val="3D5A73"/>
            </a:solidFill>
            <a:prstDash val="solid"/>
          </a:ln>
        </p:spPr>
        <p:txBody>
          <a:bodyPr/>
          <a:lstStyle/>
          <a:p>
            <a:endParaRPr lang="en-US"/>
          </a:p>
        </p:txBody>
      </p:sp>
      <p:sp>
        <p:nvSpPr>
          <p:cNvPr id="17" name="Text 15"/>
          <p:cNvSpPr/>
          <p:nvPr/>
        </p:nvSpPr>
        <p:spPr>
          <a:xfrm>
            <a:off x="2809494" y="2862072"/>
            <a:ext cx="507492"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lot</a:t>
            </a:r>
            <a:endParaRPr lang="en-US" sz="1000" dirty="0"/>
          </a:p>
        </p:txBody>
      </p:sp>
      <p:sp>
        <p:nvSpPr>
          <p:cNvPr id="18" name="Shape 16"/>
          <p:cNvSpPr/>
          <p:nvPr/>
        </p:nvSpPr>
        <p:spPr>
          <a:xfrm flipH="1">
            <a:off x="2599944" y="3112606"/>
            <a:ext cx="262558" cy="124370"/>
          </a:xfrm>
          <a:prstGeom prst="line">
            <a:avLst/>
          </a:prstGeom>
          <a:noFill/>
          <a:ln w="15875">
            <a:solidFill>
              <a:srgbClr val="3D5A73"/>
            </a:solidFill>
            <a:prstDash val="solid"/>
          </a:ln>
        </p:spPr>
        <p:txBody>
          <a:bodyPr/>
          <a:lstStyle/>
          <a:p>
            <a:endParaRPr lang="en-US"/>
          </a:p>
        </p:txBody>
      </p:sp>
      <p:sp>
        <p:nvSpPr>
          <p:cNvPr id="19" name="Text 17"/>
          <p:cNvSpPr/>
          <p:nvPr/>
        </p:nvSpPr>
        <p:spPr>
          <a:xfrm>
            <a:off x="5735574" y="2862072"/>
            <a:ext cx="507492"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b="1" u="sng" dirty="0">
                <a:solidFill>
                  <a:srgbClr val="1F2D3D"/>
                </a:solidFill>
                <a:latin typeface="Calibri" pitchFamily="34" charset="0"/>
                <a:ea typeface="Calibri" pitchFamily="34" charset="-122"/>
                <a:cs typeface="Calibri" pitchFamily="34" charset="-120"/>
              </a:rPr>
              <a:t>did</a:t>
            </a:r>
            <a:endParaRPr lang="en-US" sz="1000" dirty="0"/>
          </a:p>
        </p:txBody>
      </p:sp>
      <p:sp>
        <p:nvSpPr>
          <p:cNvPr id="20" name="Shape 18"/>
          <p:cNvSpPr/>
          <p:nvPr/>
        </p:nvSpPr>
        <p:spPr>
          <a:xfrm>
            <a:off x="6190058" y="3112606"/>
            <a:ext cx="262558" cy="124370"/>
          </a:xfrm>
          <a:prstGeom prst="line">
            <a:avLst/>
          </a:prstGeom>
          <a:noFill/>
          <a:ln w="15875">
            <a:solidFill>
              <a:srgbClr val="3D5A73"/>
            </a:solidFill>
            <a:prstDash val="solid"/>
          </a:ln>
        </p:spPr>
        <p:txBody>
          <a:bodyPr/>
          <a:lstStyle/>
          <a:p>
            <a:endParaRPr lang="en-US"/>
          </a:p>
        </p:txBody>
      </p:sp>
      <p:sp>
        <p:nvSpPr>
          <p:cNvPr id="21" name="Text 19"/>
          <p:cNvSpPr/>
          <p:nvPr/>
        </p:nvSpPr>
        <p:spPr>
          <a:xfrm>
            <a:off x="6526530" y="2679192"/>
            <a:ext cx="66294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dname</a:t>
            </a:r>
            <a:endParaRPr lang="en-US" sz="1000" dirty="0"/>
          </a:p>
        </p:txBody>
      </p:sp>
      <p:sp>
        <p:nvSpPr>
          <p:cNvPr id="22" name="Shape 20"/>
          <p:cNvSpPr/>
          <p:nvPr/>
        </p:nvSpPr>
        <p:spPr>
          <a:xfrm>
            <a:off x="6858000" y="2990088"/>
            <a:ext cx="914" cy="246888"/>
          </a:xfrm>
          <a:prstGeom prst="line">
            <a:avLst/>
          </a:prstGeom>
          <a:noFill/>
          <a:ln w="15875">
            <a:solidFill>
              <a:srgbClr val="3D5A73"/>
            </a:solidFill>
            <a:prstDash val="solid"/>
          </a:ln>
        </p:spPr>
        <p:txBody>
          <a:bodyPr/>
          <a:lstStyle/>
          <a:p>
            <a:endParaRPr lang="en-US"/>
          </a:p>
        </p:txBody>
      </p:sp>
      <p:sp>
        <p:nvSpPr>
          <p:cNvPr id="23" name="Text 21"/>
          <p:cNvSpPr/>
          <p:nvPr/>
        </p:nvSpPr>
        <p:spPr>
          <a:xfrm>
            <a:off x="7402068" y="2862072"/>
            <a:ext cx="740664"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budget</a:t>
            </a:r>
            <a:endParaRPr lang="en-US" sz="1000" dirty="0"/>
          </a:p>
        </p:txBody>
      </p:sp>
      <p:sp>
        <p:nvSpPr>
          <p:cNvPr id="24" name="Shape 22"/>
          <p:cNvSpPr/>
          <p:nvPr/>
        </p:nvSpPr>
        <p:spPr>
          <a:xfrm flipH="1">
            <a:off x="7284720" y="3131192"/>
            <a:ext cx="235075" cy="105784"/>
          </a:xfrm>
          <a:prstGeom prst="line">
            <a:avLst/>
          </a:prstGeom>
          <a:noFill/>
          <a:ln w="15875">
            <a:solidFill>
              <a:srgbClr val="3D5A73"/>
            </a:solidFill>
            <a:prstDash val="solid"/>
          </a:ln>
        </p:spPr>
        <p:txBody>
          <a:bodyPr/>
          <a:lstStyle/>
          <a:p>
            <a:endParaRPr lang="en-US"/>
          </a:p>
        </p:txBody>
      </p:sp>
      <p:sp>
        <p:nvSpPr>
          <p:cNvPr id="25" name="Text 23"/>
          <p:cNvSpPr/>
          <p:nvPr/>
        </p:nvSpPr>
        <p:spPr>
          <a:xfrm>
            <a:off x="4194810" y="2697480"/>
            <a:ext cx="66294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since</a:t>
            </a:r>
            <a:endParaRPr lang="en-US" sz="1000" dirty="0"/>
          </a:p>
        </p:txBody>
      </p:sp>
      <p:sp>
        <p:nvSpPr>
          <p:cNvPr id="26" name="Shape 24"/>
          <p:cNvSpPr/>
          <p:nvPr/>
        </p:nvSpPr>
        <p:spPr>
          <a:xfrm>
            <a:off x="4526280" y="3008376"/>
            <a:ext cx="914" cy="182880"/>
          </a:xfrm>
          <a:prstGeom prst="line">
            <a:avLst/>
          </a:prstGeom>
          <a:noFill/>
          <a:ln w="15875">
            <a:solidFill>
              <a:srgbClr val="3D5A73"/>
            </a:solidFill>
            <a:prstDash val="solid"/>
          </a:ln>
        </p:spPr>
        <p:txBody>
          <a:bodyPr/>
          <a:lstStyle/>
          <a:p>
            <a:endParaRPr lang="en-US"/>
          </a:p>
        </p:txBody>
      </p:sp>
      <p:sp>
        <p:nvSpPr>
          <p:cNvPr id="27" name="Text 25"/>
          <p:cNvSpPr/>
          <p:nvPr/>
        </p:nvSpPr>
        <p:spPr>
          <a:xfrm>
            <a:off x="5474970" y="4370832"/>
            <a:ext cx="66294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since</a:t>
            </a:r>
            <a:endParaRPr lang="en-US" sz="1000" dirty="0"/>
          </a:p>
        </p:txBody>
      </p:sp>
      <p:sp>
        <p:nvSpPr>
          <p:cNvPr id="28" name="Shape 26"/>
          <p:cNvSpPr/>
          <p:nvPr/>
        </p:nvSpPr>
        <p:spPr>
          <a:xfrm flipH="1" flipV="1">
            <a:off x="4902372" y="4332551"/>
            <a:ext cx="602580" cy="129124"/>
          </a:xfrm>
          <a:prstGeom prst="line">
            <a:avLst/>
          </a:prstGeom>
          <a:noFill/>
          <a:ln w="15875">
            <a:solidFill>
              <a:srgbClr val="3D5A73"/>
            </a:solidFill>
            <a:prstDash val="solid"/>
          </a:ln>
        </p:spPr>
        <p:txBody>
          <a:bodyPr/>
          <a:lstStyle/>
          <a:p>
            <a:endParaRPr lang="en-US"/>
          </a:p>
        </p:txBody>
      </p:sp>
      <p:sp>
        <p:nvSpPr>
          <p:cNvPr id="29" name="Shape 27"/>
          <p:cNvSpPr/>
          <p:nvPr/>
        </p:nvSpPr>
        <p:spPr>
          <a:xfrm>
            <a:off x="2704338" y="3429000"/>
            <a:ext cx="1250442" cy="914"/>
          </a:xfrm>
          <a:prstGeom prst="line">
            <a:avLst/>
          </a:prstGeom>
          <a:noFill/>
          <a:ln w="15875">
            <a:solidFill>
              <a:srgbClr val="3D5A73"/>
            </a:solidFill>
            <a:prstDash val="solid"/>
          </a:ln>
        </p:spPr>
        <p:txBody>
          <a:bodyPr/>
          <a:lstStyle/>
          <a:p>
            <a:endParaRPr lang="en-US"/>
          </a:p>
        </p:txBody>
      </p:sp>
      <p:sp>
        <p:nvSpPr>
          <p:cNvPr id="30" name="Shape 28"/>
          <p:cNvSpPr/>
          <p:nvPr/>
        </p:nvSpPr>
        <p:spPr>
          <a:xfrm flipH="1">
            <a:off x="5097780" y="3429000"/>
            <a:ext cx="1143000" cy="914"/>
          </a:xfrm>
          <a:prstGeom prst="line">
            <a:avLst/>
          </a:prstGeom>
          <a:noFill/>
          <a:ln w="34925">
            <a:solidFill>
              <a:srgbClr val="3D5A73"/>
            </a:solidFill>
            <a:prstDash val="solid"/>
            <a:tailEnd type="triangle"/>
          </a:ln>
        </p:spPr>
        <p:txBody>
          <a:bodyPr/>
          <a:lstStyle/>
          <a:p>
            <a:endParaRPr lang="en-US"/>
          </a:p>
        </p:txBody>
      </p:sp>
      <p:sp>
        <p:nvSpPr>
          <p:cNvPr id="31" name="Shape 29"/>
          <p:cNvSpPr/>
          <p:nvPr/>
        </p:nvSpPr>
        <p:spPr>
          <a:xfrm>
            <a:off x="2704338" y="3608922"/>
            <a:ext cx="1518059" cy="535785"/>
          </a:xfrm>
          <a:prstGeom prst="line">
            <a:avLst/>
          </a:prstGeom>
          <a:noFill/>
          <a:ln w="34925">
            <a:solidFill>
              <a:srgbClr val="3D5A73"/>
            </a:solidFill>
            <a:prstDash val="solid"/>
          </a:ln>
        </p:spPr>
        <p:txBody>
          <a:bodyPr/>
          <a:lstStyle/>
          <a:p>
            <a:endParaRPr lang="en-US"/>
          </a:p>
        </p:txBody>
      </p:sp>
      <p:sp>
        <p:nvSpPr>
          <p:cNvPr id="32" name="Shape 30"/>
          <p:cNvSpPr/>
          <p:nvPr/>
        </p:nvSpPr>
        <p:spPr>
          <a:xfrm flipH="1">
            <a:off x="4830163" y="3621024"/>
            <a:ext cx="1483769" cy="523683"/>
          </a:xfrm>
          <a:prstGeom prst="line">
            <a:avLst/>
          </a:prstGeom>
          <a:noFill/>
          <a:ln w="34925">
            <a:solidFill>
              <a:srgbClr val="3D5A73"/>
            </a:solidFill>
            <a:prstDash val="solid"/>
          </a:ln>
        </p:spPr>
        <p:txBody>
          <a:bodyPr/>
          <a:lstStyle/>
          <a:p>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Weak Entities</a:t>
            </a:r>
            <a:endParaRPr lang="en-US" sz="3000" dirty="0"/>
          </a:p>
        </p:txBody>
      </p:sp>
      <p:sp>
        <p:nvSpPr>
          <p:cNvPr id="7" name="Text 5"/>
          <p:cNvSpPr txBox="1"/>
          <p:nvPr/>
        </p:nvSpPr>
        <p:spPr>
          <a:xfrm>
            <a:off x="640080" y="960120"/>
            <a:ext cx="7863840" cy="50292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A </a:t>
            </a:r>
            <a:r>
              <a:rPr lang="en-US" sz="1500" i="1" dirty="0">
                <a:solidFill>
                  <a:srgbClr val="1F8FB5"/>
                </a:solidFill>
                <a:latin typeface="Calibri" pitchFamily="34" charset="0"/>
                <a:ea typeface="Calibri" pitchFamily="34" charset="-122"/>
                <a:cs typeface="Calibri" pitchFamily="34" charset="-120"/>
              </a:rPr>
              <a:t>weak entity</a:t>
            </a:r>
            <a:r>
              <a:rPr lang="en-US" sz="1500" dirty="0">
                <a:solidFill>
                  <a:srgbClr val="1F3B47"/>
                </a:solidFill>
                <a:latin typeface="Calibri" pitchFamily="34" charset="0"/>
                <a:ea typeface="Calibri" pitchFamily="34" charset="-122"/>
                <a:cs typeface="Calibri" pitchFamily="34" charset="-120"/>
              </a:rPr>
              <a:t> can be identified uniquely only by considering the primary key of another (</a:t>
            </a:r>
            <a:r>
              <a:rPr lang="en-US" sz="1500" i="1" dirty="0">
                <a:solidFill>
                  <a:srgbClr val="1F3B47"/>
                </a:solidFill>
                <a:latin typeface="Calibri" pitchFamily="34" charset="0"/>
                <a:ea typeface="Calibri" pitchFamily="34" charset="-122"/>
                <a:cs typeface="Calibri" pitchFamily="34" charset="-120"/>
              </a:rPr>
              <a:t>owner</a:t>
            </a:r>
            <a:r>
              <a:rPr lang="en-US" sz="1500" dirty="0">
                <a:solidFill>
                  <a:srgbClr val="1F3B47"/>
                </a:solidFill>
                <a:latin typeface="Calibri" pitchFamily="34" charset="0"/>
                <a:ea typeface="Calibri" pitchFamily="34" charset="-122"/>
                <a:cs typeface="Calibri" pitchFamily="34" charset="-120"/>
              </a:rPr>
              <a:t>) entity.</a:t>
            </a:r>
            <a:endParaRPr lang="en-US" sz="1500" dirty="0"/>
          </a:p>
        </p:txBody>
      </p:sp>
      <p:sp>
        <p:nvSpPr>
          <p:cNvPr id="8" name="Text 6"/>
          <p:cNvSpPr txBox="1"/>
          <p:nvPr/>
        </p:nvSpPr>
        <p:spPr>
          <a:xfrm>
            <a:off x="640080" y="1508760"/>
            <a:ext cx="7863840" cy="132588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1F3B47"/>
                </a:solidFill>
                <a:latin typeface="Calibri" pitchFamily="34" charset="0"/>
                <a:ea typeface="Calibri" pitchFamily="34" charset="-122"/>
                <a:cs typeface="Calibri" pitchFamily="34" charset="-120"/>
              </a:rPr>
              <a:t>Owner entity set and weak entity set must participate in a one-to-many relationship set (one owner, many weak entities).</a:t>
            </a:r>
            <a:endParaRPr lang="en-US" sz="1350" dirty="0"/>
          </a:p>
          <a:p>
            <a:pPr marL="342900" indent="-342900">
              <a:spcAft>
                <a:spcPts val="400"/>
              </a:spcAft>
              <a:buSzPct val="100000"/>
              <a:buChar char="•"/>
            </a:pPr>
            <a:r>
              <a:rPr lang="en-US" sz="1350" dirty="0">
                <a:solidFill>
                  <a:srgbClr val="1F3B47"/>
                </a:solidFill>
                <a:latin typeface="Calibri" pitchFamily="34" charset="0"/>
                <a:ea typeface="Calibri" pitchFamily="34" charset="-122"/>
                <a:cs typeface="Calibri" pitchFamily="34" charset="-120"/>
              </a:rPr>
              <a:t>Weak entity sets must have total participation in this identifying relationship set.</a:t>
            </a:r>
            <a:endParaRPr lang="en-US" sz="1350" dirty="0"/>
          </a:p>
          <a:p>
            <a:pPr marL="342900" indent="-342900">
              <a:spcAft>
                <a:spcPts val="400"/>
              </a:spcAft>
              <a:buSzPct val="100000"/>
              <a:buChar char="•"/>
            </a:pPr>
            <a:r>
              <a:rPr lang="en-US" sz="1350" dirty="0">
                <a:solidFill>
                  <a:srgbClr val="1F3B47"/>
                </a:solidFill>
                <a:latin typeface="Calibri" pitchFamily="34" charset="0"/>
                <a:ea typeface="Calibri" pitchFamily="34" charset="-122"/>
                <a:cs typeface="Calibri" pitchFamily="34" charset="-120"/>
              </a:rPr>
              <a:t>transac# is a discriminator within a group of transactions in an ATM.</a:t>
            </a:r>
            <a:endParaRPr lang="en-US" sz="1350" dirty="0"/>
          </a:p>
        </p:txBody>
      </p:sp>
      <p:sp>
        <p:nvSpPr>
          <p:cNvPr id="9" name="Shape 7"/>
          <p:cNvSpPr/>
          <p:nvPr/>
        </p:nvSpPr>
        <p:spPr>
          <a:xfrm>
            <a:off x="640080" y="2880360"/>
            <a:ext cx="7863840" cy="1783080"/>
          </a:xfrm>
          <a:prstGeom prst="roundRect">
            <a:avLst>
              <a:gd name="adj" fmla="val 6154"/>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p:nvPr/>
        </p:nvSpPr>
        <p:spPr>
          <a:xfrm>
            <a:off x="1737360" y="3877056"/>
            <a:ext cx="91440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ATM</a:t>
            </a:r>
            <a:endParaRPr lang="en-US" sz="1100" dirty="0"/>
          </a:p>
        </p:txBody>
      </p:sp>
      <p:sp>
        <p:nvSpPr>
          <p:cNvPr id="11" name="Shape 9"/>
          <p:cNvSpPr/>
          <p:nvPr/>
        </p:nvSpPr>
        <p:spPr>
          <a:xfrm>
            <a:off x="3909060" y="3785616"/>
            <a:ext cx="1051560" cy="566928"/>
          </a:xfrm>
          <a:prstGeom prst="diamond">
            <a:avLst/>
          </a:prstGeom>
          <a:solidFill>
            <a:srgbClr val="FFFFFF"/>
          </a:solidFill>
          <a:ln w="15875">
            <a:solidFill>
              <a:srgbClr val="2B5797"/>
            </a:solidFill>
            <a:prstDash val="solid"/>
          </a:ln>
        </p:spPr>
        <p:txBody>
          <a:bodyPr/>
          <a:lstStyle/>
          <a:p>
            <a:endParaRPr lang="en-US"/>
          </a:p>
        </p:txBody>
      </p:sp>
      <p:sp>
        <p:nvSpPr>
          <p:cNvPr id="12" name="Text 10"/>
          <p:cNvSpPr/>
          <p:nvPr/>
        </p:nvSpPr>
        <p:spPr>
          <a:xfrm>
            <a:off x="4000500" y="3849624"/>
            <a:ext cx="868680" cy="438912"/>
          </a:xfrm>
          <a:prstGeom prst="diamond">
            <a:avLst/>
          </a:prstGeom>
          <a:solidFill>
            <a:srgbClr val="FFF4C9"/>
          </a:solidFill>
          <a:ln w="15875">
            <a:solidFill>
              <a:srgbClr val="2B5797"/>
            </a:solidFill>
          </a:ln>
        </p:spPr>
        <p:txBody>
          <a:bodyPr wrap="square" lIns="0" tIns="0" rIns="0" bIns="0" rtlCol="0" anchor="ctr"/>
          <a:lstStyle/>
          <a:p>
            <a:pPr marL="0" indent="0" algn="ctr">
              <a:buNone/>
            </a:pPr>
            <a:endParaRPr lang="en-US" sz="1050" dirty="0"/>
          </a:p>
        </p:txBody>
      </p:sp>
      <p:sp>
        <p:nvSpPr>
          <p:cNvPr id="13" name="Shape 11"/>
          <p:cNvSpPr/>
          <p:nvPr/>
        </p:nvSpPr>
        <p:spPr>
          <a:xfrm>
            <a:off x="5966460" y="3831336"/>
            <a:ext cx="1325880" cy="475488"/>
          </a:xfrm>
          <a:prstGeom prst="rect">
            <a:avLst/>
          </a:prstGeom>
          <a:solidFill>
            <a:srgbClr val="FFFFFF"/>
          </a:solidFill>
          <a:ln w="15875">
            <a:solidFill>
              <a:srgbClr val="2B5797"/>
            </a:solidFill>
            <a:prstDash val="solid"/>
          </a:ln>
        </p:spPr>
        <p:txBody>
          <a:bodyPr/>
          <a:lstStyle/>
          <a:p>
            <a:endParaRPr lang="en-US"/>
          </a:p>
        </p:txBody>
      </p:sp>
      <p:sp>
        <p:nvSpPr>
          <p:cNvPr id="14" name="Text 12"/>
          <p:cNvSpPr/>
          <p:nvPr/>
        </p:nvSpPr>
        <p:spPr>
          <a:xfrm>
            <a:off x="6012180" y="3877056"/>
            <a:ext cx="1234440"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Transactions</a:t>
            </a:r>
            <a:endParaRPr lang="en-US" sz="1100" dirty="0"/>
          </a:p>
        </p:txBody>
      </p:sp>
      <p:sp>
        <p:nvSpPr>
          <p:cNvPr id="15" name="Text 13"/>
          <p:cNvSpPr/>
          <p:nvPr/>
        </p:nvSpPr>
        <p:spPr>
          <a:xfrm>
            <a:off x="902970" y="3364992"/>
            <a:ext cx="66294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b="1" u="sng" dirty="0">
                <a:solidFill>
                  <a:srgbClr val="1F2D3D"/>
                </a:solidFill>
                <a:latin typeface="Calibri" pitchFamily="34" charset="0"/>
                <a:ea typeface="Calibri" pitchFamily="34" charset="-122"/>
                <a:cs typeface="Calibri" pitchFamily="34" charset="-120"/>
              </a:rPr>
              <a:t>atmID</a:t>
            </a:r>
            <a:endParaRPr lang="en-US" sz="1000" dirty="0"/>
          </a:p>
        </p:txBody>
      </p:sp>
      <p:sp>
        <p:nvSpPr>
          <p:cNvPr id="16" name="Shape 14"/>
          <p:cNvSpPr/>
          <p:nvPr/>
        </p:nvSpPr>
        <p:spPr>
          <a:xfrm>
            <a:off x="1444724" y="3640602"/>
            <a:ext cx="413794" cy="236454"/>
          </a:xfrm>
          <a:prstGeom prst="line">
            <a:avLst/>
          </a:prstGeom>
          <a:noFill/>
          <a:ln w="15875">
            <a:solidFill>
              <a:srgbClr val="3D5A73"/>
            </a:solidFill>
            <a:prstDash val="solid"/>
          </a:ln>
        </p:spPr>
        <p:txBody>
          <a:bodyPr/>
          <a:lstStyle/>
          <a:p>
            <a:endParaRPr lang="en-US"/>
          </a:p>
        </p:txBody>
      </p:sp>
      <p:sp>
        <p:nvSpPr>
          <p:cNvPr id="17" name="Text 15"/>
          <p:cNvSpPr/>
          <p:nvPr/>
        </p:nvSpPr>
        <p:spPr>
          <a:xfrm>
            <a:off x="1785366" y="3044952"/>
            <a:ext cx="818388"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address</a:t>
            </a:r>
            <a:endParaRPr lang="en-US" sz="1000" dirty="0"/>
          </a:p>
        </p:txBody>
      </p:sp>
      <p:sp>
        <p:nvSpPr>
          <p:cNvPr id="18" name="Shape 16"/>
          <p:cNvSpPr/>
          <p:nvPr/>
        </p:nvSpPr>
        <p:spPr>
          <a:xfrm>
            <a:off x="2194560" y="3355848"/>
            <a:ext cx="914" cy="521208"/>
          </a:xfrm>
          <a:prstGeom prst="line">
            <a:avLst/>
          </a:prstGeom>
          <a:noFill/>
          <a:ln w="15875">
            <a:solidFill>
              <a:srgbClr val="3D5A73"/>
            </a:solidFill>
            <a:prstDash val="solid"/>
          </a:ln>
        </p:spPr>
        <p:txBody>
          <a:bodyPr/>
          <a:lstStyle/>
          <a:p>
            <a:endParaRPr lang="en-US"/>
          </a:p>
        </p:txBody>
      </p:sp>
      <p:sp>
        <p:nvSpPr>
          <p:cNvPr id="19" name="Text 17"/>
          <p:cNvSpPr/>
          <p:nvPr/>
        </p:nvSpPr>
        <p:spPr>
          <a:xfrm>
            <a:off x="2823210" y="3364992"/>
            <a:ext cx="66294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since</a:t>
            </a:r>
            <a:endParaRPr lang="en-US" sz="1000" dirty="0"/>
          </a:p>
        </p:txBody>
      </p:sp>
      <p:sp>
        <p:nvSpPr>
          <p:cNvPr id="20" name="Shape 18"/>
          <p:cNvSpPr/>
          <p:nvPr/>
        </p:nvSpPr>
        <p:spPr>
          <a:xfrm flipH="1">
            <a:off x="2530602" y="3640602"/>
            <a:ext cx="413794" cy="236454"/>
          </a:xfrm>
          <a:prstGeom prst="line">
            <a:avLst/>
          </a:prstGeom>
          <a:noFill/>
          <a:ln w="15875">
            <a:solidFill>
              <a:srgbClr val="3D5A73"/>
            </a:solidFill>
            <a:prstDash val="solid"/>
          </a:ln>
        </p:spPr>
        <p:txBody>
          <a:bodyPr/>
          <a:lstStyle/>
          <a:p>
            <a:endParaRPr lang="en-US"/>
          </a:p>
        </p:txBody>
      </p:sp>
      <p:sp>
        <p:nvSpPr>
          <p:cNvPr id="21" name="Text 19"/>
          <p:cNvSpPr/>
          <p:nvPr/>
        </p:nvSpPr>
        <p:spPr>
          <a:xfrm>
            <a:off x="5532120" y="3136392"/>
            <a:ext cx="82296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u="dash" dirty="0">
                <a:solidFill>
                  <a:srgbClr val="1F2D3D"/>
                </a:solidFill>
                <a:latin typeface="Calibri" pitchFamily="34" charset="0"/>
                <a:ea typeface="Calibri" pitchFamily="34" charset="-122"/>
                <a:cs typeface="Calibri" pitchFamily="34" charset="-120"/>
              </a:rPr>
              <a:t>transac#</a:t>
            </a:r>
            <a:endParaRPr lang="en-US" sz="1000" dirty="0"/>
          </a:p>
        </p:txBody>
      </p:sp>
      <p:sp>
        <p:nvSpPr>
          <p:cNvPr id="22" name="Shape 20"/>
          <p:cNvSpPr/>
          <p:nvPr/>
        </p:nvSpPr>
        <p:spPr>
          <a:xfrm>
            <a:off x="6073721" y="3439311"/>
            <a:ext cx="345904" cy="392025"/>
          </a:xfrm>
          <a:prstGeom prst="line">
            <a:avLst/>
          </a:prstGeom>
          <a:noFill/>
          <a:ln w="15875">
            <a:solidFill>
              <a:srgbClr val="3D5A73"/>
            </a:solidFill>
            <a:prstDash val="solid"/>
          </a:ln>
        </p:spPr>
        <p:txBody>
          <a:bodyPr/>
          <a:lstStyle/>
          <a:p>
            <a:endParaRPr lang="en-US"/>
          </a:p>
        </p:txBody>
      </p:sp>
      <p:sp>
        <p:nvSpPr>
          <p:cNvPr id="23" name="Text 21"/>
          <p:cNvSpPr/>
          <p:nvPr/>
        </p:nvSpPr>
        <p:spPr>
          <a:xfrm>
            <a:off x="6579108" y="2999232"/>
            <a:ext cx="740664"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amount</a:t>
            </a:r>
            <a:endParaRPr lang="en-US" sz="1000" dirty="0"/>
          </a:p>
        </p:txBody>
      </p:sp>
      <p:sp>
        <p:nvSpPr>
          <p:cNvPr id="24" name="Shape 22"/>
          <p:cNvSpPr/>
          <p:nvPr/>
        </p:nvSpPr>
        <p:spPr>
          <a:xfrm flipH="1">
            <a:off x="6712610" y="3308477"/>
            <a:ext cx="183001" cy="522859"/>
          </a:xfrm>
          <a:prstGeom prst="line">
            <a:avLst/>
          </a:prstGeom>
          <a:noFill/>
          <a:ln w="15875">
            <a:solidFill>
              <a:srgbClr val="3D5A73"/>
            </a:solidFill>
            <a:prstDash val="solid"/>
          </a:ln>
        </p:spPr>
        <p:txBody>
          <a:bodyPr/>
          <a:lstStyle/>
          <a:p>
            <a:endParaRPr lang="en-US"/>
          </a:p>
        </p:txBody>
      </p:sp>
      <p:sp>
        <p:nvSpPr>
          <p:cNvPr id="25" name="Text 23"/>
          <p:cNvSpPr/>
          <p:nvPr/>
        </p:nvSpPr>
        <p:spPr>
          <a:xfrm>
            <a:off x="7571232" y="3364992"/>
            <a:ext cx="585216"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000" dirty="0">
                <a:solidFill>
                  <a:srgbClr val="1F2D3D"/>
                </a:solidFill>
                <a:latin typeface="Calibri" pitchFamily="34" charset="0"/>
                <a:ea typeface="Calibri" pitchFamily="34" charset="-122"/>
                <a:cs typeface="Calibri" pitchFamily="34" charset="-120"/>
              </a:rPr>
              <a:t>type</a:t>
            </a:r>
            <a:endParaRPr lang="en-US" sz="1000" dirty="0"/>
          </a:p>
        </p:txBody>
      </p:sp>
      <p:sp>
        <p:nvSpPr>
          <p:cNvPr id="26" name="Shape 24"/>
          <p:cNvSpPr/>
          <p:nvPr/>
        </p:nvSpPr>
        <p:spPr>
          <a:xfrm flipH="1">
            <a:off x="7164324" y="3620185"/>
            <a:ext cx="475089" cy="211151"/>
          </a:xfrm>
          <a:prstGeom prst="line">
            <a:avLst/>
          </a:prstGeom>
          <a:noFill/>
          <a:ln w="15875">
            <a:solidFill>
              <a:srgbClr val="3D5A73"/>
            </a:solidFill>
            <a:prstDash val="solid"/>
          </a:ln>
        </p:spPr>
        <p:txBody>
          <a:bodyPr/>
          <a:lstStyle/>
          <a:p>
            <a:endParaRPr lang="en-US"/>
          </a:p>
        </p:txBody>
      </p:sp>
      <p:sp>
        <p:nvSpPr>
          <p:cNvPr id="27" name="Shape 25"/>
          <p:cNvSpPr/>
          <p:nvPr/>
        </p:nvSpPr>
        <p:spPr>
          <a:xfrm>
            <a:off x="2651760" y="4069080"/>
            <a:ext cx="1257300" cy="914"/>
          </a:xfrm>
          <a:prstGeom prst="line">
            <a:avLst/>
          </a:prstGeom>
          <a:noFill/>
          <a:ln w="15875">
            <a:solidFill>
              <a:srgbClr val="3D5A73"/>
            </a:solidFill>
            <a:prstDash val="solid"/>
          </a:ln>
        </p:spPr>
        <p:txBody>
          <a:bodyPr/>
          <a:lstStyle/>
          <a:p>
            <a:endParaRPr lang="en-US"/>
          </a:p>
        </p:txBody>
      </p:sp>
      <p:sp>
        <p:nvSpPr>
          <p:cNvPr id="28" name="Shape 26"/>
          <p:cNvSpPr/>
          <p:nvPr/>
        </p:nvSpPr>
        <p:spPr>
          <a:xfrm flipH="1">
            <a:off x="4960620" y="4069080"/>
            <a:ext cx="1005840" cy="914"/>
          </a:xfrm>
          <a:prstGeom prst="line">
            <a:avLst/>
          </a:prstGeom>
          <a:noFill/>
          <a:ln w="34925">
            <a:solidFill>
              <a:srgbClr val="3D5A73"/>
            </a:solidFill>
            <a:prstDash val="solid"/>
            <a:tailEnd type="triangle"/>
          </a:ln>
        </p:spPr>
        <p:txBody>
          <a:bodyPr/>
          <a:lstStyle/>
          <a:p>
            <a:endParaRPr lang="en-US"/>
          </a:p>
        </p:txBody>
      </p:sp>
      <p:sp>
        <p:nvSpPr>
          <p:cNvPr id="29" name="Text 27"/>
          <p:cNvSpPr txBox="1"/>
          <p:nvPr/>
        </p:nvSpPr>
        <p:spPr>
          <a:xfrm>
            <a:off x="3017520" y="4389120"/>
            <a:ext cx="2926080" cy="256032"/>
          </a:xfrm>
          <a:prstGeom prst="rect">
            <a:avLst/>
          </a:prstGeom>
          <a:noFill/>
          <a:ln/>
        </p:spPr>
        <p:txBody>
          <a:bodyPr wrap="square" lIns="0" tIns="0" rIns="0" bIns="0" rtlCol="0" anchor="ctr"/>
          <a:lstStyle/>
          <a:p>
            <a:pPr marL="0" indent="0" algn="ctr">
              <a:buNone/>
            </a:pPr>
            <a:r>
              <a:rPr lang="en-US" sz="950" i="1" dirty="0">
                <a:solidFill>
                  <a:srgbClr val="5A7079"/>
                </a:solidFill>
                <a:latin typeface="Calibri" pitchFamily="34" charset="0"/>
                <a:ea typeface="Calibri" pitchFamily="34" charset="-122"/>
                <a:cs typeface="Calibri" pitchFamily="34" charset="-120"/>
              </a:rPr>
              <a:t>double diamond = identifying relationship</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ISA (‘is a’) Hierarchies</a:t>
            </a:r>
            <a:endParaRPr lang="en-US" sz="3000" dirty="0"/>
          </a:p>
        </p:txBody>
      </p:sp>
      <p:sp>
        <p:nvSpPr>
          <p:cNvPr id="7" name="Text 5"/>
          <p:cNvSpPr txBox="1"/>
          <p:nvPr/>
        </p:nvSpPr>
        <p:spPr>
          <a:xfrm>
            <a:off x="640080" y="1005840"/>
            <a:ext cx="3383280" cy="22402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F3B47"/>
                </a:solidFill>
                <a:latin typeface="Calibri" pitchFamily="34" charset="0"/>
                <a:ea typeface="Calibri" pitchFamily="34" charset="-122"/>
                <a:cs typeface="Calibri" pitchFamily="34" charset="-120"/>
              </a:rPr>
              <a:t>As in C++ or other programming languages, attributes are inherited.</a:t>
            </a:r>
            <a:endParaRPr lang="en-US" sz="1250" dirty="0"/>
          </a:p>
          <a:p>
            <a:pPr marL="342900" indent="-342900">
              <a:spcAft>
                <a:spcPts val="400"/>
              </a:spcAft>
              <a:buSzPct val="100000"/>
              <a:buChar char="•"/>
            </a:pPr>
            <a:r>
              <a:rPr lang="en-US" sz="1250" dirty="0">
                <a:solidFill>
                  <a:srgbClr val="1F3B47"/>
                </a:solidFill>
                <a:latin typeface="Calibri" pitchFamily="34" charset="0"/>
                <a:ea typeface="Calibri" pitchFamily="34" charset="-122"/>
                <a:cs typeface="Calibri" pitchFamily="34" charset="-120"/>
              </a:rPr>
              <a:t>If we declare A ISA B, every A entity is also considered to be a B entity.</a:t>
            </a:r>
            <a:endParaRPr lang="en-US" sz="1250" dirty="0"/>
          </a:p>
          <a:p>
            <a:pPr marL="342900" indent="-342900">
              <a:spcAft>
                <a:spcPts val="400"/>
              </a:spcAft>
              <a:buSzPct val="100000"/>
              <a:buChar char="•"/>
            </a:pPr>
            <a:r>
              <a:rPr lang="en-US" sz="1250" dirty="0">
                <a:solidFill>
                  <a:srgbClr val="1F3B47"/>
                </a:solidFill>
                <a:latin typeface="Calibri" pitchFamily="34" charset="0"/>
                <a:ea typeface="Calibri" pitchFamily="34" charset="-122"/>
                <a:cs typeface="Calibri" pitchFamily="34" charset="-120"/>
              </a:rPr>
              <a:t>Reasons for using ISA:</a:t>
            </a:r>
            <a:endParaRPr lang="en-US" sz="1250" dirty="0"/>
          </a:p>
          <a:p>
            <a:pPr marL="457200" lvl="1" indent="-228600">
              <a:spcAft>
                <a:spcPts val="400"/>
              </a:spcAft>
              <a:buSzPct val="100000"/>
              <a:buChar char="•"/>
            </a:pPr>
            <a:r>
              <a:rPr lang="en-US" sz="1150" dirty="0">
                <a:solidFill>
                  <a:srgbClr val="5A7079"/>
                </a:solidFill>
                <a:latin typeface="Calibri" pitchFamily="34" charset="0"/>
                <a:ea typeface="Calibri" pitchFamily="34" charset="-122"/>
                <a:cs typeface="Calibri" pitchFamily="34" charset="-120"/>
              </a:rPr>
              <a:t>To add descriptive attributes specific to a subclass</a:t>
            </a:r>
            <a:endParaRPr lang="en-US" sz="1250" dirty="0"/>
          </a:p>
          <a:p>
            <a:pPr marL="457200" lvl="1" indent="-228600">
              <a:spcAft>
                <a:spcPts val="400"/>
              </a:spcAft>
              <a:buSzPct val="100000"/>
              <a:buChar char="•"/>
            </a:pPr>
            <a:r>
              <a:rPr lang="en-US" sz="1150" dirty="0">
                <a:solidFill>
                  <a:srgbClr val="5A7079"/>
                </a:solidFill>
                <a:latin typeface="Calibri" pitchFamily="34" charset="0"/>
                <a:ea typeface="Calibri" pitchFamily="34" charset="-122"/>
                <a:cs typeface="Calibri" pitchFamily="34" charset="-120"/>
              </a:rPr>
              <a:t>To identify entities that participate in a relationship</a:t>
            </a:r>
            <a:endParaRPr lang="en-US" sz="1250" dirty="0"/>
          </a:p>
        </p:txBody>
      </p:sp>
      <p:sp>
        <p:nvSpPr>
          <p:cNvPr id="8" name="Text 6"/>
          <p:cNvSpPr/>
          <p:nvPr/>
        </p:nvSpPr>
        <p:spPr>
          <a:xfrm>
            <a:off x="5799582" y="1408176"/>
            <a:ext cx="1019556"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Employees</a:t>
            </a:r>
            <a:endParaRPr lang="en-US" sz="1050" dirty="0"/>
          </a:p>
        </p:txBody>
      </p:sp>
      <p:sp>
        <p:nvSpPr>
          <p:cNvPr id="9" name="Text 7"/>
          <p:cNvSpPr/>
          <p:nvPr/>
        </p:nvSpPr>
        <p:spPr>
          <a:xfrm>
            <a:off x="5961888" y="2002536"/>
            <a:ext cx="694944" cy="475488"/>
          </a:xfrm>
          <a:prstGeom prst="triangle">
            <a:avLst/>
          </a:prstGeom>
          <a:solidFill>
            <a:srgbClr val="E3F3F0"/>
          </a:solidFill>
          <a:ln w="15875">
            <a:solidFill>
              <a:srgbClr val="2B5797"/>
            </a:solidFill>
          </a:ln>
        </p:spPr>
        <p:txBody>
          <a:bodyPr wrap="square" lIns="0" tIns="0" rIns="0" bIns="38100" rtlCol="0" anchor="b"/>
          <a:lstStyle/>
          <a:p>
            <a:pPr marL="0" indent="0" algn="ctr">
              <a:buNone/>
            </a:pPr>
            <a:r>
              <a:rPr lang="en-US" sz="950" b="1" dirty="0">
                <a:solidFill>
                  <a:srgbClr val="55BFAE"/>
                </a:solidFill>
                <a:latin typeface="Calibri" pitchFamily="34" charset="0"/>
                <a:ea typeface="Calibri" pitchFamily="34" charset="-122"/>
                <a:cs typeface="Calibri" pitchFamily="34" charset="-120"/>
              </a:rPr>
              <a:t>ISA</a:t>
            </a:r>
            <a:endParaRPr lang="en-US" sz="950" dirty="0"/>
          </a:p>
        </p:txBody>
      </p:sp>
      <p:sp>
        <p:nvSpPr>
          <p:cNvPr id="10" name="Text 8"/>
          <p:cNvSpPr/>
          <p:nvPr/>
        </p:nvSpPr>
        <p:spPr>
          <a:xfrm>
            <a:off x="4487418" y="2734056"/>
            <a:ext cx="1175004"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Hourly_Emps</a:t>
            </a:r>
            <a:endParaRPr lang="en-US" sz="1050" dirty="0"/>
          </a:p>
        </p:txBody>
      </p:sp>
      <p:sp>
        <p:nvSpPr>
          <p:cNvPr id="11" name="Text 9"/>
          <p:cNvSpPr/>
          <p:nvPr/>
        </p:nvSpPr>
        <p:spPr>
          <a:xfrm>
            <a:off x="6878574" y="2734056"/>
            <a:ext cx="1330452"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50" b="1" dirty="0">
                <a:solidFill>
                  <a:srgbClr val="1F2D3D"/>
                </a:solidFill>
                <a:latin typeface="Calibri" pitchFamily="34" charset="0"/>
                <a:ea typeface="Calibri" pitchFamily="34" charset="-122"/>
                <a:cs typeface="Calibri" pitchFamily="34" charset="-120"/>
              </a:rPr>
              <a:t>Contract_Emps</a:t>
            </a:r>
            <a:endParaRPr lang="en-US" sz="1050" dirty="0"/>
          </a:p>
        </p:txBody>
      </p:sp>
      <p:sp>
        <p:nvSpPr>
          <p:cNvPr id="12" name="Text 10"/>
          <p:cNvSpPr/>
          <p:nvPr/>
        </p:nvSpPr>
        <p:spPr>
          <a:xfrm>
            <a:off x="5234940" y="1033272"/>
            <a:ext cx="5029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50" b="1" u="sng" dirty="0">
                <a:solidFill>
                  <a:srgbClr val="1F2D3D"/>
                </a:solidFill>
                <a:latin typeface="Calibri" pitchFamily="34" charset="0"/>
                <a:ea typeface="Calibri" pitchFamily="34" charset="-122"/>
                <a:cs typeface="Calibri" pitchFamily="34" charset="-120"/>
              </a:rPr>
              <a:t>ssn</a:t>
            </a:r>
            <a:endParaRPr lang="en-US" sz="950" dirty="0"/>
          </a:p>
        </p:txBody>
      </p:sp>
      <p:sp>
        <p:nvSpPr>
          <p:cNvPr id="13" name="Shape 11"/>
          <p:cNvSpPr/>
          <p:nvPr/>
        </p:nvSpPr>
        <p:spPr>
          <a:xfrm>
            <a:off x="5681913" y="1286476"/>
            <a:ext cx="243399" cy="121700"/>
          </a:xfrm>
          <a:prstGeom prst="line">
            <a:avLst/>
          </a:prstGeom>
          <a:noFill/>
          <a:ln w="15875">
            <a:solidFill>
              <a:srgbClr val="3D5A73"/>
            </a:solidFill>
            <a:prstDash val="solid"/>
          </a:ln>
        </p:spPr>
        <p:txBody>
          <a:bodyPr/>
          <a:lstStyle/>
          <a:p>
            <a:endParaRPr lang="en-US"/>
          </a:p>
        </p:txBody>
      </p:sp>
      <p:sp>
        <p:nvSpPr>
          <p:cNvPr id="14" name="Text 12"/>
          <p:cNvSpPr/>
          <p:nvPr/>
        </p:nvSpPr>
        <p:spPr>
          <a:xfrm>
            <a:off x="6024524" y="941832"/>
            <a:ext cx="569671"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50" dirty="0">
                <a:solidFill>
                  <a:srgbClr val="1F2D3D"/>
                </a:solidFill>
                <a:latin typeface="Calibri" pitchFamily="34" charset="0"/>
                <a:ea typeface="Calibri" pitchFamily="34" charset="-122"/>
                <a:cs typeface="Calibri" pitchFamily="34" charset="-120"/>
              </a:rPr>
              <a:t>name</a:t>
            </a:r>
            <a:endParaRPr lang="en-US" sz="950" dirty="0"/>
          </a:p>
        </p:txBody>
      </p:sp>
      <p:sp>
        <p:nvSpPr>
          <p:cNvPr id="15" name="Shape 13"/>
          <p:cNvSpPr/>
          <p:nvPr/>
        </p:nvSpPr>
        <p:spPr>
          <a:xfrm>
            <a:off x="6309360" y="1252728"/>
            <a:ext cx="914" cy="155448"/>
          </a:xfrm>
          <a:prstGeom prst="line">
            <a:avLst/>
          </a:prstGeom>
          <a:noFill/>
          <a:ln w="15875">
            <a:solidFill>
              <a:srgbClr val="3D5A73"/>
            </a:solidFill>
            <a:prstDash val="solid"/>
          </a:ln>
        </p:spPr>
        <p:txBody>
          <a:bodyPr/>
          <a:lstStyle/>
          <a:p>
            <a:endParaRPr lang="en-US"/>
          </a:p>
        </p:txBody>
      </p:sp>
      <p:sp>
        <p:nvSpPr>
          <p:cNvPr id="16" name="Text 14"/>
          <p:cNvSpPr/>
          <p:nvPr/>
        </p:nvSpPr>
        <p:spPr>
          <a:xfrm>
            <a:off x="6880860" y="1033272"/>
            <a:ext cx="5029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50" dirty="0">
                <a:solidFill>
                  <a:srgbClr val="1F2D3D"/>
                </a:solidFill>
                <a:latin typeface="Calibri" pitchFamily="34" charset="0"/>
                <a:ea typeface="Calibri" pitchFamily="34" charset="-122"/>
                <a:cs typeface="Calibri" pitchFamily="34" charset="-120"/>
              </a:rPr>
              <a:t>lot</a:t>
            </a:r>
            <a:endParaRPr lang="en-US" sz="950" dirty="0"/>
          </a:p>
        </p:txBody>
      </p:sp>
      <p:sp>
        <p:nvSpPr>
          <p:cNvPr id="17" name="Shape 15"/>
          <p:cNvSpPr/>
          <p:nvPr/>
        </p:nvSpPr>
        <p:spPr>
          <a:xfrm flipH="1">
            <a:off x="6693408" y="1286476"/>
            <a:ext cx="243399" cy="121700"/>
          </a:xfrm>
          <a:prstGeom prst="line">
            <a:avLst/>
          </a:prstGeom>
          <a:noFill/>
          <a:ln w="15875">
            <a:solidFill>
              <a:srgbClr val="3D5A73"/>
            </a:solidFill>
            <a:prstDash val="solid"/>
          </a:ln>
        </p:spPr>
        <p:txBody>
          <a:bodyPr/>
          <a:lstStyle/>
          <a:p>
            <a:endParaRPr lang="en-US"/>
          </a:p>
        </p:txBody>
      </p:sp>
      <p:sp>
        <p:nvSpPr>
          <p:cNvPr id="18" name="Shape 16"/>
          <p:cNvSpPr/>
          <p:nvPr/>
        </p:nvSpPr>
        <p:spPr>
          <a:xfrm>
            <a:off x="6309360" y="1792224"/>
            <a:ext cx="914" cy="209855"/>
          </a:xfrm>
          <a:prstGeom prst="line">
            <a:avLst/>
          </a:prstGeom>
          <a:noFill/>
          <a:ln w="15875">
            <a:solidFill>
              <a:srgbClr val="3D5A73"/>
            </a:solidFill>
            <a:prstDash val="solid"/>
          </a:ln>
        </p:spPr>
        <p:txBody>
          <a:bodyPr/>
          <a:lstStyle/>
          <a:p>
            <a:endParaRPr lang="en-US"/>
          </a:p>
        </p:txBody>
      </p:sp>
      <p:sp>
        <p:nvSpPr>
          <p:cNvPr id="19" name="Shape 17"/>
          <p:cNvSpPr/>
          <p:nvPr/>
        </p:nvSpPr>
        <p:spPr>
          <a:xfrm flipH="1">
            <a:off x="5422550" y="2395981"/>
            <a:ext cx="612033" cy="338075"/>
          </a:xfrm>
          <a:prstGeom prst="line">
            <a:avLst/>
          </a:prstGeom>
          <a:noFill/>
          <a:ln w="15875">
            <a:solidFill>
              <a:srgbClr val="3D5A73"/>
            </a:solidFill>
            <a:prstDash val="solid"/>
          </a:ln>
        </p:spPr>
        <p:txBody>
          <a:bodyPr/>
          <a:lstStyle/>
          <a:p>
            <a:endParaRPr lang="en-US"/>
          </a:p>
        </p:txBody>
      </p:sp>
      <p:sp>
        <p:nvSpPr>
          <p:cNvPr id="20" name="Shape 18"/>
          <p:cNvSpPr/>
          <p:nvPr/>
        </p:nvSpPr>
        <p:spPr>
          <a:xfrm>
            <a:off x="6584137" y="2395981"/>
            <a:ext cx="612033" cy="338075"/>
          </a:xfrm>
          <a:prstGeom prst="line">
            <a:avLst/>
          </a:prstGeom>
          <a:noFill/>
          <a:ln w="15875">
            <a:solidFill>
              <a:srgbClr val="3D5A73"/>
            </a:solidFill>
            <a:prstDash val="solid"/>
          </a:ln>
        </p:spPr>
        <p:txBody>
          <a:bodyPr/>
          <a:lstStyle/>
          <a:p>
            <a:endParaRPr lang="en-US"/>
          </a:p>
        </p:txBody>
      </p:sp>
      <p:sp>
        <p:nvSpPr>
          <p:cNvPr id="21" name="Text 19"/>
          <p:cNvSpPr/>
          <p:nvPr/>
        </p:nvSpPr>
        <p:spPr>
          <a:xfrm>
            <a:off x="3954780" y="2130552"/>
            <a:ext cx="9601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hourly_wages</a:t>
            </a:r>
            <a:endParaRPr lang="en-US" sz="900" dirty="0"/>
          </a:p>
        </p:txBody>
      </p:sp>
      <p:sp>
        <p:nvSpPr>
          <p:cNvPr id="22" name="Shape 20"/>
          <p:cNvSpPr/>
          <p:nvPr/>
        </p:nvSpPr>
        <p:spPr>
          <a:xfrm>
            <a:off x="4582728" y="2433888"/>
            <a:ext cx="300168" cy="300168"/>
          </a:xfrm>
          <a:prstGeom prst="line">
            <a:avLst/>
          </a:prstGeom>
          <a:noFill/>
          <a:ln w="15875">
            <a:solidFill>
              <a:srgbClr val="3D5A73"/>
            </a:solidFill>
            <a:prstDash val="solid"/>
          </a:ln>
        </p:spPr>
        <p:txBody>
          <a:bodyPr/>
          <a:lstStyle/>
          <a:p>
            <a:endParaRPr lang="en-US"/>
          </a:p>
        </p:txBody>
      </p:sp>
      <p:sp>
        <p:nvSpPr>
          <p:cNvPr id="23" name="Text 21"/>
          <p:cNvSpPr/>
          <p:nvPr/>
        </p:nvSpPr>
        <p:spPr>
          <a:xfrm>
            <a:off x="5006340" y="2130552"/>
            <a:ext cx="9601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hours_worked</a:t>
            </a:r>
            <a:endParaRPr lang="en-US" sz="900" dirty="0"/>
          </a:p>
        </p:txBody>
      </p:sp>
      <p:sp>
        <p:nvSpPr>
          <p:cNvPr id="24" name="Shape 22"/>
          <p:cNvSpPr/>
          <p:nvPr/>
        </p:nvSpPr>
        <p:spPr>
          <a:xfrm flipH="1">
            <a:off x="5198364" y="2438186"/>
            <a:ext cx="190202" cy="295870"/>
          </a:xfrm>
          <a:prstGeom prst="line">
            <a:avLst/>
          </a:prstGeom>
          <a:noFill/>
          <a:ln w="15875">
            <a:solidFill>
              <a:srgbClr val="3D5A73"/>
            </a:solidFill>
            <a:prstDash val="solid"/>
          </a:ln>
        </p:spPr>
        <p:txBody>
          <a:bodyPr/>
          <a:lstStyle/>
          <a:p>
            <a:endParaRPr lang="en-US"/>
          </a:p>
        </p:txBody>
      </p:sp>
      <p:sp>
        <p:nvSpPr>
          <p:cNvPr id="25" name="Text 23"/>
          <p:cNvSpPr/>
          <p:nvPr/>
        </p:nvSpPr>
        <p:spPr>
          <a:xfrm>
            <a:off x="7357491" y="2130552"/>
            <a:ext cx="1012698"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50" dirty="0">
                <a:solidFill>
                  <a:srgbClr val="1F2D3D"/>
                </a:solidFill>
                <a:latin typeface="Calibri" pitchFamily="34" charset="0"/>
                <a:ea typeface="Calibri" pitchFamily="34" charset="-122"/>
                <a:cs typeface="Calibri" pitchFamily="34" charset="-120"/>
              </a:rPr>
              <a:t>contractid</a:t>
            </a:r>
            <a:endParaRPr lang="en-US" sz="950" dirty="0"/>
          </a:p>
        </p:txBody>
      </p:sp>
      <p:sp>
        <p:nvSpPr>
          <p:cNvPr id="26" name="Shape 24"/>
          <p:cNvSpPr/>
          <p:nvPr/>
        </p:nvSpPr>
        <p:spPr>
          <a:xfrm flipH="1">
            <a:off x="7639812" y="2439648"/>
            <a:ext cx="147204" cy="294408"/>
          </a:xfrm>
          <a:prstGeom prst="line">
            <a:avLst/>
          </a:prstGeom>
          <a:noFill/>
          <a:ln w="15875">
            <a:solidFill>
              <a:srgbClr val="3D5A73"/>
            </a:solidFill>
            <a:prstDash val="solid"/>
          </a:ln>
        </p:spPr>
        <p:txBody>
          <a:bodyPr/>
          <a:lstStyle/>
          <a:p>
            <a:endParaRPr lang="en-US"/>
          </a:p>
        </p:txBody>
      </p:sp>
      <p:sp>
        <p:nvSpPr>
          <p:cNvPr id="27" name="Shape 25"/>
          <p:cNvSpPr/>
          <p:nvPr/>
        </p:nvSpPr>
        <p:spPr>
          <a:xfrm>
            <a:off x="640080" y="3337560"/>
            <a:ext cx="7863840" cy="1280160"/>
          </a:xfrm>
          <a:prstGeom prst="roundRect">
            <a:avLst>
              <a:gd name="adj" fmla="val 8571"/>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8" name="Text 26"/>
          <p:cNvSpPr txBox="1"/>
          <p:nvPr/>
        </p:nvSpPr>
        <p:spPr>
          <a:xfrm>
            <a:off x="822960" y="3383280"/>
            <a:ext cx="7498080" cy="1188720"/>
          </a:xfrm>
          <a:prstGeom prst="rect">
            <a:avLst/>
          </a:prstGeom>
          <a:noFill/>
          <a:ln/>
        </p:spPr>
        <p:txBody>
          <a:bodyPr wrap="square" lIns="0" tIns="0" rIns="0" bIns="0" rtlCol="0" anchor="ctr"/>
          <a:lstStyle/>
          <a:p>
            <a:pPr marL="0" indent="0">
              <a:spcAft>
                <a:spcPts val="600"/>
              </a:spcAft>
              <a:buNone/>
            </a:pPr>
            <a:r>
              <a:rPr lang="en-US" sz="1200" b="1" i="1" dirty="0">
                <a:solidFill>
                  <a:srgbClr val="1F8FB5"/>
                </a:solidFill>
                <a:latin typeface="Calibri" pitchFamily="34" charset="0"/>
                <a:ea typeface="Calibri" pitchFamily="34" charset="-122"/>
                <a:cs typeface="Calibri" pitchFamily="34" charset="-120"/>
              </a:rPr>
              <a:t>Overlap constraints: </a:t>
            </a:r>
            <a:r>
              <a:rPr lang="en-US" sz="1200" dirty="0">
                <a:solidFill>
                  <a:srgbClr val="1F3B47"/>
                </a:solidFill>
                <a:latin typeface="Calibri" pitchFamily="34" charset="0"/>
                <a:ea typeface="Calibri" pitchFamily="34" charset="-122"/>
                <a:cs typeface="Calibri" pitchFamily="34" charset="-120"/>
              </a:rPr>
              <a:t>Can Joe be an Hourly_Emps as well as a Contract_Emps entity? If so, specify </a:t>
            </a:r>
            <a:r>
              <a:rPr lang="en-US" sz="1200" b="1" dirty="0">
                <a:solidFill>
                  <a:srgbClr val="1F3B47"/>
                </a:solidFill>
                <a:latin typeface="Calibri" pitchFamily="34" charset="0"/>
                <a:ea typeface="Calibri" pitchFamily="34" charset="-122"/>
                <a:cs typeface="Calibri" pitchFamily="34" charset="-120"/>
              </a:rPr>
              <a:t>Hourly_Emps OVERLAPS Contract_Emps.</a:t>
            </a:r>
            <a:endParaRPr lang="en-US" sz="1200" dirty="0"/>
          </a:p>
          <a:p>
            <a:pPr marL="0" indent="0">
              <a:spcAft>
                <a:spcPts val="600"/>
              </a:spcAft>
              <a:buNone/>
            </a:pPr>
            <a:r>
              <a:rPr lang="en-US" sz="1200" b="1" i="1" dirty="0">
                <a:solidFill>
                  <a:srgbClr val="1F8FB5"/>
                </a:solidFill>
                <a:latin typeface="Calibri" pitchFamily="34" charset="0"/>
                <a:ea typeface="Calibri" pitchFamily="34" charset="-122"/>
                <a:cs typeface="Calibri" pitchFamily="34" charset="-120"/>
              </a:rPr>
              <a:t>Covering constraints: </a:t>
            </a:r>
            <a:r>
              <a:rPr lang="en-US" sz="1200" dirty="0">
                <a:solidFill>
                  <a:srgbClr val="1F3B47"/>
                </a:solidFill>
                <a:latin typeface="Calibri" pitchFamily="34" charset="0"/>
                <a:ea typeface="Calibri" pitchFamily="34" charset="-122"/>
                <a:cs typeface="Calibri" pitchFamily="34" charset="-120"/>
              </a:rPr>
              <a:t>Does every Employees entity also have to be an Hourly_Emps or a Contract_Emps entity? If so, write </a:t>
            </a:r>
            <a:r>
              <a:rPr lang="en-US" sz="1200" b="1" dirty="0">
                <a:solidFill>
                  <a:srgbClr val="1F3B47"/>
                </a:solidFill>
                <a:latin typeface="Calibri" pitchFamily="34" charset="0"/>
                <a:ea typeface="Calibri" pitchFamily="34" charset="-122"/>
                <a:cs typeface="Calibri" pitchFamily="34" charset="-120"/>
              </a:rPr>
              <a:t>Hourly_Emps AND Contract_Emps COVER Employees.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Aggregation</a:t>
            </a:r>
            <a:endParaRPr lang="en-US" sz="3000" dirty="0"/>
          </a:p>
        </p:txBody>
      </p:sp>
      <p:sp>
        <p:nvSpPr>
          <p:cNvPr id="7" name="Text 5"/>
          <p:cNvSpPr txBox="1"/>
          <p:nvPr/>
        </p:nvSpPr>
        <p:spPr>
          <a:xfrm>
            <a:off x="640080" y="1005840"/>
            <a:ext cx="3108960" cy="356616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1F3B47"/>
                </a:solidFill>
                <a:latin typeface="Calibri" pitchFamily="34" charset="0"/>
                <a:ea typeface="Calibri" pitchFamily="34" charset="-122"/>
                <a:cs typeface="Calibri" pitchFamily="34" charset="-120"/>
              </a:rPr>
              <a:t>Used when we have to model a relationship involving (entity sets and) a relationship set.</a:t>
            </a:r>
            <a:endParaRPr lang="en-US" sz="1300" dirty="0"/>
          </a:p>
          <a:p>
            <a:pPr marL="342900" indent="-342900">
              <a:spcAft>
                <a:spcPts val="1000"/>
              </a:spcAft>
              <a:buSzPct val="100000"/>
              <a:buChar char="•"/>
            </a:pPr>
            <a:r>
              <a:rPr lang="en-US" sz="1300" dirty="0">
                <a:solidFill>
                  <a:srgbClr val="1F3B47"/>
                </a:solidFill>
                <a:latin typeface="Calibri" pitchFamily="34" charset="0"/>
                <a:ea typeface="Calibri" pitchFamily="34" charset="-122"/>
                <a:cs typeface="Calibri" pitchFamily="34" charset="-120"/>
              </a:rPr>
              <a:t>Aggregation allows us to treat a relationship set as an entity set for purposes of participation in (other) relationships.</a:t>
            </a:r>
            <a:endParaRPr lang="en-US" sz="1300" dirty="0"/>
          </a:p>
          <a:p>
            <a:pPr marL="342900" indent="-342900">
              <a:spcAft>
                <a:spcPts val="1000"/>
              </a:spcAft>
              <a:buSzPct val="100000"/>
              <a:buChar char="•"/>
            </a:pPr>
            <a:r>
              <a:rPr lang="en-US" sz="1300" dirty="0">
                <a:solidFill>
                  <a:srgbClr val="1F3B47"/>
                </a:solidFill>
                <a:latin typeface="Calibri" pitchFamily="34" charset="0"/>
                <a:ea typeface="Calibri" pitchFamily="34" charset="-122"/>
                <a:cs typeface="Calibri" pitchFamily="34" charset="-120"/>
              </a:rPr>
              <a:t>Employees are assigned to monitor SPONSORSHIPS.</a:t>
            </a:r>
            <a:endParaRPr lang="en-US" sz="1300" dirty="0"/>
          </a:p>
        </p:txBody>
      </p:sp>
      <p:sp>
        <p:nvSpPr>
          <p:cNvPr id="8" name="Text 6"/>
          <p:cNvSpPr/>
          <p:nvPr/>
        </p:nvSpPr>
        <p:spPr>
          <a:xfrm>
            <a:off x="5753862" y="1408176"/>
            <a:ext cx="1019556" cy="38404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Employees</a:t>
            </a:r>
            <a:endParaRPr lang="en-US" sz="1000" dirty="0"/>
          </a:p>
        </p:txBody>
      </p:sp>
      <p:sp>
        <p:nvSpPr>
          <p:cNvPr id="9" name="Text 7"/>
          <p:cNvSpPr/>
          <p:nvPr/>
        </p:nvSpPr>
        <p:spPr>
          <a:xfrm>
            <a:off x="5760720" y="1956816"/>
            <a:ext cx="1005840" cy="38404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Monitors</a:t>
            </a:r>
            <a:endParaRPr lang="en-US" sz="950" dirty="0"/>
          </a:p>
        </p:txBody>
      </p:sp>
      <p:sp>
        <p:nvSpPr>
          <p:cNvPr id="10" name="Text 8"/>
          <p:cNvSpPr/>
          <p:nvPr/>
        </p:nvSpPr>
        <p:spPr>
          <a:xfrm>
            <a:off x="5234940" y="1005840"/>
            <a:ext cx="5029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ssn</a:t>
            </a:r>
            <a:endParaRPr lang="en-US" sz="900" dirty="0"/>
          </a:p>
        </p:txBody>
      </p:sp>
      <p:sp>
        <p:nvSpPr>
          <p:cNvPr id="11" name="Shape 9"/>
          <p:cNvSpPr/>
          <p:nvPr/>
        </p:nvSpPr>
        <p:spPr>
          <a:xfrm>
            <a:off x="5672058" y="1266130"/>
            <a:ext cx="251540" cy="142046"/>
          </a:xfrm>
          <a:prstGeom prst="line">
            <a:avLst/>
          </a:prstGeom>
          <a:noFill/>
          <a:ln w="15875">
            <a:solidFill>
              <a:srgbClr val="3D5A73"/>
            </a:solidFill>
            <a:prstDash val="solid"/>
          </a:ln>
        </p:spPr>
        <p:txBody>
          <a:bodyPr/>
          <a:lstStyle/>
          <a:p>
            <a:endParaRPr lang="en-US"/>
          </a:p>
        </p:txBody>
      </p:sp>
      <p:sp>
        <p:nvSpPr>
          <p:cNvPr id="12" name="Text 10"/>
          <p:cNvSpPr/>
          <p:nvPr/>
        </p:nvSpPr>
        <p:spPr>
          <a:xfrm>
            <a:off x="5986577" y="941832"/>
            <a:ext cx="554126"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name</a:t>
            </a:r>
            <a:endParaRPr lang="en-US" sz="900" dirty="0"/>
          </a:p>
        </p:txBody>
      </p:sp>
      <p:sp>
        <p:nvSpPr>
          <p:cNvPr id="13" name="Shape 11"/>
          <p:cNvSpPr/>
          <p:nvPr/>
        </p:nvSpPr>
        <p:spPr>
          <a:xfrm>
            <a:off x="6263640" y="1252728"/>
            <a:ext cx="914" cy="155448"/>
          </a:xfrm>
          <a:prstGeom prst="line">
            <a:avLst/>
          </a:prstGeom>
          <a:noFill/>
          <a:ln w="15875">
            <a:solidFill>
              <a:srgbClr val="3D5A73"/>
            </a:solidFill>
            <a:prstDash val="solid"/>
          </a:ln>
        </p:spPr>
        <p:txBody>
          <a:bodyPr/>
          <a:lstStyle/>
          <a:p>
            <a:endParaRPr lang="en-US"/>
          </a:p>
        </p:txBody>
      </p:sp>
      <p:sp>
        <p:nvSpPr>
          <p:cNvPr id="14" name="Text 12"/>
          <p:cNvSpPr/>
          <p:nvPr/>
        </p:nvSpPr>
        <p:spPr>
          <a:xfrm>
            <a:off x="6789420" y="1005840"/>
            <a:ext cx="502920"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lot</a:t>
            </a:r>
            <a:endParaRPr lang="en-US" sz="900" dirty="0"/>
          </a:p>
        </p:txBody>
      </p:sp>
      <p:sp>
        <p:nvSpPr>
          <p:cNvPr id="15" name="Shape 13"/>
          <p:cNvSpPr/>
          <p:nvPr/>
        </p:nvSpPr>
        <p:spPr>
          <a:xfrm flipH="1">
            <a:off x="6603683" y="1266130"/>
            <a:ext cx="251540" cy="142046"/>
          </a:xfrm>
          <a:prstGeom prst="line">
            <a:avLst/>
          </a:prstGeom>
          <a:noFill/>
          <a:ln w="15875">
            <a:solidFill>
              <a:srgbClr val="3D5A73"/>
            </a:solidFill>
            <a:prstDash val="solid"/>
          </a:ln>
        </p:spPr>
        <p:txBody>
          <a:bodyPr/>
          <a:lstStyle/>
          <a:p>
            <a:endParaRPr lang="en-US"/>
          </a:p>
        </p:txBody>
      </p:sp>
      <p:sp>
        <p:nvSpPr>
          <p:cNvPr id="16" name="Text 14"/>
          <p:cNvSpPr/>
          <p:nvPr/>
        </p:nvSpPr>
        <p:spPr>
          <a:xfrm>
            <a:off x="7140321" y="1993392"/>
            <a:ext cx="624078" cy="310896"/>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until</a:t>
            </a:r>
            <a:endParaRPr lang="en-US" sz="900" dirty="0"/>
          </a:p>
        </p:txBody>
      </p:sp>
      <p:sp>
        <p:nvSpPr>
          <p:cNvPr id="17" name="Shape 15"/>
          <p:cNvSpPr/>
          <p:nvPr/>
        </p:nvSpPr>
        <p:spPr>
          <a:xfrm flipH="1">
            <a:off x="6766560" y="2148840"/>
            <a:ext cx="373761" cy="914"/>
          </a:xfrm>
          <a:prstGeom prst="line">
            <a:avLst/>
          </a:prstGeom>
          <a:noFill/>
          <a:ln w="15875">
            <a:solidFill>
              <a:srgbClr val="3D5A73"/>
            </a:solidFill>
            <a:prstDash val="solid"/>
          </a:ln>
        </p:spPr>
        <p:txBody>
          <a:bodyPr/>
          <a:lstStyle/>
          <a:p>
            <a:endParaRPr lang="en-US"/>
          </a:p>
        </p:txBody>
      </p:sp>
      <p:sp>
        <p:nvSpPr>
          <p:cNvPr id="18" name="Shape 16"/>
          <p:cNvSpPr/>
          <p:nvPr/>
        </p:nvSpPr>
        <p:spPr>
          <a:xfrm>
            <a:off x="6263640" y="1792224"/>
            <a:ext cx="914" cy="164592"/>
          </a:xfrm>
          <a:prstGeom prst="line">
            <a:avLst/>
          </a:prstGeom>
          <a:noFill/>
          <a:ln w="15875">
            <a:solidFill>
              <a:srgbClr val="3D5A73"/>
            </a:solidFill>
            <a:prstDash val="solid"/>
          </a:ln>
        </p:spPr>
        <p:txBody>
          <a:bodyPr/>
          <a:lstStyle/>
          <a:p>
            <a:endParaRPr lang="en-US"/>
          </a:p>
        </p:txBody>
      </p:sp>
      <p:sp>
        <p:nvSpPr>
          <p:cNvPr id="19" name="Shape 17"/>
          <p:cNvSpPr/>
          <p:nvPr/>
        </p:nvSpPr>
        <p:spPr>
          <a:xfrm>
            <a:off x="3931920" y="2487168"/>
            <a:ext cx="4572000" cy="1051560"/>
          </a:xfrm>
          <a:prstGeom prst="rect">
            <a:avLst/>
          </a:prstGeom>
          <a:solidFill>
            <a:srgbClr val="F2F7FB"/>
          </a:solidFill>
          <a:ln w="12700">
            <a:solidFill>
              <a:srgbClr val="3D7DB8"/>
            </a:solidFill>
            <a:prstDash val="dash"/>
          </a:ln>
        </p:spPr>
        <p:txBody>
          <a:bodyPr/>
          <a:lstStyle/>
          <a:p>
            <a:endParaRPr lang="en-US"/>
          </a:p>
        </p:txBody>
      </p:sp>
      <p:sp>
        <p:nvSpPr>
          <p:cNvPr id="20" name="Shape 18"/>
          <p:cNvSpPr/>
          <p:nvPr/>
        </p:nvSpPr>
        <p:spPr>
          <a:xfrm>
            <a:off x="6263640" y="2340864"/>
            <a:ext cx="914" cy="145847"/>
          </a:xfrm>
          <a:prstGeom prst="line">
            <a:avLst/>
          </a:prstGeom>
          <a:noFill/>
          <a:ln w="15875">
            <a:solidFill>
              <a:srgbClr val="3D5A73"/>
            </a:solidFill>
            <a:prstDash val="solid"/>
          </a:ln>
        </p:spPr>
        <p:txBody>
          <a:bodyPr/>
          <a:lstStyle/>
          <a:p>
            <a:endParaRPr lang="en-US"/>
          </a:p>
        </p:txBody>
      </p:sp>
      <p:sp>
        <p:nvSpPr>
          <p:cNvPr id="21" name="Text 19"/>
          <p:cNvSpPr/>
          <p:nvPr/>
        </p:nvSpPr>
        <p:spPr>
          <a:xfrm>
            <a:off x="4160520" y="3081528"/>
            <a:ext cx="82296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Projects</a:t>
            </a:r>
            <a:endParaRPr lang="en-US" sz="1000" dirty="0"/>
          </a:p>
        </p:txBody>
      </p:sp>
      <p:sp>
        <p:nvSpPr>
          <p:cNvPr id="22" name="Text 20"/>
          <p:cNvSpPr/>
          <p:nvPr/>
        </p:nvSpPr>
        <p:spPr>
          <a:xfrm>
            <a:off x="5783580" y="3054096"/>
            <a:ext cx="960120" cy="384048"/>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Sponsors</a:t>
            </a:r>
            <a:endParaRPr lang="en-US" sz="950" dirty="0"/>
          </a:p>
        </p:txBody>
      </p:sp>
      <p:sp>
        <p:nvSpPr>
          <p:cNvPr id="23" name="Text 21"/>
          <p:cNvSpPr/>
          <p:nvPr/>
        </p:nvSpPr>
        <p:spPr>
          <a:xfrm>
            <a:off x="7338060" y="3081528"/>
            <a:ext cx="96012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Departments</a:t>
            </a:r>
            <a:endParaRPr lang="en-US" sz="950" dirty="0"/>
          </a:p>
        </p:txBody>
      </p:sp>
      <p:sp>
        <p:nvSpPr>
          <p:cNvPr id="24" name="Text 22"/>
          <p:cNvSpPr/>
          <p:nvPr/>
        </p:nvSpPr>
        <p:spPr>
          <a:xfrm>
            <a:off x="4000500" y="2615184"/>
            <a:ext cx="50292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850" b="1" u="sng" dirty="0">
                <a:solidFill>
                  <a:srgbClr val="1F2D3D"/>
                </a:solidFill>
                <a:latin typeface="Calibri" pitchFamily="34" charset="0"/>
                <a:ea typeface="Calibri" pitchFamily="34" charset="-122"/>
                <a:cs typeface="Calibri" pitchFamily="34" charset="-120"/>
              </a:rPr>
              <a:t>pid</a:t>
            </a:r>
            <a:endParaRPr lang="en-US" sz="850" dirty="0"/>
          </a:p>
        </p:txBody>
      </p:sp>
      <p:sp>
        <p:nvSpPr>
          <p:cNvPr id="25" name="Shape 23"/>
          <p:cNvSpPr/>
          <p:nvPr/>
        </p:nvSpPr>
        <p:spPr>
          <a:xfrm>
            <a:off x="4329459" y="2864985"/>
            <a:ext cx="137800" cy="216543"/>
          </a:xfrm>
          <a:prstGeom prst="line">
            <a:avLst/>
          </a:prstGeom>
          <a:noFill/>
          <a:ln w="15875">
            <a:solidFill>
              <a:srgbClr val="3D5A73"/>
            </a:solidFill>
            <a:prstDash val="solid"/>
          </a:ln>
        </p:spPr>
        <p:txBody>
          <a:bodyPr/>
          <a:lstStyle/>
          <a:p>
            <a:endParaRPr lang="en-US"/>
          </a:p>
        </p:txBody>
      </p:sp>
      <p:sp>
        <p:nvSpPr>
          <p:cNvPr id="26" name="Text 24"/>
          <p:cNvSpPr/>
          <p:nvPr/>
        </p:nvSpPr>
        <p:spPr>
          <a:xfrm>
            <a:off x="4470273" y="2615184"/>
            <a:ext cx="934974"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850" dirty="0">
                <a:solidFill>
                  <a:srgbClr val="1F2D3D"/>
                </a:solidFill>
                <a:latin typeface="Calibri" pitchFamily="34" charset="0"/>
                <a:ea typeface="Calibri" pitchFamily="34" charset="-122"/>
                <a:cs typeface="Calibri" pitchFamily="34" charset="-120"/>
              </a:rPr>
              <a:t>started_on</a:t>
            </a:r>
            <a:endParaRPr lang="en-US" sz="850" dirty="0"/>
          </a:p>
        </p:txBody>
      </p:sp>
      <p:sp>
        <p:nvSpPr>
          <p:cNvPr id="27" name="Shape 25"/>
          <p:cNvSpPr/>
          <p:nvPr/>
        </p:nvSpPr>
        <p:spPr>
          <a:xfrm flipH="1">
            <a:off x="4691703" y="2868750"/>
            <a:ext cx="154747" cy="212778"/>
          </a:xfrm>
          <a:prstGeom prst="line">
            <a:avLst/>
          </a:prstGeom>
          <a:noFill/>
          <a:ln w="15875">
            <a:solidFill>
              <a:srgbClr val="3D5A73"/>
            </a:solidFill>
            <a:prstDash val="solid"/>
          </a:ln>
        </p:spPr>
        <p:txBody>
          <a:bodyPr/>
          <a:lstStyle/>
          <a:p>
            <a:endParaRPr lang="en-US"/>
          </a:p>
        </p:txBody>
      </p:sp>
      <p:sp>
        <p:nvSpPr>
          <p:cNvPr id="28" name="Text 26"/>
          <p:cNvSpPr/>
          <p:nvPr/>
        </p:nvSpPr>
        <p:spPr>
          <a:xfrm>
            <a:off x="5300891" y="2615184"/>
            <a:ext cx="736778"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850" dirty="0">
                <a:solidFill>
                  <a:srgbClr val="1F2D3D"/>
                </a:solidFill>
                <a:latin typeface="Calibri" pitchFamily="34" charset="0"/>
                <a:ea typeface="Calibri" pitchFamily="34" charset="-122"/>
                <a:cs typeface="Calibri" pitchFamily="34" charset="-120"/>
              </a:rPr>
              <a:t>pbudget</a:t>
            </a:r>
            <a:endParaRPr lang="en-US" sz="850" dirty="0"/>
          </a:p>
        </p:txBody>
      </p:sp>
      <p:sp>
        <p:nvSpPr>
          <p:cNvPr id="29" name="Shape 27"/>
          <p:cNvSpPr/>
          <p:nvPr/>
        </p:nvSpPr>
        <p:spPr>
          <a:xfrm flipH="1">
            <a:off x="4931110" y="2845211"/>
            <a:ext cx="515602" cy="236317"/>
          </a:xfrm>
          <a:prstGeom prst="line">
            <a:avLst/>
          </a:prstGeom>
          <a:noFill/>
          <a:ln w="15875">
            <a:solidFill>
              <a:srgbClr val="3D5A73"/>
            </a:solidFill>
            <a:prstDash val="solid"/>
          </a:ln>
        </p:spPr>
        <p:txBody>
          <a:bodyPr/>
          <a:lstStyle/>
          <a:p>
            <a:endParaRPr lang="en-US"/>
          </a:p>
        </p:txBody>
      </p:sp>
      <p:sp>
        <p:nvSpPr>
          <p:cNvPr id="30" name="Text 28"/>
          <p:cNvSpPr/>
          <p:nvPr/>
        </p:nvSpPr>
        <p:spPr>
          <a:xfrm>
            <a:off x="6281357" y="2615184"/>
            <a:ext cx="604647"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850" dirty="0">
                <a:solidFill>
                  <a:srgbClr val="1F2D3D"/>
                </a:solidFill>
                <a:latin typeface="Calibri" pitchFamily="34" charset="0"/>
                <a:ea typeface="Calibri" pitchFamily="34" charset="-122"/>
                <a:cs typeface="Calibri" pitchFamily="34" charset="-120"/>
              </a:rPr>
              <a:t>since</a:t>
            </a:r>
            <a:endParaRPr lang="en-US" sz="850" dirty="0"/>
          </a:p>
        </p:txBody>
      </p:sp>
      <p:sp>
        <p:nvSpPr>
          <p:cNvPr id="31" name="Shape 29"/>
          <p:cNvSpPr/>
          <p:nvPr/>
        </p:nvSpPr>
        <p:spPr>
          <a:xfrm flipH="1">
            <a:off x="6361043" y="2866807"/>
            <a:ext cx="143977" cy="226250"/>
          </a:xfrm>
          <a:prstGeom prst="line">
            <a:avLst/>
          </a:prstGeom>
          <a:noFill/>
          <a:ln w="15875">
            <a:solidFill>
              <a:srgbClr val="3D5A73"/>
            </a:solidFill>
            <a:prstDash val="solid"/>
          </a:ln>
        </p:spPr>
        <p:txBody>
          <a:bodyPr/>
          <a:lstStyle/>
          <a:p>
            <a:endParaRPr lang="en-US"/>
          </a:p>
        </p:txBody>
      </p:sp>
      <p:sp>
        <p:nvSpPr>
          <p:cNvPr id="32" name="Text 30"/>
          <p:cNvSpPr/>
          <p:nvPr/>
        </p:nvSpPr>
        <p:spPr>
          <a:xfrm>
            <a:off x="6972300" y="2615184"/>
            <a:ext cx="41148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850" b="1" u="sng" dirty="0">
                <a:solidFill>
                  <a:srgbClr val="1F2D3D"/>
                </a:solidFill>
                <a:latin typeface="Calibri" pitchFamily="34" charset="0"/>
                <a:ea typeface="Calibri" pitchFamily="34" charset="-122"/>
                <a:cs typeface="Calibri" pitchFamily="34" charset="-120"/>
              </a:rPr>
              <a:t>did</a:t>
            </a:r>
            <a:endParaRPr lang="en-US" sz="850" dirty="0"/>
          </a:p>
        </p:txBody>
      </p:sp>
      <p:sp>
        <p:nvSpPr>
          <p:cNvPr id="33" name="Shape 31"/>
          <p:cNvSpPr/>
          <p:nvPr/>
        </p:nvSpPr>
        <p:spPr>
          <a:xfrm>
            <a:off x="7305768" y="2843558"/>
            <a:ext cx="302871" cy="237970"/>
          </a:xfrm>
          <a:prstGeom prst="line">
            <a:avLst/>
          </a:prstGeom>
          <a:noFill/>
          <a:ln w="15875">
            <a:solidFill>
              <a:srgbClr val="3D5A73"/>
            </a:solidFill>
            <a:prstDash val="solid"/>
          </a:ln>
        </p:spPr>
        <p:txBody>
          <a:bodyPr/>
          <a:lstStyle/>
          <a:p>
            <a:endParaRPr lang="en-US"/>
          </a:p>
        </p:txBody>
      </p:sp>
      <p:sp>
        <p:nvSpPr>
          <p:cNvPr id="34" name="Text 32"/>
          <p:cNvSpPr/>
          <p:nvPr/>
        </p:nvSpPr>
        <p:spPr>
          <a:xfrm>
            <a:off x="7429500" y="2615184"/>
            <a:ext cx="50292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850" dirty="0">
                <a:solidFill>
                  <a:srgbClr val="1F2D3D"/>
                </a:solidFill>
                <a:latin typeface="Calibri" pitchFamily="34" charset="0"/>
                <a:ea typeface="Calibri" pitchFamily="34" charset="-122"/>
                <a:cs typeface="Calibri" pitchFamily="34" charset="-120"/>
              </a:rPr>
              <a:t>dname</a:t>
            </a:r>
            <a:endParaRPr lang="en-US" sz="850" dirty="0"/>
          </a:p>
        </p:txBody>
      </p:sp>
      <p:sp>
        <p:nvSpPr>
          <p:cNvPr id="35" name="Shape 33"/>
          <p:cNvSpPr/>
          <p:nvPr/>
        </p:nvSpPr>
        <p:spPr>
          <a:xfrm>
            <a:off x="7715542" y="2870000"/>
            <a:ext cx="57690" cy="211528"/>
          </a:xfrm>
          <a:prstGeom prst="line">
            <a:avLst/>
          </a:prstGeom>
          <a:noFill/>
          <a:ln w="15875">
            <a:solidFill>
              <a:srgbClr val="3D5A73"/>
            </a:solidFill>
            <a:prstDash val="solid"/>
          </a:ln>
        </p:spPr>
        <p:txBody>
          <a:bodyPr/>
          <a:lstStyle/>
          <a:p>
            <a:endParaRPr lang="en-US"/>
          </a:p>
        </p:txBody>
      </p:sp>
      <p:sp>
        <p:nvSpPr>
          <p:cNvPr id="36" name="Text 34"/>
          <p:cNvSpPr/>
          <p:nvPr/>
        </p:nvSpPr>
        <p:spPr>
          <a:xfrm>
            <a:off x="7978140" y="2615184"/>
            <a:ext cx="50292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850" dirty="0">
                <a:solidFill>
                  <a:srgbClr val="1F2D3D"/>
                </a:solidFill>
                <a:latin typeface="Calibri" pitchFamily="34" charset="0"/>
                <a:ea typeface="Calibri" pitchFamily="34" charset="-122"/>
                <a:cs typeface="Calibri" pitchFamily="34" charset="-120"/>
              </a:rPr>
              <a:t>budget</a:t>
            </a:r>
            <a:endParaRPr lang="en-US" sz="850" dirty="0"/>
          </a:p>
        </p:txBody>
      </p:sp>
      <p:sp>
        <p:nvSpPr>
          <p:cNvPr id="37" name="Shape 35"/>
          <p:cNvSpPr/>
          <p:nvPr/>
        </p:nvSpPr>
        <p:spPr>
          <a:xfrm flipH="1">
            <a:off x="7952786" y="2861374"/>
            <a:ext cx="180126" cy="220154"/>
          </a:xfrm>
          <a:prstGeom prst="line">
            <a:avLst/>
          </a:prstGeom>
          <a:noFill/>
          <a:ln w="15875">
            <a:solidFill>
              <a:srgbClr val="3D5A73"/>
            </a:solidFill>
            <a:prstDash val="solid"/>
          </a:ln>
        </p:spPr>
        <p:txBody>
          <a:bodyPr/>
          <a:lstStyle/>
          <a:p>
            <a:endParaRPr lang="en-US"/>
          </a:p>
        </p:txBody>
      </p:sp>
      <p:sp>
        <p:nvSpPr>
          <p:cNvPr id="38" name="Shape 36"/>
          <p:cNvSpPr/>
          <p:nvPr/>
        </p:nvSpPr>
        <p:spPr>
          <a:xfrm>
            <a:off x="4983480" y="3246120"/>
            <a:ext cx="800100" cy="914"/>
          </a:xfrm>
          <a:prstGeom prst="line">
            <a:avLst/>
          </a:prstGeom>
          <a:noFill/>
          <a:ln w="15875">
            <a:solidFill>
              <a:srgbClr val="3D5A73"/>
            </a:solidFill>
            <a:prstDash val="solid"/>
          </a:ln>
        </p:spPr>
        <p:txBody>
          <a:bodyPr/>
          <a:lstStyle/>
          <a:p>
            <a:endParaRPr lang="en-US"/>
          </a:p>
        </p:txBody>
      </p:sp>
      <p:sp>
        <p:nvSpPr>
          <p:cNvPr id="39" name="Shape 37"/>
          <p:cNvSpPr/>
          <p:nvPr/>
        </p:nvSpPr>
        <p:spPr>
          <a:xfrm>
            <a:off x="6743700" y="3246120"/>
            <a:ext cx="594360" cy="914"/>
          </a:xfrm>
          <a:prstGeom prst="line">
            <a:avLst/>
          </a:prstGeom>
          <a:noFill/>
          <a:ln w="15875">
            <a:solidFill>
              <a:srgbClr val="3D5A73"/>
            </a:solidFill>
            <a:prstDash val="solid"/>
          </a:ln>
        </p:spPr>
        <p:txBody>
          <a:bodyPr/>
          <a:lstStyle/>
          <a:p>
            <a:endParaRPr lang="en-US"/>
          </a:p>
        </p:txBody>
      </p:sp>
      <p:sp>
        <p:nvSpPr>
          <p:cNvPr id="40" name="Shape 38"/>
          <p:cNvSpPr/>
          <p:nvPr/>
        </p:nvSpPr>
        <p:spPr>
          <a:xfrm>
            <a:off x="3931920" y="3657600"/>
            <a:ext cx="4572000" cy="1005840"/>
          </a:xfrm>
          <a:prstGeom prst="roundRect">
            <a:avLst>
              <a:gd name="adj" fmla="val 10909"/>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41" name="Text 39"/>
          <p:cNvSpPr txBox="1"/>
          <p:nvPr/>
        </p:nvSpPr>
        <p:spPr>
          <a:xfrm>
            <a:off x="4069080" y="3685032"/>
            <a:ext cx="4343400" cy="960120"/>
          </a:xfrm>
          <a:prstGeom prst="rect">
            <a:avLst/>
          </a:prstGeom>
          <a:noFill/>
          <a:ln/>
        </p:spPr>
        <p:txBody>
          <a:bodyPr wrap="square" lIns="0" tIns="0" rIns="0" bIns="0" rtlCol="0" anchor="ctr"/>
          <a:lstStyle/>
          <a:p>
            <a:pPr marL="0" indent="0">
              <a:buNone/>
            </a:pPr>
            <a:r>
              <a:rPr lang="en-US" sz="1050" b="1" i="1" dirty="0">
                <a:solidFill>
                  <a:srgbClr val="1F8FB5"/>
                </a:solidFill>
                <a:latin typeface="Calibri" pitchFamily="34" charset="0"/>
                <a:ea typeface="Calibri" pitchFamily="34" charset="-122"/>
                <a:cs typeface="Calibri" pitchFamily="34" charset="-120"/>
              </a:rPr>
              <a:t>Aggregation vs. ternary relationship</a:t>
            </a:r>
            <a:endParaRPr lang="en-US" sz="1050" dirty="0"/>
          </a:p>
          <a:p>
            <a:pPr marL="0" indent="0">
              <a:buNone/>
            </a:pPr>
            <a:r>
              <a:rPr lang="en-US" sz="1050" dirty="0">
                <a:solidFill>
                  <a:srgbClr val="1F3B47"/>
                </a:solidFill>
                <a:latin typeface="Calibri" pitchFamily="34" charset="0"/>
                <a:ea typeface="Calibri" pitchFamily="34" charset="-122"/>
                <a:cs typeface="Calibri" pitchFamily="34" charset="-120"/>
              </a:rPr>
              <a:t>Monitors and Sponsors are distinct relationships, with descriptive attributes of their own. Also, we can say that each sponsorship is monitored by at most one employee (which we cannot do with a ternary relationship).</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42</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Exercise: Car Entity</a:t>
            </a:r>
            <a:endParaRPr lang="en-US" sz="3000" dirty="0"/>
          </a:p>
        </p:txBody>
      </p:sp>
      <p:sp>
        <p:nvSpPr>
          <p:cNvPr id="7" name="Text 5"/>
          <p:cNvSpPr txBox="1"/>
          <p:nvPr/>
        </p:nvSpPr>
        <p:spPr>
          <a:xfrm>
            <a:off x="640080" y="1005840"/>
            <a:ext cx="7863840" cy="36576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Model a Car entity with the following attributes:</a:t>
            </a:r>
            <a:endParaRPr lang="en-US" sz="1500" dirty="0"/>
          </a:p>
        </p:txBody>
      </p:sp>
      <p:sp>
        <p:nvSpPr>
          <p:cNvPr id="8" name="Text 6"/>
          <p:cNvSpPr/>
          <p:nvPr/>
        </p:nvSpPr>
        <p:spPr>
          <a:xfrm>
            <a:off x="4023360" y="2788920"/>
            <a:ext cx="1097280" cy="457200"/>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400" b="1" dirty="0">
                <a:solidFill>
                  <a:srgbClr val="1F2D3D"/>
                </a:solidFill>
                <a:latin typeface="Calibri" pitchFamily="34" charset="0"/>
                <a:ea typeface="Calibri" pitchFamily="34" charset="-122"/>
                <a:cs typeface="Calibri" pitchFamily="34" charset="-120"/>
              </a:rPr>
              <a:t>Car</a:t>
            </a:r>
            <a:endParaRPr lang="en-US" sz="1400" dirty="0"/>
          </a:p>
        </p:txBody>
      </p:sp>
      <p:sp>
        <p:nvSpPr>
          <p:cNvPr id="9" name="Text 7"/>
          <p:cNvSpPr/>
          <p:nvPr/>
        </p:nvSpPr>
        <p:spPr>
          <a:xfrm>
            <a:off x="4046220" y="1508760"/>
            <a:ext cx="1051560" cy="365760"/>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200" dirty="0">
                <a:solidFill>
                  <a:srgbClr val="1F2D3D"/>
                </a:solidFill>
                <a:latin typeface="Calibri" pitchFamily="34" charset="0"/>
                <a:ea typeface="Calibri" pitchFamily="34" charset="-122"/>
                <a:cs typeface="Calibri" pitchFamily="34" charset="-120"/>
              </a:rPr>
              <a:t>Type</a:t>
            </a:r>
            <a:endParaRPr lang="en-US" sz="1200" dirty="0"/>
          </a:p>
        </p:txBody>
      </p:sp>
      <p:sp>
        <p:nvSpPr>
          <p:cNvPr id="10" name="Shape 8"/>
          <p:cNvSpPr/>
          <p:nvPr/>
        </p:nvSpPr>
        <p:spPr>
          <a:xfrm>
            <a:off x="4572000" y="1874520"/>
            <a:ext cx="914" cy="914400"/>
          </a:xfrm>
          <a:prstGeom prst="line">
            <a:avLst/>
          </a:prstGeom>
          <a:noFill/>
          <a:ln w="15875">
            <a:solidFill>
              <a:srgbClr val="3D5A73"/>
            </a:solidFill>
            <a:prstDash val="solid"/>
          </a:ln>
        </p:spPr>
        <p:txBody>
          <a:bodyPr/>
          <a:lstStyle/>
          <a:p>
            <a:endParaRPr lang="en-US"/>
          </a:p>
        </p:txBody>
      </p:sp>
      <p:sp>
        <p:nvSpPr>
          <p:cNvPr id="11" name="Text 9"/>
          <p:cNvSpPr/>
          <p:nvPr/>
        </p:nvSpPr>
        <p:spPr>
          <a:xfrm>
            <a:off x="5921297" y="1897101"/>
            <a:ext cx="1051560" cy="365760"/>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200" dirty="0">
                <a:solidFill>
                  <a:srgbClr val="1F2D3D"/>
                </a:solidFill>
                <a:latin typeface="Calibri" pitchFamily="34" charset="0"/>
                <a:ea typeface="Calibri" pitchFamily="34" charset="-122"/>
                <a:cs typeface="Calibri" pitchFamily="34" charset="-120"/>
              </a:rPr>
              <a:t>Name</a:t>
            </a:r>
            <a:endParaRPr lang="en-US" sz="1200" dirty="0"/>
          </a:p>
        </p:txBody>
      </p:sp>
      <p:sp>
        <p:nvSpPr>
          <p:cNvPr id="12" name="Shape 10"/>
          <p:cNvSpPr/>
          <p:nvPr/>
        </p:nvSpPr>
        <p:spPr>
          <a:xfrm flipH="1">
            <a:off x="5029200" y="2230108"/>
            <a:ext cx="1117623" cy="558812"/>
          </a:xfrm>
          <a:prstGeom prst="line">
            <a:avLst/>
          </a:prstGeom>
          <a:noFill/>
          <a:ln w="15875">
            <a:solidFill>
              <a:srgbClr val="3D5A73"/>
            </a:solidFill>
            <a:prstDash val="solid"/>
          </a:ln>
        </p:spPr>
        <p:txBody>
          <a:bodyPr/>
          <a:lstStyle/>
          <a:p>
            <a:endParaRPr lang="en-US"/>
          </a:p>
        </p:txBody>
      </p:sp>
      <p:sp>
        <p:nvSpPr>
          <p:cNvPr id="13" name="Text 11"/>
          <p:cNvSpPr/>
          <p:nvPr/>
        </p:nvSpPr>
        <p:spPr>
          <a:xfrm>
            <a:off x="6697980" y="2834640"/>
            <a:ext cx="1051560" cy="365760"/>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200" dirty="0">
                <a:solidFill>
                  <a:srgbClr val="1F2D3D"/>
                </a:solidFill>
                <a:latin typeface="Calibri" pitchFamily="34" charset="0"/>
                <a:ea typeface="Calibri" pitchFamily="34" charset="-122"/>
                <a:cs typeface="Calibri" pitchFamily="34" charset="-120"/>
              </a:rPr>
              <a:t>Company</a:t>
            </a:r>
            <a:endParaRPr lang="en-US" sz="1200" dirty="0"/>
          </a:p>
        </p:txBody>
      </p:sp>
      <p:sp>
        <p:nvSpPr>
          <p:cNvPr id="14" name="Shape 12"/>
          <p:cNvSpPr/>
          <p:nvPr/>
        </p:nvSpPr>
        <p:spPr>
          <a:xfrm flipH="1">
            <a:off x="5120640" y="3017520"/>
            <a:ext cx="1577340" cy="914"/>
          </a:xfrm>
          <a:prstGeom prst="line">
            <a:avLst/>
          </a:prstGeom>
          <a:noFill/>
          <a:ln w="15875">
            <a:solidFill>
              <a:srgbClr val="3D5A73"/>
            </a:solidFill>
            <a:prstDash val="solid"/>
          </a:ln>
        </p:spPr>
        <p:txBody>
          <a:bodyPr/>
          <a:lstStyle/>
          <a:p>
            <a:endParaRPr lang="en-US"/>
          </a:p>
        </p:txBody>
      </p:sp>
      <p:sp>
        <p:nvSpPr>
          <p:cNvPr id="15" name="Text 13"/>
          <p:cNvSpPr/>
          <p:nvPr/>
        </p:nvSpPr>
        <p:spPr>
          <a:xfrm>
            <a:off x="5921297" y="3772179"/>
            <a:ext cx="1051560" cy="365760"/>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200" dirty="0">
                <a:solidFill>
                  <a:srgbClr val="1F2D3D"/>
                </a:solidFill>
                <a:latin typeface="Calibri" pitchFamily="34" charset="0"/>
                <a:ea typeface="Calibri" pitchFamily="34" charset="-122"/>
                <a:cs typeface="Calibri" pitchFamily="34" charset="-120"/>
              </a:rPr>
              <a:t>Wheels</a:t>
            </a:r>
            <a:endParaRPr lang="en-US" sz="1200" dirty="0"/>
          </a:p>
        </p:txBody>
      </p:sp>
      <p:sp>
        <p:nvSpPr>
          <p:cNvPr id="16" name="Shape 14"/>
          <p:cNvSpPr/>
          <p:nvPr/>
        </p:nvSpPr>
        <p:spPr>
          <a:xfrm flipH="1" flipV="1">
            <a:off x="5029200" y="3246120"/>
            <a:ext cx="1117623" cy="558812"/>
          </a:xfrm>
          <a:prstGeom prst="line">
            <a:avLst/>
          </a:prstGeom>
          <a:noFill/>
          <a:ln w="15875">
            <a:solidFill>
              <a:srgbClr val="3D5A73"/>
            </a:solidFill>
            <a:prstDash val="solid"/>
          </a:ln>
        </p:spPr>
        <p:txBody>
          <a:bodyPr/>
          <a:lstStyle/>
          <a:p>
            <a:endParaRPr lang="en-US"/>
          </a:p>
        </p:txBody>
      </p:sp>
      <p:sp>
        <p:nvSpPr>
          <p:cNvPr id="17" name="Text 15"/>
          <p:cNvSpPr/>
          <p:nvPr/>
        </p:nvSpPr>
        <p:spPr>
          <a:xfrm>
            <a:off x="4046220" y="4160520"/>
            <a:ext cx="1051560" cy="365760"/>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200" dirty="0">
                <a:solidFill>
                  <a:srgbClr val="1F2D3D"/>
                </a:solidFill>
                <a:latin typeface="Calibri" pitchFamily="34" charset="0"/>
                <a:ea typeface="Calibri" pitchFamily="34" charset="-122"/>
                <a:cs typeface="Calibri" pitchFamily="34" charset="-120"/>
              </a:rPr>
              <a:t>Chassis</a:t>
            </a:r>
            <a:endParaRPr lang="en-US" sz="1200" dirty="0"/>
          </a:p>
        </p:txBody>
      </p:sp>
      <p:sp>
        <p:nvSpPr>
          <p:cNvPr id="18" name="Shape 16"/>
          <p:cNvSpPr/>
          <p:nvPr/>
        </p:nvSpPr>
        <p:spPr>
          <a:xfrm flipV="1">
            <a:off x="4572000" y="3246120"/>
            <a:ext cx="914" cy="914400"/>
          </a:xfrm>
          <a:prstGeom prst="line">
            <a:avLst/>
          </a:prstGeom>
          <a:noFill/>
          <a:ln w="15875">
            <a:solidFill>
              <a:srgbClr val="3D5A73"/>
            </a:solidFill>
            <a:prstDash val="solid"/>
          </a:ln>
        </p:spPr>
        <p:txBody>
          <a:bodyPr/>
          <a:lstStyle/>
          <a:p>
            <a:endParaRPr lang="en-US"/>
          </a:p>
        </p:txBody>
      </p:sp>
      <p:sp>
        <p:nvSpPr>
          <p:cNvPr id="19" name="Text 17"/>
          <p:cNvSpPr/>
          <p:nvPr/>
        </p:nvSpPr>
        <p:spPr>
          <a:xfrm>
            <a:off x="2171143" y="3772179"/>
            <a:ext cx="1051560" cy="365760"/>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200" dirty="0">
                <a:solidFill>
                  <a:srgbClr val="1F2D3D"/>
                </a:solidFill>
                <a:latin typeface="Calibri" pitchFamily="34" charset="0"/>
                <a:ea typeface="Calibri" pitchFamily="34" charset="-122"/>
                <a:cs typeface="Calibri" pitchFamily="34" charset="-120"/>
              </a:rPr>
              <a:t>Color</a:t>
            </a:r>
            <a:endParaRPr lang="en-US" sz="1200" dirty="0"/>
          </a:p>
        </p:txBody>
      </p:sp>
      <p:sp>
        <p:nvSpPr>
          <p:cNvPr id="20" name="Shape 18"/>
          <p:cNvSpPr/>
          <p:nvPr/>
        </p:nvSpPr>
        <p:spPr>
          <a:xfrm flipV="1">
            <a:off x="2997177" y="3246120"/>
            <a:ext cx="1117623" cy="558812"/>
          </a:xfrm>
          <a:prstGeom prst="line">
            <a:avLst/>
          </a:prstGeom>
          <a:noFill/>
          <a:ln w="15875">
            <a:solidFill>
              <a:srgbClr val="3D5A73"/>
            </a:solidFill>
            <a:prstDash val="solid"/>
          </a:ln>
        </p:spPr>
        <p:txBody>
          <a:bodyPr/>
          <a:lstStyle/>
          <a:p>
            <a:endParaRPr lang="en-US"/>
          </a:p>
        </p:txBody>
      </p:sp>
      <p:sp>
        <p:nvSpPr>
          <p:cNvPr id="21" name="Text 19"/>
          <p:cNvSpPr/>
          <p:nvPr/>
        </p:nvSpPr>
        <p:spPr>
          <a:xfrm>
            <a:off x="1394460" y="2834640"/>
            <a:ext cx="1051560" cy="365760"/>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200" dirty="0">
                <a:solidFill>
                  <a:srgbClr val="1F2D3D"/>
                </a:solidFill>
                <a:latin typeface="Calibri" pitchFamily="34" charset="0"/>
                <a:ea typeface="Calibri" pitchFamily="34" charset="-122"/>
                <a:cs typeface="Calibri" pitchFamily="34" charset="-120"/>
              </a:rPr>
              <a:t>Make</a:t>
            </a:r>
            <a:endParaRPr lang="en-US" sz="1200" dirty="0"/>
          </a:p>
        </p:txBody>
      </p:sp>
      <p:sp>
        <p:nvSpPr>
          <p:cNvPr id="22" name="Shape 20"/>
          <p:cNvSpPr/>
          <p:nvPr/>
        </p:nvSpPr>
        <p:spPr>
          <a:xfrm>
            <a:off x="2446020" y="3017520"/>
            <a:ext cx="1577340" cy="914"/>
          </a:xfrm>
          <a:prstGeom prst="line">
            <a:avLst/>
          </a:prstGeom>
          <a:noFill/>
          <a:ln w="15875">
            <a:solidFill>
              <a:srgbClr val="3D5A73"/>
            </a:solidFill>
            <a:prstDash val="solid"/>
          </a:ln>
        </p:spPr>
        <p:txBody>
          <a:bodyPr/>
          <a:lstStyle/>
          <a:p>
            <a:endParaRPr lang="en-US"/>
          </a:p>
        </p:txBody>
      </p:sp>
      <p:sp>
        <p:nvSpPr>
          <p:cNvPr id="23" name="Text 21"/>
          <p:cNvSpPr/>
          <p:nvPr/>
        </p:nvSpPr>
        <p:spPr>
          <a:xfrm>
            <a:off x="2171143" y="1897101"/>
            <a:ext cx="1051560" cy="365760"/>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1200" dirty="0">
                <a:solidFill>
                  <a:srgbClr val="1F2D3D"/>
                </a:solidFill>
                <a:latin typeface="Calibri" pitchFamily="34" charset="0"/>
                <a:ea typeface="Calibri" pitchFamily="34" charset="-122"/>
                <a:cs typeface="Calibri" pitchFamily="34" charset="-120"/>
              </a:rPr>
              <a:t>Doors</a:t>
            </a:r>
            <a:endParaRPr lang="en-US" sz="1200" dirty="0"/>
          </a:p>
        </p:txBody>
      </p:sp>
      <p:sp>
        <p:nvSpPr>
          <p:cNvPr id="24" name="Shape 22"/>
          <p:cNvSpPr/>
          <p:nvPr/>
        </p:nvSpPr>
        <p:spPr>
          <a:xfrm>
            <a:off x="2997177" y="2230108"/>
            <a:ext cx="1117623" cy="558812"/>
          </a:xfrm>
          <a:prstGeom prst="line">
            <a:avLst/>
          </a:prstGeom>
          <a:noFill/>
          <a:ln w="15875">
            <a:solidFill>
              <a:srgbClr val="3D5A73"/>
            </a:solidFill>
            <a:prstDash val="solid"/>
          </a:ln>
        </p:spPr>
        <p:txBody>
          <a:bodyPr/>
          <a:lstStyle/>
          <a:p>
            <a:endParaRPr lang="en-US"/>
          </a:p>
        </p:txBody>
      </p:sp>
      <p:sp>
        <p:nvSpPr>
          <p:cNvPr id="25" name="Text 23"/>
          <p:cNvSpPr txBox="1"/>
          <p:nvPr/>
        </p:nvSpPr>
        <p:spPr>
          <a:xfrm>
            <a:off x="640080" y="4434840"/>
            <a:ext cx="2926080" cy="256032"/>
          </a:xfrm>
          <a:prstGeom prst="rect">
            <a:avLst/>
          </a:prstGeom>
          <a:noFill/>
          <a:ln/>
        </p:spPr>
        <p:txBody>
          <a:bodyPr wrap="square" lIns="0" tIns="0" rIns="0" bIns="0" rtlCol="0" anchor="ctr"/>
          <a:lstStyle/>
          <a:p>
            <a:pPr marL="0" indent="0" algn="l">
              <a:buNone/>
            </a:pPr>
            <a:r>
              <a:rPr lang="en-US" sz="1200" b="1" i="1" dirty="0">
                <a:solidFill>
                  <a:srgbClr val="55BFAE"/>
                </a:solidFill>
                <a:latin typeface="Calibri" pitchFamily="34" charset="0"/>
                <a:ea typeface="Calibri" pitchFamily="34" charset="-122"/>
                <a:cs typeface="Calibri" pitchFamily="34" charset="-120"/>
              </a:rPr>
              <a:t>Which attribute could be the key?</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2400" b="1" dirty="0">
                <a:solidFill>
                  <a:srgbClr val="143F4F"/>
                </a:solidFill>
                <a:latin typeface="Century Schoolbook" pitchFamily="34" charset="0"/>
                <a:ea typeface="Century Schoolbook" pitchFamily="34" charset="-122"/>
                <a:cs typeface="Century Schoolbook" pitchFamily="34" charset="-120"/>
              </a:rPr>
              <a:t>Conceptual Design Using the ER Model</a:t>
            </a:r>
            <a:endParaRPr lang="en-US" sz="2400" dirty="0"/>
          </a:p>
        </p:txBody>
      </p:sp>
      <p:sp>
        <p:nvSpPr>
          <p:cNvPr id="7" name="Shape 5"/>
          <p:cNvSpPr/>
          <p:nvPr/>
        </p:nvSpPr>
        <p:spPr>
          <a:xfrm>
            <a:off x="640080" y="1051560"/>
            <a:ext cx="3794760" cy="3520440"/>
          </a:xfrm>
          <a:prstGeom prst="roundRect">
            <a:avLst>
              <a:gd name="adj" fmla="val 311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68680" y="1188720"/>
            <a:ext cx="3383280" cy="365760"/>
          </a:xfrm>
          <a:prstGeom prst="rect">
            <a:avLst/>
          </a:prstGeom>
          <a:noFill/>
          <a:ln/>
        </p:spPr>
        <p:txBody>
          <a:bodyPr wrap="square" lIns="0" tIns="0" rIns="0" bIns="0" rtlCol="0" anchor="ctr"/>
          <a:lstStyle/>
          <a:p>
            <a:pPr marL="0" indent="0">
              <a:buNone/>
            </a:pPr>
            <a:r>
              <a:rPr lang="en-US" sz="1600" b="1" dirty="0">
                <a:solidFill>
                  <a:srgbClr val="55BFAE"/>
                </a:solidFill>
                <a:latin typeface="Calibri" pitchFamily="34" charset="0"/>
                <a:ea typeface="Calibri" pitchFamily="34" charset="-122"/>
                <a:cs typeface="Calibri" pitchFamily="34" charset="-120"/>
              </a:rPr>
              <a:t>Design choices</a:t>
            </a:r>
            <a:endParaRPr lang="en-US" sz="1600" dirty="0"/>
          </a:p>
        </p:txBody>
      </p:sp>
      <p:sp>
        <p:nvSpPr>
          <p:cNvPr id="9" name="Text 7"/>
          <p:cNvSpPr txBox="1"/>
          <p:nvPr/>
        </p:nvSpPr>
        <p:spPr>
          <a:xfrm>
            <a:off x="868680" y="1691640"/>
            <a:ext cx="33832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1F3B47"/>
                </a:solidFill>
                <a:latin typeface="Calibri" pitchFamily="34" charset="0"/>
                <a:ea typeface="Calibri" pitchFamily="34" charset="-122"/>
                <a:cs typeface="Calibri" pitchFamily="34" charset="-120"/>
              </a:rPr>
              <a:t>Should a concept be modeled as an entity or an attribute?</a:t>
            </a:r>
            <a:endParaRPr lang="en-US" sz="1400" dirty="0"/>
          </a:p>
          <a:p>
            <a:pPr marL="342900" indent="-342900">
              <a:spcAft>
                <a:spcPts val="1000"/>
              </a:spcAft>
              <a:buSzPct val="100000"/>
              <a:buChar char="•"/>
            </a:pPr>
            <a:r>
              <a:rPr lang="en-US" sz="1400" dirty="0">
                <a:solidFill>
                  <a:srgbClr val="1F3B47"/>
                </a:solidFill>
                <a:latin typeface="Calibri" pitchFamily="34" charset="0"/>
                <a:ea typeface="Calibri" pitchFamily="34" charset="-122"/>
                <a:cs typeface="Calibri" pitchFamily="34" charset="-120"/>
              </a:rPr>
              <a:t>Should a concept be modeled as an entity or a relationship?</a:t>
            </a:r>
            <a:endParaRPr lang="en-US" sz="1400" dirty="0"/>
          </a:p>
          <a:p>
            <a:pPr marL="342900" indent="-342900">
              <a:spcAft>
                <a:spcPts val="1000"/>
              </a:spcAft>
              <a:buSzPct val="100000"/>
              <a:buChar char="•"/>
            </a:pPr>
            <a:r>
              <a:rPr lang="en-US" sz="1400" dirty="0">
                <a:solidFill>
                  <a:srgbClr val="1F3B47"/>
                </a:solidFill>
                <a:latin typeface="Calibri" pitchFamily="34" charset="0"/>
                <a:ea typeface="Calibri" pitchFamily="34" charset="-122"/>
                <a:cs typeface="Calibri" pitchFamily="34" charset="-120"/>
              </a:rPr>
              <a:t>Identifying relationships: binary or ternary? Aggregation?</a:t>
            </a:r>
            <a:endParaRPr lang="en-US" sz="1400" dirty="0"/>
          </a:p>
        </p:txBody>
      </p:sp>
      <p:sp>
        <p:nvSpPr>
          <p:cNvPr id="10" name="Shape 8"/>
          <p:cNvSpPr/>
          <p:nvPr/>
        </p:nvSpPr>
        <p:spPr>
          <a:xfrm>
            <a:off x="4709160" y="1051560"/>
            <a:ext cx="3794760" cy="3520440"/>
          </a:xfrm>
          <a:prstGeom prst="roundRect">
            <a:avLst>
              <a:gd name="adj" fmla="val 3117"/>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4937760" y="1188720"/>
            <a:ext cx="3383280" cy="365760"/>
          </a:xfrm>
          <a:prstGeom prst="rect">
            <a:avLst/>
          </a:prstGeom>
          <a:noFill/>
          <a:ln/>
        </p:spPr>
        <p:txBody>
          <a:bodyPr wrap="square" lIns="0" tIns="0" rIns="0" bIns="0" rtlCol="0" anchor="ctr"/>
          <a:lstStyle/>
          <a:p>
            <a:pPr marL="0" indent="0">
              <a:buNone/>
            </a:pPr>
            <a:r>
              <a:rPr lang="en-US" sz="1600" b="1" dirty="0">
                <a:solidFill>
                  <a:srgbClr val="55BFAE"/>
                </a:solidFill>
                <a:latin typeface="Calibri" pitchFamily="34" charset="0"/>
                <a:ea typeface="Calibri" pitchFamily="34" charset="-122"/>
                <a:cs typeface="Calibri" pitchFamily="34" charset="-120"/>
              </a:rPr>
              <a:t>Constraints in the ER Model</a:t>
            </a:r>
            <a:endParaRPr lang="en-US" sz="1600" dirty="0"/>
          </a:p>
        </p:txBody>
      </p:sp>
      <p:sp>
        <p:nvSpPr>
          <p:cNvPr id="12" name="Text 10"/>
          <p:cNvSpPr txBox="1"/>
          <p:nvPr/>
        </p:nvSpPr>
        <p:spPr>
          <a:xfrm>
            <a:off x="4937760" y="1691640"/>
            <a:ext cx="3383280" cy="27432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A lot of data semantics can (and should) be captured.</a:t>
            </a:r>
            <a:endParaRPr lang="en-US" sz="1400" dirty="0"/>
          </a:p>
          <a:p>
            <a:pPr marL="342900" indent="-342900">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But some constraints cannot be captured in ER diagrams.</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44</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Entity vs. Attribute</a:t>
            </a:r>
            <a:endParaRPr lang="en-US" sz="3000" dirty="0"/>
          </a:p>
        </p:txBody>
      </p:sp>
      <p:sp>
        <p:nvSpPr>
          <p:cNvPr id="7" name="Text 5"/>
          <p:cNvSpPr txBox="1"/>
          <p:nvPr/>
        </p:nvSpPr>
        <p:spPr>
          <a:xfrm>
            <a:off x="640080" y="1005840"/>
            <a:ext cx="7863840" cy="548640"/>
          </a:xfrm>
          <a:prstGeom prst="rect">
            <a:avLst/>
          </a:prstGeom>
          <a:noFill/>
          <a:ln/>
        </p:spPr>
        <p:txBody>
          <a:bodyPr wrap="square" lIns="0" tIns="0" rIns="0" bIns="0" rtlCol="0" anchor="ctr"/>
          <a:lstStyle/>
          <a:p>
            <a:pPr marL="0" indent="0">
              <a:buNone/>
            </a:pPr>
            <a:r>
              <a:rPr lang="en-US" sz="1550" b="1" dirty="0">
                <a:solidFill>
                  <a:srgbClr val="143F4F"/>
                </a:solidFill>
                <a:latin typeface="Calibri" pitchFamily="34" charset="0"/>
                <a:ea typeface="Calibri" pitchFamily="34" charset="-122"/>
                <a:cs typeface="Calibri" pitchFamily="34" charset="-120"/>
              </a:rPr>
              <a:t>Should </a:t>
            </a:r>
            <a:r>
              <a:rPr lang="en-US" sz="1550" b="1" i="1" dirty="0">
                <a:solidFill>
                  <a:srgbClr val="1F8FB5"/>
                </a:solidFill>
                <a:latin typeface="Calibri" pitchFamily="34" charset="0"/>
                <a:ea typeface="Calibri" pitchFamily="34" charset="-122"/>
                <a:cs typeface="Calibri" pitchFamily="34" charset="-120"/>
              </a:rPr>
              <a:t>address</a:t>
            </a:r>
            <a:r>
              <a:rPr lang="en-US" sz="1550" b="1" dirty="0">
                <a:solidFill>
                  <a:srgbClr val="143F4F"/>
                </a:solidFill>
                <a:latin typeface="Calibri" pitchFamily="34" charset="0"/>
                <a:ea typeface="Calibri" pitchFamily="34" charset="-122"/>
                <a:cs typeface="Calibri" pitchFamily="34" charset="-120"/>
              </a:rPr>
              <a:t> be an attribute of Employees or an entity (connected to Employees by a relationship)?</a:t>
            </a:r>
            <a:endParaRPr lang="en-US" sz="1550" dirty="0"/>
          </a:p>
        </p:txBody>
      </p:sp>
      <p:sp>
        <p:nvSpPr>
          <p:cNvPr id="8" name="Text 6"/>
          <p:cNvSpPr txBox="1"/>
          <p:nvPr/>
        </p:nvSpPr>
        <p:spPr>
          <a:xfrm>
            <a:off x="640080" y="1645920"/>
            <a:ext cx="7863840" cy="365760"/>
          </a:xfrm>
          <a:prstGeom prst="rect">
            <a:avLst/>
          </a:prstGeom>
          <a:noFill/>
          <a:ln/>
        </p:spPr>
        <p:txBody>
          <a:bodyPr wrap="square" lIns="0" tIns="0" rIns="0" bIns="0" rtlCol="0" anchor="ctr"/>
          <a:lstStyle/>
          <a:p>
            <a:pPr marL="0" indent="0">
              <a:buNone/>
            </a:pPr>
            <a:r>
              <a:rPr lang="en-US" sz="1400" dirty="0">
                <a:solidFill>
                  <a:srgbClr val="1F3B47"/>
                </a:solidFill>
                <a:latin typeface="Calibri" pitchFamily="34" charset="0"/>
                <a:ea typeface="Calibri" pitchFamily="34" charset="-122"/>
                <a:cs typeface="Calibri" pitchFamily="34" charset="-120"/>
              </a:rPr>
              <a:t>It depends on how we want to use address information, and on the semantics of the data:</a:t>
            </a:r>
            <a:endParaRPr lang="en-US" sz="1400" dirty="0"/>
          </a:p>
        </p:txBody>
      </p:sp>
      <p:sp>
        <p:nvSpPr>
          <p:cNvPr id="9" name="Shape 7"/>
          <p:cNvSpPr/>
          <p:nvPr/>
        </p:nvSpPr>
        <p:spPr>
          <a:xfrm>
            <a:off x="640080" y="2194560"/>
            <a:ext cx="3794760" cy="2286000"/>
          </a:xfrm>
          <a:prstGeom prst="roundRect">
            <a:avLst>
              <a:gd name="adj" fmla="val 48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txBox="1"/>
          <p:nvPr/>
        </p:nvSpPr>
        <p:spPr>
          <a:xfrm>
            <a:off x="868680" y="2286000"/>
            <a:ext cx="3383280" cy="2103120"/>
          </a:xfrm>
          <a:prstGeom prst="rect">
            <a:avLst/>
          </a:prstGeom>
          <a:noFill/>
          <a:ln/>
        </p:spPr>
        <p:txBody>
          <a:bodyPr wrap="square" lIns="0" tIns="0" rIns="0" bIns="0" rtlCol="0" anchor="t"/>
          <a:lstStyle/>
          <a:p>
            <a:pPr marL="0" indent="0">
              <a:spcAft>
                <a:spcPts val="600"/>
              </a:spcAft>
              <a:buNone/>
            </a:pPr>
            <a:r>
              <a:rPr lang="en-US" sz="1200" b="1" dirty="0">
                <a:solidFill>
                  <a:srgbClr val="55BFAE"/>
                </a:solidFill>
                <a:latin typeface="Calibri" pitchFamily="34" charset="0"/>
                <a:ea typeface="Calibri" pitchFamily="34" charset="-122"/>
                <a:cs typeface="Calibri" pitchFamily="34" charset="-120"/>
              </a:rPr>
              <a:t>If…</a:t>
            </a:r>
            <a:endParaRPr lang="en-US" sz="1200" dirty="0"/>
          </a:p>
          <a:p>
            <a:pPr marL="0" indent="0">
              <a:spcAft>
                <a:spcPts val="600"/>
              </a:spcAft>
              <a:buNone/>
            </a:pPr>
            <a:r>
              <a:rPr lang="en-US" sz="1550" b="1" dirty="0">
                <a:solidFill>
                  <a:srgbClr val="143F4F"/>
                </a:solidFill>
                <a:latin typeface="Calibri" pitchFamily="34" charset="0"/>
                <a:ea typeface="Calibri" pitchFamily="34" charset="-122"/>
                <a:cs typeface="Calibri" pitchFamily="34" charset="-120"/>
              </a:rPr>
              <a:t>Several addresses per employee</a:t>
            </a:r>
            <a:endParaRPr lang="en-US" sz="1200" dirty="0"/>
          </a:p>
          <a:p>
            <a:pPr marL="0" indent="0">
              <a:spcAft>
                <a:spcPts val="600"/>
              </a:spcAft>
              <a:buNone/>
            </a:pPr>
            <a:r>
              <a:rPr lang="en-US" sz="1350" dirty="0">
                <a:solidFill>
                  <a:srgbClr val="1F3B47"/>
                </a:solidFill>
                <a:latin typeface="Calibri" pitchFamily="34" charset="0"/>
                <a:ea typeface="Calibri" pitchFamily="34" charset="-122"/>
                <a:cs typeface="Calibri" pitchFamily="34" charset="-120"/>
              </a:rPr>
              <a:t>Address must be an entity, since attributes cannot be set-valued.</a:t>
            </a:r>
            <a:endParaRPr lang="en-US" sz="1200" dirty="0"/>
          </a:p>
        </p:txBody>
      </p:sp>
      <p:sp>
        <p:nvSpPr>
          <p:cNvPr id="11" name="Shape 9"/>
          <p:cNvSpPr/>
          <p:nvPr/>
        </p:nvSpPr>
        <p:spPr>
          <a:xfrm>
            <a:off x="4709160" y="2194560"/>
            <a:ext cx="3794760" cy="2286000"/>
          </a:xfrm>
          <a:prstGeom prst="roundRect">
            <a:avLst>
              <a:gd name="adj" fmla="val 4800"/>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4937760" y="2286000"/>
            <a:ext cx="3383280" cy="2103120"/>
          </a:xfrm>
          <a:prstGeom prst="rect">
            <a:avLst/>
          </a:prstGeom>
          <a:noFill/>
          <a:ln/>
        </p:spPr>
        <p:txBody>
          <a:bodyPr wrap="square" lIns="0" tIns="0" rIns="0" bIns="0" rtlCol="0" anchor="t"/>
          <a:lstStyle/>
          <a:p>
            <a:pPr marL="0" indent="0">
              <a:spcAft>
                <a:spcPts val="600"/>
              </a:spcAft>
              <a:buNone/>
            </a:pPr>
            <a:r>
              <a:rPr lang="en-US" sz="1200" b="1" dirty="0">
                <a:solidFill>
                  <a:srgbClr val="55BFAE"/>
                </a:solidFill>
                <a:latin typeface="Calibri" pitchFamily="34" charset="0"/>
                <a:ea typeface="Calibri" pitchFamily="34" charset="-122"/>
                <a:cs typeface="Calibri" pitchFamily="34" charset="-120"/>
              </a:rPr>
              <a:t>If…</a:t>
            </a:r>
            <a:endParaRPr lang="en-US" sz="1200" dirty="0"/>
          </a:p>
          <a:p>
            <a:pPr marL="0" indent="0">
              <a:spcAft>
                <a:spcPts val="600"/>
              </a:spcAft>
              <a:buNone/>
            </a:pPr>
            <a:r>
              <a:rPr lang="en-US" sz="1550" b="1" dirty="0">
                <a:solidFill>
                  <a:srgbClr val="143F4F"/>
                </a:solidFill>
                <a:latin typeface="Calibri" pitchFamily="34" charset="0"/>
                <a:ea typeface="Calibri" pitchFamily="34" charset="-122"/>
                <a:cs typeface="Calibri" pitchFamily="34" charset="-120"/>
              </a:rPr>
              <a:t>Structure matters (city, street, etc.)</a:t>
            </a:r>
            <a:endParaRPr lang="en-US" sz="1200" dirty="0"/>
          </a:p>
          <a:p>
            <a:pPr marL="0" indent="0">
              <a:spcAft>
                <a:spcPts val="600"/>
              </a:spcAft>
              <a:buNone/>
            </a:pPr>
            <a:r>
              <a:rPr lang="en-US" sz="1350" dirty="0">
                <a:solidFill>
                  <a:srgbClr val="1F3B47"/>
                </a:solidFill>
                <a:latin typeface="Calibri" pitchFamily="34" charset="0"/>
                <a:ea typeface="Calibri" pitchFamily="34" charset="-122"/>
                <a:cs typeface="Calibri" pitchFamily="34" charset="-120"/>
              </a:rPr>
              <a:t>E.g. to retrieve employees in a given city, address must be modeled as an entity, since attribute values are atomic.</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Entity vs. Attribute (Contd.)</a:t>
            </a:r>
            <a:endParaRPr lang="en-US" sz="3000" dirty="0"/>
          </a:p>
        </p:txBody>
      </p:sp>
      <p:sp>
        <p:nvSpPr>
          <p:cNvPr id="7" name="Text 5"/>
          <p:cNvSpPr txBox="1"/>
          <p:nvPr/>
        </p:nvSpPr>
        <p:spPr>
          <a:xfrm>
            <a:off x="640080" y="1005840"/>
            <a:ext cx="3017520" cy="361188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1F3B47"/>
                </a:solidFill>
                <a:latin typeface="Calibri" pitchFamily="34" charset="0"/>
                <a:ea typeface="Calibri" pitchFamily="34" charset="-122"/>
                <a:cs typeface="Calibri" pitchFamily="34" charset="-120"/>
              </a:rPr>
              <a:t>Works_In4 does not allow an employee to work in a department for two or more periods (a relationship is identified by its participating entities).</a:t>
            </a:r>
            <a:endParaRPr lang="en-US" sz="1200" dirty="0"/>
          </a:p>
          <a:p>
            <a:pPr marL="342900" indent="-342900">
              <a:spcAft>
                <a:spcPts val="800"/>
              </a:spcAft>
              <a:buSzPct val="100000"/>
              <a:buChar char="•"/>
            </a:pPr>
            <a:r>
              <a:rPr lang="en-US" sz="1200" dirty="0">
                <a:solidFill>
                  <a:srgbClr val="1F3B47"/>
                </a:solidFill>
                <a:latin typeface="Calibri" pitchFamily="34" charset="0"/>
                <a:ea typeface="Calibri" pitchFamily="34" charset="-122"/>
                <a:cs typeface="Calibri" pitchFamily="34" charset="-120"/>
              </a:rPr>
              <a:t>Similar to the problem of wanting to record several addresses for an employee: we want to record several values of the descriptive attributes for each instance of this relationship.</a:t>
            </a:r>
            <a:endParaRPr lang="en-US" sz="1200" dirty="0"/>
          </a:p>
          <a:p>
            <a:pPr marL="342900" indent="-342900">
              <a:spcAft>
                <a:spcPts val="800"/>
              </a:spcAft>
              <a:buSzPct val="100000"/>
              <a:buChar char="•"/>
            </a:pPr>
            <a:r>
              <a:rPr lang="en-US" sz="1200" dirty="0">
                <a:solidFill>
                  <a:srgbClr val="1F3B47"/>
                </a:solidFill>
                <a:latin typeface="Calibri" pitchFamily="34" charset="0"/>
                <a:ea typeface="Calibri" pitchFamily="34" charset="-122"/>
                <a:cs typeface="Calibri" pitchFamily="34" charset="-120"/>
              </a:rPr>
              <a:t>Accomplished by introducing a new entity set, Duration.</a:t>
            </a:r>
            <a:endParaRPr lang="en-US" sz="1200" dirty="0"/>
          </a:p>
        </p:txBody>
      </p:sp>
      <p:sp>
        <p:nvSpPr>
          <p:cNvPr id="8" name="Text 6"/>
          <p:cNvSpPr/>
          <p:nvPr/>
        </p:nvSpPr>
        <p:spPr>
          <a:xfrm>
            <a:off x="4091940" y="1709928"/>
            <a:ext cx="86868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Employees</a:t>
            </a:r>
            <a:endParaRPr lang="en-US" sz="1000" dirty="0"/>
          </a:p>
        </p:txBody>
      </p:sp>
      <p:sp>
        <p:nvSpPr>
          <p:cNvPr id="9" name="Text 7"/>
          <p:cNvSpPr/>
          <p:nvPr/>
        </p:nvSpPr>
        <p:spPr>
          <a:xfrm>
            <a:off x="5532120" y="1655064"/>
            <a:ext cx="1280160" cy="438912"/>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Works_In4</a:t>
            </a:r>
            <a:endParaRPr lang="en-US" sz="950" dirty="0"/>
          </a:p>
        </p:txBody>
      </p:sp>
      <p:sp>
        <p:nvSpPr>
          <p:cNvPr id="10" name="Text 8"/>
          <p:cNvSpPr/>
          <p:nvPr/>
        </p:nvSpPr>
        <p:spPr>
          <a:xfrm>
            <a:off x="7292340" y="1709928"/>
            <a:ext cx="96012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Departments</a:t>
            </a:r>
            <a:endParaRPr lang="en-US" sz="950" dirty="0"/>
          </a:p>
        </p:txBody>
      </p:sp>
      <p:sp>
        <p:nvSpPr>
          <p:cNvPr id="11" name="Shape 9"/>
          <p:cNvSpPr/>
          <p:nvPr/>
        </p:nvSpPr>
        <p:spPr>
          <a:xfrm>
            <a:off x="4960620" y="1874520"/>
            <a:ext cx="571500" cy="914"/>
          </a:xfrm>
          <a:prstGeom prst="line">
            <a:avLst/>
          </a:prstGeom>
          <a:noFill/>
          <a:ln w="15875">
            <a:solidFill>
              <a:srgbClr val="3D5A73"/>
            </a:solidFill>
            <a:prstDash val="solid"/>
          </a:ln>
        </p:spPr>
        <p:txBody>
          <a:bodyPr/>
          <a:lstStyle/>
          <a:p>
            <a:endParaRPr lang="en-US"/>
          </a:p>
        </p:txBody>
      </p:sp>
      <p:sp>
        <p:nvSpPr>
          <p:cNvPr id="12" name="Shape 10"/>
          <p:cNvSpPr/>
          <p:nvPr/>
        </p:nvSpPr>
        <p:spPr>
          <a:xfrm>
            <a:off x="6812280" y="1874520"/>
            <a:ext cx="480060" cy="914"/>
          </a:xfrm>
          <a:prstGeom prst="line">
            <a:avLst/>
          </a:prstGeom>
          <a:noFill/>
          <a:ln w="15875">
            <a:solidFill>
              <a:srgbClr val="3D5A73"/>
            </a:solidFill>
            <a:prstDash val="solid"/>
          </a:ln>
        </p:spPr>
        <p:txBody>
          <a:bodyPr/>
          <a:lstStyle/>
          <a:p>
            <a:endParaRPr lang="en-US"/>
          </a:p>
        </p:txBody>
      </p:sp>
      <p:sp>
        <p:nvSpPr>
          <p:cNvPr id="13" name="Text 11"/>
          <p:cNvSpPr/>
          <p:nvPr/>
        </p:nvSpPr>
        <p:spPr>
          <a:xfrm>
            <a:off x="3794760" y="128930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ssn</a:t>
            </a:r>
            <a:endParaRPr lang="en-US" sz="900" dirty="0"/>
          </a:p>
        </p:txBody>
      </p:sp>
      <p:sp>
        <p:nvSpPr>
          <p:cNvPr id="14" name="Shape 12"/>
          <p:cNvSpPr/>
          <p:nvPr/>
        </p:nvSpPr>
        <p:spPr>
          <a:xfrm>
            <a:off x="4143256" y="1526316"/>
            <a:ext cx="201973" cy="183612"/>
          </a:xfrm>
          <a:prstGeom prst="line">
            <a:avLst/>
          </a:prstGeom>
          <a:noFill/>
          <a:ln w="15875">
            <a:solidFill>
              <a:srgbClr val="3D5A73"/>
            </a:solidFill>
            <a:prstDash val="solid"/>
          </a:ln>
        </p:spPr>
        <p:txBody>
          <a:bodyPr/>
          <a:lstStyle/>
          <a:p>
            <a:endParaRPr lang="en-US"/>
          </a:p>
        </p:txBody>
      </p:sp>
      <p:sp>
        <p:nvSpPr>
          <p:cNvPr id="15" name="Text 13"/>
          <p:cNvSpPr/>
          <p:nvPr/>
        </p:nvSpPr>
        <p:spPr>
          <a:xfrm>
            <a:off x="4297680" y="101498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name</a:t>
            </a:r>
            <a:endParaRPr lang="en-US" sz="900" dirty="0"/>
          </a:p>
        </p:txBody>
      </p:sp>
      <p:sp>
        <p:nvSpPr>
          <p:cNvPr id="16" name="Shape 14"/>
          <p:cNvSpPr/>
          <p:nvPr/>
        </p:nvSpPr>
        <p:spPr>
          <a:xfrm>
            <a:off x="4526280" y="1271016"/>
            <a:ext cx="914" cy="438912"/>
          </a:xfrm>
          <a:prstGeom prst="line">
            <a:avLst/>
          </a:prstGeom>
          <a:noFill/>
          <a:ln w="15875">
            <a:solidFill>
              <a:srgbClr val="3D5A73"/>
            </a:solidFill>
            <a:prstDash val="solid"/>
          </a:ln>
        </p:spPr>
        <p:txBody>
          <a:bodyPr/>
          <a:lstStyle/>
          <a:p>
            <a:endParaRPr lang="en-US"/>
          </a:p>
        </p:txBody>
      </p:sp>
      <p:sp>
        <p:nvSpPr>
          <p:cNvPr id="17" name="Text 15"/>
          <p:cNvSpPr/>
          <p:nvPr/>
        </p:nvSpPr>
        <p:spPr>
          <a:xfrm>
            <a:off x="4800600" y="128930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lot</a:t>
            </a:r>
            <a:endParaRPr lang="en-US" sz="900" dirty="0"/>
          </a:p>
        </p:txBody>
      </p:sp>
      <p:sp>
        <p:nvSpPr>
          <p:cNvPr id="18" name="Shape 16"/>
          <p:cNvSpPr/>
          <p:nvPr/>
        </p:nvSpPr>
        <p:spPr>
          <a:xfrm flipH="1">
            <a:off x="4707331" y="1526316"/>
            <a:ext cx="201973" cy="183612"/>
          </a:xfrm>
          <a:prstGeom prst="line">
            <a:avLst/>
          </a:prstGeom>
          <a:noFill/>
          <a:ln w="15875">
            <a:solidFill>
              <a:srgbClr val="3D5A73"/>
            </a:solidFill>
            <a:prstDash val="solid"/>
          </a:ln>
        </p:spPr>
        <p:txBody>
          <a:bodyPr/>
          <a:lstStyle/>
          <a:p>
            <a:endParaRPr lang="en-US"/>
          </a:p>
        </p:txBody>
      </p:sp>
      <p:sp>
        <p:nvSpPr>
          <p:cNvPr id="19" name="Text 17"/>
          <p:cNvSpPr/>
          <p:nvPr/>
        </p:nvSpPr>
        <p:spPr>
          <a:xfrm>
            <a:off x="7040880" y="128930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did</a:t>
            </a:r>
            <a:endParaRPr lang="en-US" sz="900" dirty="0"/>
          </a:p>
        </p:txBody>
      </p:sp>
      <p:sp>
        <p:nvSpPr>
          <p:cNvPr id="20" name="Shape 18"/>
          <p:cNvSpPr/>
          <p:nvPr/>
        </p:nvSpPr>
        <p:spPr>
          <a:xfrm>
            <a:off x="7389376" y="1526316"/>
            <a:ext cx="201973" cy="183612"/>
          </a:xfrm>
          <a:prstGeom prst="line">
            <a:avLst/>
          </a:prstGeom>
          <a:noFill/>
          <a:ln w="15875">
            <a:solidFill>
              <a:srgbClr val="3D5A73"/>
            </a:solidFill>
            <a:prstDash val="solid"/>
          </a:ln>
        </p:spPr>
        <p:txBody>
          <a:bodyPr/>
          <a:lstStyle/>
          <a:p>
            <a:endParaRPr lang="en-US"/>
          </a:p>
        </p:txBody>
      </p:sp>
      <p:sp>
        <p:nvSpPr>
          <p:cNvPr id="21" name="Text 19"/>
          <p:cNvSpPr/>
          <p:nvPr/>
        </p:nvSpPr>
        <p:spPr>
          <a:xfrm>
            <a:off x="7543800" y="101498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dname</a:t>
            </a:r>
            <a:endParaRPr lang="en-US" sz="900" dirty="0"/>
          </a:p>
        </p:txBody>
      </p:sp>
      <p:sp>
        <p:nvSpPr>
          <p:cNvPr id="22" name="Shape 20"/>
          <p:cNvSpPr/>
          <p:nvPr/>
        </p:nvSpPr>
        <p:spPr>
          <a:xfrm>
            <a:off x="7772400" y="1271016"/>
            <a:ext cx="914" cy="438912"/>
          </a:xfrm>
          <a:prstGeom prst="line">
            <a:avLst/>
          </a:prstGeom>
          <a:noFill/>
          <a:ln w="15875">
            <a:solidFill>
              <a:srgbClr val="3D5A73"/>
            </a:solidFill>
            <a:prstDash val="solid"/>
          </a:ln>
        </p:spPr>
        <p:txBody>
          <a:bodyPr/>
          <a:lstStyle/>
          <a:p>
            <a:endParaRPr lang="en-US"/>
          </a:p>
        </p:txBody>
      </p:sp>
      <p:sp>
        <p:nvSpPr>
          <p:cNvPr id="23" name="Text 21"/>
          <p:cNvSpPr/>
          <p:nvPr/>
        </p:nvSpPr>
        <p:spPr>
          <a:xfrm>
            <a:off x="8010144" y="1289304"/>
            <a:ext cx="530352"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budget</a:t>
            </a:r>
            <a:endParaRPr lang="en-US" sz="900" dirty="0"/>
          </a:p>
        </p:txBody>
      </p:sp>
      <p:sp>
        <p:nvSpPr>
          <p:cNvPr id="24" name="Shape 22"/>
          <p:cNvSpPr/>
          <p:nvPr/>
        </p:nvSpPr>
        <p:spPr>
          <a:xfrm flipH="1">
            <a:off x="7953451" y="1530383"/>
            <a:ext cx="197499" cy="179545"/>
          </a:xfrm>
          <a:prstGeom prst="line">
            <a:avLst/>
          </a:prstGeom>
          <a:noFill/>
          <a:ln w="15875">
            <a:solidFill>
              <a:srgbClr val="3D5A73"/>
            </a:solidFill>
            <a:prstDash val="solid"/>
          </a:ln>
        </p:spPr>
        <p:txBody>
          <a:bodyPr/>
          <a:lstStyle/>
          <a:p>
            <a:endParaRPr lang="en-US"/>
          </a:p>
        </p:txBody>
      </p:sp>
      <p:sp>
        <p:nvSpPr>
          <p:cNvPr id="25" name="Text 23"/>
          <p:cNvSpPr/>
          <p:nvPr/>
        </p:nvSpPr>
        <p:spPr>
          <a:xfrm>
            <a:off x="5623560" y="1179576"/>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from</a:t>
            </a:r>
            <a:endParaRPr lang="en-US" sz="900" dirty="0"/>
          </a:p>
        </p:txBody>
      </p:sp>
      <p:sp>
        <p:nvSpPr>
          <p:cNvPr id="26" name="Shape 24"/>
          <p:cNvSpPr/>
          <p:nvPr/>
        </p:nvSpPr>
        <p:spPr>
          <a:xfrm>
            <a:off x="5921066" y="1429654"/>
            <a:ext cx="147337" cy="260998"/>
          </a:xfrm>
          <a:prstGeom prst="line">
            <a:avLst/>
          </a:prstGeom>
          <a:noFill/>
          <a:ln w="15875">
            <a:solidFill>
              <a:srgbClr val="3D5A73"/>
            </a:solidFill>
            <a:prstDash val="solid"/>
          </a:ln>
        </p:spPr>
        <p:txBody>
          <a:bodyPr/>
          <a:lstStyle/>
          <a:p>
            <a:endParaRPr lang="en-US"/>
          </a:p>
        </p:txBody>
      </p:sp>
      <p:sp>
        <p:nvSpPr>
          <p:cNvPr id="27" name="Text 25"/>
          <p:cNvSpPr/>
          <p:nvPr/>
        </p:nvSpPr>
        <p:spPr>
          <a:xfrm>
            <a:off x="6286500" y="1179576"/>
            <a:ext cx="41148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to</a:t>
            </a:r>
            <a:endParaRPr lang="en-US" sz="900" dirty="0"/>
          </a:p>
        </p:txBody>
      </p:sp>
      <p:sp>
        <p:nvSpPr>
          <p:cNvPr id="28" name="Shape 26"/>
          <p:cNvSpPr/>
          <p:nvPr/>
        </p:nvSpPr>
        <p:spPr>
          <a:xfrm flipH="1">
            <a:off x="6275997" y="1428374"/>
            <a:ext cx="148060" cy="262278"/>
          </a:xfrm>
          <a:prstGeom prst="line">
            <a:avLst/>
          </a:prstGeom>
          <a:noFill/>
          <a:ln w="15875">
            <a:solidFill>
              <a:srgbClr val="3D5A73"/>
            </a:solidFill>
            <a:prstDash val="solid"/>
          </a:ln>
        </p:spPr>
        <p:txBody>
          <a:bodyPr/>
          <a:lstStyle/>
          <a:p>
            <a:endParaRPr lang="en-US"/>
          </a:p>
        </p:txBody>
      </p:sp>
      <p:sp>
        <p:nvSpPr>
          <p:cNvPr id="29" name="Text 27"/>
          <p:cNvSpPr/>
          <p:nvPr/>
        </p:nvSpPr>
        <p:spPr>
          <a:xfrm>
            <a:off x="4091940" y="3355848"/>
            <a:ext cx="86868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Employees</a:t>
            </a:r>
            <a:endParaRPr lang="en-US" sz="1000" dirty="0"/>
          </a:p>
        </p:txBody>
      </p:sp>
      <p:sp>
        <p:nvSpPr>
          <p:cNvPr id="30" name="Text 28"/>
          <p:cNvSpPr/>
          <p:nvPr/>
        </p:nvSpPr>
        <p:spPr>
          <a:xfrm>
            <a:off x="5532120" y="3300984"/>
            <a:ext cx="1280160" cy="438912"/>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Works_In4</a:t>
            </a:r>
            <a:endParaRPr lang="en-US" sz="950" dirty="0"/>
          </a:p>
        </p:txBody>
      </p:sp>
      <p:sp>
        <p:nvSpPr>
          <p:cNvPr id="31" name="Text 29"/>
          <p:cNvSpPr/>
          <p:nvPr/>
        </p:nvSpPr>
        <p:spPr>
          <a:xfrm>
            <a:off x="7292340" y="3355848"/>
            <a:ext cx="96012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Departments</a:t>
            </a:r>
            <a:endParaRPr lang="en-US" sz="950" dirty="0"/>
          </a:p>
        </p:txBody>
      </p:sp>
      <p:sp>
        <p:nvSpPr>
          <p:cNvPr id="32" name="Shape 30"/>
          <p:cNvSpPr/>
          <p:nvPr/>
        </p:nvSpPr>
        <p:spPr>
          <a:xfrm>
            <a:off x="4960620" y="3520440"/>
            <a:ext cx="571500" cy="914"/>
          </a:xfrm>
          <a:prstGeom prst="line">
            <a:avLst/>
          </a:prstGeom>
          <a:noFill/>
          <a:ln w="15875">
            <a:solidFill>
              <a:srgbClr val="3D5A73"/>
            </a:solidFill>
            <a:prstDash val="solid"/>
          </a:ln>
        </p:spPr>
        <p:txBody>
          <a:bodyPr/>
          <a:lstStyle/>
          <a:p>
            <a:endParaRPr lang="en-US"/>
          </a:p>
        </p:txBody>
      </p:sp>
      <p:sp>
        <p:nvSpPr>
          <p:cNvPr id="33" name="Shape 31"/>
          <p:cNvSpPr/>
          <p:nvPr/>
        </p:nvSpPr>
        <p:spPr>
          <a:xfrm>
            <a:off x="6812280" y="3520440"/>
            <a:ext cx="480060" cy="914"/>
          </a:xfrm>
          <a:prstGeom prst="line">
            <a:avLst/>
          </a:prstGeom>
          <a:noFill/>
          <a:ln w="15875">
            <a:solidFill>
              <a:srgbClr val="3D5A73"/>
            </a:solidFill>
            <a:prstDash val="solid"/>
          </a:ln>
        </p:spPr>
        <p:txBody>
          <a:bodyPr/>
          <a:lstStyle/>
          <a:p>
            <a:endParaRPr lang="en-US"/>
          </a:p>
        </p:txBody>
      </p:sp>
      <p:sp>
        <p:nvSpPr>
          <p:cNvPr id="34" name="Text 32"/>
          <p:cNvSpPr/>
          <p:nvPr/>
        </p:nvSpPr>
        <p:spPr>
          <a:xfrm>
            <a:off x="3794760" y="293522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ssn</a:t>
            </a:r>
            <a:endParaRPr lang="en-US" sz="900" dirty="0"/>
          </a:p>
        </p:txBody>
      </p:sp>
      <p:sp>
        <p:nvSpPr>
          <p:cNvPr id="35" name="Shape 33"/>
          <p:cNvSpPr/>
          <p:nvPr/>
        </p:nvSpPr>
        <p:spPr>
          <a:xfrm>
            <a:off x="4143256" y="3172236"/>
            <a:ext cx="201973" cy="183612"/>
          </a:xfrm>
          <a:prstGeom prst="line">
            <a:avLst/>
          </a:prstGeom>
          <a:noFill/>
          <a:ln w="15875">
            <a:solidFill>
              <a:srgbClr val="3D5A73"/>
            </a:solidFill>
            <a:prstDash val="solid"/>
          </a:ln>
        </p:spPr>
        <p:txBody>
          <a:bodyPr/>
          <a:lstStyle/>
          <a:p>
            <a:endParaRPr lang="en-US"/>
          </a:p>
        </p:txBody>
      </p:sp>
      <p:sp>
        <p:nvSpPr>
          <p:cNvPr id="36" name="Text 34"/>
          <p:cNvSpPr/>
          <p:nvPr/>
        </p:nvSpPr>
        <p:spPr>
          <a:xfrm>
            <a:off x="4297680" y="266090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name</a:t>
            </a:r>
            <a:endParaRPr lang="en-US" sz="900" dirty="0"/>
          </a:p>
        </p:txBody>
      </p:sp>
      <p:sp>
        <p:nvSpPr>
          <p:cNvPr id="37" name="Shape 35"/>
          <p:cNvSpPr/>
          <p:nvPr/>
        </p:nvSpPr>
        <p:spPr>
          <a:xfrm>
            <a:off x="4526280" y="2916936"/>
            <a:ext cx="914" cy="438912"/>
          </a:xfrm>
          <a:prstGeom prst="line">
            <a:avLst/>
          </a:prstGeom>
          <a:noFill/>
          <a:ln w="15875">
            <a:solidFill>
              <a:srgbClr val="3D5A73"/>
            </a:solidFill>
            <a:prstDash val="solid"/>
          </a:ln>
        </p:spPr>
        <p:txBody>
          <a:bodyPr/>
          <a:lstStyle/>
          <a:p>
            <a:endParaRPr lang="en-US"/>
          </a:p>
        </p:txBody>
      </p:sp>
      <p:sp>
        <p:nvSpPr>
          <p:cNvPr id="38" name="Text 36"/>
          <p:cNvSpPr/>
          <p:nvPr/>
        </p:nvSpPr>
        <p:spPr>
          <a:xfrm>
            <a:off x="4800600" y="293522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lot</a:t>
            </a:r>
            <a:endParaRPr lang="en-US" sz="900" dirty="0"/>
          </a:p>
        </p:txBody>
      </p:sp>
      <p:sp>
        <p:nvSpPr>
          <p:cNvPr id="39" name="Shape 37"/>
          <p:cNvSpPr/>
          <p:nvPr/>
        </p:nvSpPr>
        <p:spPr>
          <a:xfrm flipH="1">
            <a:off x="4707331" y="3172236"/>
            <a:ext cx="201973" cy="183612"/>
          </a:xfrm>
          <a:prstGeom prst="line">
            <a:avLst/>
          </a:prstGeom>
          <a:noFill/>
          <a:ln w="15875">
            <a:solidFill>
              <a:srgbClr val="3D5A73"/>
            </a:solidFill>
            <a:prstDash val="solid"/>
          </a:ln>
        </p:spPr>
        <p:txBody>
          <a:bodyPr/>
          <a:lstStyle/>
          <a:p>
            <a:endParaRPr lang="en-US"/>
          </a:p>
        </p:txBody>
      </p:sp>
      <p:sp>
        <p:nvSpPr>
          <p:cNvPr id="40" name="Text 38"/>
          <p:cNvSpPr/>
          <p:nvPr/>
        </p:nvSpPr>
        <p:spPr>
          <a:xfrm>
            <a:off x="7040880" y="293522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did</a:t>
            </a:r>
            <a:endParaRPr lang="en-US" sz="900" dirty="0"/>
          </a:p>
        </p:txBody>
      </p:sp>
      <p:sp>
        <p:nvSpPr>
          <p:cNvPr id="41" name="Shape 39"/>
          <p:cNvSpPr/>
          <p:nvPr/>
        </p:nvSpPr>
        <p:spPr>
          <a:xfrm>
            <a:off x="7389376" y="3172236"/>
            <a:ext cx="201973" cy="183612"/>
          </a:xfrm>
          <a:prstGeom prst="line">
            <a:avLst/>
          </a:prstGeom>
          <a:noFill/>
          <a:ln w="15875">
            <a:solidFill>
              <a:srgbClr val="3D5A73"/>
            </a:solidFill>
            <a:prstDash val="solid"/>
          </a:ln>
        </p:spPr>
        <p:txBody>
          <a:bodyPr/>
          <a:lstStyle/>
          <a:p>
            <a:endParaRPr lang="en-US"/>
          </a:p>
        </p:txBody>
      </p:sp>
      <p:sp>
        <p:nvSpPr>
          <p:cNvPr id="42" name="Text 40"/>
          <p:cNvSpPr/>
          <p:nvPr/>
        </p:nvSpPr>
        <p:spPr>
          <a:xfrm>
            <a:off x="7543800" y="266090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dname</a:t>
            </a:r>
            <a:endParaRPr lang="en-US" sz="900" dirty="0"/>
          </a:p>
        </p:txBody>
      </p:sp>
      <p:sp>
        <p:nvSpPr>
          <p:cNvPr id="43" name="Shape 41"/>
          <p:cNvSpPr/>
          <p:nvPr/>
        </p:nvSpPr>
        <p:spPr>
          <a:xfrm>
            <a:off x="7772400" y="2916936"/>
            <a:ext cx="914" cy="438912"/>
          </a:xfrm>
          <a:prstGeom prst="line">
            <a:avLst/>
          </a:prstGeom>
          <a:noFill/>
          <a:ln w="15875">
            <a:solidFill>
              <a:srgbClr val="3D5A73"/>
            </a:solidFill>
            <a:prstDash val="solid"/>
          </a:ln>
        </p:spPr>
        <p:txBody>
          <a:bodyPr/>
          <a:lstStyle/>
          <a:p>
            <a:endParaRPr lang="en-US"/>
          </a:p>
        </p:txBody>
      </p:sp>
      <p:sp>
        <p:nvSpPr>
          <p:cNvPr id="44" name="Text 42"/>
          <p:cNvSpPr/>
          <p:nvPr/>
        </p:nvSpPr>
        <p:spPr>
          <a:xfrm>
            <a:off x="8010144" y="2935224"/>
            <a:ext cx="530352"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budget</a:t>
            </a:r>
            <a:endParaRPr lang="en-US" sz="900" dirty="0"/>
          </a:p>
        </p:txBody>
      </p:sp>
      <p:sp>
        <p:nvSpPr>
          <p:cNvPr id="45" name="Shape 43"/>
          <p:cNvSpPr/>
          <p:nvPr/>
        </p:nvSpPr>
        <p:spPr>
          <a:xfrm flipH="1">
            <a:off x="7953451" y="3176303"/>
            <a:ext cx="197499" cy="179545"/>
          </a:xfrm>
          <a:prstGeom prst="line">
            <a:avLst/>
          </a:prstGeom>
          <a:noFill/>
          <a:ln w="15875">
            <a:solidFill>
              <a:srgbClr val="3D5A73"/>
            </a:solidFill>
            <a:prstDash val="solid"/>
          </a:ln>
        </p:spPr>
        <p:txBody>
          <a:bodyPr/>
          <a:lstStyle/>
          <a:p>
            <a:endParaRPr lang="en-US"/>
          </a:p>
        </p:txBody>
      </p:sp>
      <p:sp>
        <p:nvSpPr>
          <p:cNvPr id="46" name="Text 44"/>
          <p:cNvSpPr/>
          <p:nvPr/>
        </p:nvSpPr>
        <p:spPr>
          <a:xfrm>
            <a:off x="5760720" y="4005072"/>
            <a:ext cx="822960" cy="310896"/>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Duration</a:t>
            </a:r>
            <a:endParaRPr lang="en-US" sz="1000" dirty="0"/>
          </a:p>
        </p:txBody>
      </p:sp>
      <p:sp>
        <p:nvSpPr>
          <p:cNvPr id="47" name="Shape 45"/>
          <p:cNvSpPr/>
          <p:nvPr/>
        </p:nvSpPr>
        <p:spPr>
          <a:xfrm>
            <a:off x="6172200" y="3739896"/>
            <a:ext cx="914" cy="265176"/>
          </a:xfrm>
          <a:prstGeom prst="line">
            <a:avLst/>
          </a:prstGeom>
          <a:noFill/>
          <a:ln w="15875">
            <a:solidFill>
              <a:srgbClr val="3D5A73"/>
            </a:solidFill>
            <a:prstDash val="solid"/>
          </a:ln>
        </p:spPr>
        <p:txBody>
          <a:bodyPr/>
          <a:lstStyle/>
          <a:p>
            <a:endParaRPr lang="en-US"/>
          </a:p>
        </p:txBody>
      </p:sp>
      <p:sp>
        <p:nvSpPr>
          <p:cNvPr id="48" name="Text 46"/>
          <p:cNvSpPr/>
          <p:nvPr/>
        </p:nvSpPr>
        <p:spPr>
          <a:xfrm>
            <a:off x="4914900" y="4032504"/>
            <a:ext cx="50292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from</a:t>
            </a:r>
            <a:endParaRPr lang="en-US" sz="900" dirty="0"/>
          </a:p>
        </p:txBody>
      </p:sp>
      <p:sp>
        <p:nvSpPr>
          <p:cNvPr id="49" name="Shape 47"/>
          <p:cNvSpPr/>
          <p:nvPr/>
        </p:nvSpPr>
        <p:spPr>
          <a:xfrm>
            <a:off x="5417820" y="4160520"/>
            <a:ext cx="342900" cy="914"/>
          </a:xfrm>
          <a:prstGeom prst="line">
            <a:avLst/>
          </a:prstGeom>
          <a:noFill/>
          <a:ln w="15875">
            <a:solidFill>
              <a:srgbClr val="3D5A73"/>
            </a:solidFill>
            <a:prstDash val="solid"/>
          </a:ln>
        </p:spPr>
        <p:txBody>
          <a:bodyPr/>
          <a:lstStyle/>
          <a:p>
            <a:endParaRPr lang="en-US"/>
          </a:p>
        </p:txBody>
      </p:sp>
      <p:sp>
        <p:nvSpPr>
          <p:cNvPr id="50" name="Text 48"/>
          <p:cNvSpPr/>
          <p:nvPr/>
        </p:nvSpPr>
        <p:spPr>
          <a:xfrm>
            <a:off x="6949440" y="403250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to</a:t>
            </a:r>
            <a:endParaRPr lang="en-US" sz="900" dirty="0"/>
          </a:p>
        </p:txBody>
      </p:sp>
      <p:sp>
        <p:nvSpPr>
          <p:cNvPr id="51" name="Shape 49"/>
          <p:cNvSpPr/>
          <p:nvPr/>
        </p:nvSpPr>
        <p:spPr>
          <a:xfrm flipH="1">
            <a:off x="6583680" y="4160520"/>
            <a:ext cx="365760" cy="914"/>
          </a:xfrm>
          <a:prstGeom prst="line">
            <a:avLst/>
          </a:prstGeom>
          <a:noFill/>
          <a:ln w="15875">
            <a:solidFill>
              <a:srgbClr val="3D5A73"/>
            </a:solidFill>
            <a:prstDash val="solid"/>
          </a:ln>
        </p:spPr>
        <p:txBody>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Entity vs. Relationship</a:t>
            </a:r>
            <a:endParaRPr lang="en-US" sz="3000" dirty="0"/>
          </a:p>
        </p:txBody>
      </p:sp>
      <p:sp>
        <p:nvSpPr>
          <p:cNvPr id="7" name="Text 5"/>
          <p:cNvSpPr txBox="1"/>
          <p:nvPr/>
        </p:nvSpPr>
        <p:spPr>
          <a:xfrm>
            <a:off x="640080" y="1005840"/>
            <a:ext cx="3017520" cy="3611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F3B47"/>
                </a:solidFill>
                <a:latin typeface="Calibri" pitchFamily="34" charset="0"/>
                <a:ea typeface="Calibri" pitchFamily="34" charset="-122"/>
                <a:cs typeface="Calibri" pitchFamily="34" charset="-120"/>
              </a:rPr>
              <a:t>The first ER diagram is OK if a manager gets a separate discretionary budget for each department.</a:t>
            </a:r>
            <a:endParaRPr lang="en-US" sz="1200" dirty="0"/>
          </a:p>
          <a:p>
            <a:pPr marL="342900" indent="-342900">
              <a:spcAft>
                <a:spcPts val="600"/>
              </a:spcAft>
              <a:buSzPct val="100000"/>
              <a:buChar char="•"/>
            </a:pPr>
            <a:r>
              <a:rPr lang="en-US" sz="1200" dirty="0">
                <a:solidFill>
                  <a:srgbClr val="1F3B47"/>
                </a:solidFill>
                <a:latin typeface="Calibri" pitchFamily="34" charset="0"/>
                <a:ea typeface="Calibri" pitchFamily="34" charset="-122"/>
                <a:cs typeface="Calibri" pitchFamily="34" charset="-120"/>
              </a:rPr>
              <a:t>What if a manager gets a discretionary budget that covers all managed departments?</a:t>
            </a:r>
            <a:endParaRPr lang="en-US" sz="1200" dirty="0"/>
          </a:p>
          <a:p>
            <a:pPr marL="457200" lvl="1" indent="-228600">
              <a:spcAft>
                <a:spcPts val="600"/>
              </a:spcAft>
              <a:buSzPct val="100000"/>
              <a:buChar char="•"/>
            </a:pPr>
            <a:r>
              <a:rPr lang="en-US" sz="1100" dirty="0">
                <a:solidFill>
                  <a:srgbClr val="5A7079"/>
                </a:solidFill>
                <a:latin typeface="Calibri" pitchFamily="34" charset="0"/>
                <a:ea typeface="Calibri" pitchFamily="34" charset="-122"/>
                <a:cs typeface="Calibri" pitchFamily="34" charset="-120"/>
              </a:rPr>
              <a:t>Redundancy: dbudget is stored for each department managed by the manager.</a:t>
            </a:r>
            <a:endParaRPr lang="en-US" sz="1200" dirty="0"/>
          </a:p>
          <a:p>
            <a:pPr marL="457200" lvl="1" indent="-228600">
              <a:spcAft>
                <a:spcPts val="600"/>
              </a:spcAft>
              <a:buSzPct val="100000"/>
              <a:buChar char="•"/>
            </a:pPr>
            <a:r>
              <a:rPr lang="en-US" sz="1100" dirty="0">
                <a:solidFill>
                  <a:srgbClr val="5A7079"/>
                </a:solidFill>
                <a:latin typeface="Calibri" pitchFamily="34" charset="0"/>
                <a:ea typeface="Calibri" pitchFamily="34" charset="-122"/>
                <a:cs typeface="Calibri" pitchFamily="34" charset="-120"/>
              </a:rPr>
              <a:t>Misleading: suggests dbudget is associated with the department–manager combination.</a:t>
            </a:r>
            <a:endParaRPr lang="en-US" sz="1200" dirty="0"/>
          </a:p>
        </p:txBody>
      </p:sp>
      <p:sp>
        <p:nvSpPr>
          <p:cNvPr id="8" name="Text 6"/>
          <p:cNvSpPr/>
          <p:nvPr/>
        </p:nvSpPr>
        <p:spPr>
          <a:xfrm>
            <a:off x="4091940" y="1618488"/>
            <a:ext cx="86868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Employees</a:t>
            </a:r>
            <a:endParaRPr lang="en-US" sz="1000" dirty="0"/>
          </a:p>
        </p:txBody>
      </p:sp>
      <p:sp>
        <p:nvSpPr>
          <p:cNvPr id="9" name="Text 7"/>
          <p:cNvSpPr/>
          <p:nvPr/>
        </p:nvSpPr>
        <p:spPr>
          <a:xfrm>
            <a:off x="5554980" y="1563624"/>
            <a:ext cx="1234440" cy="438912"/>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Manages2</a:t>
            </a:r>
            <a:endParaRPr lang="en-US" sz="950" dirty="0"/>
          </a:p>
        </p:txBody>
      </p:sp>
      <p:sp>
        <p:nvSpPr>
          <p:cNvPr id="10" name="Text 8"/>
          <p:cNvSpPr/>
          <p:nvPr/>
        </p:nvSpPr>
        <p:spPr>
          <a:xfrm>
            <a:off x="7292340" y="1618488"/>
            <a:ext cx="96012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Departments</a:t>
            </a:r>
            <a:endParaRPr lang="en-US" sz="950" dirty="0"/>
          </a:p>
        </p:txBody>
      </p:sp>
      <p:sp>
        <p:nvSpPr>
          <p:cNvPr id="11" name="Shape 9"/>
          <p:cNvSpPr/>
          <p:nvPr/>
        </p:nvSpPr>
        <p:spPr>
          <a:xfrm>
            <a:off x="4960620" y="1783080"/>
            <a:ext cx="594360" cy="914"/>
          </a:xfrm>
          <a:prstGeom prst="line">
            <a:avLst/>
          </a:prstGeom>
          <a:noFill/>
          <a:ln w="15875">
            <a:solidFill>
              <a:srgbClr val="3D5A73"/>
            </a:solidFill>
            <a:prstDash val="solid"/>
          </a:ln>
        </p:spPr>
        <p:txBody>
          <a:bodyPr/>
          <a:lstStyle/>
          <a:p>
            <a:endParaRPr lang="en-US"/>
          </a:p>
        </p:txBody>
      </p:sp>
      <p:sp>
        <p:nvSpPr>
          <p:cNvPr id="12" name="Shape 10"/>
          <p:cNvSpPr/>
          <p:nvPr/>
        </p:nvSpPr>
        <p:spPr>
          <a:xfrm flipH="1">
            <a:off x="6789420" y="1783080"/>
            <a:ext cx="502920" cy="914"/>
          </a:xfrm>
          <a:prstGeom prst="line">
            <a:avLst/>
          </a:prstGeom>
          <a:noFill/>
          <a:ln w="15875">
            <a:solidFill>
              <a:srgbClr val="3D5A73"/>
            </a:solidFill>
            <a:prstDash val="solid"/>
            <a:tailEnd type="triangle"/>
          </a:ln>
        </p:spPr>
        <p:txBody>
          <a:bodyPr/>
          <a:lstStyle/>
          <a:p>
            <a:endParaRPr lang="en-US"/>
          </a:p>
        </p:txBody>
      </p:sp>
      <p:sp>
        <p:nvSpPr>
          <p:cNvPr id="13" name="Text 11"/>
          <p:cNvSpPr/>
          <p:nvPr/>
        </p:nvSpPr>
        <p:spPr>
          <a:xfrm>
            <a:off x="3794760" y="119786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ssn</a:t>
            </a:r>
            <a:endParaRPr lang="en-US" sz="900" dirty="0"/>
          </a:p>
        </p:txBody>
      </p:sp>
      <p:sp>
        <p:nvSpPr>
          <p:cNvPr id="14" name="Shape 12"/>
          <p:cNvSpPr/>
          <p:nvPr/>
        </p:nvSpPr>
        <p:spPr>
          <a:xfrm>
            <a:off x="4143256" y="1434876"/>
            <a:ext cx="201973" cy="183612"/>
          </a:xfrm>
          <a:prstGeom prst="line">
            <a:avLst/>
          </a:prstGeom>
          <a:noFill/>
          <a:ln w="15875">
            <a:solidFill>
              <a:srgbClr val="3D5A73"/>
            </a:solidFill>
            <a:prstDash val="solid"/>
          </a:ln>
        </p:spPr>
        <p:txBody>
          <a:bodyPr/>
          <a:lstStyle/>
          <a:p>
            <a:endParaRPr lang="en-US"/>
          </a:p>
        </p:txBody>
      </p:sp>
      <p:sp>
        <p:nvSpPr>
          <p:cNvPr id="15" name="Text 13"/>
          <p:cNvSpPr/>
          <p:nvPr/>
        </p:nvSpPr>
        <p:spPr>
          <a:xfrm>
            <a:off x="4297680" y="96926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name</a:t>
            </a:r>
            <a:endParaRPr lang="en-US" sz="900" dirty="0"/>
          </a:p>
        </p:txBody>
      </p:sp>
      <p:sp>
        <p:nvSpPr>
          <p:cNvPr id="16" name="Shape 14"/>
          <p:cNvSpPr/>
          <p:nvPr/>
        </p:nvSpPr>
        <p:spPr>
          <a:xfrm>
            <a:off x="4526280" y="1225296"/>
            <a:ext cx="914" cy="393192"/>
          </a:xfrm>
          <a:prstGeom prst="line">
            <a:avLst/>
          </a:prstGeom>
          <a:noFill/>
          <a:ln w="15875">
            <a:solidFill>
              <a:srgbClr val="3D5A73"/>
            </a:solidFill>
            <a:prstDash val="solid"/>
          </a:ln>
        </p:spPr>
        <p:txBody>
          <a:bodyPr/>
          <a:lstStyle/>
          <a:p>
            <a:endParaRPr lang="en-US"/>
          </a:p>
        </p:txBody>
      </p:sp>
      <p:sp>
        <p:nvSpPr>
          <p:cNvPr id="17" name="Text 15"/>
          <p:cNvSpPr/>
          <p:nvPr/>
        </p:nvSpPr>
        <p:spPr>
          <a:xfrm>
            <a:off x="4800600" y="119786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lot</a:t>
            </a:r>
            <a:endParaRPr lang="en-US" sz="900" dirty="0"/>
          </a:p>
        </p:txBody>
      </p:sp>
      <p:sp>
        <p:nvSpPr>
          <p:cNvPr id="18" name="Shape 16"/>
          <p:cNvSpPr/>
          <p:nvPr/>
        </p:nvSpPr>
        <p:spPr>
          <a:xfrm flipH="1">
            <a:off x="4707331" y="1434876"/>
            <a:ext cx="201973" cy="183612"/>
          </a:xfrm>
          <a:prstGeom prst="line">
            <a:avLst/>
          </a:prstGeom>
          <a:noFill/>
          <a:ln w="15875">
            <a:solidFill>
              <a:srgbClr val="3D5A73"/>
            </a:solidFill>
            <a:prstDash val="solid"/>
          </a:ln>
        </p:spPr>
        <p:txBody>
          <a:bodyPr/>
          <a:lstStyle/>
          <a:p>
            <a:endParaRPr lang="en-US"/>
          </a:p>
        </p:txBody>
      </p:sp>
      <p:sp>
        <p:nvSpPr>
          <p:cNvPr id="19" name="Text 17"/>
          <p:cNvSpPr/>
          <p:nvPr/>
        </p:nvSpPr>
        <p:spPr>
          <a:xfrm>
            <a:off x="7040880" y="119786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did</a:t>
            </a:r>
            <a:endParaRPr lang="en-US" sz="900" dirty="0"/>
          </a:p>
        </p:txBody>
      </p:sp>
      <p:sp>
        <p:nvSpPr>
          <p:cNvPr id="20" name="Shape 18"/>
          <p:cNvSpPr/>
          <p:nvPr/>
        </p:nvSpPr>
        <p:spPr>
          <a:xfrm>
            <a:off x="7389376" y="1434876"/>
            <a:ext cx="201973" cy="183612"/>
          </a:xfrm>
          <a:prstGeom prst="line">
            <a:avLst/>
          </a:prstGeom>
          <a:noFill/>
          <a:ln w="15875">
            <a:solidFill>
              <a:srgbClr val="3D5A73"/>
            </a:solidFill>
            <a:prstDash val="solid"/>
          </a:ln>
        </p:spPr>
        <p:txBody>
          <a:bodyPr/>
          <a:lstStyle/>
          <a:p>
            <a:endParaRPr lang="en-US"/>
          </a:p>
        </p:txBody>
      </p:sp>
      <p:sp>
        <p:nvSpPr>
          <p:cNvPr id="21" name="Text 19"/>
          <p:cNvSpPr/>
          <p:nvPr/>
        </p:nvSpPr>
        <p:spPr>
          <a:xfrm>
            <a:off x="7543800" y="96926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dname</a:t>
            </a:r>
            <a:endParaRPr lang="en-US" sz="900" dirty="0"/>
          </a:p>
        </p:txBody>
      </p:sp>
      <p:sp>
        <p:nvSpPr>
          <p:cNvPr id="22" name="Shape 20"/>
          <p:cNvSpPr/>
          <p:nvPr/>
        </p:nvSpPr>
        <p:spPr>
          <a:xfrm>
            <a:off x="7772400" y="1225296"/>
            <a:ext cx="914" cy="393192"/>
          </a:xfrm>
          <a:prstGeom prst="line">
            <a:avLst/>
          </a:prstGeom>
          <a:noFill/>
          <a:ln w="15875">
            <a:solidFill>
              <a:srgbClr val="3D5A73"/>
            </a:solidFill>
            <a:prstDash val="solid"/>
          </a:ln>
        </p:spPr>
        <p:txBody>
          <a:bodyPr/>
          <a:lstStyle/>
          <a:p>
            <a:endParaRPr lang="en-US"/>
          </a:p>
        </p:txBody>
      </p:sp>
      <p:sp>
        <p:nvSpPr>
          <p:cNvPr id="23" name="Text 21"/>
          <p:cNvSpPr/>
          <p:nvPr/>
        </p:nvSpPr>
        <p:spPr>
          <a:xfrm>
            <a:off x="8010144" y="1197864"/>
            <a:ext cx="530352"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budget</a:t>
            </a:r>
            <a:endParaRPr lang="en-US" sz="900" dirty="0"/>
          </a:p>
        </p:txBody>
      </p:sp>
      <p:sp>
        <p:nvSpPr>
          <p:cNvPr id="24" name="Shape 22"/>
          <p:cNvSpPr/>
          <p:nvPr/>
        </p:nvSpPr>
        <p:spPr>
          <a:xfrm flipH="1">
            <a:off x="7953451" y="1438943"/>
            <a:ext cx="197499" cy="179545"/>
          </a:xfrm>
          <a:prstGeom prst="line">
            <a:avLst/>
          </a:prstGeom>
          <a:noFill/>
          <a:ln w="15875">
            <a:solidFill>
              <a:srgbClr val="3D5A73"/>
            </a:solidFill>
            <a:prstDash val="solid"/>
          </a:ln>
        </p:spPr>
        <p:txBody>
          <a:bodyPr/>
          <a:lstStyle/>
          <a:p>
            <a:endParaRPr lang="en-US"/>
          </a:p>
        </p:txBody>
      </p:sp>
      <p:sp>
        <p:nvSpPr>
          <p:cNvPr id="25" name="Text 23"/>
          <p:cNvSpPr/>
          <p:nvPr/>
        </p:nvSpPr>
        <p:spPr>
          <a:xfrm>
            <a:off x="5623560" y="110642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since</a:t>
            </a:r>
            <a:endParaRPr lang="en-US" sz="900" dirty="0"/>
          </a:p>
        </p:txBody>
      </p:sp>
      <p:sp>
        <p:nvSpPr>
          <p:cNvPr id="26" name="Shape 24"/>
          <p:cNvSpPr/>
          <p:nvPr/>
        </p:nvSpPr>
        <p:spPr>
          <a:xfrm>
            <a:off x="5923145" y="1356128"/>
            <a:ext cx="143030" cy="245194"/>
          </a:xfrm>
          <a:prstGeom prst="line">
            <a:avLst/>
          </a:prstGeom>
          <a:noFill/>
          <a:ln w="15875">
            <a:solidFill>
              <a:srgbClr val="3D5A73"/>
            </a:solidFill>
            <a:prstDash val="solid"/>
          </a:ln>
        </p:spPr>
        <p:txBody>
          <a:bodyPr/>
          <a:lstStyle/>
          <a:p>
            <a:endParaRPr lang="en-US"/>
          </a:p>
        </p:txBody>
      </p:sp>
      <p:sp>
        <p:nvSpPr>
          <p:cNvPr id="27" name="Text 25"/>
          <p:cNvSpPr/>
          <p:nvPr/>
        </p:nvSpPr>
        <p:spPr>
          <a:xfrm>
            <a:off x="6227064" y="1106424"/>
            <a:ext cx="566928"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dbudget</a:t>
            </a:r>
            <a:endParaRPr lang="en-US" sz="900" dirty="0"/>
          </a:p>
        </p:txBody>
      </p:sp>
      <p:sp>
        <p:nvSpPr>
          <p:cNvPr id="28" name="Shape 26"/>
          <p:cNvSpPr/>
          <p:nvPr/>
        </p:nvSpPr>
        <p:spPr>
          <a:xfrm flipH="1">
            <a:off x="6283195" y="1357763"/>
            <a:ext cx="151284" cy="245326"/>
          </a:xfrm>
          <a:prstGeom prst="line">
            <a:avLst/>
          </a:prstGeom>
          <a:noFill/>
          <a:ln w="15875">
            <a:solidFill>
              <a:srgbClr val="3D5A73"/>
            </a:solidFill>
            <a:prstDash val="solid"/>
          </a:ln>
        </p:spPr>
        <p:txBody>
          <a:bodyPr/>
          <a:lstStyle/>
          <a:p>
            <a:endParaRPr lang="en-US"/>
          </a:p>
        </p:txBody>
      </p:sp>
      <p:sp>
        <p:nvSpPr>
          <p:cNvPr id="29" name="Text 27"/>
          <p:cNvSpPr/>
          <p:nvPr/>
        </p:nvSpPr>
        <p:spPr>
          <a:xfrm>
            <a:off x="4091940" y="3127248"/>
            <a:ext cx="86868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Employees</a:t>
            </a:r>
            <a:endParaRPr lang="en-US" sz="1000" dirty="0"/>
          </a:p>
        </p:txBody>
      </p:sp>
      <p:sp>
        <p:nvSpPr>
          <p:cNvPr id="30" name="Text 28"/>
          <p:cNvSpPr/>
          <p:nvPr/>
        </p:nvSpPr>
        <p:spPr>
          <a:xfrm>
            <a:off x="4178808" y="3648456"/>
            <a:ext cx="694944" cy="475488"/>
          </a:xfrm>
          <a:prstGeom prst="triangle">
            <a:avLst/>
          </a:prstGeom>
          <a:solidFill>
            <a:srgbClr val="E3F3F0"/>
          </a:solidFill>
          <a:ln w="15875">
            <a:solidFill>
              <a:srgbClr val="2B5797"/>
            </a:solidFill>
          </a:ln>
        </p:spPr>
        <p:txBody>
          <a:bodyPr wrap="square" lIns="0" tIns="0" rIns="0" bIns="38100" rtlCol="0" anchor="b"/>
          <a:lstStyle/>
          <a:p>
            <a:pPr marL="0" indent="0" algn="ctr">
              <a:buNone/>
            </a:pPr>
            <a:r>
              <a:rPr lang="en-US" sz="950" b="1" dirty="0">
                <a:solidFill>
                  <a:srgbClr val="55BFAE"/>
                </a:solidFill>
                <a:latin typeface="Calibri" pitchFamily="34" charset="0"/>
                <a:ea typeface="Calibri" pitchFamily="34" charset="-122"/>
                <a:cs typeface="Calibri" pitchFamily="34" charset="-120"/>
              </a:rPr>
              <a:t>ISA</a:t>
            </a:r>
            <a:endParaRPr lang="en-US" sz="950" dirty="0"/>
          </a:p>
        </p:txBody>
      </p:sp>
      <p:sp>
        <p:nvSpPr>
          <p:cNvPr id="31" name="Text 29"/>
          <p:cNvSpPr/>
          <p:nvPr/>
        </p:nvSpPr>
        <p:spPr>
          <a:xfrm>
            <a:off x="4091940" y="4279392"/>
            <a:ext cx="868680" cy="310896"/>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Managers</a:t>
            </a:r>
            <a:endParaRPr lang="en-US" sz="1000" dirty="0"/>
          </a:p>
        </p:txBody>
      </p:sp>
      <p:sp>
        <p:nvSpPr>
          <p:cNvPr id="32" name="Text 30"/>
          <p:cNvSpPr/>
          <p:nvPr/>
        </p:nvSpPr>
        <p:spPr>
          <a:xfrm>
            <a:off x="5737860" y="3529584"/>
            <a:ext cx="1234440" cy="438912"/>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Manages2</a:t>
            </a:r>
            <a:endParaRPr lang="en-US" sz="950" dirty="0"/>
          </a:p>
        </p:txBody>
      </p:sp>
      <p:sp>
        <p:nvSpPr>
          <p:cNvPr id="33" name="Text 31"/>
          <p:cNvSpPr/>
          <p:nvPr/>
        </p:nvSpPr>
        <p:spPr>
          <a:xfrm>
            <a:off x="7338060" y="3584448"/>
            <a:ext cx="960120" cy="329184"/>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950" b="1" dirty="0">
                <a:solidFill>
                  <a:srgbClr val="1F2D3D"/>
                </a:solidFill>
                <a:latin typeface="Calibri" pitchFamily="34" charset="0"/>
                <a:ea typeface="Calibri" pitchFamily="34" charset="-122"/>
                <a:cs typeface="Calibri" pitchFamily="34" charset="-120"/>
              </a:rPr>
              <a:t>Departments</a:t>
            </a:r>
            <a:endParaRPr lang="en-US" sz="950" dirty="0"/>
          </a:p>
        </p:txBody>
      </p:sp>
      <p:sp>
        <p:nvSpPr>
          <p:cNvPr id="34" name="Text 32"/>
          <p:cNvSpPr/>
          <p:nvPr/>
        </p:nvSpPr>
        <p:spPr>
          <a:xfrm>
            <a:off x="3794760" y="270662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ssn</a:t>
            </a:r>
            <a:endParaRPr lang="en-US" sz="900" dirty="0"/>
          </a:p>
        </p:txBody>
      </p:sp>
      <p:sp>
        <p:nvSpPr>
          <p:cNvPr id="35" name="Shape 33"/>
          <p:cNvSpPr/>
          <p:nvPr/>
        </p:nvSpPr>
        <p:spPr>
          <a:xfrm>
            <a:off x="4143256" y="2943636"/>
            <a:ext cx="201973" cy="183612"/>
          </a:xfrm>
          <a:prstGeom prst="line">
            <a:avLst/>
          </a:prstGeom>
          <a:noFill/>
          <a:ln w="15875">
            <a:solidFill>
              <a:srgbClr val="3D5A73"/>
            </a:solidFill>
            <a:prstDash val="solid"/>
          </a:ln>
        </p:spPr>
        <p:txBody>
          <a:bodyPr/>
          <a:lstStyle/>
          <a:p>
            <a:endParaRPr lang="en-US"/>
          </a:p>
        </p:txBody>
      </p:sp>
      <p:sp>
        <p:nvSpPr>
          <p:cNvPr id="36" name="Text 34"/>
          <p:cNvSpPr/>
          <p:nvPr/>
        </p:nvSpPr>
        <p:spPr>
          <a:xfrm>
            <a:off x="4297680" y="247802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name</a:t>
            </a:r>
            <a:endParaRPr lang="en-US" sz="900" dirty="0"/>
          </a:p>
        </p:txBody>
      </p:sp>
      <p:sp>
        <p:nvSpPr>
          <p:cNvPr id="37" name="Shape 35"/>
          <p:cNvSpPr/>
          <p:nvPr/>
        </p:nvSpPr>
        <p:spPr>
          <a:xfrm>
            <a:off x="4526280" y="2734056"/>
            <a:ext cx="914" cy="393192"/>
          </a:xfrm>
          <a:prstGeom prst="line">
            <a:avLst/>
          </a:prstGeom>
          <a:noFill/>
          <a:ln w="15875">
            <a:solidFill>
              <a:srgbClr val="3D5A73"/>
            </a:solidFill>
            <a:prstDash val="solid"/>
          </a:ln>
        </p:spPr>
        <p:txBody>
          <a:bodyPr/>
          <a:lstStyle/>
          <a:p>
            <a:endParaRPr lang="en-US"/>
          </a:p>
        </p:txBody>
      </p:sp>
      <p:sp>
        <p:nvSpPr>
          <p:cNvPr id="38" name="Text 36"/>
          <p:cNvSpPr/>
          <p:nvPr/>
        </p:nvSpPr>
        <p:spPr>
          <a:xfrm>
            <a:off x="4800600" y="270662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lot</a:t>
            </a:r>
            <a:endParaRPr lang="en-US" sz="900" dirty="0"/>
          </a:p>
        </p:txBody>
      </p:sp>
      <p:sp>
        <p:nvSpPr>
          <p:cNvPr id="39" name="Shape 37"/>
          <p:cNvSpPr/>
          <p:nvPr/>
        </p:nvSpPr>
        <p:spPr>
          <a:xfrm flipH="1">
            <a:off x="4707331" y="2943636"/>
            <a:ext cx="201973" cy="183612"/>
          </a:xfrm>
          <a:prstGeom prst="line">
            <a:avLst/>
          </a:prstGeom>
          <a:noFill/>
          <a:ln w="15875">
            <a:solidFill>
              <a:srgbClr val="3D5A73"/>
            </a:solidFill>
            <a:prstDash val="solid"/>
          </a:ln>
        </p:spPr>
        <p:txBody>
          <a:bodyPr/>
          <a:lstStyle/>
          <a:p>
            <a:endParaRPr lang="en-US"/>
          </a:p>
        </p:txBody>
      </p:sp>
      <p:sp>
        <p:nvSpPr>
          <p:cNvPr id="40" name="Text 38"/>
          <p:cNvSpPr/>
          <p:nvPr/>
        </p:nvSpPr>
        <p:spPr>
          <a:xfrm>
            <a:off x="7086600" y="316382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did</a:t>
            </a:r>
            <a:endParaRPr lang="en-US" sz="900" dirty="0"/>
          </a:p>
        </p:txBody>
      </p:sp>
      <p:sp>
        <p:nvSpPr>
          <p:cNvPr id="41" name="Shape 39"/>
          <p:cNvSpPr/>
          <p:nvPr/>
        </p:nvSpPr>
        <p:spPr>
          <a:xfrm>
            <a:off x="7435096" y="3400836"/>
            <a:ext cx="201973" cy="183612"/>
          </a:xfrm>
          <a:prstGeom prst="line">
            <a:avLst/>
          </a:prstGeom>
          <a:noFill/>
          <a:ln w="15875">
            <a:solidFill>
              <a:srgbClr val="3D5A73"/>
            </a:solidFill>
            <a:prstDash val="solid"/>
          </a:ln>
        </p:spPr>
        <p:txBody>
          <a:bodyPr/>
          <a:lstStyle/>
          <a:p>
            <a:endParaRPr lang="en-US"/>
          </a:p>
        </p:txBody>
      </p:sp>
      <p:sp>
        <p:nvSpPr>
          <p:cNvPr id="42" name="Text 40"/>
          <p:cNvSpPr/>
          <p:nvPr/>
        </p:nvSpPr>
        <p:spPr>
          <a:xfrm>
            <a:off x="7589520" y="2916936"/>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dname</a:t>
            </a:r>
            <a:endParaRPr lang="en-US" sz="900" dirty="0"/>
          </a:p>
        </p:txBody>
      </p:sp>
      <p:sp>
        <p:nvSpPr>
          <p:cNvPr id="43" name="Shape 41"/>
          <p:cNvSpPr/>
          <p:nvPr/>
        </p:nvSpPr>
        <p:spPr>
          <a:xfrm>
            <a:off x="7818120" y="3172968"/>
            <a:ext cx="914" cy="411480"/>
          </a:xfrm>
          <a:prstGeom prst="line">
            <a:avLst/>
          </a:prstGeom>
          <a:noFill/>
          <a:ln w="15875">
            <a:solidFill>
              <a:srgbClr val="3D5A73"/>
            </a:solidFill>
            <a:prstDash val="solid"/>
          </a:ln>
        </p:spPr>
        <p:txBody>
          <a:bodyPr/>
          <a:lstStyle/>
          <a:p>
            <a:endParaRPr lang="en-US"/>
          </a:p>
        </p:txBody>
      </p:sp>
      <p:sp>
        <p:nvSpPr>
          <p:cNvPr id="44" name="Text 42"/>
          <p:cNvSpPr/>
          <p:nvPr/>
        </p:nvSpPr>
        <p:spPr>
          <a:xfrm>
            <a:off x="8055864" y="3163824"/>
            <a:ext cx="530352"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budget</a:t>
            </a:r>
            <a:endParaRPr lang="en-US" sz="900" dirty="0"/>
          </a:p>
        </p:txBody>
      </p:sp>
      <p:sp>
        <p:nvSpPr>
          <p:cNvPr id="45" name="Shape 43"/>
          <p:cNvSpPr/>
          <p:nvPr/>
        </p:nvSpPr>
        <p:spPr>
          <a:xfrm flipH="1">
            <a:off x="7999171" y="3404903"/>
            <a:ext cx="197499" cy="179545"/>
          </a:xfrm>
          <a:prstGeom prst="line">
            <a:avLst/>
          </a:prstGeom>
          <a:noFill/>
          <a:ln w="15875">
            <a:solidFill>
              <a:srgbClr val="3D5A73"/>
            </a:solidFill>
            <a:prstDash val="solid"/>
          </a:ln>
        </p:spPr>
        <p:txBody>
          <a:bodyPr/>
          <a:lstStyle/>
          <a:p>
            <a:endParaRPr lang="en-US"/>
          </a:p>
        </p:txBody>
      </p:sp>
      <p:sp>
        <p:nvSpPr>
          <p:cNvPr id="46" name="Shape 44"/>
          <p:cNvSpPr/>
          <p:nvPr/>
        </p:nvSpPr>
        <p:spPr>
          <a:xfrm>
            <a:off x="4526280" y="3456432"/>
            <a:ext cx="914" cy="191567"/>
          </a:xfrm>
          <a:prstGeom prst="line">
            <a:avLst/>
          </a:prstGeom>
          <a:noFill/>
          <a:ln w="15875">
            <a:solidFill>
              <a:srgbClr val="3D5A73"/>
            </a:solidFill>
            <a:prstDash val="solid"/>
          </a:ln>
        </p:spPr>
        <p:txBody>
          <a:bodyPr/>
          <a:lstStyle/>
          <a:p>
            <a:endParaRPr lang="en-US"/>
          </a:p>
        </p:txBody>
      </p:sp>
      <p:sp>
        <p:nvSpPr>
          <p:cNvPr id="47" name="Shape 45"/>
          <p:cNvSpPr/>
          <p:nvPr/>
        </p:nvSpPr>
        <p:spPr>
          <a:xfrm>
            <a:off x="4526280" y="4124401"/>
            <a:ext cx="914" cy="154991"/>
          </a:xfrm>
          <a:prstGeom prst="line">
            <a:avLst/>
          </a:prstGeom>
          <a:noFill/>
          <a:ln w="15875">
            <a:solidFill>
              <a:srgbClr val="3D5A73"/>
            </a:solidFill>
            <a:prstDash val="solid"/>
          </a:ln>
        </p:spPr>
        <p:txBody>
          <a:bodyPr/>
          <a:lstStyle/>
          <a:p>
            <a:endParaRPr lang="en-US"/>
          </a:p>
        </p:txBody>
      </p:sp>
      <p:sp>
        <p:nvSpPr>
          <p:cNvPr id="48" name="Text 46"/>
          <p:cNvSpPr/>
          <p:nvPr/>
        </p:nvSpPr>
        <p:spPr>
          <a:xfrm>
            <a:off x="6126480" y="311810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since</a:t>
            </a:r>
            <a:endParaRPr lang="en-US" sz="900" dirty="0"/>
          </a:p>
        </p:txBody>
      </p:sp>
      <p:sp>
        <p:nvSpPr>
          <p:cNvPr id="49" name="Shape 47"/>
          <p:cNvSpPr/>
          <p:nvPr/>
        </p:nvSpPr>
        <p:spPr>
          <a:xfrm>
            <a:off x="6355080" y="3374136"/>
            <a:ext cx="914" cy="155448"/>
          </a:xfrm>
          <a:prstGeom prst="line">
            <a:avLst/>
          </a:prstGeom>
          <a:noFill/>
          <a:ln w="15875">
            <a:solidFill>
              <a:srgbClr val="3D5A73"/>
            </a:solidFill>
            <a:prstDash val="solid"/>
          </a:ln>
        </p:spPr>
        <p:txBody>
          <a:bodyPr/>
          <a:lstStyle/>
          <a:p>
            <a:endParaRPr lang="en-US"/>
          </a:p>
        </p:txBody>
      </p:sp>
      <p:sp>
        <p:nvSpPr>
          <p:cNvPr id="50" name="Shape 48"/>
          <p:cNvSpPr/>
          <p:nvPr/>
        </p:nvSpPr>
        <p:spPr>
          <a:xfrm flipV="1">
            <a:off x="4940808" y="3861689"/>
            <a:ext cx="1113876" cy="417703"/>
          </a:xfrm>
          <a:prstGeom prst="line">
            <a:avLst/>
          </a:prstGeom>
          <a:noFill/>
          <a:ln w="15875">
            <a:solidFill>
              <a:srgbClr val="3D5A73"/>
            </a:solidFill>
            <a:prstDash val="solid"/>
          </a:ln>
        </p:spPr>
        <p:txBody>
          <a:bodyPr/>
          <a:lstStyle/>
          <a:p>
            <a:endParaRPr lang="en-US"/>
          </a:p>
        </p:txBody>
      </p:sp>
      <p:sp>
        <p:nvSpPr>
          <p:cNvPr id="51" name="Shape 49"/>
          <p:cNvSpPr/>
          <p:nvPr/>
        </p:nvSpPr>
        <p:spPr>
          <a:xfrm flipH="1">
            <a:off x="6972300" y="3749040"/>
            <a:ext cx="365760" cy="914"/>
          </a:xfrm>
          <a:prstGeom prst="line">
            <a:avLst/>
          </a:prstGeom>
          <a:noFill/>
          <a:ln w="15875">
            <a:solidFill>
              <a:srgbClr val="3D5A73"/>
            </a:solidFill>
            <a:prstDash val="solid"/>
            <a:tailEnd type="triangle"/>
          </a:ln>
        </p:spPr>
        <p:txBody>
          <a:bodyPr/>
          <a:lstStyle/>
          <a:p>
            <a:endParaRPr lang="en-US"/>
          </a:p>
        </p:txBody>
      </p:sp>
      <p:sp>
        <p:nvSpPr>
          <p:cNvPr id="52" name="Text 50"/>
          <p:cNvSpPr/>
          <p:nvPr/>
        </p:nvSpPr>
        <p:spPr>
          <a:xfrm>
            <a:off x="5202936" y="4626864"/>
            <a:ext cx="566928"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dbudget</a:t>
            </a:r>
            <a:endParaRPr lang="en-US" sz="900" dirty="0"/>
          </a:p>
        </p:txBody>
      </p:sp>
      <p:sp>
        <p:nvSpPr>
          <p:cNvPr id="53" name="Shape 51"/>
          <p:cNvSpPr/>
          <p:nvPr/>
        </p:nvSpPr>
        <p:spPr>
          <a:xfrm flipH="1" flipV="1">
            <a:off x="4960620" y="4579620"/>
            <a:ext cx="297712" cy="99237"/>
          </a:xfrm>
          <a:prstGeom prst="line">
            <a:avLst/>
          </a:prstGeom>
          <a:noFill/>
          <a:ln w="15875">
            <a:solidFill>
              <a:srgbClr val="3D5A73"/>
            </a:solidFill>
            <a:prstDash val="solid"/>
          </a:ln>
        </p:spPr>
        <p:txBody>
          <a:bodyPr/>
          <a:lstStyle/>
          <a:p>
            <a:endParaRPr lang="en-US"/>
          </a:p>
        </p:txBody>
      </p:sp>
      <p:sp>
        <p:nvSpPr>
          <p:cNvPr id="54" name="Text 52"/>
          <p:cNvSpPr/>
          <p:nvPr/>
        </p:nvSpPr>
        <p:spPr>
          <a:xfrm>
            <a:off x="6766560" y="4224528"/>
            <a:ext cx="1463040" cy="411480"/>
          </a:xfrm>
          <a:prstGeom prst="rect">
            <a:avLst/>
          </a:prstGeom>
          <a:solidFill>
            <a:srgbClr val="FFFFFF"/>
          </a:solidFill>
          <a:ln w="9525">
            <a:solidFill>
              <a:srgbClr val="143F4F"/>
            </a:solidFill>
          </a:ln>
        </p:spPr>
        <p:txBody>
          <a:bodyPr wrap="square" lIns="38100" tIns="38100" rIns="38100" bIns="38100" rtlCol="0" anchor="ctr"/>
          <a:lstStyle/>
          <a:p>
            <a:pPr marL="0" indent="0" algn="ctr">
              <a:buNone/>
            </a:pPr>
            <a:r>
              <a:rPr lang="en-US" sz="1100" b="1" dirty="0">
                <a:solidFill>
                  <a:srgbClr val="1F2D3D"/>
                </a:solidFill>
                <a:latin typeface="Calibri" pitchFamily="34" charset="0"/>
                <a:ea typeface="Calibri" pitchFamily="34" charset="-122"/>
                <a:cs typeface="Calibri" pitchFamily="34" charset="-120"/>
              </a:rPr>
              <a:t>This fixes the problem!</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Binary vs. Ternary Relationships</a:t>
            </a:r>
            <a:endParaRPr lang="en-US" sz="3000" dirty="0"/>
          </a:p>
        </p:txBody>
      </p:sp>
      <p:sp>
        <p:nvSpPr>
          <p:cNvPr id="7" name="Text 5"/>
          <p:cNvSpPr txBox="1"/>
          <p:nvPr/>
        </p:nvSpPr>
        <p:spPr>
          <a:xfrm>
            <a:off x="640080" y="1005840"/>
            <a:ext cx="301752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3B47"/>
                </a:solidFill>
                <a:latin typeface="Calibri" pitchFamily="34" charset="0"/>
                <a:ea typeface="Calibri" pitchFamily="34" charset="-122"/>
                <a:cs typeface="Calibri" pitchFamily="34" charset="-120"/>
              </a:rPr>
              <a:t>Suppose:</a:t>
            </a:r>
            <a:endParaRPr lang="en-US" sz="1300" dirty="0"/>
          </a:p>
          <a:p>
            <a:pPr marL="457200" lvl="1" indent="-228600">
              <a:spcAft>
                <a:spcPts val="800"/>
              </a:spcAft>
              <a:buSzPct val="100000"/>
              <a:buChar char="•"/>
            </a:pPr>
            <a:r>
              <a:rPr lang="en-US" sz="1200" dirty="0">
                <a:solidFill>
                  <a:srgbClr val="5A7079"/>
                </a:solidFill>
                <a:latin typeface="Calibri" pitchFamily="34" charset="0"/>
                <a:ea typeface="Calibri" pitchFamily="34" charset="-122"/>
                <a:cs typeface="Calibri" pitchFamily="34" charset="-120"/>
              </a:rPr>
              <a:t>A policy cannot be owned by more than one employee.</a:t>
            </a:r>
            <a:endParaRPr lang="en-US" sz="1300" dirty="0"/>
          </a:p>
          <a:p>
            <a:pPr marL="457200" lvl="1" indent="-228600">
              <a:spcAft>
                <a:spcPts val="800"/>
              </a:spcAft>
              <a:buSzPct val="100000"/>
              <a:buChar char="•"/>
            </a:pPr>
            <a:r>
              <a:rPr lang="en-US" sz="1200" dirty="0">
                <a:solidFill>
                  <a:srgbClr val="5A7079"/>
                </a:solidFill>
                <a:latin typeface="Calibri" pitchFamily="34" charset="0"/>
                <a:ea typeface="Calibri" pitchFamily="34" charset="-122"/>
                <a:cs typeface="Calibri" pitchFamily="34" charset="-120"/>
              </a:rPr>
              <a:t>Every policy must be owned by some employee.</a:t>
            </a:r>
            <a:endParaRPr lang="en-US" sz="1300" dirty="0"/>
          </a:p>
          <a:p>
            <a:pPr marL="457200" lvl="1" indent="-228600">
              <a:spcAft>
                <a:spcPts val="800"/>
              </a:spcAft>
              <a:buSzPct val="100000"/>
              <a:buChar char="•"/>
            </a:pPr>
            <a:r>
              <a:rPr lang="en-US" sz="1200" dirty="0">
                <a:solidFill>
                  <a:srgbClr val="5A7079"/>
                </a:solidFill>
                <a:latin typeface="Calibri" pitchFamily="34" charset="0"/>
                <a:ea typeface="Calibri" pitchFamily="34" charset="-122"/>
                <a:cs typeface="Calibri" pitchFamily="34" charset="-120"/>
              </a:rPr>
              <a:t>Dependent is a weak entity set, identified by policyid.</a:t>
            </a:r>
            <a:endParaRPr lang="en-US" sz="1300" dirty="0"/>
          </a:p>
        </p:txBody>
      </p:sp>
      <p:sp>
        <p:nvSpPr>
          <p:cNvPr id="8" name="Text 6"/>
          <p:cNvSpPr/>
          <p:nvPr/>
        </p:nvSpPr>
        <p:spPr>
          <a:xfrm>
            <a:off x="4000500" y="1444752"/>
            <a:ext cx="868680" cy="310896"/>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Employees</a:t>
            </a:r>
            <a:endParaRPr lang="en-US" sz="1000" dirty="0"/>
          </a:p>
        </p:txBody>
      </p:sp>
      <p:sp>
        <p:nvSpPr>
          <p:cNvPr id="9" name="Text 7"/>
          <p:cNvSpPr/>
          <p:nvPr/>
        </p:nvSpPr>
        <p:spPr>
          <a:xfrm>
            <a:off x="5715000" y="1399032"/>
            <a:ext cx="914400" cy="402336"/>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Covers</a:t>
            </a:r>
            <a:endParaRPr lang="en-US" sz="1000" dirty="0"/>
          </a:p>
        </p:txBody>
      </p:sp>
      <p:sp>
        <p:nvSpPr>
          <p:cNvPr id="10" name="Text 8"/>
          <p:cNvSpPr/>
          <p:nvPr/>
        </p:nvSpPr>
        <p:spPr>
          <a:xfrm>
            <a:off x="7360920" y="1444752"/>
            <a:ext cx="914400" cy="310896"/>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Dependents</a:t>
            </a:r>
            <a:endParaRPr lang="en-US" sz="1000" dirty="0"/>
          </a:p>
        </p:txBody>
      </p:sp>
      <p:sp>
        <p:nvSpPr>
          <p:cNvPr id="11" name="Text 9"/>
          <p:cNvSpPr/>
          <p:nvPr/>
        </p:nvSpPr>
        <p:spPr>
          <a:xfrm>
            <a:off x="5783580" y="2048256"/>
            <a:ext cx="777240" cy="29260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Policies</a:t>
            </a:r>
            <a:endParaRPr lang="en-US" sz="1000" dirty="0"/>
          </a:p>
        </p:txBody>
      </p:sp>
      <p:sp>
        <p:nvSpPr>
          <p:cNvPr id="12" name="Shape 10"/>
          <p:cNvSpPr/>
          <p:nvPr/>
        </p:nvSpPr>
        <p:spPr>
          <a:xfrm>
            <a:off x="4869180" y="1600200"/>
            <a:ext cx="845820" cy="914"/>
          </a:xfrm>
          <a:prstGeom prst="line">
            <a:avLst/>
          </a:prstGeom>
          <a:noFill/>
          <a:ln w="15875">
            <a:solidFill>
              <a:srgbClr val="3D5A73"/>
            </a:solidFill>
            <a:prstDash val="solid"/>
          </a:ln>
        </p:spPr>
        <p:txBody>
          <a:bodyPr/>
          <a:lstStyle/>
          <a:p>
            <a:endParaRPr lang="en-US"/>
          </a:p>
        </p:txBody>
      </p:sp>
      <p:sp>
        <p:nvSpPr>
          <p:cNvPr id="13" name="Shape 11"/>
          <p:cNvSpPr/>
          <p:nvPr/>
        </p:nvSpPr>
        <p:spPr>
          <a:xfrm>
            <a:off x="6629400" y="1600200"/>
            <a:ext cx="731520" cy="914"/>
          </a:xfrm>
          <a:prstGeom prst="line">
            <a:avLst/>
          </a:prstGeom>
          <a:noFill/>
          <a:ln w="15875">
            <a:solidFill>
              <a:srgbClr val="3D5A73"/>
            </a:solidFill>
            <a:prstDash val="solid"/>
          </a:ln>
        </p:spPr>
        <p:txBody>
          <a:bodyPr/>
          <a:lstStyle/>
          <a:p>
            <a:endParaRPr lang="en-US"/>
          </a:p>
        </p:txBody>
      </p:sp>
      <p:sp>
        <p:nvSpPr>
          <p:cNvPr id="14" name="Shape 12"/>
          <p:cNvSpPr/>
          <p:nvPr/>
        </p:nvSpPr>
        <p:spPr>
          <a:xfrm>
            <a:off x="6172200" y="1801368"/>
            <a:ext cx="914" cy="246888"/>
          </a:xfrm>
          <a:prstGeom prst="line">
            <a:avLst/>
          </a:prstGeom>
          <a:noFill/>
          <a:ln w="15875">
            <a:solidFill>
              <a:srgbClr val="3D5A73"/>
            </a:solidFill>
            <a:prstDash val="solid"/>
          </a:ln>
        </p:spPr>
        <p:txBody>
          <a:bodyPr/>
          <a:lstStyle/>
          <a:p>
            <a:endParaRPr lang="en-US"/>
          </a:p>
        </p:txBody>
      </p:sp>
      <p:sp>
        <p:nvSpPr>
          <p:cNvPr id="15" name="Text 13"/>
          <p:cNvSpPr/>
          <p:nvPr/>
        </p:nvSpPr>
        <p:spPr>
          <a:xfrm>
            <a:off x="3749040" y="106070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ssn</a:t>
            </a:r>
            <a:endParaRPr lang="en-US" sz="900" dirty="0"/>
          </a:p>
        </p:txBody>
      </p:sp>
      <p:sp>
        <p:nvSpPr>
          <p:cNvPr id="16" name="Shape 14"/>
          <p:cNvSpPr/>
          <p:nvPr/>
        </p:nvSpPr>
        <p:spPr>
          <a:xfrm>
            <a:off x="4098410" y="1297413"/>
            <a:ext cx="163710" cy="147339"/>
          </a:xfrm>
          <a:prstGeom prst="line">
            <a:avLst/>
          </a:prstGeom>
          <a:noFill/>
          <a:ln w="15875">
            <a:solidFill>
              <a:srgbClr val="3D5A73"/>
            </a:solidFill>
            <a:prstDash val="solid"/>
          </a:ln>
        </p:spPr>
        <p:txBody>
          <a:bodyPr/>
          <a:lstStyle/>
          <a:p>
            <a:endParaRPr lang="en-US"/>
          </a:p>
        </p:txBody>
      </p:sp>
      <p:sp>
        <p:nvSpPr>
          <p:cNvPr id="17" name="Text 15"/>
          <p:cNvSpPr/>
          <p:nvPr/>
        </p:nvSpPr>
        <p:spPr>
          <a:xfrm>
            <a:off x="4206240" y="850392"/>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name</a:t>
            </a:r>
            <a:endParaRPr lang="en-US" sz="900" dirty="0"/>
          </a:p>
        </p:txBody>
      </p:sp>
      <p:sp>
        <p:nvSpPr>
          <p:cNvPr id="18" name="Shape 16"/>
          <p:cNvSpPr/>
          <p:nvPr/>
        </p:nvSpPr>
        <p:spPr>
          <a:xfrm>
            <a:off x="4434840" y="1106424"/>
            <a:ext cx="914" cy="338328"/>
          </a:xfrm>
          <a:prstGeom prst="line">
            <a:avLst/>
          </a:prstGeom>
          <a:noFill/>
          <a:ln w="15875">
            <a:solidFill>
              <a:srgbClr val="3D5A73"/>
            </a:solidFill>
            <a:prstDash val="solid"/>
          </a:ln>
        </p:spPr>
        <p:txBody>
          <a:bodyPr/>
          <a:lstStyle/>
          <a:p>
            <a:endParaRPr lang="en-US"/>
          </a:p>
        </p:txBody>
      </p:sp>
      <p:sp>
        <p:nvSpPr>
          <p:cNvPr id="19" name="Text 17"/>
          <p:cNvSpPr/>
          <p:nvPr/>
        </p:nvSpPr>
        <p:spPr>
          <a:xfrm>
            <a:off x="4663440" y="106070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lot</a:t>
            </a:r>
            <a:endParaRPr lang="en-US" sz="900" dirty="0"/>
          </a:p>
        </p:txBody>
      </p:sp>
      <p:sp>
        <p:nvSpPr>
          <p:cNvPr id="20" name="Shape 18"/>
          <p:cNvSpPr/>
          <p:nvPr/>
        </p:nvSpPr>
        <p:spPr>
          <a:xfrm flipH="1">
            <a:off x="4607560" y="1297413"/>
            <a:ext cx="163710" cy="147339"/>
          </a:xfrm>
          <a:prstGeom prst="line">
            <a:avLst/>
          </a:prstGeom>
          <a:noFill/>
          <a:ln w="15875">
            <a:solidFill>
              <a:srgbClr val="3D5A73"/>
            </a:solidFill>
            <a:prstDash val="solid"/>
          </a:ln>
        </p:spPr>
        <p:txBody>
          <a:bodyPr/>
          <a:lstStyle/>
          <a:p>
            <a:endParaRPr lang="en-US"/>
          </a:p>
        </p:txBody>
      </p:sp>
      <p:sp>
        <p:nvSpPr>
          <p:cNvPr id="21" name="Text 19"/>
          <p:cNvSpPr/>
          <p:nvPr/>
        </p:nvSpPr>
        <p:spPr>
          <a:xfrm>
            <a:off x="7360920" y="101498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pname</a:t>
            </a:r>
            <a:endParaRPr lang="en-US" sz="900" dirty="0"/>
          </a:p>
        </p:txBody>
      </p:sp>
      <p:sp>
        <p:nvSpPr>
          <p:cNvPr id="22" name="Shape 20"/>
          <p:cNvSpPr/>
          <p:nvPr/>
        </p:nvSpPr>
        <p:spPr>
          <a:xfrm>
            <a:off x="7651157" y="1266275"/>
            <a:ext cx="89239" cy="178477"/>
          </a:xfrm>
          <a:prstGeom prst="line">
            <a:avLst/>
          </a:prstGeom>
          <a:noFill/>
          <a:ln w="15875">
            <a:solidFill>
              <a:srgbClr val="3D5A73"/>
            </a:solidFill>
            <a:prstDash val="solid"/>
          </a:ln>
        </p:spPr>
        <p:txBody>
          <a:bodyPr/>
          <a:lstStyle/>
          <a:p>
            <a:endParaRPr lang="en-US"/>
          </a:p>
        </p:txBody>
      </p:sp>
      <p:sp>
        <p:nvSpPr>
          <p:cNvPr id="23" name="Text 21"/>
          <p:cNvSpPr/>
          <p:nvPr/>
        </p:nvSpPr>
        <p:spPr>
          <a:xfrm>
            <a:off x="7955280" y="101498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age</a:t>
            </a:r>
            <a:endParaRPr lang="en-US" sz="900" dirty="0"/>
          </a:p>
        </p:txBody>
      </p:sp>
      <p:sp>
        <p:nvSpPr>
          <p:cNvPr id="24" name="Shape 22"/>
          <p:cNvSpPr/>
          <p:nvPr/>
        </p:nvSpPr>
        <p:spPr>
          <a:xfrm flipH="1">
            <a:off x="7942478" y="1259828"/>
            <a:ext cx="147939" cy="184924"/>
          </a:xfrm>
          <a:prstGeom prst="line">
            <a:avLst/>
          </a:prstGeom>
          <a:noFill/>
          <a:ln w="15875">
            <a:solidFill>
              <a:srgbClr val="3D5A73"/>
            </a:solidFill>
            <a:prstDash val="solid"/>
          </a:ln>
        </p:spPr>
        <p:txBody>
          <a:bodyPr/>
          <a:lstStyle/>
          <a:p>
            <a:endParaRPr lang="en-US"/>
          </a:p>
        </p:txBody>
      </p:sp>
      <p:sp>
        <p:nvSpPr>
          <p:cNvPr id="25" name="Text 23"/>
          <p:cNvSpPr/>
          <p:nvPr/>
        </p:nvSpPr>
        <p:spPr>
          <a:xfrm>
            <a:off x="5509260" y="2478024"/>
            <a:ext cx="59436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policyid</a:t>
            </a:r>
            <a:endParaRPr lang="en-US" sz="900" dirty="0"/>
          </a:p>
        </p:txBody>
      </p:sp>
      <p:sp>
        <p:nvSpPr>
          <p:cNvPr id="26" name="Shape 24"/>
          <p:cNvSpPr/>
          <p:nvPr/>
        </p:nvSpPr>
        <p:spPr>
          <a:xfrm flipV="1">
            <a:off x="5912708" y="2340864"/>
            <a:ext cx="129444" cy="145624"/>
          </a:xfrm>
          <a:prstGeom prst="line">
            <a:avLst/>
          </a:prstGeom>
          <a:noFill/>
          <a:ln w="15875">
            <a:solidFill>
              <a:srgbClr val="3D5A73"/>
            </a:solidFill>
            <a:prstDash val="solid"/>
          </a:ln>
        </p:spPr>
        <p:txBody>
          <a:bodyPr/>
          <a:lstStyle/>
          <a:p>
            <a:endParaRPr lang="en-US"/>
          </a:p>
        </p:txBody>
      </p:sp>
      <p:sp>
        <p:nvSpPr>
          <p:cNvPr id="27" name="Text 25"/>
          <p:cNvSpPr/>
          <p:nvPr/>
        </p:nvSpPr>
        <p:spPr>
          <a:xfrm>
            <a:off x="6309360" y="247802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cost</a:t>
            </a:r>
            <a:endParaRPr lang="en-US" sz="900" dirty="0"/>
          </a:p>
        </p:txBody>
      </p:sp>
      <p:sp>
        <p:nvSpPr>
          <p:cNvPr id="28" name="Shape 26"/>
          <p:cNvSpPr/>
          <p:nvPr/>
        </p:nvSpPr>
        <p:spPr>
          <a:xfrm flipH="1" flipV="1">
            <a:off x="6302248" y="2340864"/>
            <a:ext cx="133843" cy="150573"/>
          </a:xfrm>
          <a:prstGeom prst="line">
            <a:avLst/>
          </a:prstGeom>
          <a:noFill/>
          <a:ln w="15875">
            <a:solidFill>
              <a:srgbClr val="3D5A73"/>
            </a:solidFill>
            <a:prstDash val="solid"/>
          </a:ln>
        </p:spPr>
        <p:txBody>
          <a:bodyPr/>
          <a:lstStyle/>
          <a:p>
            <a:endParaRPr lang="en-US"/>
          </a:p>
        </p:txBody>
      </p:sp>
      <p:sp>
        <p:nvSpPr>
          <p:cNvPr id="29" name="Text 27"/>
          <p:cNvSpPr txBox="1"/>
          <p:nvPr/>
        </p:nvSpPr>
        <p:spPr>
          <a:xfrm>
            <a:off x="4023360" y="2240280"/>
            <a:ext cx="1371600" cy="256032"/>
          </a:xfrm>
          <a:prstGeom prst="rect">
            <a:avLst/>
          </a:prstGeom>
          <a:noFill/>
          <a:ln/>
        </p:spPr>
        <p:txBody>
          <a:bodyPr wrap="square" lIns="0" tIns="0" rIns="0" bIns="0" rtlCol="0" anchor="ctr"/>
          <a:lstStyle/>
          <a:p>
            <a:pPr marL="0" indent="0" algn="ctr">
              <a:buNone/>
            </a:pPr>
            <a:r>
              <a:rPr lang="en-US" sz="1300" b="1" dirty="0">
                <a:solidFill>
                  <a:srgbClr val="C0392B"/>
                </a:solidFill>
                <a:latin typeface="Calibri" pitchFamily="34" charset="0"/>
                <a:ea typeface="Calibri" pitchFamily="34" charset="-122"/>
                <a:cs typeface="Calibri" pitchFamily="34" charset="-120"/>
              </a:rPr>
              <a:t>Bad design</a:t>
            </a:r>
            <a:endParaRPr lang="en-US" sz="1300" dirty="0"/>
          </a:p>
        </p:txBody>
      </p:sp>
      <p:sp>
        <p:nvSpPr>
          <p:cNvPr id="30" name="Text 28"/>
          <p:cNvSpPr/>
          <p:nvPr/>
        </p:nvSpPr>
        <p:spPr>
          <a:xfrm>
            <a:off x="3909060" y="3685032"/>
            <a:ext cx="868680" cy="310896"/>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Employees</a:t>
            </a:r>
            <a:endParaRPr lang="en-US" sz="1000" dirty="0"/>
          </a:p>
        </p:txBody>
      </p:sp>
      <p:sp>
        <p:nvSpPr>
          <p:cNvPr id="31" name="Text 29"/>
          <p:cNvSpPr/>
          <p:nvPr/>
        </p:nvSpPr>
        <p:spPr>
          <a:xfrm>
            <a:off x="4800600" y="3630168"/>
            <a:ext cx="1097280" cy="420624"/>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900" b="1" dirty="0">
                <a:solidFill>
                  <a:srgbClr val="1F2D3D"/>
                </a:solidFill>
                <a:latin typeface="Calibri" pitchFamily="34" charset="0"/>
                <a:ea typeface="Calibri" pitchFamily="34" charset="-122"/>
                <a:cs typeface="Calibri" pitchFamily="34" charset="-120"/>
              </a:rPr>
              <a:t>Purchaser</a:t>
            </a:r>
            <a:endParaRPr lang="en-US" sz="900" dirty="0"/>
          </a:p>
        </p:txBody>
      </p:sp>
      <p:sp>
        <p:nvSpPr>
          <p:cNvPr id="32" name="Text 30"/>
          <p:cNvSpPr/>
          <p:nvPr/>
        </p:nvSpPr>
        <p:spPr>
          <a:xfrm>
            <a:off x="6012180" y="3694176"/>
            <a:ext cx="777240" cy="29260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Policies</a:t>
            </a:r>
            <a:endParaRPr lang="en-US" sz="1000" dirty="0"/>
          </a:p>
        </p:txBody>
      </p:sp>
      <p:sp>
        <p:nvSpPr>
          <p:cNvPr id="33" name="Shape 31"/>
          <p:cNvSpPr/>
          <p:nvPr/>
        </p:nvSpPr>
        <p:spPr>
          <a:xfrm>
            <a:off x="6903720" y="3575304"/>
            <a:ext cx="1371600" cy="530352"/>
          </a:xfrm>
          <a:prstGeom prst="diamond">
            <a:avLst/>
          </a:prstGeom>
          <a:solidFill>
            <a:srgbClr val="FFFFFF"/>
          </a:solidFill>
          <a:ln w="15875">
            <a:solidFill>
              <a:srgbClr val="2B5797"/>
            </a:solidFill>
            <a:prstDash val="solid"/>
          </a:ln>
        </p:spPr>
        <p:txBody>
          <a:bodyPr/>
          <a:lstStyle/>
          <a:p>
            <a:endParaRPr lang="en-US"/>
          </a:p>
        </p:txBody>
      </p:sp>
      <p:sp>
        <p:nvSpPr>
          <p:cNvPr id="34" name="Text 32"/>
          <p:cNvSpPr/>
          <p:nvPr/>
        </p:nvSpPr>
        <p:spPr>
          <a:xfrm>
            <a:off x="6995160" y="3639312"/>
            <a:ext cx="1188720" cy="402336"/>
          </a:xfrm>
          <a:prstGeom prst="diamond">
            <a:avLst/>
          </a:prstGeom>
          <a:solidFill>
            <a:srgbClr val="FFF4C9"/>
          </a:solidFill>
          <a:ln w="15875">
            <a:solidFill>
              <a:srgbClr val="2B5797"/>
            </a:solidFill>
          </a:ln>
        </p:spPr>
        <p:txBody>
          <a:bodyPr wrap="square" lIns="0" tIns="0" rIns="0" bIns="0" rtlCol="0" anchor="ctr"/>
          <a:lstStyle/>
          <a:p>
            <a:pPr marL="0" indent="0" algn="ctr">
              <a:buNone/>
            </a:pPr>
            <a:r>
              <a:rPr lang="en-US" sz="850" b="1" dirty="0">
                <a:solidFill>
                  <a:srgbClr val="1F2D3D"/>
                </a:solidFill>
                <a:latin typeface="Calibri" pitchFamily="34" charset="0"/>
                <a:ea typeface="Calibri" pitchFamily="34" charset="-122"/>
                <a:cs typeface="Calibri" pitchFamily="34" charset="-120"/>
              </a:rPr>
              <a:t>Beneficiary</a:t>
            </a:r>
            <a:endParaRPr lang="en-US" sz="850" dirty="0"/>
          </a:p>
        </p:txBody>
      </p:sp>
      <p:sp>
        <p:nvSpPr>
          <p:cNvPr id="35" name="Shape 33"/>
          <p:cNvSpPr/>
          <p:nvPr/>
        </p:nvSpPr>
        <p:spPr>
          <a:xfrm>
            <a:off x="7086600" y="2962656"/>
            <a:ext cx="1005840" cy="384048"/>
          </a:xfrm>
          <a:prstGeom prst="rect">
            <a:avLst/>
          </a:prstGeom>
          <a:solidFill>
            <a:srgbClr val="FFFFFF"/>
          </a:solidFill>
          <a:ln w="15875">
            <a:solidFill>
              <a:srgbClr val="2B5797"/>
            </a:solidFill>
            <a:prstDash val="solid"/>
          </a:ln>
        </p:spPr>
        <p:txBody>
          <a:bodyPr/>
          <a:lstStyle/>
          <a:p>
            <a:endParaRPr lang="en-US"/>
          </a:p>
        </p:txBody>
      </p:sp>
      <p:sp>
        <p:nvSpPr>
          <p:cNvPr id="36" name="Text 34"/>
          <p:cNvSpPr/>
          <p:nvPr/>
        </p:nvSpPr>
        <p:spPr>
          <a:xfrm>
            <a:off x="7132320" y="3008376"/>
            <a:ext cx="914400" cy="292608"/>
          </a:xfrm>
          <a:prstGeom prst="rect">
            <a:avLst/>
          </a:prstGeom>
          <a:solidFill>
            <a:srgbClr val="DCE8F7"/>
          </a:solidFill>
          <a:ln w="15875">
            <a:solidFill>
              <a:srgbClr val="2B5797"/>
            </a:solidFill>
          </a:ln>
        </p:spPr>
        <p:txBody>
          <a:bodyPr wrap="square" lIns="0" tIns="0" rIns="0" bIns="0" rtlCol="0" anchor="ctr"/>
          <a:lstStyle/>
          <a:p>
            <a:pPr marL="0" indent="0" algn="ctr">
              <a:buNone/>
            </a:pPr>
            <a:r>
              <a:rPr lang="en-US" sz="1000" b="1" dirty="0">
                <a:solidFill>
                  <a:srgbClr val="1F2D3D"/>
                </a:solidFill>
                <a:latin typeface="Calibri" pitchFamily="34" charset="0"/>
                <a:ea typeface="Calibri" pitchFamily="34" charset="-122"/>
                <a:cs typeface="Calibri" pitchFamily="34" charset="-120"/>
              </a:rPr>
              <a:t>Dependents</a:t>
            </a:r>
            <a:endParaRPr lang="en-US" sz="1000" dirty="0"/>
          </a:p>
        </p:txBody>
      </p:sp>
      <p:sp>
        <p:nvSpPr>
          <p:cNvPr id="37" name="Shape 35"/>
          <p:cNvSpPr/>
          <p:nvPr/>
        </p:nvSpPr>
        <p:spPr>
          <a:xfrm>
            <a:off x="4777740" y="3840480"/>
            <a:ext cx="22860" cy="914"/>
          </a:xfrm>
          <a:prstGeom prst="line">
            <a:avLst/>
          </a:prstGeom>
          <a:noFill/>
          <a:ln w="15875">
            <a:solidFill>
              <a:srgbClr val="3D5A73"/>
            </a:solidFill>
            <a:prstDash val="solid"/>
          </a:ln>
        </p:spPr>
        <p:txBody>
          <a:bodyPr/>
          <a:lstStyle/>
          <a:p>
            <a:endParaRPr lang="en-US"/>
          </a:p>
        </p:txBody>
      </p:sp>
      <p:sp>
        <p:nvSpPr>
          <p:cNvPr id="38" name="Shape 36"/>
          <p:cNvSpPr/>
          <p:nvPr/>
        </p:nvSpPr>
        <p:spPr>
          <a:xfrm flipH="1">
            <a:off x="5897880" y="3840480"/>
            <a:ext cx="114300" cy="914"/>
          </a:xfrm>
          <a:prstGeom prst="line">
            <a:avLst/>
          </a:prstGeom>
          <a:noFill/>
          <a:ln w="34925">
            <a:solidFill>
              <a:srgbClr val="3D5A73"/>
            </a:solidFill>
            <a:prstDash val="solid"/>
            <a:tailEnd type="triangle"/>
          </a:ln>
        </p:spPr>
        <p:txBody>
          <a:bodyPr/>
          <a:lstStyle/>
          <a:p>
            <a:endParaRPr lang="en-US"/>
          </a:p>
        </p:txBody>
      </p:sp>
      <p:sp>
        <p:nvSpPr>
          <p:cNvPr id="39" name="Shape 37"/>
          <p:cNvSpPr/>
          <p:nvPr/>
        </p:nvSpPr>
        <p:spPr>
          <a:xfrm>
            <a:off x="6789420" y="3840480"/>
            <a:ext cx="114300" cy="914"/>
          </a:xfrm>
          <a:prstGeom prst="line">
            <a:avLst/>
          </a:prstGeom>
          <a:noFill/>
          <a:ln w="34925">
            <a:solidFill>
              <a:srgbClr val="3D5A73"/>
            </a:solidFill>
            <a:prstDash val="solid"/>
          </a:ln>
        </p:spPr>
        <p:txBody>
          <a:bodyPr/>
          <a:lstStyle/>
          <a:p>
            <a:endParaRPr lang="en-US"/>
          </a:p>
        </p:txBody>
      </p:sp>
      <p:sp>
        <p:nvSpPr>
          <p:cNvPr id="40" name="Shape 38"/>
          <p:cNvSpPr/>
          <p:nvPr/>
        </p:nvSpPr>
        <p:spPr>
          <a:xfrm>
            <a:off x="7589520" y="3346704"/>
            <a:ext cx="914" cy="228600"/>
          </a:xfrm>
          <a:prstGeom prst="line">
            <a:avLst/>
          </a:prstGeom>
          <a:noFill/>
          <a:ln w="34925">
            <a:solidFill>
              <a:srgbClr val="3D5A73"/>
            </a:solidFill>
            <a:prstDash val="solid"/>
            <a:tailEnd type="triangle"/>
          </a:ln>
        </p:spPr>
        <p:txBody>
          <a:bodyPr/>
          <a:lstStyle/>
          <a:p>
            <a:endParaRPr lang="en-US"/>
          </a:p>
        </p:txBody>
      </p:sp>
      <p:sp>
        <p:nvSpPr>
          <p:cNvPr id="41" name="Text 39"/>
          <p:cNvSpPr/>
          <p:nvPr/>
        </p:nvSpPr>
        <p:spPr>
          <a:xfrm>
            <a:off x="3657600" y="325526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ssn</a:t>
            </a:r>
            <a:endParaRPr lang="en-US" sz="900" dirty="0"/>
          </a:p>
        </p:txBody>
      </p:sp>
      <p:sp>
        <p:nvSpPr>
          <p:cNvPr id="42" name="Shape 40"/>
          <p:cNvSpPr/>
          <p:nvPr/>
        </p:nvSpPr>
        <p:spPr>
          <a:xfrm>
            <a:off x="3997895" y="3494975"/>
            <a:ext cx="190057" cy="190057"/>
          </a:xfrm>
          <a:prstGeom prst="line">
            <a:avLst/>
          </a:prstGeom>
          <a:noFill/>
          <a:ln w="15875">
            <a:solidFill>
              <a:srgbClr val="3D5A73"/>
            </a:solidFill>
            <a:prstDash val="solid"/>
          </a:ln>
        </p:spPr>
        <p:txBody>
          <a:bodyPr/>
          <a:lstStyle/>
          <a:p>
            <a:endParaRPr lang="en-US"/>
          </a:p>
        </p:txBody>
      </p:sp>
      <p:sp>
        <p:nvSpPr>
          <p:cNvPr id="43" name="Text 41"/>
          <p:cNvSpPr/>
          <p:nvPr/>
        </p:nvSpPr>
        <p:spPr>
          <a:xfrm>
            <a:off x="4114800" y="302666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name</a:t>
            </a:r>
            <a:endParaRPr lang="en-US" sz="900" dirty="0"/>
          </a:p>
        </p:txBody>
      </p:sp>
      <p:sp>
        <p:nvSpPr>
          <p:cNvPr id="44" name="Shape 42"/>
          <p:cNvSpPr/>
          <p:nvPr/>
        </p:nvSpPr>
        <p:spPr>
          <a:xfrm>
            <a:off x="4343400" y="3282696"/>
            <a:ext cx="914" cy="402336"/>
          </a:xfrm>
          <a:prstGeom prst="line">
            <a:avLst/>
          </a:prstGeom>
          <a:noFill/>
          <a:ln w="15875">
            <a:solidFill>
              <a:srgbClr val="3D5A73"/>
            </a:solidFill>
            <a:prstDash val="solid"/>
          </a:ln>
        </p:spPr>
        <p:txBody>
          <a:bodyPr/>
          <a:lstStyle/>
          <a:p>
            <a:endParaRPr lang="en-US"/>
          </a:p>
        </p:txBody>
      </p:sp>
      <p:sp>
        <p:nvSpPr>
          <p:cNvPr id="45" name="Text 43"/>
          <p:cNvSpPr/>
          <p:nvPr/>
        </p:nvSpPr>
        <p:spPr>
          <a:xfrm>
            <a:off x="4572000" y="325526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lot</a:t>
            </a:r>
            <a:endParaRPr lang="en-US" sz="900" dirty="0"/>
          </a:p>
        </p:txBody>
      </p:sp>
      <p:sp>
        <p:nvSpPr>
          <p:cNvPr id="46" name="Shape 44"/>
          <p:cNvSpPr/>
          <p:nvPr/>
        </p:nvSpPr>
        <p:spPr>
          <a:xfrm flipH="1">
            <a:off x="4498848" y="3494975"/>
            <a:ext cx="190057" cy="190057"/>
          </a:xfrm>
          <a:prstGeom prst="line">
            <a:avLst/>
          </a:prstGeom>
          <a:noFill/>
          <a:ln w="15875">
            <a:solidFill>
              <a:srgbClr val="3D5A73"/>
            </a:solidFill>
            <a:prstDash val="solid"/>
          </a:ln>
        </p:spPr>
        <p:txBody>
          <a:bodyPr/>
          <a:lstStyle/>
          <a:p>
            <a:endParaRPr lang="en-US"/>
          </a:p>
        </p:txBody>
      </p:sp>
      <p:sp>
        <p:nvSpPr>
          <p:cNvPr id="47" name="Text 45"/>
          <p:cNvSpPr/>
          <p:nvPr/>
        </p:nvSpPr>
        <p:spPr>
          <a:xfrm>
            <a:off x="7040880" y="261518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u="dash" dirty="0">
                <a:solidFill>
                  <a:srgbClr val="1F2D3D"/>
                </a:solidFill>
                <a:latin typeface="Calibri" pitchFamily="34" charset="0"/>
                <a:ea typeface="Calibri" pitchFamily="34" charset="-122"/>
                <a:cs typeface="Calibri" pitchFamily="34" charset="-120"/>
              </a:rPr>
              <a:t>pname</a:t>
            </a:r>
            <a:endParaRPr lang="en-US" sz="900" dirty="0"/>
          </a:p>
        </p:txBody>
      </p:sp>
      <p:sp>
        <p:nvSpPr>
          <p:cNvPr id="48" name="Shape 46"/>
          <p:cNvSpPr/>
          <p:nvPr/>
        </p:nvSpPr>
        <p:spPr>
          <a:xfrm>
            <a:off x="7360765" y="2860566"/>
            <a:ext cx="79403" cy="102090"/>
          </a:xfrm>
          <a:prstGeom prst="line">
            <a:avLst/>
          </a:prstGeom>
          <a:noFill/>
          <a:ln w="15875">
            <a:solidFill>
              <a:srgbClr val="3D5A73"/>
            </a:solidFill>
            <a:prstDash val="solid"/>
          </a:ln>
        </p:spPr>
        <p:txBody>
          <a:bodyPr/>
          <a:lstStyle/>
          <a:p>
            <a:endParaRPr lang="en-US"/>
          </a:p>
        </p:txBody>
      </p:sp>
      <p:sp>
        <p:nvSpPr>
          <p:cNvPr id="49" name="Text 47"/>
          <p:cNvSpPr/>
          <p:nvPr/>
        </p:nvSpPr>
        <p:spPr>
          <a:xfrm>
            <a:off x="7680960" y="261518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age</a:t>
            </a:r>
            <a:endParaRPr lang="en-US" sz="900" dirty="0"/>
          </a:p>
        </p:txBody>
      </p:sp>
      <p:sp>
        <p:nvSpPr>
          <p:cNvPr id="50" name="Shape 48"/>
          <p:cNvSpPr/>
          <p:nvPr/>
        </p:nvSpPr>
        <p:spPr>
          <a:xfrm flipH="1">
            <a:off x="7738872" y="2860566"/>
            <a:ext cx="79403" cy="102090"/>
          </a:xfrm>
          <a:prstGeom prst="line">
            <a:avLst/>
          </a:prstGeom>
          <a:noFill/>
          <a:ln w="15875">
            <a:solidFill>
              <a:srgbClr val="3D5A73"/>
            </a:solidFill>
            <a:prstDash val="solid"/>
          </a:ln>
        </p:spPr>
        <p:txBody>
          <a:bodyPr/>
          <a:lstStyle/>
          <a:p>
            <a:endParaRPr lang="en-US"/>
          </a:p>
        </p:txBody>
      </p:sp>
      <p:sp>
        <p:nvSpPr>
          <p:cNvPr id="51" name="Text 49"/>
          <p:cNvSpPr/>
          <p:nvPr/>
        </p:nvSpPr>
        <p:spPr>
          <a:xfrm>
            <a:off x="5783580" y="4215384"/>
            <a:ext cx="59436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b="1" u="sng" dirty="0">
                <a:solidFill>
                  <a:srgbClr val="1F2D3D"/>
                </a:solidFill>
                <a:latin typeface="Calibri" pitchFamily="34" charset="0"/>
                <a:ea typeface="Calibri" pitchFamily="34" charset="-122"/>
                <a:cs typeface="Calibri" pitchFamily="34" charset="-120"/>
              </a:rPr>
              <a:t>policyid</a:t>
            </a:r>
            <a:endParaRPr lang="en-US" sz="900" dirty="0"/>
          </a:p>
        </p:txBody>
      </p:sp>
      <p:sp>
        <p:nvSpPr>
          <p:cNvPr id="52" name="Shape 50"/>
          <p:cNvSpPr/>
          <p:nvPr/>
        </p:nvSpPr>
        <p:spPr>
          <a:xfrm flipV="1">
            <a:off x="6159326" y="3986784"/>
            <a:ext cx="148371" cy="233155"/>
          </a:xfrm>
          <a:prstGeom prst="line">
            <a:avLst/>
          </a:prstGeom>
          <a:noFill/>
          <a:ln w="15875">
            <a:solidFill>
              <a:srgbClr val="3D5A73"/>
            </a:solidFill>
            <a:prstDash val="solid"/>
          </a:ln>
        </p:spPr>
        <p:txBody>
          <a:bodyPr/>
          <a:lstStyle/>
          <a:p>
            <a:endParaRPr lang="en-US"/>
          </a:p>
        </p:txBody>
      </p:sp>
      <p:sp>
        <p:nvSpPr>
          <p:cNvPr id="53" name="Text 51"/>
          <p:cNvSpPr/>
          <p:nvPr/>
        </p:nvSpPr>
        <p:spPr>
          <a:xfrm>
            <a:off x="6537960" y="4215384"/>
            <a:ext cx="457200" cy="256032"/>
          </a:xfrm>
          <a:prstGeom prst="ellipse">
            <a:avLst/>
          </a:prstGeom>
          <a:solidFill>
            <a:srgbClr val="FFFFFF"/>
          </a:solidFill>
          <a:ln w="12700">
            <a:solidFill>
              <a:srgbClr val="2B5797"/>
            </a:solidFill>
          </a:ln>
        </p:spPr>
        <p:txBody>
          <a:bodyPr wrap="square" lIns="0" tIns="0" rIns="0" bIns="0" rtlCol="0" anchor="ctr"/>
          <a:lstStyle/>
          <a:p>
            <a:pPr marL="0" indent="0" algn="ctr">
              <a:buNone/>
            </a:pPr>
            <a:r>
              <a:rPr lang="en-US" sz="900" dirty="0">
                <a:solidFill>
                  <a:srgbClr val="1F2D3D"/>
                </a:solidFill>
                <a:latin typeface="Calibri" pitchFamily="34" charset="0"/>
                <a:ea typeface="Calibri" pitchFamily="34" charset="-122"/>
                <a:cs typeface="Calibri" pitchFamily="34" charset="-120"/>
              </a:rPr>
              <a:t>cost</a:t>
            </a:r>
            <a:endParaRPr lang="en-US" sz="900" dirty="0"/>
          </a:p>
        </p:txBody>
      </p:sp>
      <p:sp>
        <p:nvSpPr>
          <p:cNvPr id="54" name="Shape 52"/>
          <p:cNvSpPr/>
          <p:nvPr/>
        </p:nvSpPr>
        <p:spPr>
          <a:xfrm flipH="1" flipV="1">
            <a:off x="6507203" y="3986784"/>
            <a:ext cx="173131" cy="238056"/>
          </a:xfrm>
          <a:prstGeom prst="line">
            <a:avLst/>
          </a:prstGeom>
          <a:noFill/>
          <a:ln w="15875">
            <a:solidFill>
              <a:srgbClr val="3D5A73"/>
            </a:solidFill>
            <a:prstDash val="solid"/>
          </a:ln>
        </p:spPr>
        <p:txBody>
          <a:bodyPr/>
          <a:lstStyle/>
          <a:p>
            <a:endParaRPr lang="en-US"/>
          </a:p>
        </p:txBody>
      </p:sp>
      <p:sp>
        <p:nvSpPr>
          <p:cNvPr id="55" name="Text 53"/>
          <p:cNvSpPr txBox="1"/>
          <p:nvPr/>
        </p:nvSpPr>
        <p:spPr>
          <a:xfrm>
            <a:off x="3931920" y="4251960"/>
            <a:ext cx="1463040" cy="256032"/>
          </a:xfrm>
          <a:prstGeom prst="rect">
            <a:avLst/>
          </a:prstGeom>
          <a:noFill/>
          <a:ln/>
        </p:spPr>
        <p:txBody>
          <a:bodyPr wrap="square" lIns="0" tIns="0" rIns="0" bIns="0" rtlCol="0" anchor="ctr"/>
          <a:lstStyle/>
          <a:p>
            <a:pPr marL="0" indent="0" algn="ctr">
              <a:buNone/>
            </a:pPr>
            <a:r>
              <a:rPr lang="en-US" sz="1300" b="1" dirty="0">
                <a:solidFill>
                  <a:srgbClr val="C0392B"/>
                </a:solidFill>
                <a:latin typeface="Calibri" pitchFamily="34" charset="0"/>
                <a:ea typeface="Calibri" pitchFamily="34" charset="-122"/>
                <a:cs typeface="Calibri" pitchFamily="34" charset="-120"/>
              </a:rPr>
              <a:t>Better design</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ER Diagram Practice 1</a:t>
            </a:r>
            <a:endParaRPr lang="en-US" sz="3000" dirty="0"/>
          </a:p>
        </p:txBody>
      </p:sp>
      <p:sp>
        <p:nvSpPr>
          <p:cNvPr id="7" name="Shape 5"/>
          <p:cNvSpPr/>
          <p:nvPr/>
        </p:nvSpPr>
        <p:spPr>
          <a:xfrm>
            <a:off x="594360" y="960120"/>
            <a:ext cx="4317340" cy="3703320"/>
          </a:xfrm>
          <a:prstGeom prst="rect">
            <a:avLst/>
          </a:prstGeom>
          <a:solidFill>
            <a:srgbClr val="FFFFFF"/>
          </a:solidFill>
          <a:ln w="12700">
            <a:solidFill>
              <a:srgbClr val="D5E4E8"/>
            </a:solidFill>
            <a:prstDash val="solid"/>
          </a:ln>
        </p:spPr>
        <p:txBody>
          <a:bodyPr/>
          <a:lstStyle/>
          <a:p>
            <a:endParaRPr lang="en-US"/>
          </a:p>
        </p:txBody>
      </p:sp>
      <p:pic>
        <p:nvPicPr>
          <p:cNvPr id="8" name="Image 0" descr="prac15.png"/>
          <p:cNvPicPr>
            <a:picLocks noChangeAspect="1"/>
          </p:cNvPicPr>
          <p:nvPr/>
        </p:nvPicPr>
        <p:blipFill>
          <a:blip r:embed="rId3"/>
          <a:stretch>
            <a:fillRect/>
          </a:stretch>
        </p:blipFill>
        <p:spPr>
          <a:xfrm>
            <a:off x="640080" y="1005840"/>
            <a:ext cx="4225900" cy="3611880"/>
          </a:xfrm>
          <a:prstGeom prst="rect">
            <a:avLst/>
          </a:prstGeom>
        </p:spPr>
      </p:pic>
      <p:sp>
        <p:nvSpPr>
          <p:cNvPr id="9" name="Shape 6"/>
          <p:cNvSpPr/>
          <p:nvPr/>
        </p:nvSpPr>
        <p:spPr>
          <a:xfrm>
            <a:off x="5140300" y="1005840"/>
            <a:ext cx="3363620" cy="2103120"/>
          </a:xfrm>
          <a:prstGeom prst="roundRect">
            <a:avLst>
              <a:gd name="adj" fmla="val 5217"/>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5277460" y="1097280"/>
            <a:ext cx="3089300" cy="1920240"/>
          </a:xfrm>
          <a:prstGeom prst="rect">
            <a:avLst/>
          </a:prstGeom>
          <a:noFill/>
          <a:ln/>
        </p:spPr>
        <p:txBody>
          <a:bodyPr wrap="square" lIns="0" tIns="0" rIns="0" bIns="0" rtlCol="0" anchor="t"/>
          <a:lstStyle/>
          <a:p>
            <a:pPr marL="0" indent="0">
              <a:spcAft>
                <a:spcPts val="600"/>
              </a:spcAft>
              <a:buNone/>
            </a:pPr>
            <a:r>
              <a:rPr lang="en-US" sz="1300" b="1" dirty="0">
                <a:solidFill>
                  <a:srgbClr val="55BFAE"/>
                </a:solidFill>
                <a:latin typeface="Calibri" pitchFamily="34" charset="0"/>
                <a:ea typeface="Calibri" pitchFamily="34" charset="-122"/>
                <a:cs typeface="Calibri" pitchFamily="34" charset="-120"/>
              </a:rPr>
              <a:t>Practice</a:t>
            </a:r>
            <a:endParaRPr lang="en-US" sz="1300" dirty="0"/>
          </a:p>
          <a:p>
            <a:pPr marL="0" indent="0">
              <a:spcAft>
                <a:spcPts val="600"/>
              </a:spcAft>
              <a:buNone/>
            </a:pPr>
            <a:r>
              <a:rPr lang="en-US" sz="1400" b="1" dirty="0">
                <a:solidFill>
                  <a:srgbClr val="143F4F"/>
                </a:solidFill>
                <a:latin typeface="Calibri" pitchFamily="34" charset="0"/>
                <a:ea typeface="Calibri" pitchFamily="34" charset="-122"/>
                <a:cs typeface="Calibri" pitchFamily="34" charset="-120"/>
              </a:rPr>
              <a:t>Identify the cardinalities marked with “?”</a:t>
            </a:r>
            <a:endParaRPr lang="en-US" sz="1300" dirty="0"/>
          </a:p>
        </p:txBody>
      </p:sp>
      <p:sp>
        <p:nvSpPr>
          <p:cNvPr id="11" name="Text 8"/>
          <p:cNvSpPr txBox="1"/>
          <p:nvPr/>
        </p:nvSpPr>
        <p:spPr>
          <a:xfrm>
            <a:off x="5140300" y="3291840"/>
            <a:ext cx="3089300" cy="256032"/>
          </a:xfrm>
          <a:prstGeom prst="rect">
            <a:avLst/>
          </a:prstGeom>
          <a:noFill/>
          <a:ln/>
        </p:spPr>
        <p:txBody>
          <a:bodyPr wrap="square" lIns="0" tIns="0" rIns="0" bIns="0" rtlCol="0" anchor="ctr"/>
          <a:lstStyle/>
          <a:p>
            <a:pPr marL="0" indent="0" algn="l">
              <a:buNone/>
            </a:pPr>
            <a:r>
              <a:rPr lang="en-US" sz="950" i="1" dirty="0">
                <a:solidFill>
                  <a:srgbClr val="5A7079"/>
                </a:solidFill>
                <a:latin typeface="Calibri" pitchFamily="34" charset="0"/>
                <a:ea typeface="Calibri" pitchFamily="34" charset="-122"/>
                <a:cs typeface="Calibri" pitchFamily="34" charset="-120"/>
              </a:rPr>
              <a:t>Diagram source: Yan Huang, CSCE4350</a:t>
            </a:r>
            <a:endParaRPr lang="en-US" sz="9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ER Diagram Practice 2</a:t>
            </a:r>
            <a:endParaRPr lang="en-US" sz="3000" dirty="0"/>
          </a:p>
        </p:txBody>
      </p:sp>
      <p:sp>
        <p:nvSpPr>
          <p:cNvPr id="7" name="Shape 5"/>
          <p:cNvSpPr/>
          <p:nvPr/>
        </p:nvSpPr>
        <p:spPr>
          <a:xfrm>
            <a:off x="594360" y="960120"/>
            <a:ext cx="4198148" cy="3703320"/>
          </a:xfrm>
          <a:prstGeom prst="rect">
            <a:avLst/>
          </a:prstGeom>
          <a:solidFill>
            <a:srgbClr val="FFFFFF"/>
          </a:solidFill>
          <a:ln w="12700">
            <a:solidFill>
              <a:srgbClr val="D5E4E8"/>
            </a:solidFill>
            <a:prstDash val="solid"/>
          </a:ln>
        </p:spPr>
        <p:txBody>
          <a:bodyPr/>
          <a:lstStyle/>
          <a:p>
            <a:endParaRPr lang="en-US"/>
          </a:p>
        </p:txBody>
      </p:sp>
      <p:pic>
        <p:nvPicPr>
          <p:cNvPr id="8" name="Image 0" descr="prac16.png"/>
          <p:cNvPicPr>
            <a:picLocks noChangeAspect="1"/>
          </p:cNvPicPr>
          <p:nvPr/>
        </p:nvPicPr>
        <p:blipFill>
          <a:blip r:embed="rId3"/>
          <a:stretch>
            <a:fillRect/>
          </a:stretch>
        </p:blipFill>
        <p:spPr>
          <a:xfrm>
            <a:off x="640080" y="1005840"/>
            <a:ext cx="4106708" cy="3611880"/>
          </a:xfrm>
          <a:prstGeom prst="rect">
            <a:avLst/>
          </a:prstGeom>
        </p:spPr>
      </p:pic>
      <p:sp>
        <p:nvSpPr>
          <p:cNvPr id="9" name="Shape 6"/>
          <p:cNvSpPr/>
          <p:nvPr/>
        </p:nvSpPr>
        <p:spPr>
          <a:xfrm>
            <a:off x="5021108" y="1005840"/>
            <a:ext cx="3482812" cy="2103120"/>
          </a:xfrm>
          <a:prstGeom prst="roundRect">
            <a:avLst>
              <a:gd name="adj" fmla="val 5217"/>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5158268" y="1097280"/>
            <a:ext cx="3208492" cy="1920240"/>
          </a:xfrm>
          <a:prstGeom prst="rect">
            <a:avLst/>
          </a:prstGeom>
          <a:noFill/>
          <a:ln/>
        </p:spPr>
        <p:txBody>
          <a:bodyPr wrap="square" lIns="0" tIns="0" rIns="0" bIns="0" rtlCol="0" anchor="t"/>
          <a:lstStyle/>
          <a:p>
            <a:pPr marL="0" indent="0">
              <a:spcAft>
                <a:spcPts val="600"/>
              </a:spcAft>
              <a:buNone/>
            </a:pPr>
            <a:r>
              <a:rPr lang="en-US" sz="1300" b="1" dirty="0">
                <a:solidFill>
                  <a:srgbClr val="55BFAE"/>
                </a:solidFill>
                <a:latin typeface="Calibri" pitchFamily="34" charset="0"/>
                <a:ea typeface="Calibri" pitchFamily="34" charset="-122"/>
                <a:cs typeface="Calibri" pitchFamily="34" charset="-120"/>
              </a:rPr>
              <a:t>Practice</a:t>
            </a:r>
            <a:endParaRPr lang="en-US" sz="1300" dirty="0"/>
          </a:p>
          <a:p>
            <a:pPr marL="0" indent="0">
              <a:spcAft>
                <a:spcPts val="600"/>
              </a:spcAft>
              <a:buNone/>
            </a:pPr>
            <a:r>
              <a:rPr lang="en-US" sz="1400" b="1" dirty="0">
                <a:solidFill>
                  <a:srgbClr val="143F4F"/>
                </a:solidFill>
                <a:latin typeface="Calibri" pitchFamily="34" charset="0"/>
                <a:ea typeface="Calibri" pitchFamily="34" charset="-122"/>
                <a:cs typeface="Calibri" pitchFamily="34" charset="-120"/>
              </a:rPr>
              <a:t>Orders and products: identify the missing elements marked with “?”</a:t>
            </a:r>
            <a:endParaRPr lang="en-US" sz="1300" dirty="0"/>
          </a:p>
        </p:txBody>
      </p:sp>
      <p:sp>
        <p:nvSpPr>
          <p:cNvPr id="11" name="Text 8"/>
          <p:cNvSpPr txBox="1"/>
          <p:nvPr/>
        </p:nvSpPr>
        <p:spPr>
          <a:xfrm>
            <a:off x="5021108" y="3291840"/>
            <a:ext cx="3208492" cy="256032"/>
          </a:xfrm>
          <a:prstGeom prst="rect">
            <a:avLst/>
          </a:prstGeom>
          <a:noFill/>
          <a:ln/>
        </p:spPr>
        <p:txBody>
          <a:bodyPr wrap="square" lIns="0" tIns="0" rIns="0" bIns="0" rtlCol="0" anchor="ctr"/>
          <a:lstStyle/>
          <a:p>
            <a:pPr marL="0" indent="0" algn="l">
              <a:buNone/>
            </a:pPr>
            <a:r>
              <a:rPr lang="en-US" sz="950" i="1" dirty="0">
                <a:solidFill>
                  <a:srgbClr val="5A7079"/>
                </a:solidFill>
                <a:latin typeface="Calibri" pitchFamily="34" charset="0"/>
                <a:ea typeface="Calibri" pitchFamily="34" charset="-122"/>
                <a:cs typeface="Calibri" pitchFamily="34" charset="-120"/>
              </a:rPr>
              <a:t>Diagram source: Yan Huang, CSCE4350</a:t>
            </a:r>
            <a:endParaRPr lang="en-US" sz="9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50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ER Diagram Practice 3</a:t>
            </a:r>
            <a:endParaRPr lang="en-US" sz="3000" dirty="0"/>
          </a:p>
        </p:txBody>
      </p:sp>
      <p:sp>
        <p:nvSpPr>
          <p:cNvPr id="7" name="Shape 5"/>
          <p:cNvSpPr/>
          <p:nvPr/>
        </p:nvSpPr>
        <p:spPr>
          <a:xfrm>
            <a:off x="594360" y="960120"/>
            <a:ext cx="3977823" cy="3703320"/>
          </a:xfrm>
          <a:prstGeom prst="rect">
            <a:avLst/>
          </a:prstGeom>
          <a:solidFill>
            <a:srgbClr val="FFFFFF"/>
          </a:solidFill>
          <a:ln w="12700">
            <a:solidFill>
              <a:srgbClr val="D5E4E8"/>
            </a:solidFill>
            <a:prstDash val="solid"/>
          </a:ln>
        </p:spPr>
        <p:txBody>
          <a:bodyPr/>
          <a:lstStyle/>
          <a:p>
            <a:endParaRPr lang="en-US"/>
          </a:p>
        </p:txBody>
      </p:sp>
      <p:pic>
        <p:nvPicPr>
          <p:cNvPr id="8" name="Image 0" descr="prac17.png"/>
          <p:cNvPicPr>
            <a:picLocks noChangeAspect="1"/>
          </p:cNvPicPr>
          <p:nvPr/>
        </p:nvPicPr>
        <p:blipFill>
          <a:blip r:embed="rId3"/>
          <a:stretch>
            <a:fillRect/>
          </a:stretch>
        </p:blipFill>
        <p:spPr>
          <a:xfrm>
            <a:off x="640080" y="1005840"/>
            <a:ext cx="3886383" cy="3611880"/>
          </a:xfrm>
          <a:prstGeom prst="rect">
            <a:avLst/>
          </a:prstGeom>
        </p:spPr>
      </p:pic>
      <p:sp>
        <p:nvSpPr>
          <p:cNvPr id="9" name="Shape 6"/>
          <p:cNvSpPr/>
          <p:nvPr/>
        </p:nvSpPr>
        <p:spPr>
          <a:xfrm>
            <a:off x="4800783" y="1005840"/>
            <a:ext cx="3703137" cy="2103120"/>
          </a:xfrm>
          <a:prstGeom prst="roundRect">
            <a:avLst>
              <a:gd name="adj" fmla="val 5217"/>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4937943" y="1097280"/>
            <a:ext cx="3428817" cy="1920240"/>
          </a:xfrm>
          <a:prstGeom prst="rect">
            <a:avLst/>
          </a:prstGeom>
          <a:noFill/>
          <a:ln/>
        </p:spPr>
        <p:txBody>
          <a:bodyPr wrap="square" lIns="0" tIns="0" rIns="0" bIns="0" rtlCol="0" anchor="t"/>
          <a:lstStyle/>
          <a:p>
            <a:pPr marL="0" indent="0">
              <a:spcAft>
                <a:spcPts val="600"/>
              </a:spcAft>
              <a:buNone/>
            </a:pPr>
            <a:r>
              <a:rPr lang="en-US" sz="1300" b="1" dirty="0">
                <a:solidFill>
                  <a:srgbClr val="55BFAE"/>
                </a:solidFill>
                <a:latin typeface="Calibri" pitchFamily="34" charset="0"/>
                <a:ea typeface="Calibri" pitchFamily="34" charset="-122"/>
                <a:cs typeface="Calibri" pitchFamily="34" charset="-120"/>
              </a:rPr>
              <a:t>Practice</a:t>
            </a:r>
            <a:endParaRPr lang="en-US" sz="1300" dirty="0"/>
          </a:p>
          <a:p>
            <a:pPr marL="0" indent="0">
              <a:spcAft>
                <a:spcPts val="600"/>
              </a:spcAft>
              <a:buNone/>
            </a:pPr>
            <a:r>
              <a:rPr lang="en-US" sz="1400" b="1" dirty="0">
                <a:solidFill>
                  <a:srgbClr val="143F4F"/>
                </a:solidFill>
                <a:latin typeface="Calibri" pitchFamily="34" charset="0"/>
                <a:ea typeface="Calibri" pitchFamily="34" charset="-122"/>
                <a:cs typeface="Calibri" pitchFamily="34" charset="-120"/>
              </a:rPr>
              <a:t>Read the diagram: name each entity, weak entity and relationship</a:t>
            </a:r>
            <a:endParaRPr lang="en-US" sz="1300" dirty="0"/>
          </a:p>
        </p:txBody>
      </p:sp>
      <p:sp>
        <p:nvSpPr>
          <p:cNvPr id="11" name="Text 8"/>
          <p:cNvSpPr txBox="1"/>
          <p:nvPr/>
        </p:nvSpPr>
        <p:spPr>
          <a:xfrm>
            <a:off x="4800783" y="3291840"/>
            <a:ext cx="3428817" cy="256032"/>
          </a:xfrm>
          <a:prstGeom prst="rect">
            <a:avLst/>
          </a:prstGeom>
          <a:noFill/>
          <a:ln/>
        </p:spPr>
        <p:txBody>
          <a:bodyPr wrap="square" lIns="0" tIns="0" rIns="0" bIns="0" rtlCol="0" anchor="ctr"/>
          <a:lstStyle/>
          <a:p>
            <a:pPr marL="0" indent="0" algn="l">
              <a:buNone/>
            </a:pPr>
            <a:r>
              <a:rPr lang="en-US" sz="950" i="1" dirty="0">
                <a:solidFill>
                  <a:srgbClr val="5A7079"/>
                </a:solidFill>
                <a:latin typeface="Calibri" pitchFamily="34" charset="0"/>
                <a:ea typeface="Calibri" pitchFamily="34" charset="-122"/>
                <a:cs typeface="Calibri" pitchFamily="34" charset="-120"/>
              </a:rPr>
              <a:t>Diagram source: Yan Huang, CSCE4350</a:t>
            </a:r>
            <a:endParaRPr lang="en-US" sz="9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51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Connectivity and Cardinality</a:t>
            </a:r>
            <a:endParaRPr lang="en-US" sz="3000" dirty="0"/>
          </a:p>
        </p:txBody>
      </p:sp>
      <p:sp>
        <p:nvSpPr>
          <p:cNvPr id="7" name="Text 5"/>
          <p:cNvSpPr txBox="1"/>
          <p:nvPr/>
        </p:nvSpPr>
        <p:spPr>
          <a:xfrm>
            <a:off x="640080" y="960120"/>
            <a:ext cx="7863840" cy="320040"/>
          </a:xfrm>
          <a:prstGeom prst="rect">
            <a:avLst/>
          </a:prstGeom>
          <a:noFill/>
          <a:ln/>
        </p:spPr>
        <p:txBody>
          <a:bodyPr wrap="square" lIns="0" tIns="0" rIns="0" bIns="0" rtlCol="0" anchor="ctr"/>
          <a:lstStyle/>
          <a:p>
            <a:pPr marL="0" indent="0">
              <a:buNone/>
            </a:pPr>
            <a:r>
              <a:rPr lang="en-US" sz="1400" b="1" dirty="0">
                <a:solidFill>
                  <a:srgbClr val="55BFAE"/>
                </a:solidFill>
                <a:latin typeface="Calibri" pitchFamily="34" charset="0"/>
                <a:ea typeface="Calibri" pitchFamily="34" charset="-122"/>
                <a:cs typeface="Calibri" pitchFamily="34" charset="-120"/>
              </a:rPr>
              <a:t>Figure 4.7  </a:t>
            </a:r>
            <a:r>
              <a:rPr lang="en-US" sz="1400" dirty="0">
                <a:solidFill>
                  <a:srgbClr val="1F3B47"/>
                </a:solidFill>
                <a:latin typeface="Calibri" pitchFamily="34" charset="0"/>
                <a:ea typeface="Calibri" pitchFamily="34" charset="-122"/>
                <a:cs typeface="Calibri" pitchFamily="34" charset="-120"/>
              </a:rPr>
              <a:t>Connectivity and cardinality in an ERD</a:t>
            </a:r>
            <a:endParaRPr lang="en-US" sz="1400" dirty="0"/>
          </a:p>
        </p:txBody>
      </p:sp>
      <p:sp>
        <p:nvSpPr>
          <p:cNvPr id="8" name="Shape 6"/>
          <p:cNvSpPr/>
          <p:nvPr/>
        </p:nvSpPr>
        <p:spPr>
          <a:xfrm>
            <a:off x="640080" y="1371600"/>
            <a:ext cx="7863840" cy="3246120"/>
          </a:xfrm>
          <a:prstGeom prst="roundRect">
            <a:avLst>
              <a:gd name="adj" fmla="val 3380"/>
            </a:avLst>
          </a:prstGeom>
          <a:solidFill>
            <a:srgbClr val="FBF6E4"/>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p:nvPr/>
        </p:nvSpPr>
        <p:spPr>
          <a:xfrm>
            <a:off x="1097280" y="2468880"/>
            <a:ext cx="1737360" cy="384048"/>
          </a:xfrm>
          <a:prstGeom prst="rect">
            <a:avLst/>
          </a:prstGeom>
          <a:solidFill>
            <a:srgbClr val="E4E8EC"/>
          </a:solidFill>
          <a:ln w="19050">
            <a:solidFill>
              <a:srgbClr val="2E5E8E"/>
            </a:solidFill>
          </a:ln>
        </p:spPr>
        <p:txBody>
          <a:bodyPr wrap="square" lIns="0" tIns="0" rIns="0" bIns="0" rtlCol="0" anchor="ctr"/>
          <a:lstStyle/>
          <a:p>
            <a:pPr marL="0" indent="0" algn="ctr">
              <a:buNone/>
            </a:pPr>
            <a:r>
              <a:rPr lang="en-US" sz="1400" b="1" dirty="0">
                <a:solidFill>
                  <a:srgbClr val="2E3B44"/>
                </a:solidFill>
                <a:latin typeface="Calibri" pitchFamily="34" charset="0"/>
                <a:ea typeface="Calibri" pitchFamily="34" charset="-122"/>
                <a:cs typeface="Calibri" pitchFamily="34" charset="-120"/>
              </a:rPr>
              <a:t>PROFESSOR</a:t>
            </a:r>
            <a:endParaRPr lang="en-US" sz="1400" dirty="0"/>
          </a:p>
        </p:txBody>
      </p:sp>
      <p:sp>
        <p:nvSpPr>
          <p:cNvPr id="10" name="Shape 8"/>
          <p:cNvSpPr/>
          <p:nvPr/>
        </p:nvSpPr>
        <p:spPr>
          <a:xfrm>
            <a:off x="1097280" y="2852928"/>
            <a:ext cx="1737360" cy="731520"/>
          </a:xfrm>
          <a:prstGeom prst="rect">
            <a:avLst/>
          </a:prstGeom>
          <a:solidFill>
            <a:srgbClr val="FFFFFF"/>
          </a:solidFill>
          <a:ln w="19050">
            <a:solidFill>
              <a:srgbClr val="2E5E8E"/>
            </a:solidFill>
            <a:prstDash val="solid"/>
          </a:ln>
        </p:spPr>
        <p:txBody>
          <a:bodyPr/>
          <a:lstStyle/>
          <a:p>
            <a:endParaRPr lang="en-US"/>
          </a:p>
        </p:txBody>
      </p:sp>
      <p:sp>
        <p:nvSpPr>
          <p:cNvPr id="11" name="Shape 9"/>
          <p:cNvSpPr/>
          <p:nvPr/>
        </p:nvSpPr>
        <p:spPr>
          <a:xfrm>
            <a:off x="1371600" y="2852928"/>
            <a:ext cx="914" cy="731520"/>
          </a:xfrm>
          <a:prstGeom prst="line">
            <a:avLst/>
          </a:prstGeom>
          <a:noFill/>
          <a:ln w="15875">
            <a:solidFill>
              <a:srgbClr val="2E5E8E"/>
            </a:solidFill>
            <a:prstDash val="solid"/>
          </a:ln>
        </p:spPr>
        <p:txBody>
          <a:bodyPr/>
          <a:lstStyle/>
          <a:p>
            <a:endParaRPr lang="en-US"/>
          </a:p>
        </p:txBody>
      </p:sp>
      <p:sp>
        <p:nvSpPr>
          <p:cNvPr id="12" name="Text 10"/>
          <p:cNvSpPr/>
          <p:nvPr/>
        </p:nvSpPr>
        <p:spPr>
          <a:xfrm>
            <a:off x="6309360" y="2468880"/>
            <a:ext cx="1737360" cy="384048"/>
          </a:xfrm>
          <a:prstGeom prst="rect">
            <a:avLst/>
          </a:prstGeom>
          <a:solidFill>
            <a:srgbClr val="E4E8EC"/>
          </a:solidFill>
          <a:ln w="19050">
            <a:solidFill>
              <a:srgbClr val="2E5E8E"/>
            </a:solidFill>
          </a:ln>
        </p:spPr>
        <p:txBody>
          <a:bodyPr wrap="square" lIns="0" tIns="0" rIns="0" bIns="0" rtlCol="0" anchor="ctr"/>
          <a:lstStyle/>
          <a:p>
            <a:pPr marL="0" indent="0" algn="ctr">
              <a:buNone/>
            </a:pPr>
            <a:r>
              <a:rPr lang="en-US" sz="1400" b="1" dirty="0">
                <a:solidFill>
                  <a:srgbClr val="2E3B44"/>
                </a:solidFill>
                <a:latin typeface="Calibri" pitchFamily="34" charset="0"/>
                <a:ea typeface="Calibri" pitchFamily="34" charset="-122"/>
                <a:cs typeface="Calibri" pitchFamily="34" charset="-120"/>
              </a:rPr>
              <a:t>CLASS</a:t>
            </a:r>
            <a:endParaRPr lang="en-US" sz="1400" dirty="0"/>
          </a:p>
        </p:txBody>
      </p:sp>
      <p:sp>
        <p:nvSpPr>
          <p:cNvPr id="13" name="Shape 11"/>
          <p:cNvSpPr/>
          <p:nvPr/>
        </p:nvSpPr>
        <p:spPr>
          <a:xfrm>
            <a:off x="6309360" y="2852928"/>
            <a:ext cx="1737360" cy="731520"/>
          </a:xfrm>
          <a:prstGeom prst="rect">
            <a:avLst/>
          </a:prstGeom>
          <a:solidFill>
            <a:srgbClr val="FFFFFF"/>
          </a:solidFill>
          <a:ln w="19050">
            <a:solidFill>
              <a:srgbClr val="2E5E8E"/>
            </a:solidFill>
            <a:prstDash val="solid"/>
          </a:ln>
        </p:spPr>
        <p:txBody>
          <a:bodyPr/>
          <a:lstStyle/>
          <a:p>
            <a:endParaRPr lang="en-US"/>
          </a:p>
        </p:txBody>
      </p:sp>
      <p:sp>
        <p:nvSpPr>
          <p:cNvPr id="14" name="Shape 12"/>
          <p:cNvSpPr/>
          <p:nvPr/>
        </p:nvSpPr>
        <p:spPr>
          <a:xfrm>
            <a:off x="6583680" y="2852928"/>
            <a:ext cx="914" cy="731520"/>
          </a:xfrm>
          <a:prstGeom prst="line">
            <a:avLst/>
          </a:prstGeom>
          <a:noFill/>
          <a:ln w="15875">
            <a:solidFill>
              <a:srgbClr val="2E5E8E"/>
            </a:solidFill>
            <a:prstDash val="solid"/>
          </a:ln>
        </p:spPr>
        <p:txBody>
          <a:bodyPr/>
          <a:lstStyle/>
          <a:p>
            <a:endParaRPr lang="en-US"/>
          </a:p>
        </p:txBody>
      </p:sp>
      <p:sp>
        <p:nvSpPr>
          <p:cNvPr id="15" name="Shape 13"/>
          <p:cNvSpPr/>
          <p:nvPr/>
        </p:nvSpPr>
        <p:spPr>
          <a:xfrm>
            <a:off x="2834640" y="3017520"/>
            <a:ext cx="3474720" cy="914"/>
          </a:xfrm>
          <a:prstGeom prst="line">
            <a:avLst/>
          </a:prstGeom>
          <a:noFill/>
          <a:ln w="28575">
            <a:solidFill>
              <a:srgbClr val="A0262C"/>
            </a:solidFill>
            <a:prstDash val="solid"/>
          </a:ln>
        </p:spPr>
        <p:txBody>
          <a:bodyPr/>
          <a:lstStyle/>
          <a:p>
            <a:endParaRPr lang="en-US"/>
          </a:p>
        </p:txBody>
      </p:sp>
      <p:sp>
        <p:nvSpPr>
          <p:cNvPr id="16" name="Shape 14"/>
          <p:cNvSpPr/>
          <p:nvPr/>
        </p:nvSpPr>
        <p:spPr>
          <a:xfrm>
            <a:off x="3017520" y="2852928"/>
            <a:ext cx="914" cy="329184"/>
          </a:xfrm>
          <a:prstGeom prst="line">
            <a:avLst/>
          </a:prstGeom>
          <a:noFill/>
          <a:ln w="28575">
            <a:solidFill>
              <a:srgbClr val="A0262C"/>
            </a:solidFill>
            <a:prstDash val="solid"/>
          </a:ln>
        </p:spPr>
        <p:txBody>
          <a:bodyPr/>
          <a:lstStyle/>
          <a:p>
            <a:endParaRPr lang="en-US"/>
          </a:p>
        </p:txBody>
      </p:sp>
      <p:sp>
        <p:nvSpPr>
          <p:cNvPr id="17" name="Shape 15"/>
          <p:cNvSpPr/>
          <p:nvPr/>
        </p:nvSpPr>
        <p:spPr>
          <a:xfrm>
            <a:off x="3154680" y="2852928"/>
            <a:ext cx="914" cy="329184"/>
          </a:xfrm>
          <a:prstGeom prst="line">
            <a:avLst/>
          </a:prstGeom>
          <a:noFill/>
          <a:ln w="28575">
            <a:solidFill>
              <a:srgbClr val="A0262C"/>
            </a:solidFill>
            <a:prstDash val="solid"/>
          </a:ln>
        </p:spPr>
        <p:txBody>
          <a:bodyPr/>
          <a:lstStyle/>
          <a:p>
            <a:endParaRPr lang="en-US"/>
          </a:p>
        </p:txBody>
      </p:sp>
      <p:sp>
        <p:nvSpPr>
          <p:cNvPr id="18" name="Shape 16"/>
          <p:cNvSpPr/>
          <p:nvPr/>
        </p:nvSpPr>
        <p:spPr>
          <a:xfrm flipV="1">
            <a:off x="5989320" y="2834640"/>
            <a:ext cx="320040" cy="182880"/>
          </a:xfrm>
          <a:prstGeom prst="line">
            <a:avLst/>
          </a:prstGeom>
          <a:noFill/>
          <a:ln w="28575">
            <a:solidFill>
              <a:srgbClr val="A0262C"/>
            </a:solidFill>
            <a:prstDash val="solid"/>
          </a:ln>
        </p:spPr>
        <p:txBody>
          <a:bodyPr/>
          <a:lstStyle/>
          <a:p>
            <a:endParaRPr lang="en-US"/>
          </a:p>
        </p:txBody>
      </p:sp>
      <p:sp>
        <p:nvSpPr>
          <p:cNvPr id="19" name="Shape 17"/>
          <p:cNvSpPr/>
          <p:nvPr/>
        </p:nvSpPr>
        <p:spPr>
          <a:xfrm>
            <a:off x="5989320" y="3017520"/>
            <a:ext cx="320040" cy="182880"/>
          </a:xfrm>
          <a:prstGeom prst="line">
            <a:avLst/>
          </a:prstGeom>
          <a:noFill/>
          <a:ln w="28575">
            <a:solidFill>
              <a:srgbClr val="A0262C"/>
            </a:solidFill>
            <a:prstDash val="solid"/>
          </a:ln>
        </p:spPr>
        <p:txBody>
          <a:bodyPr/>
          <a:lstStyle/>
          <a:p>
            <a:endParaRPr lang="en-US"/>
          </a:p>
        </p:txBody>
      </p:sp>
      <p:sp>
        <p:nvSpPr>
          <p:cNvPr id="20" name="Shape 18"/>
          <p:cNvSpPr/>
          <p:nvPr/>
        </p:nvSpPr>
        <p:spPr>
          <a:xfrm>
            <a:off x="5897880" y="2852928"/>
            <a:ext cx="914" cy="329184"/>
          </a:xfrm>
          <a:prstGeom prst="line">
            <a:avLst/>
          </a:prstGeom>
          <a:noFill/>
          <a:ln w="28575">
            <a:solidFill>
              <a:srgbClr val="A0262C"/>
            </a:solidFill>
            <a:prstDash val="solid"/>
          </a:ln>
        </p:spPr>
        <p:txBody>
          <a:bodyPr/>
          <a:lstStyle/>
          <a:p>
            <a:endParaRPr lang="en-US"/>
          </a:p>
        </p:txBody>
      </p:sp>
      <p:sp>
        <p:nvSpPr>
          <p:cNvPr id="21" name="Text 19"/>
          <p:cNvSpPr txBox="1"/>
          <p:nvPr/>
        </p:nvSpPr>
        <p:spPr>
          <a:xfrm>
            <a:off x="3931920" y="2697480"/>
            <a:ext cx="1280160" cy="256032"/>
          </a:xfrm>
          <a:prstGeom prst="rect">
            <a:avLst/>
          </a:prstGeom>
          <a:noFill/>
          <a:ln/>
        </p:spPr>
        <p:txBody>
          <a:bodyPr wrap="square" lIns="0" tIns="0" rIns="0" bIns="0" rtlCol="0" anchor="ctr"/>
          <a:lstStyle/>
          <a:p>
            <a:pPr marL="0" indent="0" algn="ctr">
              <a:buNone/>
            </a:pPr>
            <a:r>
              <a:rPr lang="en-US" sz="1500" b="1" dirty="0">
                <a:solidFill>
                  <a:srgbClr val="A0262C"/>
                </a:solidFill>
                <a:latin typeface="Calibri" pitchFamily="34" charset="0"/>
                <a:ea typeface="Calibri" pitchFamily="34" charset="-122"/>
                <a:cs typeface="Calibri" pitchFamily="34" charset="-120"/>
              </a:rPr>
              <a:t>teaches</a:t>
            </a:r>
            <a:endParaRPr lang="en-US" sz="1500" dirty="0"/>
          </a:p>
        </p:txBody>
      </p:sp>
      <p:sp>
        <p:nvSpPr>
          <p:cNvPr id="22" name="Text 20"/>
          <p:cNvSpPr txBox="1"/>
          <p:nvPr/>
        </p:nvSpPr>
        <p:spPr>
          <a:xfrm>
            <a:off x="3017520" y="3200400"/>
            <a:ext cx="731520" cy="256032"/>
          </a:xfrm>
          <a:prstGeom prst="rect">
            <a:avLst/>
          </a:prstGeom>
          <a:noFill/>
          <a:ln/>
        </p:spPr>
        <p:txBody>
          <a:bodyPr wrap="square" lIns="0" tIns="0" rIns="0" bIns="0" rtlCol="0" anchor="ctr"/>
          <a:lstStyle/>
          <a:p>
            <a:pPr marL="0" indent="0" algn="ctr">
              <a:buNone/>
            </a:pPr>
            <a:r>
              <a:rPr lang="en-US" sz="1400" b="1" dirty="0">
                <a:solidFill>
                  <a:srgbClr val="2E3B44"/>
                </a:solidFill>
                <a:latin typeface="Calibri" pitchFamily="34" charset="0"/>
                <a:ea typeface="Calibri" pitchFamily="34" charset="-122"/>
                <a:cs typeface="Calibri" pitchFamily="34" charset="-120"/>
              </a:rPr>
              <a:t>(1,1)</a:t>
            </a:r>
            <a:endParaRPr lang="en-US" sz="1400" dirty="0"/>
          </a:p>
        </p:txBody>
      </p:sp>
      <p:sp>
        <p:nvSpPr>
          <p:cNvPr id="23" name="Text 21"/>
          <p:cNvSpPr txBox="1"/>
          <p:nvPr/>
        </p:nvSpPr>
        <p:spPr>
          <a:xfrm>
            <a:off x="5349240" y="3200400"/>
            <a:ext cx="731520" cy="256032"/>
          </a:xfrm>
          <a:prstGeom prst="rect">
            <a:avLst/>
          </a:prstGeom>
          <a:noFill/>
          <a:ln/>
        </p:spPr>
        <p:txBody>
          <a:bodyPr wrap="square" lIns="0" tIns="0" rIns="0" bIns="0" rtlCol="0" anchor="ctr"/>
          <a:lstStyle/>
          <a:p>
            <a:pPr marL="0" indent="0" algn="ctr">
              <a:buNone/>
            </a:pPr>
            <a:r>
              <a:rPr lang="en-US" sz="1400" b="1" dirty="0">
                <a:solidFill>
                  <a:srgbClr val="2E3B44"/>
                </a:solidFill>
                <a:latin typeface="Calibri" pitchFamily="34" charset="0"/>
                <a:ea typeface="Calibri" pitchFamily="34" charset="-122"/>
                <a:cs typeface="Calibri" pitchFamily="34" charset="-120"/>
              </a:rPr>
              <a:t>(1,4)</a:t>
            </a:r>
            <a:endParaRPr lang="en-US" sz="1400" dirty="0"/>
          </a:p>
        </p:txBody>
      </p:sp>
      <p:sp>
        <p:nvSpPr>
          <p:cNvPr id="24" name="Text 22"/>
          <p:cNvSpPr txBox="1"/>
          <p:nvPr/>
        </p:nvSpPr>
        <p:spPr>
          <a:xfrm>
            <a:off x="3657600" y="1508760"/>
            <a:ext cx="1828800" cy="256032"/>
          </a:xfrm>
          <a:prstGeom prst="rect">
            <a:avLst/>
          </a:prstGeom>
          <a:noFill/>
          <a:ln/>
        </p:spPr>
        <p:txBody>
          <a:bodyPr wrap="square" lIns="0" tIns="0" rIns="0" bIns="0" rtlCol="0" anchor="ctr"/>
          <a:lstStyle/>
          <a:p>
            <a:pPr marL="0" indent="0" algn="ctr">
              <a:buNone/>
            </a:pPr>
            <a:r>
              <a:rPr lang="en-US" sz="1400" b="1" dirty="0">
                <a:solidFill>
                  <a:srgbClr val="2E3B44"/>
                </a:solidFill>
                <a:latin typeface="Calibri" pitchFamily="34" charset="0"/>
                <a:ea typeface="Calibri" pitchFamily="34" charset="-122"/>
                <a:cs typeface="Calibri" pitchFamily="34" charset="-120"/>
              </a:rPr>
              <a:t>Connectivities</a:t>
            </a:r>
            <a:endParaRPr lang="en-US" sz="1400" dirty="0"/>
          </a:p>
        </p:txBody>
      </p:sp>
      <p:sp>
        <p:nvSpPr>
          <p:cNvPr id="25" name="Shape 23"/>
          <p:cNvSpPr/>
          <p:nvPr/>
        </p:nvSpPr>
        <p:spPr>
          <a:xfrm flipH="1">
            <a:off x="3200400" y="1783080"/>
            <a:ext cx="914400" cy="960120"/>
          </a:xfrm>
          <a:prstGeom prst="line">
            <a:avLst/>
          </a:prstGeom>
          <a:noFill/>
          <a:ln w="19050">
            <a:solidFill>
              <a:srgbClr val="3D5A73"/>
            </a:solidFill>
            <a:prstDash val="solid"/>
            <a:tailEnd type="triangle"/>
          </a:ln>
        </p:spPr>
        <p:txBody>
          <a:bodyPr/>
          <a:lstStyle/>
          <a:p>
            <a:endParaRPr lang="en-US"/>
          </a:p>
        </p:txBody>
      </p:sp>
      <p:sp>
        <p:nvSpPr>
          <p:cNvPr id="26" name="Shape 24"/>
          <p:cNvSpPr/>
          <p:nvPr/>
        </p:nvSpPr>
        <p:spPr>
          <a:xfrm>
            <a:off x="5029200" y="1783080"/>
            <a:ext cx="914400" cy="960120"/>
          </a:xfrm>
          <a:prstGeom prst="line">
            <a:avLst/>
          </a:prstGeom>
          <a:noFill/>
          <a:ln w="19050">
            <a:solidFill>
              <a:srgbClr val="3D5A73"/>
            </a:solidFill>
            <a:prstDash val="solid"/>
            <a:tailEnd type="triangle"/>
          </a:ln>
        </p:spPr>
        <p:txBody>
          <a:bodyPr/>
          <a:lstStyle/>
          <a:p>
            <a:endParaRPr lang="en-US"/>
          </a:p>
        </p:txBody>
      </p:sp>
      <p:sp>
        <p:nvSpPr>
          <p:cNvPr id="27" name="Text 25"/>
          <p:cNvSpPr txBox="1"/>
          <p:nvPr/>
        </p:nvSpPr>
        <p:spPr>
          <a:xfrm>
            <a:off x="3657600" y="4206240"/>
            <a:ext cx="1828800" cy="256032"/>
          </a:xfrm>
          <a:prstGeom prst="rect">
            <a:avLst/>
          </a:prstGeom>
          <a:noFill/>
          <a:ln/>
        </p:spPr>
        <p:txBody>
          <a:bodyPr wrap="square" lIns="0" tIns="0" rIns="0" bIns="0" rtlCol="0" anchor="ctr"/>
          <a:lstStyle/>
          <a:p>
            <a:pPr marL="0" indent="0" algn="ctr">
              <a:buNone/>
            </a:pPr>
            <a:r>
              <a:rPr lang="en-US" sz="1400" b="1" dirty="0">
                <a:solidFill>
                  <a:srgbClr val="2E3B44"/>
                </a:solidFill>
                <a:latin typeface="Calibri" pitchFamily="34" charset="0"/>
                <a:ea typeface="Calibri" pitchFamily="34" charset="-122"/>
                <a:cs typeface="Calibri" pitchFamily="34" charset="-120"/>
              </a:rPr>
              <a:t>Cardinalities</a:t>
            </a:r>
            <a:endParaRPr lang="en-US" sz="1400" dirty="0"/>
          </a:p>
        </p:txBody>
      </p:sp>
      <p:sp>
        <p:nvSpPr>
          <p:cNvPr id="28" name="Shape 26"/>
          <p:cNvSpPr/>
          <p:nvPr/>
        </p:nvSpPr>
        <p:spPr>
          <a:xfrm flipH="1" flipV="1">
            <a:off x="3429000" y="3520440"/>
            <a:ext cx="731520" cy="685800"/>
          </a:xfrm>
          <a:prstGeom prst="line">
            <a:avLst/>
          </a:prstGeom>
          <a:noFill/>
          <a:ln w="19050">
            <a:solidFill>
              <a:srgbClr val="3D5A73"/>
            </a:solidFill>
            <a:prstDash val="solid"/>
            <a:tailEnd type="triangle"/>
          </a:ln>
        </p:spPr>
        <p:txBody>
          <a:bodyPr/>
          <a:lstStyle/>
          <a:p>
            <a:endParaRPr lang="en-US"/>
          </a:p>
        </p:txBody>
      </p:sp>
      <p:sp>
        <p:nvSpPr>
          <p:cNvPr id="29" name="Shape 27"/>
          <p:cNvSpPr/>
          <p:nvPr/>
        </p:nvSpPr>
        <p:spPr>
          <a:xfrm flipV="1">
            <a:off x="4983480" y="3520440"/>
            <a:ext cx="685800" cy="685800"/>
          </a:xfrm>
          <a:prstGeom prst="line">
            <a:avLst/>
          </a:prstGeom>
          <a:noFill/>
          <a:ln w="19050">
            <a:solidFill>
              <a:srgbClr val="3D5A73"/>
            </a:solidFill>
            <a:prstDash val="solid"/>
            <a:tailEnd type="triangle"/>
          </a:ln>
        </p:spPr>
        <p:txBody>
          <a:bodyP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52</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References</a:t>
            </a:r>
            <a:endParaRPr lang="en-US" sz="3000" dirty="0"/>
          </a:p>
        </p:txBody>
      </p:sp>
      <p:sp>
        <p:nvSpPr>
          <p:cNvPr id="7" name="Text 5"/>
          <p:cNvSpPr txBox="1"/>
          <p:nvPr/>
        </p:nvSpPr>
        <p:spPr>
          <a:xfrm>
            <a:off x="640080" y="1051560"/>
            <a:ext cx="2743200" cy="411480"/>
          </a:xfrm>
          <a:prstGeom prst="rect">
            <a:avLst/>
          </a:prstGeom>
          <a:noFill/>
          <a:ln/>
        </p:spPr>
        <p:txBody>
          <a:bodyPr wrap="square" lIns="0" tIns="0" rIns="0" bIns="0" rtlCol="0" anchor="ctr"/>
          <a:lstStyle/>
          <a:p>
            <a:pPr marL="0" indent="0">
              <a:buNone/>
            </a:pPr>
            <a:r>
              <a:rPr lang="en-US" sz="2000" b="1" dirty="0">
                <a:solidFill>
                  <a:srgbClr val="55BFAE"/>
                </a:solidFill>
                <a:latin typeface="Calibri" pitchFamily="34" charset="0"/>
                <a:ea typeface="Calibri" pitchFamily="34" charset="-122"/>
                <a:cs typeface="Calibri" pitchFamily="34" charset="-120"/>
              </a:rPr>
              <a:t>Books</a:t>
            </a:r>
            <a:endParaRPr lang="en-US" sz="2000" dirty="0"/>
          </a:p>
        </p:txBody>
      </p:sp>
      <p:sp>
        <p:nvSpPr>
          <p:cNvPr id="8" name="Shape 6"/>
          <p:cNvSpPr/>
          <p:nvPr/>
        </p:nvSpPr>
        <p:spPr>
          <a:xfrm>
            <a:off x="1097280" y="1828800"/>
            <a:ext cx="1645920" cy="1920240"/>
          </a:xfrm>
          <a:prstGeom prst="can">
            <a:avLst/>
          </a:prstGeom>
          <a:solidFill>
            <a:srgbClr val="F28C28"/>
          </a:solidFill>
          <a:ln/>
        </p:spPr>
        <p:txBody>
          <a:bodyPr/>
          <a:lstStyle/>
          <a:p>
            <a:endParaRPr lang="en-US"/>
          </a:p>
        </p:txBody>
      </p:sp>
      <p:sp>
        <p:nvSpPr>
          <p:cNvPr id="9" name="Shape 7"/>
          <p:cNvSpPr/>
          <p:nvPr/>
        </p:nvSpPr>
        <p:spPr>
          <a:xfrm>
            <a:off x="3749040" y="1097280"/>
            <a:ext cx="4754880" cy="1005840"/>
          </a:xfrm>
          <a:prstGeom prst="roundRect">
            <a:avLst>
              <a:gd name="adj" fmla="val 1090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8"/>
          <p:cNvSpPr/>
          <p:nvPr/>
        </p:nvSpPr>
        <p:spPr>
          <a:xfrm>
            <a:off x="3931920" y="1353312"/>
            <a:ext cx="502920" cy="502920"/>
          </a:xfrm>
          <a:prstGeom prst="ellipse">
            <a:avLst/>
          </a:prstGeom>
          <a:solidFill>
            <a:srgbClr val="F28C28"/>
          </a:solidFill>
          <a:ln/>
        </p:spPr>
        <p:txBody>
          <a:bodyPr/>
          <a:lstStyle/>
          <a:p>
            <a:endParaRPr lang="en-US"/>
          </a:p>
        </p:txBody>
      </p:sp>
      <p:sp>
        <p:nvSpPr>
          <p:cNvPr id="11" name="Text 9"/>
          <p:cNvSpPr txBox="1"/>
          <p:nvPr/>
        </p:nvSpPr>
        <p:spPr>
          <a:xfrm>
            <a:off x="3931920" y="1353312"/>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4617720" y="1143000"/>
            <a:ext cx="3749040" cy="914400"/>
          </a:xfrm>
          <a:prstGeom prst="rect">
            <a:avLst/>
          </a:prstGeom>
          <a:noFill/>
          <a:ln/>
        </p:spPr>
        <p:txBody>
          <a:bodyPr wrap="square" lIns="0" tIns="0" rIns="0" bIns="0" rtlCol="0" anchor="ctr"/>
          <a:lstStyle/>
          <a:p>
            <a:pPr marL="0" indent="0">
              <a:buNone/>
            </a:pPr>
            <a:r>
              <a:rPr lang="en-US" sz="1500" b="1" dirty="0">
                <a:solidFill>
                  <a:srgbClr val="143F4F"/>
                </a:solidFill>
                <a:latin typeface="Calibri" pitchFamily="34" charset="0"/>
                <a:ea typeface="Calibri" pitchFamily="34" charset="-122"/>
                <a:cs typeface="Calibri" pitchFamily="34" charset="-120"/>
              </a:rPr>
              <a:t>Database System Concepts</a:t>
            </a:r>
            <a:endParaRPr lang="en-US" sz="1500" dirty="0"/>
          </a:p>
          <a:p>
            <a:pPr marL="0" indent="0">
              <a:buNone/>
            </a:pPr>
            <a:r>
              <a:rPr lang="en-US" sz="1150" dirty="0">
                <a:solidFill>
                  <a:srgbClr val="1F3B47"/>
                </a:solidFill>
                <a:latin typeface="Calibri" pitchFamily="34" charset="0"/>
                <a:ea typeface="Calibri" pitchFamily="34" charset="-122"/>
                <a:cs typeface="Calibri" pitchFamily="34" charset="-120"/>
              </a:rPr>
              <a:t>By Abraham Silberschatz, Henry F. Korth, S. Sudarshan</a:t>
            </a:r>
            <a:endParaRPr lang="en-US" sz="1500" dirty="0"/>
          </a:p>
          <a:p>
            <a:pPr marL="0" indent="0">
              <a:buNone/>
            </a:pPr>
            <a:r>
              <a:rPr lang="en-US" sz="1150" i="1" dirty="0">
                <a:solidFill>
                  <a:srgbClr val="5A7079"/>
                </a:solidFill>
                <a:latin typeface="Calibri" pitchFamily="34" charset="0"/>
                <a:ea typeface="Calibri" pitchFamily="34" charset="-122"/>
                <a:cs typeface="Calibri" pitchFamily="34" charset="-120"/>
              </a:rPr>
              <a:t>Chapter 2 (source of this week's slides)</a:t>
            </a:r>
            <a:endParaRPr lang="en-US" sz="1500" dirty="0"/>
          </a:p>
        </p:txBody>
      </p:sp>
      <p:sp>
        <p:nvSpPr>
          <p:cNvPr id="13" name="Shape 11"/>
          <p:cNvSpPr/>
          <p:nvPr/>
        </p:nvSpPr>
        <p:spPr>
          <a:xfrm>
            <a:off x="3749040" y="2267712"/>
            <a:ext cx="4754880" cy="1005840"/>
          </a:xfrm>
          <a:prstGeom prst="roundRect">
            <a:avLst>
              <a:gd name="adj" fmla="val 1090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4" name="Shape 12"/>
          <p:cNvSpPr/>
          <p:nvPr/>
        </p:nvSpPr>
        <p:spPr>
          <a:xfrm>
            <a:off x="3931920" y="2523744"/>
            <a:ext cx="502920" cy="502920"/>
          </a:xfrm>
          <a:prstGeom prst="ellipse">
            <a:avLst/>
          </a:prstGeom>
          <a:solidFill>
            <a:srgbClr val="F28C28"/>
          </a:solidFill>
          <a:ln/>
        </p:spPr>
        <p:txBody>
          <a:bodyPr/>
          <a:lstStyle/>
          <a:p>
            <a:endParaRPr lang="en-US"/>
          </a:p>
        </p:txBody>
      </p:sp>
      <p:sp>
        <p:nvSpPr>
          <p:cNvPr id="15" name="Text 13"/>
          <p:cNvSpPr txBox="1"/>
          <p:nvPr/>
        </p:nvSpPr>
        <p:spPr>
          <a:xfrm>
            <a:off x="3931920" y="2523744"/>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4617720" y="2313432"/>
            <a:ext cx="3749040" cy="914400"/>
          </a:xfrm>
          <a:prstGeom prst="rect">
            <a:avLst/>
          </a:prstGeom>
          <a:noFill/>
          <a:ln/>
        </p:spPr>
        <p:txBody>
          <a:bodyPr wrap="square" lIns="0" tIns="0" rIns="0" bIns="0" rtlCol="0" anchor="ctr"/>
          <a:lstStyle/>
          <a:p>
            <a:pPr marL="0" indent="0">
              <a:buNone/>
            </a:pPr>
            <a:r>
              <a:rPr lang="en-US" sz="1500" b="1" dirty="0">
                <a:solidFill>
                  <a:srgbClr val="143F4F"/>
                </a:solidFill>
                <a:latin typeface="Calibri" pitchFamily="34" charset="0"/>
                <a:ea typeface="Calibri" pitchFamily="34" charset="-122"/>
                <a:cs typeface="Calibri" pitchFamily="34" charset="-120"/>
              </a:rPr>
              <a:t>Modern Database Management</a:t>
            </a:r>
            <a:endParaRPr lang="en-US" sz="1500" dirty="0"/>
          </a:p>
          <a:p>
            <a:pPr marL="0" indent="0">
              <a:buNone/>
            </a:pPr>
            <a:r>
              <a:rPr lang="en-US" sz="1150" dirty="0">
                <a:solidFill>
                  <a:srgbClr val="1F3B47"/>
                </a:solidFill>
                <a:latin typeface="Calibri" pitchFamily="34" charset="0"/>
                <a:ea typeface="Calibri" pitchFamily="34" charset="-122"/>
                <a:cs typeface="Calibri" pitchFamily="34" charset="-120"/>
              </a:rPr>
              <a:t>By Jeffrey A. Hoffer, V. Ramesh, Heikki Topi</a:t>
            </a:r>
            <a:endParaRPr lang="en-US" sz="1500" dirty="0"/>
          </a:p>
          <a:p>
            <a:pPr marL="0" indent="0">
              <a:buNone/>
            </a:pPr>
            <a:r>
              <a:rPr lang="en-US" sz="1150" i="1" dirty="0">
                <a:solidFill>
                  <a:srgbClr val="5A7079"/>
                </a:solidFill>
                <a:latin typeface="Calibri" pitchFamily="34" charset="0"/>
                <a:ea typeface="Calibri" pitchFamily="34" charset="-122"/>
                <a:cs typeface="Calibri" pitchFamily="34" charset="-120"/>
              </a:rPr>
              <a:t>13th Edition</a:t>
            </a:r>
            <a:endParaRPr lang="en-US" sz="1500" dirty="0"/>
          </a:p>
        </p:txBody>
      </p:sp>
      <p:sp>
        <p:nvSpPr>
          <p:cNvPr id="17" name="Shape 15"/>
          <p:cNvSpPr/>
          <p:nvPr/>
        </p:nvSpPr>
        <p:spPr>
          <a:xfrm>
            <a:off x="3749040" y="3438144"/>
            <a:ext cx="4754880" cy="1005840"/>
          </a:xfrm>
          <a:prstGeom prst="roundRect">
            <a:avLst>
              <a:gd name="adj" fmla="val 1090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8" name="Shape 16"/>
          <p:cNvSpPr/>
          <p:nvPr/>
        </p:nvSpPr>
        <p:spPr>
          <a:xfrm>
            <a:off x="3931920" y="3694176"/>
            <a:ext cx="502920" cy="502920"/>
          </a:xfrm>
          <a:prstGeom prst="ellipse">
            <a:avLst/>
          </a:prstGeom>
          <a:solidFill>
            <a:srgbClr val="F28C28"/>
          </a:solidFill>
          <a:ln/>
        </p:spPr>
        <p:txBody>
          <a:bodyPr/>
          <a:lstStyle/>
          <a:p>
            <a:endParaRPr lang="en-US"/>
          </a:p>
        </p:txBody>
      </p:sp>
      <p:sp>
        <p:nvSpPr>
          <p:cNvPr id="19" name="Text 17"/>
          <p:cNvSpPr txBox="1"/>
          <p:nvPr/>
        </p:nvSpPr>
        <p:spPr>
          <a:xfrm>
            <a:off x="3931920" y="3694176"/>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txBox="1"/>
          <p:nvPr/>
        </p:nvSpPr>
        <p:spPr>
          <a:xfrm>
            <a:off x="4617720" y="3483864"/>
            <a:ext cx="3749040" cy="914400"/>
          </a:xfrm>
          <a:prstGeom prst="rect">
            <a:avLst/>
          </a:prstGeom>
          <a:noFill/>
          <a:ln/>
        </p:spPr>
        <p:txBody>
          <a:bodyPr wrap="square" lIns="0" tIns="0" rIns="0" bIns="0" rtlCol="0" anchor="ctr"/>
          <a:lstStyle/>
          <a:p>
            <a:pPr marL="0" indent="0">
              <a:buNone/>
            </a:pPr>
            <a:r>
              <a:rPr lang="en-US" sz="1500" b="1" dirty="0">
                <a:solidFill>
                  <a:srgbClr val="143F4F"/>
                </a:solidFill>
                <a:latin typeface="Calibri" pitchFamily="34" charset="0"/>
                <a:ea typeface="Calibri" pitchFamily="34" charset="-122"/>
                <a:cs typeface="Calibri" pitchFamily="34" charset="-120"/>
              </a:rPr>
              <a:t>Fundamentals of Database Management Systems</a:t>
            </a:r>
            <a:endParaRPr lang="en-US" sz="1500" dirty="0"/>
          </a:p>
          <a:p>
            <a:pPr marL="0" indent="0">
              <a:buNone/>
            </a:pPr>
            <a:r>
              <a:rPr lang="en-US" sz="1150" dirty="0">
                <a:solidFill>
                  <a:srgbClr val="1F3B47"/>
                </a:solidFill>
                <a:latin typeface="Calibri" pitchFamily="34" charset="0"/>
                <a:ea typeface="Calibri" pitchFamily="34" charset="-122"/>
                <a:cs typeface="Calibri" pitchFamily="34" charset="-120"/>
              </a:rPr>
              <a:t>By Mark L. Gillenson</a:t>
            </a:r>
            <a:endParaRPr lang="en-US" sz="1500" dirty="0"/>
          </a:p>
          <a:p>
            <a:pPr marL="0" indent="0">
              <a:buNone/>
            </a:pPr>
            <a:r>
              <a:rPr lang="en-US" sz="1150" i="1" dirty="0">
                <a:solidFill>
                  <a:srgbClr val="5A7079"/>
                </a:solidFill>
                <a:latin typeface="Calibri" pitchFamily="34" charset="0"/>
                <a:ea typeface="Calibri" pitchFamily="34" charset="-122"/>
                <a:cs typeface="Calibri" pitchFamily="34" charset="-120"/>
              </a:rPr>
              <a:t>2nd Edition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2913</Words>
  <Application>Microsoft Office PowerPoint</Application>
  <PresentationFormat>On-screen Show (16:9)</PresentationFormat>
  <Paragraphs>756</Paragraphs>
  <Slides>52</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Cambria</vt:lpstr>
      <vt:lpstr>Century Schoolbook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 - Week 05 (Lectures 07-09)</dc:title>
  <dc:subject>PptxGenJS Presentation</dc:subject>
  <dc:creator>PptxGenJS</dc:creator>
  <cp:lastModifiedBy>FAHEEM SHAUKAT</cp:lastModifiedBy>
  <cp:revision>3</cp:revision>
  <dcterms:created xsi:type="dcterms:W3CDTF">2026-10-15T01:20:47Z</dcterms:created>
  <dcterms:modified xsi:type="dcterms:W3CDTF">2026-10-15T01:34:43Z</dcterms:modified>
</cp:coreProperties>
</file>