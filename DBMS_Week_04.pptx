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61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669280" y="-1097280"/>
            <a:ext cx="2926080" cy="7772400"/>
          </a:xfrm>
          <a:prstGeom prst="roundRect">
            <a:avLst>
              <a:gd name="adj" fmla="val 50000"/>
            </a:avLst>
          </a:prstGeom>
          <a:solidFill>
            <a:srgbClr val="9ED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566928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231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500000">
            <a:off x="640080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2468880"/>
            <a:ext cx="685800" cy="6858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Fall-2026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3258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Meaningful Information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Lecture Recap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Environment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193852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747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Architecture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93852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172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Lecture 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 be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2704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63040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6300" y="1463040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15270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463040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212848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2768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212848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and Schemas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6300" y="2212848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22768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2212848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962656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02666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2962656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Languages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86300" y="2962656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23460" y="302666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82346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72100" y="2962656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712464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377647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772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3712464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 (DBA)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86300" y="3712464"/>
            <a:ext cx="38176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3460" y="377647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8234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72100" y="3712464"/>
            <a:ext cx="2994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and User Interfaces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View of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3108960" cy="2651760"/>
          </a:xfrm>
          <a:prstGeom prst="ellipse">
            <a:avLst/>
          </a:prstGeom>
          <a:solidFill>
            <a:srgbClr val="DC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10972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164592" cy="457200"/>
          </a:xfrm>
          <a:prstGeom prst="rect">
            <a:avLst/>
          </a:prstGeom>
          <a:solidFill>
            <a:srgbClr val="2F5A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20840" y="1508760"/>
            <a:ext cx="164592" cy="685800"/>
          </a:xfrm>
          <a:prstGeom prst="rect">
            <a:avLst/>
          </a:prstGeom>
          <a:solidFill>
            <a:srgbClr val="2F5A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0" y="1280160"/>
            <a:ext cx="164592" cy="914400"/>
          </a:xfrm>
          <a:prstGeom prst="rect">
            <a:avLst/>
          </a:prstGeom>
          <a:solidFill>
            <a:srgbClr val="2F5A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1280160" cy="1280160"/>
          </a:xfrm>
          <a:prstGeom prst="ellipse">
            <a:avLst/>
          </a:prstGeom>
          <a:solidFill>
            <a:srgbClr val="FFFFFF">
              <a:alpha val="70000"/>
            </a:srgbClr>
          </a:solidFill>
          <a:ln w="635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0" y="1691640"/>
            <a:ext cx="640080" cy="640080"/>
          </a:xfrm>
          <a:prstGeom prst="pie">
            <a:avLst>
              <a:gd name="adj1" fmla="val 0"/>
              <a:gd name="adj2" fmla="val 16800000"/>
            </a:avLst>
          </a:prstGeom>
          <a:solidFill>
            <a:srgbClr val="2F7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73952" y="2487168"/>
            <a:ext cx="502920" cy="502920"/>
          </a:xfrm>
          <a:prstGeom prst="line">
            <a:avLst/>
          </a:prstGeom>
          <a:noFill/>
          <a:ln w="1143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2852928"/>
            <a:ext cx="320040" cy="274320"/>
          </a:xfrm>
          <a:prstGeom prst="ellipse">
            <a:avLst/>
          </a:prstGeom>
          <a:solidFill>
            <a:srgbClr val="F2B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38912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DBMS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View of Data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system is a collection of interrelated data and a set of programs that allow users to access and modify these data.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purpose of a database system is to provide users with an abstract view of the data.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is, the system hides certain details of how the data are stored and maintained.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2377440" cy="640080"/>
          </a:xfrm>
          <a:prstGeom prst="rect">
            <a:avLst/>
          </a:prstGeom>
          <a:solidFill>
            <a:srgbClr val="55BFAE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03504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194560"/>
            <a:ext cx="2377440" cy="640080"/>
          </a:xfrm>
          <a:prstGeom prst="rect">
            <a:avLst/>
          </a:prstGeom>
          <a:solidFill>
            <a:srgbClr val="143F4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3504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(abstraction)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2377440" cy="640080"/>
          </a:xfrm>
          <a:prstGeom prst="rect">
            <a:avLst/>
          </a:prstGeom>
          <a:solidFill>
            <a:srgbClr val="E4ECE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3504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details (hidden)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1920240"/>
            <a:ext cx="914" cy="27432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23760" y="2834640"/>
            <a:ext cx="914" cy="27432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Abstraction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058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Abstraction?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hiding the complex internal details of the database and showing only the necessary information to the user.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Abstraction?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06040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use complex data structures for efficiency.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86300" y="2606040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23460" y="276148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2346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72100" y="2606040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are not computer trained.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538728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538728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hide complexity from users.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86300" y="3538728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23460" y="36941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2346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72100" y="3538728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 allows simplified interactions with the DBMS.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Levels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Data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96012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977640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1980" y="1828800"/>
            <a:ext cx="1143000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47488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47488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1828" y="1828800"/>
            <a:ext cx="393192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117336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17336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6195060" y="1828800"/>
            <a:ext cx="356616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87184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87184" y="1325880"/>
            <a:ext cx="868680" cy="36576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187184" y="1325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6515100" y="1828800"/>
            <a:ext cx="1106424" cy="4114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0" y="2240280"/>
            <a:ext cx="1828800" cy="45720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1206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697480"/>
            <a:ext cx="914" cy="32004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solidFill>
            <a:srgbClr val="D6E6F5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3474720"/>
            <a:ext cx="914" cy="18288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15000" y="3657600"/>
            <a:ext cx="6400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46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Physical Level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level of abstraction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data is stored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indexes, file structures, block storage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database system developers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complex, not shown to end users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10312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9480" y="306324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2648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abstraction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abstraction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Logical Level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several types of DBMS Architecture that we use according to the usage requirements.</a:t>
            </a:r>
            <a:endParaRPr lang="en-US" sz="16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1-Tier Architecture</a:t>
            </a:r>
            <a:endParaRPr lang="en-US" sz="16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Architecture</a:t>
            </a:r>
            <a:endParaRPr lang="en-US" sz="16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10312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9480" y="306324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2648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abstraction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abstraction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View Level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level of abstraction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a part of the database relevant to a user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 can exist for different user needs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user interaction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end-users, applications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10312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9480" y="3063240"/>
            <a:ext cx="914" cy="2286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2648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abstraction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abstraction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E3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3977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teller sees only customer and transaction details, not internal IDs or logs.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Instances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Schemas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64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INSTANCE CHARACTERISTICS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0433" y="753631"/>
            <a:ext cx="1170432" cy="1170432"/>
          </a:xfrm>
          <a:prstGeom prst="ellipse">
            <a:avLst/>
          </a:prstGeom>
          <a:solidFill>
            <a:srgbClr val="E86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093585" y="845071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created when you start a DBMS software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762737" y="1495935"/>
            <a:ext cx="1170432" cy="1170432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35889" y="1587375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isolated and independent from others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62737" y="2545713"/>
            <a:ext cx="1170432" cy="1170432"/>
          </a:xfrm>
          <a:prstGeom prst="ellipse">
            <a:avLst/>
          </a:prstGeom>
          <a:solidFill>
            <a:srgbClr val="E5C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35889" y="2637153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system memory and other resources to run efficiently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20433" y="3288017"/>
            <a:ext cx="1170432" cy="1170432"/>
          </a:xfrm>
          <a:prstGeom prst="ellipse">
            <a:avLst/>
          </a:prstGeom>
          <a:solidFill>
            <a:srgbClr val="3D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093585" y="3379457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connection point for apps/users to interact with a database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70655" y="3288017"/>
            <a:ext cx="1170432" cy="1170432"/>
          </a:xfrm>
          <a:prstGeom prst="ellipse">
            <a:avLst/>
          </a:prstGeom>
          <a:solidFill>
            <a:srgbClr val="B07C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43807" y="3379457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configured with specific parameters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28351" y="2545713"/>
            <a:ext cx="1170432" cy="1170432"/>
          </a:xfrm>
          <a:prstGeom prst="ellipse">
            <a:avLst/>
          </a:prstGeom>
          <a:solidFill>
            <a:srgbClr val="8E3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01503" y="2637153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storage, retrieval, indexing, and integrity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28351" y="1495935"/>
            <a:ext cx="1170432" cy="1170432"/>
          </a:xfrm>
          <a:prstGeom prst="ellipse">
            <a:avLst/>
          </a:prstGeom>
          <a:solidFill>
            <a:srgbClr val="4A6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301503" y="1587375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life cycle: starting, running, and stopping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70655" y="753631"/>
            <a:ext cx="1170432" cy="1170432"/>
          </a:xfrm>
          <a:prstGeom prst="ellipse">
            <a:avLst/>
          </a:prstGeom>
          <a:solidFill>
            <a:srgbClr val="3E4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43807" y="845071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with others on the same or different servers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Instances and Schemas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2801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9202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state of the database — the actual data at a particular moment.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frequently (e.g., data insert, delete, update).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9202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or design of the database — how data is organized.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and rarely changes.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Schema vs. Instance – A Simple Analogy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188720"/>
          <a:ext cx="6766560" cy="16459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Concept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Concept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declarations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Schema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values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Instance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188720" y="310896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417320" y="3218688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      // schema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21;     // instance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310896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983480" y="3218688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Students(ID, Name)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'Ali')   -- instance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is a conceptual framework to describe: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5176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data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634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7512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all 3 levels: Physical, Logical, and View.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help in designing the structure of the database clearly and logically.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Models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are classified into 4 main types: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7785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778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544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6300" y="1554480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177850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1778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5544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(ER)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24328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8483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8483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624328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Object-Based Data Model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86300" y="2624328"/>
            <a:ext cx="38176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28483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28483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2624328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 Model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models like Hierarchical and Network are rarely used today.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Relational Data Model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data using tables (also called relations)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has rows (records) and columns (attributes)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record-based structure (fixed-format records)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and widely used model in modern DBMS (e.g., MySQL, PostgreSQL)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Students table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508760"/>
          <a:ext cx="3017520" cy="16459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 &amp; Object-Based Models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entities and relationships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= real-world object (e.g., Student, Course)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the database design phase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via ER diagrams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920240"/>
            <a:ext cx="169164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914400" cy="365760"/>
          </a:xfrm>
          <a:prstGeom prst="rect">
            <a:avLst/>
          </a:prstGeom>
          <a:solidFill>
            <a:srgbClr val="2F55D4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2064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1645920"/>
            <a:ext cx="1005840" cy="548640"/>
          </a:xfrm>
          <a:prstGeom prst="diamond">
            <a:avLst/>
          </a:prstGeom>
          <a:solidFill>
            <a:srgbClr val="E05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97880" y="1645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269480" y="1737360"/>
            <a:ext cx="914400" cy="365760"/>
          </a:xfrm>
          <a:prstGeom prst="rect">
            <a:avLst/>
          </a:prstGeom>
          <a:solidFill>
            <a:srgbClr val="2F55D4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26948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389888"/>
            <a:ext cx="914" cy="347472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0" y="1005840"/>
            <a:ext cx="914400" cy="384048"/>
          </a:xfrm>
          <a:prstGeom prst="ellipse">
            <a:avLst/>
          </a:prstGeom>
          <a:solidFill>
            <a:srgbClr val="1E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12064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 flipH="1">
            <a:off x="4892040" y="1920240"/>
            <a:ext cx="228600" cy="914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2194560"/>
            <a:ext cx="914400" cy="384048"/>
          </a:xfrm>
          <a:prstGeom prst="ellipse">
            <a:avLst/>
          </a:prstGeom>
          <a:solidFill>
            <a:srgbClr val="1E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2628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V="1">
            <a:off x="4983480" y="2103120"/>
            <a:ext cx="320040" cy="9144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26680" y="1389888"/>
            <a:ext cx="914" cy="347472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69480" y="1005840"/>
            <a:ext cx="914400" cy="384048"/>
          </a:xfrm>
          <a:prstGeom prst="ellipse">
            <a:avLst/>
          </a:prstGeom>
          <a:solidFill>
            <a:srgbClr val="1E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26948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26680" y="2103120"/>
            <a:ext cx="914" cy="45720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69480" y="2560320"/>
            <a:ext cx="914400" cy="384048"/>
          </a:xfrm>
          <a:prstGeom prst="ellipse">
            <a:avLst/>
          </a:prstGeom>
          <a:solidFill>
            <a:srgbClr val="1E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2560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103120"/>
            <a:ext cx="914" cy="82296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74920" y="2926080"/>
            <a:ext cx="1005840" cy="548640"/>
          </a:xfrm>
          <a:prstGeom prst="diamond">
            <a:avLst/>
          </a:prstGeom>
          <a:solidFill>
            <a:srgbClr val="E05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07492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3474720"/>
            <a:ext cx="914" cy="274320"/>
          </a:xfrm>
          <a:prstGeom prst="line">
            <a:avLst/>
          </a:prstGeom>
          <a:noFill/>
          <a:ln w="1587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74920" y="3749040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20640" y="3785616"/>
            <a:ext cx="914400" cy="347472"/>
          </a:xfrm>
          <a:prstGeom prst="rect">
            <a:avLst/>
          </a:prstGeom>
          <a:solidFill>
            <a:srgbClr val="2F55D4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120640" y="37856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= rectangle · Attribute = oval · Relationship = diamond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Object-Based Model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object-oriented programming (Java, C++)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2585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2585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47472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22585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1722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(Functions)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7863840" cy="82296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Model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Relational  +  Object Features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Semi-Structured Model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flexible data representation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can have different attributes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data with irregular structure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XML, JSON formats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10972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532120" y="1207008"/>
            <a:ext cx="27432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1, "name": "Ali"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2, "name": "Sara",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"phone": "0300-1234567"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38328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Reference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Model: tree-like structure  ·  Network Model: graph-like relationships</a:t>
            </a:r>
            <a:endParaRPr lang="en-US" sz="1400" dirty="0"/>
          </a:p>
          <a:p>
            <a:pPr marL="0" indent="0">
              <a:buNone/>
            </a:pPr>
            <a:r>
              <a:rPr lang="en-US" sz="13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obsolete, but still exist in some legacy systems.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Languages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0" y="868680"/>
            <a:ext cx="1188720" cy="502920"/>
          </a:xfrm>
          <a:prstGeom prst="rect">
            <a:avLst/>
          </a:prstGeom>
          <a:solidFill>
            <a:srgbClr val="F6D531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0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914" cy="182880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554480"/>
            <a:ext cx="3749040" cy="914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554480"/>
            <a:ext cx="914" cy="182880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1143000" cy="548640"/>
          </a:xfrm>
          <a:prstGeom prst="rect">
            <a:avLst/>
          </a:prstGeom>
          <a:solidFill>
            <a:srgbClr val="5DB04A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57600" y="17373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2286000"/>
            <a:ext cx="914" cy="457200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94760" y="2743200"/>
            <a:ext cx="91440" cy="914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86200" y="2423160"/>
            <a:ext cx="960120" cy="1143000"/>
          </a:xfrm>
          <a:prstGeom prst="roundRect">
            <a:avLst>
              <a:gd name="adj" fmla="val 9524"/>
            </a:avLst>
          </a:prstGeom>
          <a:solidFill>
            <a:srgbClr val="3F6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86200" y="2423160"/>
            <a:ext cx="960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58968" y="1554480"/>
            <a:ext cx="914" cy="182880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10328" y="1737360"/>
            <a:ext cx="1143000" cy="548640"/>
          </a:xfrm>
          <a:prstGeom prst="rect">
            <a:avLst/>
          </a:prstGeom>
          <a:solidFill>
            <a:srgbClr val="5DB04A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910328" y="17373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47488" y="2286000"/>
            <a:ext cx="914" cy="457200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47488" y="2743200"/>
            <a:ext cx="91440" cy="914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38928" y="2423160"/>
            <a:ext cx="960120" cy="1143000"/>
          </a:xfrm>
          <a:prstGeom prst="roundRect">
            <a:avLst>
              <a:gd name="adj" fmla="val 9524"/>
            </a:avLst>
          </a:prstGeom>
          <a:solidFill>
            <a:srgbClr val="3F6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38928" y="2423160"/>
            <a:ext cx="960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11696" y="1554480"/>
            <a:ext cx="914" cy="182880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1737360"/>
            <a:ext cx="1143000" cy="548640"/>
          </a:xfrm>
          <a:prstGeom prst="rect">
            <a:avLst/>
          </a:prstGeom>
          <a:solidFill>
            <a:srgbClr val="5DB04A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163056" y="17373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00216" y="2286000"/>
            <a:ext cx="914" cy="457200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0216" y="2743200"/>
            <a:ext cx="91440" cy="914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91656" y="2423160"/>
            <a:ext cx="960120" cy="1143000"/>
          </a:xfrm>
          <a:prstGeom prst="roundRect">
            <a:avLst>
              <a:gd name="adj" fmla="val 9524"/>
            </a:avLst>
          </a:prstGeom>
          <a:solidFill>
            <a:srgbClr val="3F6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391656" y="2423160"/>
            <a:ext cx="960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64424" y="1554480"/>
            <a:ext cx="914" cy="182880"/>
          </a:xfrm>
          <a:prstGeom prst="line">
            <a:avLst/>
          </a:prstGeom>
          <a:noFill/>
          <a:ln w="15875">
            <a:solidFill>
              <a:srgbClr val="3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15784" y="1737360"/>
            <a:ext cx="1143000" cy="548640"/>
          </a:xfrm>
          <a:prstGeom prst="rect">
            <a:avLst/>
          </a:prstGeom>
          <a:solidFill>
            <a:srgbClr val="5DB04A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415784" y="17373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52944" y="2286000"/>
            <a:ext cx="914" cy="457200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52944" y="2743200"/>
            <a:ext cx="91440" cy="914"/>
          </a:xfrm>
          <a:prstGeom prst="line">
            <a:avLst/>
          </a:prstGeom>
          <a:noFill/>
          <a:ln w="15875">
            <a:solidFill>
              <a:srgbClr val="2F5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44384" y="2423160"/>
            <a:ext cx="960120" cy="1143000"/>
          </a:xfrm>
          <a:prstGeom prst="roundRect">
            <a:avLst>
              <a:gd name="adj" fmla="val 9524"/>
            </a:avLst>
          </a:prstGeom>
          <a:solidFill>
            <a:srgbClr val="3F6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644384" y="2423160"/>
            <a:ext cx="960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transaction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Languages – 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languages are used to define, manipulate, and control data in a DBMS. A DBMS typically supports multiple sub-languages: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DDL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31136" y="17830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231136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DML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22192" y="17830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22192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DCL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13248" y="17830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13248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TCL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04304" y="178308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004304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Query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095744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36118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most commonly used database language, combining all these capabilities.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Languages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Definition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structure: tables, schemas, constraints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ALTER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and modify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Control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permissions and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GRANT, REVOKE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Control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transactions for consistency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ROLLBACK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Definition Language (DDL)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of database objects (tables, indexes, schemas, etc.)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7373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tables, views, etc.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3591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5915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structure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9809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98094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objects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6027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60273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delete all rows from a table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Definition Language (DDL)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of database objects.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212848"/>
            <a:ext cx="74066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Students 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INT,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VARCHAR(50),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VARCHAR(10)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Manipulation Language (DML)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insert, update, delete, and retrieve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7373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3591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5915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records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9809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98094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records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6027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60273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records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Manipulation Language (DML)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insert, update, delete, and retrieve data.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212848"/>
            <a:ext cx="7406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(ID, Name, Class)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'Ali', '10A');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Control Language (DCL)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user access and permissions to the database.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privileges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3591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privileges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10312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166360" y="2212848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Students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User1;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Transaction Control Language (TCL)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transactions to ensure data consistency and integrity.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 permanently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3591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changes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9809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9809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point to roll back 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1031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166360" y="2212848"/>
            <a:ext cx="31089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Class = '10B'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 = 1;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 -- undoes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-- the change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Query Languages in DBMS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ask questions (queries) and retrieve data from the database.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1463040"/>
          </a:xfrm>
          <a:prstGeom prst="roundRect">
            <a:avLst>
              <a:gd name="adj" fmla="val 6250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212848"/>
            <a:ext cx="7406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Class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Class = '10A';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– Structured Query Language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DBMSs use SQL, which includes DDL, DML, DCL, and TCL commands.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DDL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the database looks like.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375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DML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actual data manipulation.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DCL + TCL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security and transaction safety.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Dictionary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 flipH="1" flipV="1">
            <a:off x="4343400" y="1188720"/>
            <a:ext cx="1737360" cy="109728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 flipV="1">
            <a:off x="5440680" y="868680"/>
            <a:ext cx="640080" cy="141732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6080760" y="1005840"/>
            <a:ext cx="640080" cy="128016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6080760" y="1920240"/>
            <a:ext cx="1828800" cy="36576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2286000"/>
            <a:ext cx="1463040" cy="91440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2286000"/>
            <a:ext cx="274320" cy="141732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4983480" y="2286000"/>
            <a:ext cx="1097280" cy="109728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4069080" y="2286000"/>
            <a:ext cx="2011680" cy="274320"/>
          </a:xfrm>
          <a:prstGeom prst="line">
            <a:avLst/>
          </a:prstGeom>
          <a:noFill/>
          <a:ln w="15875">
            <a:solidFill>
              <a:srgbClr val="3F7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91440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12080" y="59436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0" y="164592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0" y="292608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342900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0" y="2286000"/>
            <a:ext cx="457200" cy="548640"/>
          </a:xfrm>
          <a:prstGeom prst="can">
            <a:avLst/>
          </a:prstGeom>
          <a:solidFill>
            <a:srgbClr val="C9D3DC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46420" y="1783080"/>
            <a:ext cx="868680" cy="1005840"/>
          </a:xfrm>
          <a:prstGeom prst="can">
            <a:avLst/>
          </a:prstGeom>
          <a:solidFill>
            <a:srgbClr val="B7C0C9"/>
          </a:solidFill>
          <a:ln w="9525">
            <a:solidFill>
              <a:srgbClr val="7A8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50992" y="2240280"/>
            <a:ext cx="859536" cy="91440"/>
          </a:xfrm>
          <a:prstGeom prst="rect">
            <a:avLst/>
          </a:prstGeom>
          <a:solidFill>
            <a:srgbClr val="D98B1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Dictionary is a central repository of information about the data in a database — also known as metadata.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information like: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26771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94560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names and column names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2194560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3460" y="226771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2346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72100" y="2194560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of each field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962656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30358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2962656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keys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86300" y="2962656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3460" y="303580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8234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72100" y="2962656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tables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730752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380390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730752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(e.g., NOT NULL, UNIQUE)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572768"/>
            <a:ext cx="35661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Students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ID:    INT, Primary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Name:  VARCHAR(50)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Class: VARCHAR(10)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57800" y="1508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uses the data dictionary internally for query processing and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Dictionary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794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1051560" cy="105156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01168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060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updated by the DBMS when changes are made.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794760" cy="2926080"/>
          </a:xfrm>
          <a:prstGeom prst="roundRect">
            <a:avLst>
              <a:gd name="adj" fmla="val 375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1051560" cy="105156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807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6060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updated (external or documentation-based).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Administrator (DBA)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Administrator (DBA) is the person responsible for managing the database system.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199339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configuration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199339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47472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control &amp; security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199339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1722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2688336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2688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37560" y="2688336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276148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47472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2688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maintenance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36118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Needed: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proficiency, security knowledge, problem-solving, familiarity with DBMS tools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Users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9844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applications to access data (e.g., customers, staff)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2984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database-related code (Java, Python, etc.)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167128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41401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167128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DBMS 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2167128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41401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167128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and data flows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282696"/>
            <a:ext cx="38176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5295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282696"/>
            <a:ext cx="2994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Users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interfaces; unaware of database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User Interfaces in DBMS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8176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642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88720"/>
            <a:ext cx="2994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(CLI)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developers, SQL commands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6300" y="1188720"/>
            <a:ext cx="38176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66420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188720"/>
            <a:ext cx="2994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use, visual tools — e.g., pgAdmin, phpMyAdmin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761488"/>
            <a:ext cx="38176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2369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761488"/>
            <a:ext cx="2994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browser, used in web applications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2761488"/>
            <a:ext cx="38176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32369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761488"/>
            <a:ext cx="2994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Interfaces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naive users (e.g., bank teller screens)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lecture, we explored the foundational concepts of a database system.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understood how data is abstracted at different levels, how schemas define structure while instances represent actual data, and how various data models influence database design.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looked into database languages like DDL and DML, the importance of the data dictionary, the critical role of a DBA, and the interaction of various types of users with the system.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core concepts form the backbone of understanding more complex DBMS features in upcoming lectures.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Lecture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88720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Database Development Process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188720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441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188720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Development Life Cycle (SDLC)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121408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2768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121408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Overview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2121408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2768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121408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Notation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054096"/>
            <a:ext cx="38176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20954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054096"/>
            <a:ext cx="2994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ER Model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1645920" cy="1920240"/>
          </a:xfrm>
          <a:prstGeom prst="can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1887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0" y="15087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31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Jeffrey A. Hoffer, V. Ramesh, Heikki Topi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49040" y="25603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28803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31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6517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 L. Gillenson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1893</Words>
  <Application>Microsoft Office PowerPoint</Application>
  <PresentationFormat>On-screen Show (16:9)</PresentationFormat>
  <Paragraphs>519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- Lecture 05</dc:title>
  <dc:subject>PptxGenJS Presentation</dc:subject>
  <dc:creator>PptxGenJS</dc:creator>
  <cp:lastModifiedBy>FAHEEM SHAUKAT</cp:lastModifiedBy>
  <cp:revision>4</cp:revision>
  <dcterms:created xsi:type="dcterms:W3CDTF">2026-09-30T18:47:11Z</dcterms:created>
  <dcterms:modified xsi:type="dcterms:W3CDTF">2026-09-30T19:02:15Z</dcterms:modified>
</cp:coreProperties>
</file>