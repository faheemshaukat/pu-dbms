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09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669280" y="-1097280"/>
            <a:ext cx="2926080" cy="7772400"/>
          </a:xfrm>
          <a:prstGeom prst="roundRect">
            <a:avLst>
              <a:gd name="adj" fmla="val 50000"/>
            </a:avLst>
          </a:prstGeom>
          <a:solidFill>
            <a:srgbClr val="9ED8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566928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231F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500000">
            <a:off x="640080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2468880"/>
            <a:ext cx="685800" cy="6858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09728"/>
            <a:ext cx="2011680" cy="5760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Fall-2026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3258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Meaningful Information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 06 Overview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2468880" cy="2788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3533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 Modeling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828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crow's foot notation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cardinality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1:M, M:N in tables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468880" cy="2788920"/>
          </a:xfrm>
          <a:prstGeom prst="roundRect">
            <a:avLst>
              <a:gd name="adj" fmla="val 444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13533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828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&amp; candidate keys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alternate keys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&amp; partial keys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468880" cy="2788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17920" y="13533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Attribute Types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28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composite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&amp; multi-valued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Stored, derived, complex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Key, null, descriptive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E3F3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</a:t>
            </a: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in Depth  ·  Solved Case Studies for Weeks 5–6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657600" y="868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Entity Relationship Modeling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48463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67328" y="2048256"/>
            <a:ext cx="402336" cy="402336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67328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9202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illustrate how relationships between entities are defined and refined.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0" y="2697480"/>
            <a:ext cx="4846320" cy="658368"/>
          </a:xfrm>
          <a:prstGeom prst="roundRect">
            <a:avLst>
              <a:gd name="adj" fmla="val 1666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67328" y="2825496"/>
            <a:ext cx="402336" cy="402336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767328" y="2825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6974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how relationships are incorporated into the database design process.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0" y="3474720"/>
            <a:ext cx="48463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67328" y="3602736"/>
            <a:ext cx="402336" cy="402336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767328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4747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describe how ERD components affect database design and implementation.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Conceptual Database Design?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describing the data, the relationships between the data, and the constraints on the data.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analysis: gather all the essential data required and understand how the data are related.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is on the data, rather than on the processes.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1143000"/>
            <a:ext cx="2834640" cy="2743200"/>
          </a:xfrm>
          <a:prstGeom prst="roundRect">
            <a:avLst>
              <a:gd name="adj" fmla="val 4000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852160" y="12344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</a:t>
            </a:r>
            <a:endParaRPr lang="en-US" sz="11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Dictionary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Gathering Information for Conceptual Data Modeling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perspectives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7947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691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4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146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20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is derived from an intimate understanding of the business.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3794760" cy="2743200"/>
          </a:xfrm>
          <a:prstGeom prst="roundRect">
            <a:avLst>
              <a:gd name="adj" fmla="val 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09160" y="1691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55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5146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20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is derived by reviewing specifications and business documents.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Entity-Relationship (ER) Modeling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modeling is a top-down approach to database design.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(ER) Diagram:</a:t>
            </a:r>
            <a:endParaRPr lang="en-US" sz="1500" dirty="0"/>
          </a:p>
          <a:p>
            <a:pPr marL="457200" lvl="1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detailed, logical representation of the entities, associations and data elements for an organization or business.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notation uses three main constructs: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entities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306324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306324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3017520"/>
            <a:ext cx="1600200" cy="7772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notations: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model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model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Chen Notation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46888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1371600" cy="457200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EntityName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4560"/>
            <a:ext cx="2103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7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place, object, event or concept about which data is to be maintained. Represents a set of objects that share the same properties.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468880" cy="3520440"/>
          </a:xfrm>
          <a:prstGeom prst="roundRect">
            <a:avLst>
              <a:gd name="adj" fmla="val 4444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94760" y="1417320"/>
            <a:ext cx="1554480" cy="548640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Phrase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94560"/>
            <a:ext cx="2103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7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between the instances of one or more entity types.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46888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1463040"/>
            <a:ext cx="14630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AttributeName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94560"/>
            <a:ext cx="2103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7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property or characteristic of an entity.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Crow's Foot Notation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46888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468880" cy="3520440"/>
          </a:xfrm>
          <a:prstGeom prst="roundRect">
            <a:avLst>
              <a:gd name="adj" fmla="val 4444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46888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137160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132588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86200" y="1618488"/>
            <a:ext cx="13716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941064" y="1655064"/>
            <a:ext cx="12984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1847088"/>
            <a:ext cx="12984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18288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8368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phrase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3774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7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rectangle with the entity name.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3774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7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listed inside the entity box, under the name.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3774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7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between entities, labeled with a verb phrase. Its line ends show the cardinality.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2519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Chen-style ovals and diamonds are also acceptable for attributes and relationships.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 from Week 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were covered in Week 5 — a quick reminder before we go further: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Entities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116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place, object, event or concept.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Names: singular, specific, concise.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name event entities for the result of the event (SALE, not SELLING).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46304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0116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 an active or passive verb.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 writes one or more books; a book is written by one or more authors.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1792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Degree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116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Unary: one entity type (Employee manages Employee).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two entity types.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Ternary: three entity types.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89020" y="3922776"/>
            <a:ext cx="685800" cy="29260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3886200"/>
            <a:ext cx="731520" cy="365760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3922776"/>
            <a:ext cx="640080" cy="29260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74820" y="4069080"/>
            <a:ext cx="11430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20640" y="4069080"/>
            <a:ext cx="1371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9400" y="3922776"/>
            <a:ext cx="457200" cy="29260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29500" y="3886200"/>
            <a:ext cx="502920" cy="365760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flipV="1">
            <a:off x="6858000" y="3749040"/>
            <a:ext cx="914" cy="17373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0" y="3749040"/>
            <a:ext cx="8229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80960" y="3749040"/>
            <a:ext cx="914" cy="13716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0" y="4215384"/>
            <a:ext cx="914" cy="17373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4389120"/>
            <a:ext cx="8229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7680960" y="4251960"/>
            <a:ext cx="914" cy="13716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Referential Attributes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referential attribute makes reference to another instance in another table.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493776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IdNum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ali@a.com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mary@a.com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john@a.com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lim@a.com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926080" y="1856232"/>
            <a:ext cx="1005840" cy="1956816"/>
          </a:xfrm>
          <a:prstGeom prst="rect">
            <a:avLst/>
          </a:prstGeom>
          <a:solidFill>
            <a:srgbClr val="F28C28">
              <a:alpha val="20000"/>
            </a:srgbClr>
          </a:solidFill>
          <a:ln w="25400">
            <a:solidFill>
              <a:srgbClr val="F28C2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/>
          <p:cNvSpPr/>
          <p:nvPr/>
        </p:nvSpPr>
        <p:spPr>
          <a:xfrm>
            <a:off x="6035040" y="1874520"/>
            <a:ext cx="2468880" cy="10058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attribute: DeptID ties the Lecturer entity to another entity, Department.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 flipH="1">
            <a:off x="3977640" y="2377440"/>
            <a:ext cx="2039112" cy="914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5040" y="3154680"/>
            <a:ext cx="2468880" cy="548640"/>
          </a:xfrm>
          <a:prstGeom prst="rect">
            <a:avLst/>
          </a:prstGeom>
          <a:solidFill>
            <a:srgbClr val="E8F4FB"/>
          </a:solidFill>
          <a:ln w="9525">
            <a:solidFill>
              <a:srgbClr val="7FB5D9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an instance of Lecturer.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Staff Entity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45720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3099816"/>
            <a:ext cx="10058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2980" y="235915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65136" y="2642263"/>
            <a:ext cx="888191" cy="457553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43100" y="176479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38992" y="2074119"/>
            <a:ext cx="410279" cy="1025697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40380" y="176479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>
            <a:off x="3002890" y="2074119"/>
            <a:ext cx="410279" cy="1025697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00500" y="235915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3298832" y="2642263"/>
            <a:ext cx="888191" cy="457553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1051560"/>
            <a:ext cx="3017520" cy="3520440"/>
          </a:xfrm>
          <a:prstGeom prst="roundRect">
            <a:avLst>
              <a:gd name="adj" fmla="val 363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623560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828800"/>
            <a:ext cx="164592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121408"/>
            <a:ext cx="1645920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11112" y="2121408"/>
            <a:ext cx="914" cy="1170432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190488" y="215798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665976" y="215798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65976" y="243230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65976" y="27066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65976" y="298094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Cardinality and Connectivity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7947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Connectivity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can be classified as either: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3337560" cy="530352"/>
          </a:xfrm>
          <a:prstGeom prst="roundRect">
            <a:avLst>
              <a:gd name="adj" fmla="val 13793"/>
            </a:avLst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(1:1)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3337560" cy="530352"/>
          </a:xfrm>
          <a:prstGeom prst="roundRect">
            <a:avLst>
              <a:gd name="adj" fmla="val 13793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(1:M)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3337560" cy="530352"/>
          </a:xfrm>
          <a:prstGeom prst="roundRect">
            <a:avLst>
              <a:gd name="adj" fmla="val 13793"/>
            </a:avLst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(M:N)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3794760" cy="3520440"/>
          </a:xfrm>
          <a:prstGeom prst="roundRect">
            <a:avLst>
              <a:gd name="adj" fmla="val 3117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37760" y="11887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55BFA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Cardinality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and maximum number of instances of entity B that can (or must) be associated with each instance of entity A.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703320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6C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(min, max)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Cardinality and Connectivity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7863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115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682496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54780" y="1636776"/>
            <a:ext cx="123444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1682496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1874520"/>
            <a:ext cx="11658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89220" y="1874520"/>
            <a:ext cx="11658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88036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194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(1,4)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194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88036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42900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63040" y="372160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01952" y="372160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481328" y="37581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956816" y="375818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EMP_NUM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342900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72160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48272" y="372160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327648" y="37581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803136" y="375818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CLASS_CODE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34640" y="3707892"/>
            <a:ext cx="347472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2935224" y="36164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3026664" y="36164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6089904" y="3607308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9904" y="370789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16752" y="36164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2962656" y="34152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614416" y="34152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(1,4)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886200" y="34518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teaches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14600" y="2679192"/>
            <a:ext cx="4114800" cy="310896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= 1 : M   ·   Cardinality = (min, max)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42519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Chen, (1,4) sits next to Professor: each professor teaches 1 to 4 classes. Each class is taught by exactly one professor (1,1).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Binary Relationships: 1:M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modeling ideal.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the norm in any relational database design.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863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28600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0" y="257860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67712" y="257860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47088" y="26151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261518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PAINTER_NUM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228600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257860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82512" y="257860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961888" y="26151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61518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PAINTING_NUM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564892"/>
            <a:ext cx="27432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3300984" y="24734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3392424" y="24734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5724144" y="2464308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24144" y="256489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50992" y="24734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886200" y="23088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paints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7863840" cy="1325880"/>
          </a:xfrm>
          <a:prstGeom prst="roundRect">
            <a:avLst>
              <a:gd name="adj" fmla="val 827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7724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74520" y="3831336"/>
            <a:ext cx="128016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0" y="3785616"/>
            <a:ext cx="109728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89320" y="3831336"/>
            <a:ext cx="128016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54680" y="4023360"/>
            <a:ext cx="86868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20640" y="4023360"/>
            <a:ext cx="86868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3200400" y="3657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3657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Implemented 1:M Relationship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PAINTER  </a:t>
            </a:r>
            <a:r>
              <a:rPr lang="en-US" sz="12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PAINTER_NUM · Foreign key: none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5852160" cy="9326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PAINTER_NUM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PAINTER_LNAME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PAINTER_FNAME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PAINTER_INITIAL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  </a:t>
            </a:r>
            <a:r>
              <a:rPr lang="en-US" sz="12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PAINTING_NUM · Foreign key: PAINTER_NUM</a:t>
            </a:r>
            <a:endParaRPr lang="en-US" sz="12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5852160" cy="186537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PAINTING_NUM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PAINTING_TITLE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PAINTER_NUM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Dawn Thunder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Roses To Nowhere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Tired Flounders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Hasty Exit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Paradise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120640" y="2679192"/>
            <a:ext cx="1371600" cy="1901952"/>
          </a:xfrm>
          <a:prstGeom prst="rect">
            <a:avLst/>
          </a:prstGeom>
          <a:solidFill>
            <a:srgbClr val="F28C28">
              <a:alpha val="15000"/>
            </a:srgbClr>
          </a:solidFill>
          <a:ln w="25400">
            <a:solidFill>
              <a:srgbClr val="F28C2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720840" y="2697480"/>
            <a:ext cx="1783080" cy="128016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FK PAINTER_NUM goes on the “many” side. 123 appears 3 times = one painter, many paintings.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Binary Relationships: 1:1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rare in any relational database design.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entity instance in one entity class is related to a single entity instance in another entity class.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indicate that two entities actually belong in the same table.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840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123444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447288"/>
            <a:ext cx="123444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16152" y="344728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95528" y="34838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271016" y="3483864"/>
            <a:ext cx="722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EMP_NUM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3154680"/>
            <a:ext cx="123444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0" y="3447288"/>
            <a:ext cx="123444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47872" y="344728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127248" y="34838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602736" y="3483864"/>
            <a:ext cx="722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3433572"/>
            <a:ext cx="10972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112264" y="33421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2203704" y="33421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008376" y="33421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16936" y="33421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874520" y="34701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chairs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3840480" cy="2148840"/>
          </a:xfrm>
          <a:prstGeom prst="roundRect">
            <a:avLst>
              <a:gd name="adj" fmla="val 510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800600" y="2514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374136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49340" y="3328416"/>
            <a:ext cx="86868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09460" y="3374136"/>
            <a:ext cx="12344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566160"/>
            <a:ext cx="11430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18020" y="3566160"/>
            <a:ext cx="9144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989320" y="3200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67728" y="3200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Implemented 1:1 Relationship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 </a:t>
            </a:r>
            <a:r>
              <a:rPr lang="en-US" sz="12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EMP_NUM · FK: DEPT_CODE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3931920" cy="211226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PROF_OFFICE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 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Ph.D.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 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 229D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Ph.D.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 211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Ph.D.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 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Ph.D.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ECON/FIN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 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Ph.D.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75488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</a:t>
            </a:r>
            <a:r>
              <a:rPr lang="en-US" sz="12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DEPT_CODE · FK: EMP_NUM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749040" cy="181051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Info.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ECON/FIN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Economics/Finance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" y="365760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143F4F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EMP_NUM in DEPARTMENT records which professor chairs each department (1:1). DEPT_CODE in PROFESSOR is a different relationship: the department the professor belongs to (1:M).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Binary Relationships: M:N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9E0D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relationships must be avoided in the implementation, because they lead to data redundancies.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8176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2585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874520"/>
            <a:ext cx="2994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up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implemented by breaking it up to produce a set of 1:M relationships.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86300" y="1874520"/>
            <a:ext cx="38176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3460" y="22585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2346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2100" y="1874520"/>
            <a:ext cx="2994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(bridge) entity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problems of M:N by creating a composite entity, also called a bridge entity.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38176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264408"/>
            <a:ext cx="2994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tables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links the tables that were originally related in an M:N relationship.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86300" y="3264408"/>
            <a:ext cx="38176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3460" y="364845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2346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3264408"/>
            <a:ext cx="2994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entity includes, as foreign keys, at least the primary keys of the tables being linked.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M:N Relationship: STUDENT and CLASS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128016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709928"/>
            <a:ext cx="128016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07592" y="170992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86968" y="174650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362456" y="1746504"/>
            <a:ext cx="768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STU_NUM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128016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709928"/>
            <a:ext cx="128016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76472" y="170992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55848" y="174650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831336" y="1746504"/>
            <a:ext cx="768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1696212"/>
            <a:ext cx="118872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2148840" y="169621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 flipV="1">
            <a:off x="2148840" y="1595628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441448" y="160477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3118104" y="1595628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18104" y="169621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044952" y="160477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057400" y="14401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takes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1540" y="2414016"/>
            <a:ext cx="105156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08860" y="2368296"/>
            <a:ext cx="86868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11880" y="2414016"/>
            <a:ext cx="91440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43100" y="2606040"/>
            <a:ext cx="3657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77540" y="2606040"/>
            <a:ext cx="43434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965960" y="22402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22402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0640" y="10515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21208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Bowser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Smithson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1298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1 (ACCT-211)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1892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Microcomputing (CIS-220)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2487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Statistics (QM-261)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flipV="1">
            <a:off x="6035040" y="1463040"/>
            <a:ext cx="548640" cy="182880"/>
          </a:xfrm>
          <a:prstGeom prst="line">
            <a:avLst/>
          </a:prstGeom>
          <a:noFill/>
          <a:ln w="12700">
            <a:solidFill>
              <a:srgbClr val="4A7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35040" y="1645920"/>
            <a:ext cx="548640" cy="411480"/>
          </a:xfrm>
          <a:prstGeom prst="line">
            <a:avLst/>
          </a:prstGeom>
          <a:noFill/>
          <a:ln w="12700">
            <a:solidFill>
              <a:srgbClr val="4A7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35040" y="1645920"/>
            <a:ext cx="548640" cy="1005840"/>
          </a:xfrm>
          <a:prstGeom prst="line">
            <a:avLst/>
          </a:prstGeom>
          <a:noFill/>
          <a:ln w="12700">
            <a:solidFill>
              <a:srgbClr val="4A7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6035040" y="1463040"/>
            <a:ext cx="548640" cy="1005840"/>
          </a:xfrm>
          <a:prstGeom prst="line">
            <a:avLst/>
          </a:prstGeom>
          <a:noFill/>
          <a:ln w="12700">
            <a:solidFill>
              <a:srgbClr val="4A7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6035040" y="2057400"/>
            <a:ext cx="548640" cy="411480"/>
          </a:xfrm>
          <a:prstGeom prst="line">
            <a:avLst/>
          </a:prstGeom>
          <a:noFill/>
          <a:ln w="12700">
            <a:solidFill>
              <a:srgbClr val="4A7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35040" y="2468880"/>
            <a:ext cx="548640" cy="182880"/>
          </a:xfrm>
          <a:prstGeom prst="line">
            <a:avLst/>
          </a:prstGeom>
          <a:noFill/>
          <a:ln w="12700">
            <a:solidFill>
              <a:srgbClr val="4A7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takes every class, and each class has both students: many-to-many.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79476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CANNOT be implemented as shown — see what happens next.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Redundant M:N Tables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</a:t>
            </a:r>
            <a:r>
              <a:rPr lang="en-US" sz="1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STU_NUM + CLASS_CODE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3108960" cy="1920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STU_NUM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STU_LNAME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977640" y="932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</a:t>
            </a:r>
            <a:r>
              <a:rPr lang="en-US" sz="1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CLASS_CODE + STU_NUM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234440"/>
          <a:ext cx="4526280" cy="192024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STU_NUM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CRS_CODE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ACCT-211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TTh 2:30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BUS252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ACCT-211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TTh 2:30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BUS252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CIS-220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MWF 9:00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KLR211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CIS-220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MWF 9:00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KLR211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QM-261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MWF 8:00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QM-261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MWF 8:00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" y="34290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9E0DC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 and class details are repeated in every row. Changing a room means updating many rows — update, insert and delete anomalies.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Changing the M:N Relationship to Two 1:M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78638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146304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755648"/>
            <a:ext cx="146304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07592" y="175564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86968" y="179222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362456" y="1792224"/>
            <a:ext cx="9509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STU_NUM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1371600"/>
            <a:ext cx="18288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1664208"/>
            <a:ext cx="1828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96512" y="1664208"/>
            <a:ext cx="914" cy="457200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675888" y="17007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151376" y="1700784"/>
            <a:ext cx="13167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75888" y="1892808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151376" y="1892808"/>
            <a:ext cx="13167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STU_NUM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12280" y="1463040"/>
            <a:ext cx="146304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1755648"/>
            <a:ext cx="146304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51192" y="175564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30568" y="179222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306056" y="1792224"/>
            <a:ext cx="9509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31720" y="1741932"/>
            <a:ext cx="1325880" cy="4572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2432304" y="165049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2523744" y="165049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3438144" y="164592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38144" y="1746504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64992" y="16550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2308860" y="148818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registers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5486400" y="1741932"/>
            <a:ext cx="1325880" cy="4572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11696" y="165049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20256" y="165049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H="1">
            <a:off x="5486400" y="1746504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H="1" flipV="1">
            <a:off x="5486400" y="164592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V="1">
            <a:off x="5779008" y="16550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5463540" y="148818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shows 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2788920"/>
            <a:ext cx="7863840" cy="18288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7724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model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3648456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00300" y="3602736"/>
            <a:ext cx="114300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23360" y="3602736"/>
            <a:ext cx="109728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069080" y="3648456"/>
            <a:ext cx="10058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00700" y="3602736"/>
            <a:ext cx="114300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78040" y="3648456"/>
            <a:ext cx="10058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11680" y="3840480"/>
            <a:ext cx="38862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543300" y="3840480"/>
            <a:ext cx="4800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120640" y="3840480"/>
            <a:ext cx="4800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743700" y="3840480"/>
            <a:ext cx="43434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2103120" y="3493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3749040" y="3493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257800" y="3493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949440" y="3493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Converting M:N into Two 1:M Relationships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</a:t>
            </a:r>
            <a:r>
              <a:rPr lang="en-US" sz="11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STU_NUM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07008"/>
          <a:ext cx="2194560" cy="8229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STU_NUM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STU_LNAME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063240" y="932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</a:t>
            </a:r>
            <a:r>
              <a:rPr lang="en-US" sz="11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CLASS_CODE + STU_NUM</a:t>
            </a:r>
            <a:endParaRPr lang="en-US" sz="115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1207008"/>
          <a:ext cx="2651760" cy="19202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STU_NUM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0080" y="3246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</a:t>
            </a:r>
            <a:r>
              <a:rPr lang="en-US" sz="11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CLASS_CODE · FK: CRS_CODE</a:t>
            </a:r>
            <a:endParaRPr lang="en-US" sz="115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5166360" cy="106070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CRS_CODE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PROF_NUM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ACCT-211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TTh 2:30-3:45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BUS252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CIS-220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MWF 9:00-9:50 a.m.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KLR211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QM-261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MWF 8:00-8:50 a.m.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KLR200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5989320" y="1207008"/>
            <a:ext cx="2514600" cy="1417320"/>
          </a:xfrm>
          <a:prstGeom prst="rect">
            <a:avLst/>
          </a:prstGeom>
          <a:solidFill>
            <a:srgbClr val="DDF2E3"/>
          </a:solidFill>
          <a:ln w="9525">
            <a:solidFill>
              <a:srgbClr val="4CAF50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table's primary key — two options: use the combination of the foreign keys, or create a new primary key.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989320" y="2834640"/>
            <a:ext cx="2514600" cy="914400"/>
          </a:xfrm>
          <a:prstGeom prst="rect">
            <a:avLst/>
          </a:prstGeom>
          <a:solidFill>
            <a:srgbClr val="E8F4FB"/>
          </a:solidFill>
          <a:ln w="9525">
            <a:solidFill>
              <a:srgbClr val="7FB5D9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reference the primary keys of the tables they relate to.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Mandatory vs. Optional Cardinalities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whether an instance must exist, or can be absent, in the relationship.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7863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146304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0160" y="2121408"/>
            <a:ext cx="146304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19072" y="212140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98448" y="21579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73936" y="2157984"/>
            <a:ext cx="9509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LECT_ID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146304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2121408"/>
            <a:ext cx="146304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48272" y="212140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27648" y="21579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2157984"/>
            <a:ext cx="9509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2107692"/>
            <a:ext cx="356616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2843784" y="20162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935224" y="201625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6089904" y="2007108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9904" y="210769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02452" y="2048256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871216" y="18150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614416" y="18150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(0,N)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18516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handles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63240" y="1536192"/>
            <a:ext cx="1051560" cy="27432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20640" y="1536192"/>
            <a:ext cx="960120" cy="27432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2926080"/>
            <a:ext cx="7863840" cy="914400"/>
          </a:xfrm>
          <a:prstGeom prst="roundRect">
            <a:avLst>
              <a:gd name="adj" fmla="val 12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63040" y="3191256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0" y="3145536"/>
            <a:ext cx="109728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3191256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383280"/>
            <a:ext cx="146304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20640" y="3383280"/>
            <a:ext cx="146304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2651760" y="3044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(0,N)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623560" y="3044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  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977640"/>
            <a:ext cx="7863840" cy="658368"/>
          </a:xfrm>
          <a:prstGeom prst="roundRect">
            <a:avLst>
              <a:gd name="adj" fmla="val 13889"/>
            </a:avLst>
          </a:prstGeom>
          <a:solidFill>
            <a:srgbClr val="143F4F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lecturer may handle zero or many classes.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handled by one and only one lecturer.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Evaluate a Data Model?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data model has the following: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81912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08760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completeness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6300" y="1508760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3460" y="1581912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2346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2100" y="1508760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Non-redundancy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276856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35000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276856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of business rules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6300" y="2276856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3460" y="235000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2346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2276856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reusability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044952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11810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044952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and flexibility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86300" y="3044952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23460" y="3118104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82346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72100" y="3044952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effectiveness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3813048"/>
            <a:ext cx="38176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" y="3886200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7724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3813048"/>
            <a:ext cx="2994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Common Mistake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solidFill>
              <a:srgbClr val="C9D6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</a:t>
            </a:r>
            <a:r>
              <a:rPr lang="en-US" sz="19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processes</a:t>
            </a:r>
            <a:r>
              <a:rPr lang="en-US" sz="19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9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r>
              <a:rPr lang="en-US" sz="19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the </a:t>
            </a:r>
            <a:r>
              <a:rPr lang="en-US" sz="19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en-US" sz="19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6400800" cy="2011680"/>
          </a:xfrm>
          <a:prstGeom prst="roundRect">
            <a:avLst>
              <a:gd name="adj" fmla="val 9091"/>
            </a:avLst>
          </a:prstGeom>
          <a:solidFill>
            <a:srgbClr val="55BFAE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do we want to keep?</a:t>
            </a:r>
            <a:endParaRPr lang="en-US" sz="20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interested in modeling the data, NOT the processes or functions that use or generate those data.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Is This Data?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7863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1499616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453896"/>
            <a:ext cx="128016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2200" y="1499616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691640"/>
            <a:ext cx="96012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12080" y="1691640"/>
            <a:ext cx="96012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063240" y="1344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344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part of the data requirement?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interested in knowing the books searched by the members?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NO, then DO NOT include it as a relationship.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other diagramming techniques, such as a Data Flow Diagram (DFD), to capture business processes.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mix up ER modeling with DFDs.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Cardinality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Depth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914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cardinality means, its types, and how it is applied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329184" cy="32918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65760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8288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vs. maximum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0" y="2258568"/>
            <a:ext cx="329184" cy="32918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65760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2585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cardinality types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0" y="2688336"/>
            <a:ext cx="329184" cy="32918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65760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6883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direction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0" y="3118104"/>
            <a:ext cx="329184" cy="32918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6576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11810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notations, one rule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657600" y="3547872"/>
            <a:ext cx="329184" cy="32918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65760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5478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cardinality to tables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0" y="3977640"/>
            <a:ext cx="329184" cy="32918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65760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9776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diagram can't enforce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4480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Coronel &amp; Morris, Database Systems (Ch. 4); Silberschatz et al., Database System Concepts (Ch. 6)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Cardinality = (Minimum, Maximum)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end answers two separate questions: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847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Must it participate?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optional (partial participation)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mandatory (total participation)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91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participation or optionality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3776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847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at most?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one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many (no fixed upper limit)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291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connectivity: 1:1, 1:M, M:N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E3F3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4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 = “optional, many”: none is allowed, and there is no upper limit.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Four Cardinality Types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8288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9144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64792" y="1325880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40764" y="13578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74520" y="1234440"/>
            <a:ext cx="146304" cy="365760"/>
          </a:xfrm>
          <a:prstGeom prst="rect">
            <a:avLst/>
          </a:prstGeom>
          <a:solidFill>
            <a:srgbClr val="DCE8F7"/>
          </a:solidFill>
          <a:ln w="1270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3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(0,1)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one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at most one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461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may be assigned a company car.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51760" y="1005840"/>
            <a:ext cx="1828800" cy="361188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71800" y="1417320"/>
            <a:ext cx="9144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85616" y="1325880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94176" y="1325880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86200" y="1234440"/>
            <a:ext cx="146304" cy="365760"/>
          </a:xfrm>
          <a:prstGeom prst="rect">
            <a:avLst/>
          </a:prstGeom>
          <a:solidFill>
            <a:srgbClr val="DCE8F7"/>
          </a:solidFill>
          <a:ln w="1270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6517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3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(1,1)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Mandatory, only one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32461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is placed by exactly one customer.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18288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83480" y="1417320"/>
            <a:ext cx="9144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5678424" y="1316736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78424" y="141732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90972" y="13578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97880" y="1234440"/>
            <a:ext cx="146304" cy="365760"/>
          </a:xfrm>
          <a:prstGeom prst="rect">
            <a:avLst/>
          </a:prstGeom>
          <a:solidFill>
            <a:srgbClr val="DCE8F7"/>
          </a:solidFill>
          <a:ln w="1270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66344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3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(0,N)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many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no upper limit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32461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may place no orders, or many.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675120" y="1005840"/>
            <a:ext cx="1828800" cy="361188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95160" y="1417320"/>
            <a:ext cx="9144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7690104" y="1316736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90104" y="141732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616952" y="1325880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909560" y="1234440"/>
            <a:ext cx="146304" cy="365760"/>
          </a:xfrm>
          <a:prstGeom prst="rect">
            <a:avLst/>
          </a:prstGeom>
          <a:solidFill>
            <a:srgbClr val="DCE8F7"/>
          </a:solidFill>
          <a:ln w="1270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67512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3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(1,N)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many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76656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Mandatory, at least one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812280" y="32461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has at least one employee.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Reading a Crow's Foot Symbol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7863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0" y="1965960"/>
            <a:ext cx="4206240" cy="914"/>
          </a:xfrm>
          <a:prstGeom prst="line">
            <a:avLst/>
          </a:prstGeom>
          <a:noFill/>
          <a:ln w="2540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V="1">
            <a:off x="5815584" y="1865376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15584" y="196596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28132" y="190652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1463040" cy="640080"/>
          </a:xfrm>
          <a:prstGeom prst="rect">
            <a:avLst/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1188720"/>
            <a:ext cx="1463040" cy="36576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= MINIMUM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1554480"/>
            <a:ext cx="548640" cy="32004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2423160"/>
            <a:ext cx="1463040" cy="36576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= MAXIMUM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 flipV="1">
            <a:off x="5943600" y="2103120"/>
            <a:ext cx="411480" cy="32004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1188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 closest to the line's middle is the minimum; the one touching the entity is the maximum.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008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circle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0  (optional)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7560" y="30632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33756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bar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5040" y="30632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03504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 crow's foot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N  (many)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206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○&lt;  = (0,N),  |&lt;  = (1,N),  ||  = (1,1),  ○|  = (0,1)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Reading a Relationship in Both Directions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7863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155448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1618488"/>
            <a:ext cx="155448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27632" y="161848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07008" y="16550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682496" y="1655064"/>
            <a:ext cx="10424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CUS_ID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1325880"/>
            <a:ext cx="155448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618488"/>
            <a:ext cx="1554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9712" y="1618488"/>
            <a:ext cx="914" cy="457200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19088" y="16550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894576" y="1655064"/>
            <a:ext cx="10424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ORD_ID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1847088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1847088"/>
            <a:ext cx="10424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CUS_ID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1604772"/>
            <a:ext cx="18288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1604772"/>
            <a:ext cx="914" cy="96012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1700784"/>
            <a:ext cx="182880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2843784" y="15133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2935224" y="15133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6181344" y="160020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81344" y="1700784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93892" y="1641348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871216" y="13121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705856" y="14081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(0,N)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090672" y="154305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places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2606040"/>
            <a:ext cx="3794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22960" y="26517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→ right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CUSTOMER, look at the symbol at the ORDER end: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places zero or many orders.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2606040"/>
            <a:ext cx="3794760" cy="146304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892040" y="26517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→ left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ORDER, look at the symbol at the CUSTOMER end: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is placed by exactly one customer.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4160520"/>
            <a:ext cx="7863840" cy="502920"/>
          </a:xfrm>
          <a:prstGeom prst="roundRect">
            <a:avLst>
              <a:gd name="adj" fmla="val 18182"/>
            </a:avLst>
          </a:prstGeom>
          <a:solidFill>
            <a:srgbClr val="143F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always read “one instance of THIS entity relates to … of THAT entity”, using the symbol at THAT entity's end.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Look-Across vs. Look-Here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professor teaches 1 to 4 classes; each class is taught by exactly 1 professor. Two conventions place the labels differently: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7863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Look-across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foot, Coronel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01168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7440" y="230428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16352" y="230428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395728" y="23408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871216" y="234086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EMP_NUM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230428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05472" y="230428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84848" y="23408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260336" y="234086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2290572"/>
            <a:ext cx="301752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3849624" y="21991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3941064" y="21991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6547104" y="2189988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47104" y="229057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73952" y="21991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877056" y="19979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071616" y="19979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(1,4)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0345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teaches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108960"/>
            <a:ext cx="7863840" cy="1005840"/>
          </a:xfrm>
          <a:prstGeom prst="roundRect">
            <a:avLst>
              <a:gd name="adj" fmla="val 10909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7724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Look-here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min-max, Elmasri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68880" y="3419856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374136"/>
            <a:ext cx="118872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3419856"/>
            <a:ext cx="10058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3611880"/>
            <a:ext cx="10515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97880" y="3611880"/>
            <a:ext cx="10515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65760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(1,4)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Look-across: the label next to CLASS says how many classes one professor has. Look-here: the label next to Professor says how many times one professor takes part. Same rule, mirrored — always check which convention a diagram uses.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Business Rule, Three Notations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employs one or more employees. Each employee works in exactly one department.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786384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5544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N labels, thick = total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764792"/>
            <a:ext cx="128016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23460" y="1719072"/>
            <a:ext cx="114300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03720" y="1764792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956816"/>
            <a:ext cx="891540" cy="914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66460" y="1956816"/>
            <a:ext cx="937260" cy="914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023360" y="1618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618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7863840" cy="987552"/>
          </a:xfrm>
          <a:prstGeom prst="roundRect">
            <a:avLst>
              <a:gd name="adj" fmla="val 1111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651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(min,max), look-here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862072"/>
            <a:ext cx="128016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3460" y="2816352"/>
            <a:ext cx="114300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03720" y="2862072"/>
            <a:ext cx="118872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3054096"/>
            <a:ext cx="89154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66460" y="3054096"/>
            <a:ext cx="9372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931920" y="2715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(1,N)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2715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786384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3749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symbols, look-across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84048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51760" y="413308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90672" y="413308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2670048" y="41696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145536" y="416966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384048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4133088"/>
            <a:ext cx="1371600" cy="26517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51192" y="4133088"/>
            <a:ext cx="914" cy="265176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30568" y="41696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7306056" y="416966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23360" y="4119372"/>
            <a:ext cx="278892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4123944" y="40279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4215384" y="40279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V="1">
            <a:off x="6592824" y="4018788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92824" y="411937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519672" y="4027932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732020" y="38633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employs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Connectivity × Participation in Practice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3072384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 has… 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B has…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has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(1,1)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(1,1)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is assigned 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 one (0,1)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 one (0,1)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places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 many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(1,1)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employs Employee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many (1,N)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(1,1)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enrolls in 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many (1,N)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 many (0,N)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writes 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many (1,N)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many (1,N)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206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connectivity, different participation: the minimum depends on the business rules, not on the entities themselves.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Cardinality Becomes Tables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34757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ER diagram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relational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the PK of the “1” side as a FK in the “M” side.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the FK on the optional side (fewer NULLs) and make it UNIQUE; if both sides are mandatory, consider merging the tables.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bridge table. Its PK = both FKs (composite); relationship attributes go here.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1 (mandatory parent)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column is NOT NULL.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0 (optional parent)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column allows NULL.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 (recursive) 1:M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refers to the same table, e.g. EMPLOYEE.MANAGER_ID → EMPLOYEE.EMP_ID.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= owner's PK + partial key; FK NOT NULL, usually ON DELETE CASCADE.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Implementing Customer–Order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4572000" cy="3611880"/>
          </a:xfrm>
          <a:prstGeom prst="roundRect">
            <a:avLst>
              <a:gd name="adj" fmla="val 2532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97280"/>
            <a:ext cx="4206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CUSTOMER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CUS_ID   INT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CUS_NAME VARCHAR(50)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ORD_ID   INT PRIMARY KEY,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ORD_DATE DATE,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CUS_ID   INT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(CUS_ID)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CUSTOMER(CUS_ID)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017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0" y="1005840"/>
            <a:ext cx="2697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the (1,1) at the CUSTOMER end: every order must have a customer.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2221992"/>
            <a:ext cx="3017520" cy="1078992"/>
          </a:xfrm>
          <a:prstGeom prst="roundRect">
            <a:avLst>
              <a:gd name="adj" fmla="val 10169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669280" y="2221992"/>
            <a:ext cx="2697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not UNIQUE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orders can share one CUS_ID, so the maximum is 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3438144"/>
            <a:ext cx="3017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669280" y="3438144"/>
            <a:ext cx="2697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needed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row can exist with no orders: the minimum 0 of (0,N).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 Diagram Can't Enforce by Itself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and NOT NULL handle the 0, 1 and N cases. Some rules need extra logic (triggers, CHECK constraints or application code):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8176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9854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098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645920"/>
            <a:ext cx="29946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maximums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(1,4): a professor teaches at most 4 classes; a member borrows at most 5 books.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86300" y="1645920"/>
            <a:ext cx="38176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23460" y="209854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23460" y="2098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2100" y="1645920"/>
            <a:ext cx="29946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 on the “many” side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(1,N): a department must have at least one employee — a FK cannot force a child row to exist.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38176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62559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6255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172968"/>
            <a:ext cx="29946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across relationships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professor may only teach classes in their own department.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86300" y="3172968"/>
            <a:ext cx="38176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3460" y="362559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23460" y="36255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3172968"/>
            <a:ext cx="29946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rules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book copy can be on only one active loan at a time.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Cardinality Checklist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3441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question in BOTH directions for every relationship.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8630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3441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minimum (0 or 1) from the business rules, not from intuition.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each symbol at the correct end (look-across for crow's foot).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8630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255117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every M:N with a bridge entity before implementing.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3465576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75818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465576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fixed limits like (1,4) as business rules for later enforcement.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86300" y="3465576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23460" y="3758184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82346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72100" y="3465576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NOT NULL / NULL on each FK matches the minimum you chose.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657600" y="1097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Keys in the Relational Model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fundamental elements of the relational database model that ensure uniqueness, data integrity, and efficient data access.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743200"/>
            <a:ext cx="365760" cy="36576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576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uniquely identify each row in a table.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0" y="3291840"/>
            <a:ext cx="365760" cy="36576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6576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prevent data duplication and maintain consistency.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0" y="3840480"/>
            <a:ext cx="365760" cy="36576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6576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create relationships between different tables.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Different Kinds of Keys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0972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005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7448" y="10972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005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173736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1828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1737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17720" y="173736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7448" y="1828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737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246888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2560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2468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17720" y="246888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27448" y="2560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2468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" y="32918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Key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17720" y="320040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7448" y="32918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" y="40233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3931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17720" y="393192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27448" y="40233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3931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Importance of Keys in DBMS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ensure that each record in a table is unique and can be identified distinctly.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10515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prevent data duplication and maintain the consistency of the data.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0" y="10515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Retrieval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help create relationships between tables, allowing faster queries and better data organization.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143F4F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keys, managing large databases would become difficult, and data retrieval would be slow and error-prone.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Candidate Key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377440" cy="3520440"/>
          </a:xfrm>
          <a:prstGeom prst="roundRect">
            <a:avLst>
              <a:gd name="adj" fmla="val 5769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011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Minimal set of columns that uniquely identifies a row.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0972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set of attributes that can uniquely identify a tuple. E.g. STUD_NO in the STUDENT relation.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key is a minimal super key with no redundant attributes.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contain unique values: no two rows have the same value in the candidate key's columns.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must have at least one candidate key.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can have multiple candidate keys but only one primary key.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ER modeling, the candidate key chosen to identify an entity is called its identifier.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Candidate Key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STUDENT table, STUD_NO can be a candidate key, as it uniquely identifies each record.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4846320" cy="131673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STUD_NO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223365796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175468965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STUDENT_COURSE</a:t>
            </a:r>
            <a:endParaRPr lang="en-US" sz="120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4846320" cy="98755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STUD_NO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760720" y="1645920"/>
            <a:ext cx="2743200" cy="1097280"/>
          </a:xfrm>
          <a:prstGeom prst="rect">
            <a:avLst/>
          </a:prstGeom>
          <a:solidFill>
            <a:srgbClr val="DDF2E3"/>
          </a:solidFill>
          <a:ln w="9525">
            <a:solidFill>
              <a:srgbClr val="4CAF50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STUD_NO alone identifies each student → candidate key.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60720" y="3337560"/>
            <a:ext cx="2743200" cy="10058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candidate key: {STUD_NO, COURSE_NO} for STUDENT_COURSE.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 Key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377440" cy="3520440"/>
          </a:xfrm>
          <a:prstGeom prst="roundRect">
            <a:avLst>
              <a:gd name="adj" fmla="val 5769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011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Any set of columns that uniquely identifies a row — extras allowed.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0972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one or more attributes (columns) that can uniquely identify a tuple (record). E.g. STUD_NO, (STUD_NO, STUD_NAME), etc.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include extra attributes that aren't needed for uniqueness but still uniquely identify the row.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if STUD_NO can uniquely identify a student, adding SNAME to it still forms a valid super key, though it's unnecessary.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Super Key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 STUDENT table:</a:t>
            </a:r>
            <a:endParaRPr lang="en-US" sz="1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4846320" cy="1463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STUD_NO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223365796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175468965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76072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943600" y="146304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55B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 super keys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3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{STUD_NO}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3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{PHONE}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3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{STUD_NO, PHONE}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3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{STUD_NO, SNAME}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3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{STUD_NO, SNAME, ADDRESS, PHONE}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063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key could be the combination of STUD_NO and PHONE, as this combination uniquely identifies a student — even though either column alone already does.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 Key ⊇ Candidate Key ⊇ Primary Key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097280"/>
            <a:ext cx="4389120" cy="3383280"/>
          </a:xfrm>
          <a:prstGeom prst="ellipse">
            <a:avLst/>
          </a:prstGeom>
          <a:solidFill>
            <a:srgbClr val="D9F2D9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691640"/>
            <a:ext cx="3200400" cy="2468880"/>
          </a:xfrm>
          <a:prstGeom prst="ellipse">
            <a:avLst/>
          </a:prstGeom>
          <a:solidFill>
            <a:srgbClr val="BFE8BF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2423160"/>
            <a:ext cx="1828800" cy="1280160"/>
          </a:xfrm>
          <a:prstGeom prst="ellipse">
            <a:avLst/>
          </a:prstGeom>
          <a:solidFill>
            <a:srgbClr val="9BD89B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1031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371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key is a super key (a minimal one).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primary key is a candidate key (the chosen one).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super key is a candidate key: {STUD_NO, SNAME} has an extra column.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Alternate Key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377440" cy="3520440"/>
          </a:xfrm>
          <a:prstGeom prst="roundRect">
            <a:avLst>
              <a:gd name="adj" fmla="val 5769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011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candidate key that was not chosen as the primary key.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0972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alternate key is any candidate key in a table that is not chosen as the primary key.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other words, all the keys that are not selected as the primary key are alternate keys.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referred to as a secondary key, because it can uniquely identify records, just like the primary key.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consist of one or more columns that uniquely identify a record, but it is not the primary key.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Alternate Key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StudID, Roll No. and Email are all candidate keys. If StudID is chosen as the primary key, the other two become alternate keys.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057400"/>
          <a:ext cx="6949440" cy="15361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abc@gfg.org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xyz@gfg.org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mno@gfg.org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108960" y="1600200"/>
            <a:ext cx="2377440" cy="3200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keys: StudID, Roll No., Email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1463040" cy="365760"/>
          </a:xfrm>
          <a:prstGeom prst="rect">
            <a:avLst/>
          </a:prstGeom>
          <a:solidFill>
            <a:srgbClr val="DDF2E3"/>
          </a:solidFill>
          <a:ln w="9525">
            <a:solidFill>
              <a:srgbClr val="4CAF50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StudID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31920" y="3749040"/>
            <a:ext cx="2926080" cy="365760"/>
          </a:xfrm>
          <a:prstGeom prst="rect">
            <a:avLst/>
          </a:prstGeom>
          <a:solidFill>
            <a:srgbClr val="E8F4FB"/>
          </a:solidFill>
          <a:ln w="9525">
            <a:solidFill>
              <a:srgbClr val="7FB5D9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keys: Roll No., Email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Foreign Key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is an attribute in one table that refers to the primary key in another table — a cross-reference between tables.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that contains the foreign key is the referencing table; the table it refers to is the referenced table.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links tables, maintains data integrity and prevents data redundancy.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 (referenced)</a:t>
            </a:r>
            <a:endParaRPr lang="en-US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8880"/>
          <a:ext cx="3291840" cy="1920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1206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Marks (referencing)</a:t>
            </a:r>
            <a:endParaRPr lang="en-US" sz="120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468880"/>
          <a:ext cx="219456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452360" y="2468880"/>
            <a:ext cx="1051560" cy="5486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ID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206240" y="2468880"/>
            <a:ext cx="822960" cy="548640"/>
          </a:xfrm>
          <a:prstGeom prst="rect">
            <a:avLst/>
          </a:prstGeom>
          <a:solidFill>
            <a:srgbClr val="DDF2E3"/>
          </a:solidFill>
          <a:ln w="9525">
            <a:solidFill>
              <a:srgbClr val="4CAF50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Foreign Key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STUDENT_COURSE</a:t>
            </a:r>
            <a:endParaRPr lang="en-US" sz="12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3931920" cy="10972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STUD_NO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846320" y="105156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STUD_NO in STUDENT_COURSE is a foreign key that refers to the STUD_NO primary key of STUDENT.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primary key, a foreign key can contain duplicate values and may be NULL: STUD_NO appears many times in STUDENT_COURSE because a student can enroll in more than one course.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STUD_NO in STUDENT is a primary key, so it must always be unique and non-NULL.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Partial Key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377440" cy="3520440"/>
          </a:xfrm>
          <a:prstGeom prst="roundRect">
            <a:avLst>
              <a:gd name="adj" fmla="val 5769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011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Identifies a weak entity only together with its owner’s key.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0972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key is chosen from a weak entity to help identify records, but it cannot uniquely identify a record by itself.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distinguishes records in a weak entity when combined with data from the related strong (owner) entity.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NULL, as it is needed to identify records.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a single column or a combination of columns.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Partial Key</a:t>
            </a:r>
            <a:endParaRPr lang="en-US" sz="3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3840480" cy="2057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STUD_NO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937760" y="11430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COURSE_CODE alone repeats (CS101 appears twice), so it can't identify a row. Combined with STUD_NO from the owner STUDENT, each row becomes unique.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74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lecture: in a STUDENT_COURSE table, the combination of STUD_NO and COURSE_CODE can act as the partial-key-based identifier.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Primary Key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377440" cy="3520440"/>
          </a:xfrm>
          <a:prstGeom prst="roundRect">
            <a:avLst>
              <a:gd name="adj" fmla="val 5769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011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candidate key chosen as the main identifier.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0972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from the set of candidate keys to uniquely identify each record. E.g. both STUD_NO and STUD_PHONE are candidate keys, but STUD_NO is selected as the primary key.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NULL, as each record must have a valid identifier.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be single-column or composite (made of multiple columns).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often organize data by primary key to allow faster access and searching.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Primary Key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</a:t>
            </a:r>
            <a:r>
              <a:rPr lang="en-US" sz="1800" b="1" u="sng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STUD_NO</a:t>
            </a:r>
            <a:r>
              <a:rPr lang="en-US" sz="18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SNAME, ADDRESS, PHONE)</a:t>
            </a:r>
            <a:endParaRPr lang="en-US" sz="1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86400" cy="1645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STUD_NO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223365796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175468965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1673352"/>
            <a:ext cx="1188720" cy="1682496"/>
          </a:xfrm>
          <a:prstGeom prst="rect">
            <a:avLst/>
          </a:prstGeom>
          <a:solidFill>
            <a:srgbClr val="4CAF50">
              <a:alpha val="15000"/>
            </a:srgbClr>
          </a:solidFill>
          <a:ln w="25400">
            <a:solidFill>
              <a:srgbClr val="2E8B5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0" y="1737360"/>
            <a:ext cx="2103120" cy="1097280"/>
          </a:xfrm>
          <a:prstGeom prst="rect">
            <a:avLst/>
          </a:prstGeom>
          <a:solidFill>
            <a:srgbClr val="DDF2E3"/>
          </a:solidFill>
          <a:ln w="9525">
            <a:solidFill>
              <a:srgbClr val="4CAF50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STUD_NO is the primary key: unique and never NULL.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Composite Key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377440" cy="3520440"/>
          </a:xfrm>
          <a:prstGeom prst="roundRect">
            <a:avLst>
              <a:gd name="adj" fmla="val 5769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011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or more columns that identify a row together.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0972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single column is not enough to uniquely identify all records, so a combination of multiple attributes is used.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 as the primary key if there is no single-column primary key in the table.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attributes are used together to make a composite key.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combinations of attributes may give different accuracy in identifying rows uniquely.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All Keys Together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STUDENT_COURSE, {STUD_NO, COURSE_NO} forms a composite key. The tables below show every key type at once: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5120640" cy="138988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EmpPassport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1264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</a:t>
            </a:r>
            <a:endParaRPr lang="en-US" sz="1300" dirty="0"/>
          </a:p>
        </p:txBody>
      </p:sp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20240"/>
          <a:ext cx="2377440" cy="138988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0080" y="3520440"/>
            <a:ext cx="3840480" cy="384048"/>
          </a:xfrm>
          <a:prstGeom prst="rect">
            <a:avLst/>
          </a:prstGeom>
          <a:solidFill>
            <a:srgbClr val="DDF2E3"/>
          </a:solidFill>
          <a:ln w="9525">
            <a:solidFill>
              <a:srgbClr val="4CAF50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EmpID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17720" y="3520440"/>
            <a:ext cx="3840480" cy="384048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keys: EmpID, EmpLicence, EmpPassport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4023360"/>
            <a:ext cx="3840480" cy="384048"/>
          </a:xfrm>
          <a:prstGeom prst="rect">
            <a:avLst/>
          </a:prstGeom>
          <a:solidFill>
            <a:srgbClr val="E8F4FB"/>
          </a:solidFill>
          <a:ln w="9525">
            <a:solidFill>
              <a:srgbClr val="7FB5D9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/ unique keys: EmpLicence, EmpPassport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17720" y="4023360"/>
            <a:ext cx="3840480" cy="384048"/>
          </a:xfrm>
          <a:prstGeom prst="rect">
            <a:avLst/>
          </a:prstGeom>
          <a:solidFill>
            <a:srgbClr val="F9E0DC"/>
          </a:solidFill>
          <a:ln w="9525">
            <a:solidFill>
              <a:srgbClr val="B03A2E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key: DId → Table 2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Secondary, Unique and Surrogate Keys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Key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name for an alternate key; also used for any column searched often (e.g. LAST_NAME) and indexed for speed, even if not unique.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10515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with a UNIQUE constraint: no duplicates allowed, but (unlike a primary key) it may accept NULL. E.g. EmpPassport.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17920" y="105156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 key with no business meaning, usually an auto-number (e.g. ORDER_ID 1, 2, 3…), used when natural keys are long or can change.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233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appear in the “kinds of keys” list; definitions added from standard database texts.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657600" y="914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Attributes in the ER Model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828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is a characteristic of an entity used to describe it — essentially a column in a table that holds data values. An entity may have any number of attributes; one of them is the primary key. In an ER model, attributes are drawn as ellipses.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0" y="3337560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E3F3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has name, age, roll number and more. To uniquely identify a student, we use roll number as the primary key.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Attributes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31136" y="11887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05456" y="141732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231136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22192" y="11887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96512" y="141732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22192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Single-Valued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13248" y="11887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32704" y="1371600"/>
            <a:ext cx="1024128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87568" y="141732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13248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04304" y="11887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78624" y="141732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004304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288036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310896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008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31136" y="288036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05456" y="310896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231136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822192" y="288036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96512" y="3108960"/>
            <a:ext cx="914400" cy="411480"/>
          </a:xfrm>
          <a:prstGeom prst="ellipse">
            <a:avLst/>
          </a:prstGeom>
          <a:solidFill>
            <a:srgbClr val="FFF6C2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822192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13248" y="288036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687568" y="310896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413248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004304" y="288036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78624" y="3108960"/>
            <a:ext cx="914400" cy="4114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004304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Simple, Single-Valued &amp; Stored Attributes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515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subdivided into components.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roll number, employee ID, gender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2240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Single-valued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only one value for each entity instance.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age of a student, CNIC number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34290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directly in the database; not computed from other attributes.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date of birth (DOB)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105156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3694176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43500" y="217627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88377" y="2482050"/>
            <a:ext cx="891269" cy="121212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292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86500" y="181051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2121408"/>
            <a:ext cx="914" cy="157276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7220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single-valued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29500" y="2176272"/>
            <a:ext cx="868680" cy="310896"/>
          </a:xfrm>
          <a:prstGeom prst="ellipse">
            <a:avLst/>
          </a:prstGeom>
          <a:solidFill>
            <a:srgbClr val="FFF6C2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6862034" y="2482050"/>
            <a:ext cx="891269" cy="121212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3152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2519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attribute can be all three: roll_no is simple, single-valued and stored.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Attribute Types from Week 5 (Quick Recap)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65860" y="2276856"/>
            <a:ext cx="777240" cy="29260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792224"/>
            <a:ext cx="73152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2048256"/>
            <a:ext cx="914" cy="22860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0100" y="1280160"/>
            <a:ext cx="594360" cy="237744"/>
          </a:xfrm>
          <a:prstGeom prst="ellipse">
            <a:avLst/>
          </a:prstGeom>
          <a:solidFill>
            <a:srgbClr val="FFF6C2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95673" y="1511200"/>
            <a:ext cx="251458" cy="286662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1280160"/>
            <a:ext cx="548640" cy="237744"/>
          </a:xfrm>
          <a:prstGeom prst="ellipse">
            <a:avLst/>
          </a:prstGeom>
          <a:solidFill>
            <a:srgbClr val="FFF6C2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flipH="1">
            <a:off x="1661829" y="1510147"/>
            <a:ext cx="252381" cy="287715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514600" y="114300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split into parts, e.g. address → street, city.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Symbol: Oval with sub-ovals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3500" y="2276856"/>
            <a:ext cx="777240" cy="29260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42916" y="1508760"/>
            <a:ext cx="978408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97780" y="1554480"/>
            <a:ext cx="86868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1874520"/>
            <a:ext cx="914" cy="40233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92240" y="114300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value per entity, e.g. phone numbers.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Symbol: Double oval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288036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65860" y="4105656"/>
            <a:ext cx="777240" cy="29260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392424"/>
            <a:ext cx="54864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74090" y="3643335"/>
            <a:ext cx="288950" cy="462321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37360" y="3392424"/>
            <a:ext cx="54864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H="1">
            <a:off x="1645920" y="3643335"/>
            <a:ext cx="288950" cy="462321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514600" y="297180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other attributes, e.g. Age from DOB.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Symbol: Dashed oval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17720" y="288036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43500" y="4105656"/>
            <a:ext cx="777240" cy="29260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45736" y="3392424"/>
            <a:ext cx="65836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52666" y="3644834"/>
            <a:ext cx="288014" cy="460822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92140" y="3392424"/>
            <a:ext cx="5943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H="1">
            <a:off x="5623560" y="3644054"/>
            <a:ext cx="288501" cy="461602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492240" y="297180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the entity, e.g. roll_no.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Symbol: Underlined oval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Complex Attribute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188720"/>
            <a:ext cx="3337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by nesting composite and multi-valued attributes. Rarely used in DBMSs, so not very popular.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it is composite (street, city, state, PIN code) and also multi-valued, because one person can have more than one house address.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886200" cy="3520440"/>
          </a:xfrm>
          <a:prstGeom prst="roundRect">
            <a:avLst>
              <a:gd name="adj" fmla="val 311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89320" y="3785616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12180" y="2999232"/>
            <a:ext cx="105156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contact_info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9180" y="3090672"/>
            <a:ext cx="77724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0659" y="3373468"/>
            <a:ext cx="721259" cy="41214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52360" y="3090672"/>
            <a:ext cx="73152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6874002" y="3370852"/>
            <a:ext cx="725838" cy="41476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37960" y="3310128"/>
            <a:ext cx="914" cy="47548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88836" y="2130552"/>
            <a:ext cx="978408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43700" y="217627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8636" y="2130552"/>
            <a:ext cx="978408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43500" y="217627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6655789" y="2523326"/>
            <a:ext cx="373224" cy="479859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89444" y="2513095"/>
            <a:ext cx="577072" cy="494633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25896" y="1307592"/>
            <a:ext cx="658368" cy="310896"/>
          </a:xfrm>
          <a:prstGeom prst="ellipse">
            <a:avLst/>
          </a:prstGeom>
          <a:solidFill>
            <a:srgbClr val="FFF6C2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89508" y="1604936"/>
            <a:ext cx="510952" cy="53933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48856" y="1170432"/>
            <a:ext cx="658368" cy="310896"/>
          </a:xfrm>
          <a:prstGeom prst="ellipse">
            <a:avLst/>
          </a:prstGeom>
          <a:solidFill>
            <a:srgbClr val="FFF6C2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78040" y="1481328"/>
            <a:ext cx="914" cy="64922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71816" y="1307592"/>
            <a:ext cx="658368" cy="310896"/>
          </a:xfrm>
          <a:prstGeom prst="ellipse">
            <a:avLst/>
          </a:prstGeom>
          <a:solidFill>
            <a:srgbClr val="FFF6C2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H="1">
            <a:off x="7355621" y="1604936"/>
            <a:ext cx="510952" cy="53933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Representing Complex Attributes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F07A3A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attributes nest two or more composite and multi-valued attributes. These are called the components of the complex attribute.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A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components are grouped in parentheses.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33756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A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components go in curly braces.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1488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A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, 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separated by commas.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Example: Complex Attribute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has multiple phone numbers, multiple emails, and an address. Phone number and email are multi-valued; address is composite (house number, street, city, state).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1B2B3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Address_EmPhone</a:t>
            </a:r>
            <a:r>
              <a:rPr lang="en-US" sz="15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r>
              <a:rPr lang="en-US" sz="1500" b="1" dirty="0">
                <a:solidFill>
                  <a:srgbClr val="1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{Email}</a:t>
            </a:r>
            <a:r>
              <a:rPr lang="en-US" sz="15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b="1" dirty="0">
                <a:solidFill>
                  <a:srgbClr val="1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{Phone}</a:t>
            </a:r>
            <a:r>
              <a:rPr lang="en-US" sz="15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b="1" dirty="0">
                <a:solidFill>
                  <a:srgbClr val="B0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Address(House, Street, City, State)</a:t>
            </a:r>
            <a:r>
              <a:rPr lang="en-US" sz="15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attribute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Address_EmPhone — you can choose any name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297180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52044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components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{Email}, {Phone} — in curly braces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97180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1792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component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Address(…) — in parentheses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Null Attribute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188720"/>
            <a:ext cx="3337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that can take a NULL value when an entity does not have a value for it.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‘Net Banking Active Bin’ attribute shows whether a customer has net banking activated. For a bank that does not offer net banking, it stays NULL until the facility is activated.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886200" cy="3520440"/>
          </a:xfrm>
          <a:prstGeom prst="roundRect">
            <a:avLst>
              <a:gd name="adj" fmla="val 311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3474720" cy="153619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NET_BANKING_ACTIVE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583680" y="2606040"/>
            <a:ext cx="1737360" cy="384048"/>
          </a:xfrm>
          <a:prstGeom prst="rect">
            <a:avLst/>
          </a:prstGeom>
          <a:solidFill>
            <a:srgbClr val="F28C28">
              <a:alpha val="25000"/>
            </a:srgbClr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84632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= no value yet (not the same as “N”)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Descriptive Attribute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188720"/>
            <a:ext cx="3337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descriptive attribute gives information about a relationship set, not about an entity.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is a descriptive attribute of the Manages relationship.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886200" cy="3520440"/>
          </a:xfrm>
          <a:prstGeom prst="roundRect">
            <a:avLst>
              <a:gd name="adj" fmla="val 3117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3374136"/>
            <a:ext cx="10058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2180" y="3328416"/>
            <a:ext cx="105156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29500" y="3374136"/>
            <a:ext cx="7772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3566160"/>
            <a:ext cx="2514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63740" y="3566160"/>
            <a:ext cx="3657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2171700"/>
            <a:ext cx="1188720" cy="411480"/>
          </a:xfrm>
          <a:prstGeom prst="ellipse">
            <a:avLst/>
          </a:prstGeom>
          <a:solidFill>
            <a:srgbClr val="FFF6C2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583180"/>
            <a:ext cx="914" cy="74523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Studies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914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Solved Practice for Weeks 5–6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0" y="1645920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65760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60020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Registration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· M:N bridge · attribute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221284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65760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167128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· participation · 1:1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277977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65760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73405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 · fixed cardinality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3346704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6576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30098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· descriptive attributes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3913632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65760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86791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attributes drills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scenarios to try yourself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Solve an ER Case Study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3441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nouns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nouns in the rules: they are candidate entities (or attributes).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3441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attributes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keys, composite, multi-valued and derived attributes.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verbs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between nouns are candidate relationships.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8630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255117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both directions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relationship: “one A has how many B?” and back. Write (min,max).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465576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75818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465576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special cases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entities, recursive relationships, M:N with attributes, ISA.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86300" y="3465576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23460" y="3758184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82346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72100" y="3465576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then map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ERD, then build tables: PKs, FKs, bridge tables.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1: University Registration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has a unique ID, a name and a location.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offers zero or more courses; every course is offered by exactly one department. A course has a code, title and credit hours.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instructor belongs to exactly one department; every department has at least one instructor.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has a roll number, a name (first and last), a date of birth and one or more phone numbers. The system must show each student's 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enrolls in one or more courses; a course may have zero or many students. A grade is recorded for each enrollment.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37160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72200" y="1463040"/>
            <a:ext cx="2194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 and attributes (with their types)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and their cardinalities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ER diagram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to relational tables with keys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1: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1–4: entities, attributes, relationships, cardinalities</a:t>
            </a:r>
            <a:endParaRPr lang="en-US" sz="13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554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 (key), DName, 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CourseCode (key), Title, Credits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InstID (key), IName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RollNo (key), Name (composite: First, Last), DOB (stored), Age (derived), Phone (multi-valued)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7863840" cy="131673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 has…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B has…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offers Course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(0,N) courses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 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employs Instructor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(1,N) instructors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 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enrolls in Course (+ Grade)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(1,N) courses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(0,N) students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1: ER Diagram (Crow's Foot)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6002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344168"/>
            <a:ext cx="1600200" cy="64922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24712" y="1344168"/>
            <a:ext cx="914" cy="649224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04088" y="138074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79576" y="1380744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79576" y="1572768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DName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179576" y="1764792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16002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447288"/>
            <a:ext cx="1600200" cy="64922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4712" y="3447288"/>
            <a:ext cx="914" cy="649224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04088" y="34838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79576" y="3483864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79576" y="3675888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" y="3867912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79576" y="3867912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94760" y="955548"/>
            <a:ext cx="16002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94760" y="1248156"/>
            <a:ext cx="160020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33672" y="1248156"/>
            <a:ext cx="914" cy="841248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813048" y="1284732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288536" y="1284732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288536" y="1476756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288536" y="1668780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813048" y="186080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288536" y="1860804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94760" y="3154680"/>
            <a:ext cx="16002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94760" y="3447288"/>
            <a:ext cx="1600200" cy="64922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33672" y="3447288"/>
            <a:ext cx="914" cy="649224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3813048" y="348386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288536" y="3483864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813048" y="3675888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288536" y="3675888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288536" y="3867912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03720" y="3058668"/>
            <a:ext cx="16002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03720" y="3351276"/>
            <a:ext cx="160020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42632" y="3351276"/>
            <a:ext cx="914" cy="841248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922008" y="3387852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7397496" y="3387852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397496" y="3579876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397496" y="3771900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397496" y="3963924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0" y="1522476"/>
            <a:ext cx="150876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 flipV="1">
            <a:off x="2386584" y="143103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flipV="1">
            <a:off x="2478024" y="143103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 flipV="1">
            <a:off x="3575304" y="142189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575304" y="1522476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387852" y="1463040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2414016" y="12298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3099816" y="12298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(0,N)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354580" y="15590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offers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485900" y="1993392"/>
            <a:ext cx="914" cy="1161288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394460" y="2093976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394460" y="2185416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85900" y="2935224"/>
            <a:ext cx="100584" cy="219456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 flipH="1">
            <a:off x="1385316" y="2935224"/>
            <a:ext cx="100584" cy="219456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H="1">
            <a:off x="1394460" y="2862072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1522476" y="22951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1522476" y="26334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(1,N)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572" y="24643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employs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94860" y="2089404"/>
            <a:ext cx="914" cy="1065276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503420" y="2189988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503420" y="2281428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594860" y="2935224"/>
            <a:ext cx="100584" cy="219456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 flipH="1">
            <a:off x="4494276" y="2935224"/>
            <a:ext cx="100584" cy="219456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535424" y="2747772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4631436" y="23911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4631436" y="26334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(0,N)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3113532" y="251231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has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 flipH="1">
            <a:off x="5394960" y="3625596"/>
            <a:ext cx="150876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803136" y="353415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711696" y="353415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 flipH="1">
            <a:off x="5394960" y="3625596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H="1" flipV="1">
            <a:off x="5394960" y="352501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 flipV="1">
            <a:off x="5687568" y="353415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6208776" y="333298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(1,1)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5522976" y="333298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(1,N)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5463540" y="36621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makes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852160" y="1051560"/>
            <a:ext cx="2651760" cy="118872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is multi-valued → separate table STUDENT_PHONE.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derived → not stored; computed from DOB.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64008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M:N “Student enrolls in Course” becomes the bridge ENROLLMENT, which also holds the descriptive attribute Grade.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1: Relational Schema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map to tables (PK underlined, FK in blue)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4356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</a:t>
            </a:r>
            <a:r>
              <a:rPr lang="en-US" sz="12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DName, Location</a:t>
            </a: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990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 → its own table.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901952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(</a:t>
            </a:r>
            <a:r>
              <a:rPr lang="en-US" sz="12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InstID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IName, </a:t>
            </a:r>
            <a:r>
              <a:rPr lang="en-US" sz="1250" i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</a:t>
            </a: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9293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→ FK on the many side; NOT NULL (exactly one dept).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432304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24963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(</a:t>
            </a:r>
            <a:r>
              <a:rPr lang="en-US" sz="12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Title, Credits, </a:t>
            </a:r>
            <a:r>
              <a:rPr lang="en-US" sz="1250" i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</a:t>
            </a: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4597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→ FK DeptID, NOT NULL.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962656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22960" y="30266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</a:t>
            </a:r>
            <a:r>
              <a:rPr lang="en-US" sz="12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FirstName, LastName, DOB</a:t>
            </a: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9900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Name split into parts; Age not stored.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93008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35570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STUDENT_PHONE (</a:t>
            </a:r>
            <a:r>
              <a:rPr lang="en-US" sz="125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5204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 → own table.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4087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(</a:t>
            </a:r>
            <a:r>
              <a:rPr lang="en-US" sz="125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Grade</a:t>
            </a: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4050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→ bridge; composite PK.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2: Hospital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(draw it in Chen notation, Week 5 style)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has a patient ID, name, date of birth and one or more phone numbers; age is calculated.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has a doctor ID, name and specialty.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consults one or more doctors, and a doctor may see many patients (or none yet). The date of each consultation is recorded.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may be admitted to at most one ward at a time; a ward can hold many patients, or be empty. A ward has a number and a type.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ward is headed by exactly one doctor; a doctor heads at most one ward.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37160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72200" y="1463040"/>
            <a:ext cx="2194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 and attributes (with their types)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and their cardinalities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ER diagram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to relational tables with keys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2: ER Diagram (Chen)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773936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728216"/>
            <a:ext cx="1188720" cy="475488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95060" y="1773936"/>
            <a:ext cx="105156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971800"/>
            <a:ext cx="1371600" cy="457200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Admitted_to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0" y="3877056"/>
            <a:ext cx="100584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95060" y="2971800"/>
            <a:ext cx="1051560" cy="457200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97480" y="1965960"/>
            <a:ext cx="1143000" cy="914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0" y="1965960"/>
            <a:ext cx="1165860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48840" y="2157984"/>
            <a:ext cx="914" cy="81381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9307" y="3322178"/>
            <a:ext cx="1462613" cy="555793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4937760" y="3307015"/>
            <a:ext cx="1502514" cy="570955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6720840" y="2157984"/>
            <a:ext cx="914" cy="81381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3282" y="1143000"/>
            <a:ext cx="97383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23782" y="1448806"/>
            <a:ext cx="267230" cy="32513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04872" y="1143000"/>
            <a:ext cx="58521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2306668" y="1440908"/>
            <a:ext cx="273722" cy="33302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" y="1764792"/>
            <a:ext cx="841248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1810512"/>
            <a:ext cx="73152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80744" y="1965960"/>
            <a:ext cx="219456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6374" y="2386584"/>
            <a:ext cx="507492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1159127" y="2157984"/>
            <a:ext cx="593473" cy="28760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6374" y="2907792"/>
            <a:ext cx="507492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V="1">
            <a:off x="1100433" y="2157984"/>
            <a:ext cx="840381" cy="77573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42232" y="1170432"/>
            <a:ext cx="58521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1481328"/>
            <a:ext cx="914" cy="24688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15784" y="1307592"/>
            <a:ext cx="896112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7157258" y="1585106"/>
            <a:ext cx="429158" cy="18883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16952" y="1810512"/>
            <a:ext cx="58521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7246620" y="1965960"/>
            <a:ext cx="370332" cy="91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76922" y="2313432"/>
            <a:ext cx="97383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 flipV="1">
            <a:off x="7157258" y="2157984"/>
            <a:ext cx="420631" cy="185077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75788" y="4370832"/>
            <a:ext cx="740664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V="1">
            <a:off x="3519163" y="4261104"/>
            <a:ext cx="416415" cy="160159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30952" y="4370832"/>
            <a:ext cx="58521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 flipV="1">
            <a:off x="4934102" y="4261104"/>
            <a:ext cx="452444" cy="174017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2594610" y="16733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745861" y="16733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103120" y="229743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365077" y="35199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963943" y="3516891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0" y="2211019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4754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thick line = total participation · thin line = partial · double box/diamond = weak entity / identifying relationship · underline = key · dashed = derived · double oval = multi-valued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2: Solution Explained</a:t>
            </a:r>
            <a:endParaRPr lang="en-US" sz="3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14630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(look-here)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consults Doctor (+ Date)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total · Doctor 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(1,N) · Doctor (0,N)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admitted to 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partial · Ward 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(0,1) · Ward (0,N)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heads 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total · Doctor 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(1,1) · Doctor (0,1)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" y="26060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(</a:t>
            </a:r>
            <a:r>
              <a:rPr lang="en-US" sz="120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</a:t>
            </a: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Name, DOB, </a:t>
            </a:r>
            <a:r>
              <a:rPr lang="en-US" sz="1200" i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</a:t>
            </a: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606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 NULL allowed → (0,1)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083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PATIENT_PHONE (</a:t>
            </a:r>
            <a:r>
              <a:rPr lang="en-US" sz="120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</a:t>
            </a: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0083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107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(</a:t>
            </a:r>
            <a:r>
              <a:rPr lang="en-US" sz="120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</a:t>
            </a: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Name, Specialty</a:t>
            </a: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34107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8130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(</a:t>
            </a:r>
            <a:r>
              <a:rPr lang="en-US" sz="120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</a:t>
            </a: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Type, </a:t>
            </a:r>
            <a:r>
              <a:rPr lang="en-US" sz="1200" i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HeadDoctorID</a:t>
            </a: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3813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+ NOT NULL → 1:1, total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2153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(</a:t>
            </a:r>
            <a:r>
              <a:rPr lang="en-US" sz="120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</a:t>
            </a: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</a:t>
            </a: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42153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 PK allows repeat visits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3: Library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has an ISBN, title and year. A book is written by one or more authors; an author writes one or more books.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keeps one or more copies of each book. A copy is identified by its copy number within that book (copy 1, copy 2 …) and has a shelf location.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has a member ID, name and email. A member can have at most 5 books on loan at a time.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loan records one member and one copy, the issue date, the due date and the return date (empty until the book is returned). A copy can be loaned many times over its life.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37160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72200" y="1463040"/>
            <a:ext cx="2194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 and attributes (with their types)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and their cardinalities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ER diagram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to relational tables with keys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3: ER Diagram (Crow's Foot)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435608"/>
            <a:ext cx="13716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24712" y="1435608"/>
            <a:ext cx="914" cy="457200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04088" y="14721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79576" y="147218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79576" y="1664208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54680" y="1143000"/>
            <a:ext cx="164592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BOOK_AUTHOR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435608"/>
            <a:ext cx="164592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93592" y="1435608"/>
            <a:ext cx="914" cy="457200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172968" y="14721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648456" y="1472184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172968" y="1664208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648456" y="1664208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1046988"/>
            <a:ext cx="164592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1339596"/>
            <a:ext cx="1645920" cy="64922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91072" y="1339596"/>
            <a:ext cx="914" cy="649224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870448" y="1376172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1376172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1568196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1760220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2160" y="2743200"/>
            <a:ext cx="1645920" cy="292608"/>
          </a:xfrm>
          <a:prstGeom prst="rect">
            <a:avLst/>
          </a:prstGeom>
          <a:solidFill>
            <a:srgbClr val="5A6B78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3035808"/>
            <a:ext cx="1645920" cy="64922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91072" y="3035808"/>
            <a:ext cx="914" cy="649224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870448" y="30723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PK,FK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345936" y="3072384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870448" y="3264408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345936" y="3264408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CopyNo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345936" y="3456432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154680" y="2391156"/>
            <a:ext cx="164592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54680" y="2683764"/>
            <a:ext cx="1645920" cy="1353312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593592" y="2683764"/>
            <a:ext cx="914" cy="1353312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172968" y="272034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3648456" y="27203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172968" y="29032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3648456" y="290322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172968" y="30861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3648456" y="308610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172968" y="32689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3648456" y="326898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CopyNo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3648456" y="345186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IssueDate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3648456" y="36347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648456" y="381762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ReturnDate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" y="2743200"/>
            <a:ext cx="1371600" cy="292608"/>
          </a:xfrm>
          <a:prstGeom prst="rect">
            <a:avLst/>
          </a:prstGeom>
          <a:solidFill>
            <a:srgbClr val="143F4F"/>
          </a:solidFill>
          <a:ln w="15875">
            <a:solidFill>
              <a:srgbClr val="1F3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5800" y="3035808"/>
            <a:ext cx="1371600" cy="64922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24712" y="3035808"/>
            <a:ext cx="914" cy="649224"/>
          </a:xfrm>
          <a:prstGeom prst="line">
            <a:avLst/>
          </a:prstGeom>
          <a:noFill/>
          <a:ln w="9525">
            <a:solidFill>
              <a:srgbClr val="B8C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704088" y="3072384"/>
            <a:ext cx="402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179576" y="307238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1179576" y="3264408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MName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179576" y="3456432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057400" y="1517904"/>
            <a:ext cx="10972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 flipV="1">
            <a:off x="2157984" y="14264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 flipV="1">
            <a:off x="2249424" y="14264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 flipV="1">
            <a:off x="2935224" y="141732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935224" y="1517904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862072" y="14264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1920240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writes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 flipH="1" flipV="1">
            <a:off x="4800600" y="1517904"/>
            <a:ext cx="105156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751576" y="14264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660136" y="14264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 flipH="1">
            <a:off x="4800600" y="1517904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 flipH="1" flipV="1">
            <a:off x="4800600" y="1417320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 flipV="1">
            <a:off x="5093208" y="1426464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4640580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has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1988820"/>
            <a:ext cx="914" cy="7543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583680" y="2089404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583680" y="2180844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675120" y="2523744"/>
            <a:ext cx="100584" cy="219456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 flipH="1">
            <a:off x="6574536" y="2523744"/>
            <a:ext cx="100584" cy="219456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 flipH="1">
            <a:off x="6583680" y="2450592"/>
            <a:ext cx="1828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6711696" y="22219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(1,N)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5193792" y="225628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has copies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 flipH="1">
            <a:off x="4800600" y="3214116"/>
            <a:ext cx="105156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751576" y="312267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660136" y="312267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 flipH="1">
            <a:off x="4800600" y="3214116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 flipH="1" flipV="1">
            <a:off x="4800600" y="311353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088636" y="3154680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4640580" y="32506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is loaned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057400" y="3214116"/>
            <a:ext cx="1097280" cy="91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 flipV="1">
            <a:off x="2157984" y="312267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 flipV="1">
            <a:off x="2249424" y="3122676"/>
            <a:ext cx="914" cy="18288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 flipV="1">
            <a:off x="2935224" y="3113532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935224" y="3214116"/>
            <a:ext cx="219456" cy="100584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747772" y="3154680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 txBox="1"/>
          <p:nvPr/>
        </p:nvSpPr>
        <p:spPr>
          <a:xfrm>
            <a:off x="2459736" y="292150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3A2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(0,5)*</a:t>
            </a:r>
            <a:endParaRPr 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1920240" y="32506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5BFAE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borrows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entity: </a:t>
            </a:r>
            <a:r>
              <a:rPr lang="en-US" sz="10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BOOK_COPY's PK = ISBN + CopyNo (partial key).   </a:t>
            </a:r>
            <a:r>
              <a:rPr lang="en-US" sz="10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(0,5)*: </a:t>
            </a:r>
            <a:r>
              <a:rPr lang="en-US" sz="10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max, enforced by the application.   </a:t>
            </a: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ReturnDate: </a:t>
            </a:r>
            <a:r>
              <a:rPr lang="en-US" sz="10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attribute until returned.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3: Relational Schema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map to tables (PK underlined, FK in blue)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78638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4081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</a:t>
            </a:r>
            <a:r>
              <a:rPr lang="en-US" sz="11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AName</a:t>
            </a: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7863840" cy="402336"/>
          </a:xfrm>
          <a:prstGeom prst="roundRect">
            <a:avLst>
              <a:gd name="adj" fmla="val 2727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18653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(</a:t>
            </a:r>
            <a:r>
              <a:rPr lang="en-US" sz="11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Title, Year</a:t>
            </a: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47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78638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23225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BOOK_AUTHOR (</a:t>
            </a:r>
            <a:r>
              <a:rPr lang="en-US" sz="115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</a:t>
            </a: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“writes” → bridge.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7863840" cy="402336"/>
          </a:xfrm>
          <a:prstGeom prst="roundRect">
            <a:avLst>
              <a:gd name="adj" fmla="val 2727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27797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BOOK_COPY (</a:t>
            </a:r>
            <a:r>
              <a:rPr lang="en-US" sz="1150" b="1" i="1" u="sng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CopyNo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Shelf</a:t>
            </a: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owner PK + partial key.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78638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32369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(</a:t>
            </a:r>
            <a:r>
              <a:rPr lang="en-US" sz="11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MName, Email</a:t>
            </a: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218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7863840" cy="402336"/>
          </a:xfrm>
          <a:prstGeom prst="roundRect">
            <a:avLst>
              <a:gd name="adj" fmla="val 2727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6941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(</a:t>
            </a:r>
            <a:r>
              <a:rPr lang="en-US" sz="1150" b="1" u="sng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i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i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i="1" dirty="0">
                <a:solidFill>
                  <a:srgbClr val="1F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CopyNo</a:t>
            </a: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IssueDate, DueDate, ReturnDate</a:t>
            </a: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(ISBN, CopyNo) is one composite FK.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143F4F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surrogate LoanID? The same member can borrow the same copy again later, so (MemberID, ISBN, CopyNo) is not unique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4: Company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(classic textbook case, Chen notation)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have an SSN, name and salary. Departments have a number and name. Projects have a number and name.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works for exactly one department; a department has many employees.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is managed by exactly one employee; an employee manages at most one department. The manager's start date is recorded.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controls zero or more projects; each project is controlled by exactly one department.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works on one or more projects, and a project has one or more employees; hours per week are recorded.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may supervise other employees; each employee has at most one supervisor.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may have dependents (name, relationship); a dependent is identified by name together with the employee.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32588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72200" y="141732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 and attributes (with their types)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and their cardinalities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ER diagram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to relational tables with keys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4: ER Diagram (Chen)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97380" y="2551176"/>
            <a:ext cx="114300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37860" y="2551176"/>
            <a:ext cx="13258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4151376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7620" y="2020824"/>
            <a:ext cx="1234440" cy="438912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Works_For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63340" y="3026664"/>
            <a:ext cx="1143000" cy="438912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2160" y="3364992"/>
            <a:ext cx="1097280" cy="402336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4123944"/>
            <a:ext cx="1188720" cy="438912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1380744"/>
            <a:ext cx="1371600" cy="438912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8780" y="3529584"/>
            <a:ext cx="1600200" cy="53035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60220" y="3593592"/>
            <a:ext cx="1417320" cy="402336"/>
          </a:xfrm>
          <a:prstGeom prst="diamond">
            <a:avLst/>
          </a:prstGeom>
          <a:solidFill>
            <a:srgbClr val="FFF4C9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Dependents_Of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74520" y="4315968"/>
            <a:ext cx="118872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B5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20240" y="4361688"/>
            <a:ext cx="1097280" cy="384048"/>
          </a:xfrm>
          <a:prstGeom prst="rect">
            <a:avLst/>
          </a:prstGeom>
          <a:solidFill>
            <a:srgbClr val="DCE8F7"/>
          </a:solidFill>
          <a:ln w="15875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V="1">
            <a:off x="3040380" y="2332106"/>
            <a:ext cx="1035502" cy="264896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93798" y="2332106"/>
            <a:ext cx="944062" cy="241504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40380" y="2889398"/>
            <a:ext cx="1051460" cy="26897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4777840" y="2912789"/>
            <a:ext cx="960020" cy="245587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2935224"/>
            <a:ext cx="914" cy="429768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0" y="3767328"/>
            <a:ext cx="914" cy="384048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04795" y="2935224"/>
            <a:ext cx="1544566" cy="1257205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0" y="4343400"/>
            <a:ext cx="822960" cy="914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68880" y="2935224"/>
            <a:ext cx="914" cy="594360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68880" y="4059936"/>
            <a:ext cx="914" cy="256032"/>
          </a:xfrm>
          <a:prstGeom prst="line">
            <a:avLst/>
          </a:prstGeom>
          <a:noFill/>
          <a:ln w="3492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H="1" flipV="1">
            <a:off x="1783080" y="1600200"/>
            <a:ext cx="365760" cy="95097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2788920" y="1600200"/>
            <a:ext cx="365760" cy="95097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5800" y="1481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1481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1920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71800" y="1920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4380" y="2221992"/>
            <a:ext cx="68580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392837" y="2456255"/>
            <a:ext cx="504543" cy="134545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4380" y="2724912"/>
            <a:ext cx="68580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 flipV="1">
            <a:off x="1432130" y="2800350"/>
            <a:ext cx="465250" cy="46525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4380" y="3227832"/>
            <a:ext cx="68580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 flipV="1">
            <a:off x="1336208" y="2935224"/>
            <a:ext cx="721192" cy="33655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98080" y="2221992"/>
            <a:ext cx="82296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DNumber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H="1">
            <a:off x="7063740" y="2461394"/>
            <a:ext cx="499511" cy="12109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98080" y="2724912"/>
            <a:ext cx="82296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H="1" flipV="1">
            <a:off x="7063740" y="2803467"/>
            <a:ext cx="445760" cy="40524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06640" y="3913632"/>
            <a:ext cx="82296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PNumber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 flipH="1">
            <a:off x="6949440" y="4139960"/>
            <a:ext cx="502466" cy="97251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06640" y="4416552"/>
            <a:ext cx="82296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 flipH="1" flipV="1">
            <a:off x="6949440" y="4431890"/>
            <a:ext cx="490248" cy="79072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000500" y="3547872"/>
            <a:ext cx="86868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 flipV="1">
            <a:off x="4434840" y="3465576"/>
            <a:ext cx="914" cy="8229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91940" y="4690872"/>
            <a:ext cx="68580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 flipV="1">
            <a:off x="4434840" y="4562856"/>
            <a:ext cx="914" cy="12801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7240" y="4187952"/>
            <a:ext cx="82296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dash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DepName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566063" y="4405392"/>
            <a:ext cx="308457" cy="50675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1520" y="4645152"/>
            <a:ext cx="914400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57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 flipV="1">
            <a:off x="1586399" y="4668339"/>
            <a:ext cx="288121" cy="55566"/>
          </a:xfrm>
          <a:prstGeom prst="line">
            <a:avLst/>
          </a:prstGeom>
          <a:noFill/>
          <a:ln w="15875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3232036" y="2203479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227525" y="2220627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3134071" y="26909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5175534" y="2693857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355080" y="308884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355080" y="3979469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2851210" y="329979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372100" y="40507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2423160" y="31683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4123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4: Solution Explained</a:t>
            </a:r>
            <a:endParaRPr lang="en-US" sz="30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33284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Works_For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total · Dept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DNo in EMPLOYEE, 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(+ StartDate)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partial · Dept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MgrSSN + MgrStartDate in DEPARTMENT (NOT NULL, UNIQUE)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 partial · Project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DNum in PROJECT, 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Works_On (+ Hours)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WORKS_ON(ESSN, PNo, Hours)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recursive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SuperSSN in EMPLOYEE → EMPLOYEE.SSN, NULL allowed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Dependents_Of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identifying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DEPENDENT(ESSN, DepName, Relationship); PK = both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 a 1:1, put the FK on the side with total participation (DEPARTMENT), so it is never NULL.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Drill: Identify the Keys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 — assume EmpID, CNIC and Email are each unique; names can repeat; DeptID refers to DEPARTMENT.</a:t>
            </a:r>
            <a:endParaRPr lang="en-US" sz="13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389888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35202-111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ali@x.pk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0300-1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35202-222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sara@x.pk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0300-2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35202-333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ali2@x.pk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0300-3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971800"/>
            <a:ext cx="7863840" cy="1097280"/>
          </a:xfrm>
          <a:prstGeom prst="roundRect">
            <a:avLst>
              <a:gd name="adj" fmla="val 8333"/>
            </a:avLst>
          </a:prstGeom>
          <a:solidFill>
            <a:srgbClr val="E3F3F0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two super keys   (b) all candidate keys   (c) a primary key and the alternate keys   (d) the foreign key   (e) Is {Name, Phone} a good key? Why?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206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before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Drill: Keys — Solution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3441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Super keys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{EmpID}, {EmpID, Name}, {CNIC, Email} — any set containing a unique column.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3441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Candidate keys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{EmpID}, {CNIC}, {Email} — minimal: nothing can be removed.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Primary &amp; alternate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EmpID (short, never changes). Alternate keys: CNIC, Email.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8630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255117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Foreign key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 → DEPARTMENT(DeptID).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465576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75818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465576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{Name, Phone}?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good key: names repeat and phones can change or be shared, so uniqueness is not guaranteed.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Drill: Classify the Attributes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record stores the following. Classify each attribute and name its ER symbol: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10128" y="150876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01568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(First, Last)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0176" y="150876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071616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10128" y="246888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401568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80176" y="246888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071616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(House, Street, City)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152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(from grades)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10128" y="342900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401568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Hostel_Room (boarders only)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80176" y="3429000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071616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EnrollDate (on “enrolls”)</a:t>
            </a:r>
            <a:endParaRPr lang="en-US" sz="13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Drill: Attributes — Solution</a:t>
            </a:r>
            <a:endParaRPr lang="en-US" sz="30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3520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symbol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Key, simple, single-valued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Underlined 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(First, Last)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 with sub-ovals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Stored, single-valued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(from DOB)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Dashed 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numbers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Multi-valued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(complex if a student has several)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 with sub-ovals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(from grades)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Dashed 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Hostel_Room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attribute (NULL for day scholars)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 (belongs to a relationship)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 on the diamond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Yourself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37947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 Online Food Delivery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554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orders from restaurants.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contains one or more menu items, with a quantity.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has many menu items.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 delivers each order.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 save several addresses.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ORDER_ITEM is a bridge; addresses are multi-valued.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794760" cy="3611880"/>
          </a:xfrm>
          <a:prstGeom prst="roundRect">
            <a:avLst>
              <a:gd name="adj" fmla="val 3038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9377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 Airline Booking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554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book seats on flights; seat number per booking.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passenger can book many flights; a flight has many passengers.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flight uses exactly one airplane.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members are pilots or attendants and are assigned to flights.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BOOKING is a bridge; crew is an ISA hierarchy.</a:t>
            </a:r>
            <a:endParaRPr lang="en-US" sz="11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1645920" cy="1920240"/>
          </a:xfrm>
          <a:prstGeom prst="can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47548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86200" y="1188720"/>
            <a:ext cx="438912" cy="438912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8620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0332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Systems: Design, Implementation &amp; Management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Coronel &amp; Steven Morris</a:t>
            </a:r>
            <a:endParaRPr lang="en-US" sz="1250" dirty="0"/>
          </a:p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 — ER modeling, connectivity &amp; cardinality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1920240"/>
            <a:ext cx="47548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86200" y="2103120"/>
            <a:ext cx="438912" cy="438912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8620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19476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 Concepts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Korth, Sudarshan</a:t>
            </a:r>
            <a:endParaRPr lang="en-US" sz="1250" dirty="0"/>
          </a:p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 — ER model, mapping cardinalities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49040" y="2834640"/>
            <a:ext cx="47548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86200" y="3017520"/>
            <a:ext cx="438912" cy="438912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8620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28620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Database Management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A. Hoffer, V. Ramesh, Heikki Topi</a:t>
            </a:r>
            <a:endParaRPr lang="en-US" sz="1250" dirty="0"/>
          </a:p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Edition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749040" y="3749040"/>
            <a:ext cx="47548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86200" y="3931920"/>
            <a:ext cx="438912" cy="438912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886200" y="3931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37764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Database Management Systems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L. Gillenson</a:t>
            </a:r>
            <a:endParaRPr lang="en-US" sz="1250" dirty="0"/>
          </a:p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Edition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8005</Words>
  <Application>Microsoft Office PowerPoint</Application>
  <PresentationFormat>On-screen Show (16:9)</PresentationFormat>
  <Paragraphs>1800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[object Object]</vt:lpstr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- Week 06 (Lectures 13-15)</dc:title>
  <dc:subject>PptxGenJS Presentation</dc:subject>
  <dc:creator>PptxGenJS</dc:creator>
  <cp:lastModifiedBy>FAHEEM SHAUKAT</cp:lastModifiedBy>
  <cp:revision>4</cp:revision>
  <dcterms:created xsi:type="dcterms:W3CDTF">2026-10-15T20:12:30Z</dcterms:created>
  <dcterms:modified xsi:type="dcterms:W3CDTF">2026-10-16T04:00:02Z</dcterms:modified>
</cp:coreProperties>
</file>