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521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5669280" y="-1097280"/>
            <a:ext cx="2926080" cy="7772400"/>
          </a:xfrm>
          <a:prstGeom prst="roundRect">
            <a:avLst>
              <a:gd name="adj" fmla="val 50000"/>
            </a:avLst>
          </a:prstGeom>
          <a:solidFill>
            <a:srgbClr val="9ED8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5669280" y="1645920"/>
            <a:ext cx="685800" cy="2011680"/>
          </a:xfrm>
          <a:prstGeom prst="roundRect">
            <a:avLst>
              <a:gd name="adj" fmla="val 49333"/>
            </a:avLst>
          </a:prstGeom>
          <a:solidFill>
            <a:srgbClr val="231F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500000">
            <a:off x="6400800" y="1645920"/>
            <a:ext cx="685800" cy="2011680"/>
          </a:xfrm>
          <a:prstGeom prst="roundRect">
            <a:avLst>
              <a:gd name="adj" fmla="val 49333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95160" y="2468880"/>
            <a:ext cx="685800" cy="68580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1148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Fall-2026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32588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31272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Data into Meaningful Information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3657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</a:t>
            </a:r>
            <a:r>
              <a:rPr lang="en-US" sz="2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Course Learning Objectives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course, students will be able to: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664208"/>
            <a:ext cx="457200" cy="457200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4904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fundamental concepts, architecture, and components of database systems.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664208"/>
            <a:ext cx="457200" cy="457200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1772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14904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conceptual and logical data models using Entity–Relationship (ER) and Relational models.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56032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2807208"/>
            <a:ext cx="457200" cy="457200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26334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normalization techniques to reduce redundancy and improve data integrity.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80560" y="256032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17720" y="2807208"/>
            <a:ext cx="457200" cy="457200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61772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26334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execute SQL queries for data definition, manipulation, and retrieval.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370332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3950208"/>
            <a:ext cx="457200" cy="457200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7724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37764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database transaction management, concurrency control, and recovery mechanisms.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480560" y="370332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17720" y="3950208"/>
            <a:ext cx="457200" cy="457200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61772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37764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and apply database design principles to small-scale real-world problems.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 Outcome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680960" cy="21640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Topic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Intended Learning Outcome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 to Database Management Systems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4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key terms: </a:t>
                      </a:r>
                      <a:r>
                        <a:rPr lang="en-US" sz="14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data, information, database, DBMS, and database system.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spcAft>
                          <a:spcPts val="4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Differentiate between </a:t>
                      </a:r>
                      <a:r>
                        <a:rPr lang="en-US" sz="14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and information.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spcAft>
                          <a:spcPts val="4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purpose and </a:t>
                      </a:r>
                      <a:r>
                        <a:rPr lang="en-US" sz="14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 of databases</a:t>
                      </a: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in organizations.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spcAft>
                          <a:spcPts val="4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main characteristics and </a:t>
                      </a:r>
                      <a:r>
                        <a:rPr lang="en-US" sz="14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 of a DBMS</a:t>
                      </a: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over </a:t>
                      </a:r>
                      <a:r>
                        <a:rPr lang="en-US" sz="14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file-processing systems.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123444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123444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Assessment</a:t>
            </a:r>
            <a:endParaRPr lang="en-US" sz="3400" dirty="0"/>
          </a:p>
          <a:p>
            <a:pPr marL="0" indent="0" algn="r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Mapping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188720"/>
          <a:ext cx="4754880" cy="24688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 CLOs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(3)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CLO1, CLO2, CLO3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(3)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CLO1, CLO2, CLO3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CLO1, CLO2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CLO1, CLO2, CLO3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123444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123444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Reference</a:t>
            </a:r>
            <a:endParaRPr lang="en-US" sz="3400" dirty="0"/>
          </a:p>
          <a:p>
            <a:pPr marL="0" indent="0" algn="r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Books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749040" y="118872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31920" y="150876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931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1280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Database Management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Jeffrey A. Hoffer, V. Ramesh, Heikki Topi</a:t>
            </a:r>
            <a:endParaRPr lang="en-US" sz="17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13th Edition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49040" y="256032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31920" y="288036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9319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6517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Database Management Systems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Mark L. Gillenson</a:t>
            </a:r>
            <a:endParaRPr lang="en-US" sz="17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Edition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Overview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664208"/>
            <a:ext cx="457200" cy="45720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5087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basic concept of Database System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508760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664208"/>
            <a:ext cx="457200" cy="45720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1772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15087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Oriented Approach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2670048"/>
            <a:ext cx="457200" cy="45720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25146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of File Oriented System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80560" y="2514600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17720" y="2670048"/>
            <a:ext cx="457200" cy="45720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6177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25146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Database Management System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520440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3675888"/>
            <a:ext cx="457200" cy="45720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7724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35204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 and Its Applications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80560" y="3520440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17720" y="3675888"/>
            <a:ext cx="457200" cy="45720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61772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35204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Database Systems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Data?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facts and figures that have no meaning by themselves.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facts are called as data. The word “raw” indicates that they have not been processed.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</a:t>
            </a:r>
            <a:endParaRPr lang="en-US" sz="160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Unprocessed</a:t>
            </a:r>
            <a:endParaRPr lang="en-US" sz="1600" dirty="0"/>
          </a:p>
          <a:p>
            <a:pPr marL="457200" lvl="1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qualitative (text, images) or quantitative (numbers, measurements)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0" y="109728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66928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69280" y="169164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80644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100" dirty="0"/>
          </a:p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25, 72, 99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256032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80644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100" dirty="0"/>
          </a:p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"Ali", "Blue", "Laptop"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342900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806440" y="3429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23-09-2025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Word “Data”?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78638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09728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109728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Latin word datum, meaning “something given”.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78638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196596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196596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“Data” is plural (singular = datum), but is commonly used as singular in computing.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78638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283464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Computing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283464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 a computer system — stored, processed, and transformed into useful output.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7863840" cy="685800"/>
          </a:xfrm>
          <a:prstGeom prst="roundRect">
            <a:avLst>
              <a:gd name="adj" fmla="val 16000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379476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Example — Data: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“35, 40, 45”,  “Ali, Mehmood”,  “3-3-2024”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Information?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 that has meaning and context. When raw facts (data) are organized and interpreted, they become useful.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the processed data is known as information.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577840" y="11887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4ECE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577840" y="1188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12280" y="2194560"/>
            <a:ext cx="457200" cy="502920"/>
          </a:xfrm>
          <a:prstGeom prst="downArrow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77840" y="2788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577840" y="2788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1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Marks: 89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291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once 89 is labelled “Marks: 89”, it becomes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Knowledge?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69164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refers to the practical use of information.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necessarily involves a personal experience.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834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69164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analyze and interpret information, you gain knowledge.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allows you to make decisions, predictions, and solve problems.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often stored in the human mind or represented in AI systems as rules, logic, or models.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Wisdom?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69164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is the ability to use knowledge effectively for making sound judgments and decisions.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involves experience, insight, ethics, and foresight.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834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737360"/>
            <a:ext cx="3337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Wisdom =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Applied Knowledge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Good Judgment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Data/Information Processing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converting the data (raw facts) into meaningful information is called data/information processing.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1554480" cy="1554480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331720" y="2468880"/>
            <a:ext cx="365760" cy="365760"/>
          </a:xfrm>
          <a:prstGeom prst="rightArrow">
            <a:avLst/>
          </a:prstGeom>
          <a:solidFill>
            <a:srgbClr val="9AA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874520"/>
            <a:ext cx="1554480" cy="1554480"/>
          </a:xfrm>
          <a:prstGeom prst="ellipse">
            <a:avLst/>
          </a:prstGeom>
          <a:solidFill>
            <a:srgbClr val="8DBF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74320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343400" y="2468880"/>
            <a:ext cx="365760" cy="365760"/>
          </a:xfrm>
          <a:prstGeom prst="rightArrow">
            <a:avLst/>
          </a:prstGeom>
          <a:solidFill>
            <a:srgbClr val="9AA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874520"/>
            <a:ext cx="1554480" cy="1554480"/>
          </a:xfrm>
          <a:prstGeom prst="ellipse">
            <a:avLst/>
          </a:prstGeom>
          <a:solidFill>
            <a:srgbClr val="F2A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75488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55080" y="2468880"/>
            <a:ext cx="365760" cy="365760"/>
          </a:xfrm>
          <a:prstGeom prst="rightArrow">
            <a:avLst/>
          </a:prstGeom>
          <a:solidFill>
            <a:srgbClr val="9AA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0" y="1874520"/>
            <a:ext cx="1554480" cy="1554480"/>
          </a:xfrm>
          <a:prstGeom prst="ellipse">
            <a:avLst/>
          </a:prstGeom>
          <a:solidFill>
            <a:srgbClr val="C63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76656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1097280" y="3520440"/>
            <a:ext cx="6949440" cy="640080"/>
          </a:xfrm>
          <a:prstGeom prst="uturnArrow">
            <a:avLst/>
          </a:prstGeom>
          <a:solidFill>
            <a:srgbClr val="9AAF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 repeats: wisdom guides what new data to collect.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Data/Information Processing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628900" y="1051560"/>
            <a:ext cx="960120" cy="786384"/>
          </a:xfrm>
          <a:prstGeom prst="triangle">
            <a:avLst/>
          </a:prstGeom>
          <a:solidFill>
            <a:srgbClr val="A84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103120" y="1325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insight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05156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understanding, integration, applied, reflected upon, actionable, accumulated, principles, patterns, decision-making process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V="1">
            <a:off x="2148840" y="1874520"/>
            <a:ext cx="1920240" cy="786384"/>
          </a:xfrm>
          <a:prstGeom prst="trapezoid">
            <a:avLst/>
          </a:prstGeom>
          <a:solidFill>
            <a:srgbClr val="A84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103120" y="1874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" y="2514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meaning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187452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idea, learning, notion, concept, synthesized, compared, thought-out, discussed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V="1">
            <a:off x="1668780" y="2697480"/>
            <a:ext cx="2880360" cy="786384"/>
          </a:xfrm>
          <a:prstGeom prst="trapezoid">
            <a:avLst/>
          </a:prstGeom>
          <a:solidFill>
            <a:srgbClr val="A84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10312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69748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organized, structured, categorized, useful, condensed, calculated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V="1">
            <a:off x="1188720" y="3520440"/>
            <a:ext cx="3840480" cy="786384"/>
          </a:xfrm>
          <a:prstGeom prst="trapezoid">
            <a:avLst/>
          </a:prstGeom>
          <a:solidFill>
            <a:srgbClr val="A84E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2103120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52044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facts, figures, signals, measurements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83880" y="1051560"/>
            <a:ext cx="274320" cy="658368"/>
          </a:xfrm>
          <a:prstGeom prst="rect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83880" y="1709928"/>
            <a:ext cx="274320" cy="658368"/>
          </a:xfrm>
          <a:prstGeom prst="rect">
            <a:avLst/>
          </a:prstGeom>
          <a:solidFill>
            <a:srgbClr val="8DBF3F"/>
          </a:solidFill>
          <a:ln w="12700">
            <a:solidFill>
              <a:srgbClr val="8DB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83880" y="2368296"/>
            <a:ext cx="274320" cy="658368"/>
          </a:xfrm>
          <a:prstGeom prst="rect">
            <a:avLst/>
          </a:prstGeom>
          <a:solidFill>
            <a:srgbClr val="F2D33A"/>
          </a:solidFill>
          <a:ln w="12700">
            <a:solidFill>
              <a:srgbClr val="F2D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83880" y="3026664"/>
            <a:ext cx="274320" cy="65836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83880" y="3685032"/>
            <a:ext cx="274320" cy="658368"/>
          </a:xfrm>
          <a:prstGeom prst="rect">
            <a:avLst/>
          </a:prstGeom>
          <a:solidFill>
            <a:srgbClr val="D62E2E"/>
          </a:solidFill>
          <a:ln w="12700">
            <a:solidFill>
              <a:srgbClr val="D6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 rot="16200000">
            <a:off x="667512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RISK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Real-World Example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7863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097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dropped by 10%.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1965960"/>
            <a:ext cx="7863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" y="21031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8DBF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19659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dropped due to poor marketing in one region.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7863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29718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2834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 in that region isn’t effective.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7863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38404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63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37033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marketing approach and focus on customer engagement to prevent future losses.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Difference between Data and Information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1417320"/>
          <a:ext cx="6766560" cy="2708656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facts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 data, meaningful form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in unorganized form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in organized form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doesn’t help in the decision-making process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helps in the decision-making process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100, 200, 300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sales for 3 months were 100, 200, 300 units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Database?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out what a database is, we have to start from data, which is the basic building block of any DBMS.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figures, statistics etc. having no particular meaning (e.g. 01, ABC, 19 etc).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Record: </a:t>
            </a: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of related data items. The three data items above had no meaning; organized as below, they collectively represent meaningful information.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3291840"/>
          <a:ext cx="6766560" cy="8229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Database?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or Relation: </a:t>
            </a: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of related records.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4937760" cy="16459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0" y="160020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080760" y="1600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Fields, Attributes or Domains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60604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080760" y="2606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or Records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columns of this relation are called Fields, Attributes or Domains. The rows are called Tuples or Records.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Database?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of related relations. Consider the following collection of tables: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2743200" cy="1463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XYZ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361188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1783080"/>
          <a:ext cx="1920240" cy="1463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80644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783080"/>
          <a:ext cx="1737360" cy="146304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5806440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graphicFrame>
        <p:nvGraphicFramePr>
          <p:cNvPr id="7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3749040"/>
          <a:ext cx="1737360" cy="96012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Database?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have a collection of four tables.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be called a “related collection” because there are common attributes in a selected pair of tables.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these common attributes, we may combine the data of two or more tables together to find out the complete details of a student.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60720" y="118872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43600" y="12801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can answer: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hostel does the youngest student live in?”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C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…even though Age and Hostel are in different tables.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Database?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7863840" cy="822960"/>
          </a:xfrm>
          <a:prstGeom prst="roundRect">
            <a:avLst>
              <a:gd name="adj" fmla="val 13333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05156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organized collection of logically related data stored in a structured way, usually on a computer.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74320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large volumes of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redundancy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quick retrieval &amp; updates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214884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98348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74320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 Database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Patient Database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Transactions Database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in a DBMS could be viewed by lots of different people with different responsibilities.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3C4A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officer needs access to staff details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0" y="2011680"/>
            <a:ext cx="1097280" cy="640080"/>
          </a:xfrm>
          <a:prstGeom prst="line">
            <a:avLst/>
          </a:prstGeom>
          <a:noFill/>
          <a:ln w="25400">
            <a:solidFill>
              <a:srgbClr val="2E8B3E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3C4A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2651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advisor needs access to customer accounts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flipV="1">
            <a:off x="3657600" y="2651760"/>
            <a:ext cx="1097280" cy="365760"/>
          </a:xfrm>
          <a:prstGeom prst="line">
            <a:avLst/>
          </a:prstGeom>
          <a:noFill/>
          <a:ln w="25400">
            <a:solidFill>
              <a:srgbClr val="2E8B3E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3C4A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 needs access to stock levels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flipV="1">
            <a:off x="3657600" y="2651760"/>
            <a:ext cx="1097280" cy="1371600"/>
          </a:xfrm>
          <a:prstGeom prst="line">
            <a:avLst/>
          </a:prstGeom>
          <a:noFill/>
          <a:ln w="25400">
            <a:solidFill>
              <a:srgbClr val="2E8B3E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1463040" cy="914400"/>
          </a:xfrm>
          <a:prstGeom prst="can">
            <a:avLst/>
          </a:prstGeom>
          <a:solidFill>
            <a:srgbClr val="7FB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75488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2651760"/>
            <a:ext cx="822960" cy="0"/>
          </a:xfrm>
          <a:prstGeom prst="line">
            <a:avLst/>
          </a:prstGeom>
          <a:noFill/>
          <a:ln w="25400">
            <a:solidFill>
              <a:srgbClr val="2E8B3E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40880" y="1828800"/>
            <a:ext cx="1188720" cy="1645920"/>
          </a:xfrm>
          <a:prstGeom prst="roundRect">
            <a:avLst>
              <a:gd name="adj" fmla="val 6154"/>
            </a:avLst>
          </a:prstGeom>
          <a:solidFill>
            <a:srgbClr val="5963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78040" y="2011680"/>
            <a:ext cx="914400" cy="320040"/>
          </a:xfrm>
          <a:prstGeom prst="rect">
            <a:avLst/>
          </a:prstGeom>
          <a:solidFill>
            <a:srgbClr val="7A85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78040" y="2468880"/>
            <a:ext cx="914400" cy="320040"/>
          </a:xfrm>
          <a:prstGeom prst="rect">
            <a:avLst/>
          </a:prstGeom>
          <a:solidFill>
            <a:srgbClr val="7A85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78040" y="2926080"/>
            <a:ext cx="914400" cy="320040"/>
          </a:xfrm>
          <a:prstGeom prst="rect">
            <a:avLst/>
          </a:prstGeom>
          <a:solidFill>
            <a:srgbClr val="7A85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675120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Management System?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database-management system (DBMS) is a collection of interrelated data and a set of programs to access those data.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collection of related data with an implicit meaning and hence is a database. The collection of data, usually referred to as the database, contains information relevant to an enterprise.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goal of a DBMS is to provide a way to store and retrieve database information that is both convenient and efficient.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data, we mean known facts that can be recorded and that have implicit meaning.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Management System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are designed to manage large bodies of information.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of data involves both: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063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structures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storage of information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83480" y="2423160"/>
            <a:ext cx="548640" cy="54864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9834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3063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mechanisms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manipulation of information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1920240"/>
            <a:ext cx="1645920" cy="1920240"/>
          </a:xfrm>
          <a:prstGeom prst="can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49040" y="118872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31920" y="150876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931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12801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Database Management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Jeffrey A. Hoffer, V. Ramesh, Heikki Topi</a:t>
            </a:r>
            <a:endParaRPr lang="en-US" sz="17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13th Edition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749040" y="256032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31920" y="2880360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9319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65176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Database Management Systems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Mark L. Gillenson</a:t>
            </a:r>
            <a:endParaRPr lang="en-US" sz="17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Edition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1417</Words>
  <Application>Microsoft Office PowerPoint</Application>
  <PresentationFormat>On-screen Show (16:9)</PresentationFormat>
  <Paragraphs>327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 - Lecture 01</dc:title>
  <dc:subject>PptxGenJS Presentation</dc:subject>
  <dc:creator>PptxGenJS</dc:creator>
  <cp:lastModifiedBy>FAHEEM SHAUKAT</cp:lastModifiedBy>
  <cp:revision>4</cp:revision>
  <dcterms:created xsi:type="dcterms:W3CDTF">2026-09-30T18:21:02Z</dcterms:created>
  <dcterms:modified xsi:type="dcterms:W3CDTF">2026-09-30T19:01:18Z</dcterms:modified>
</cp:coreProperties>
</file>