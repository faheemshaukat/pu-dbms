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59" r:id="rId4"/>
    <p:sldId id="291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6861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5669280" y="-1097280"/>
            <a:ext cx="2926080" cy="7772400"/>
          </a:xfrm>
          <a:prstGeom prst="roundRect">
            <a:avLst>
              <a:gd name="adj" fmla="val 50000"/>
            </a:avLst>
          </a:prstGeom>
          <a:solidFill>
            <a:srgbClr val="9ED8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5669280" y="1645920"/>
            <a:ext cx="685800" cy="2011680"/>
          </a:xfrm>
          <a:prstGeom prst="roundRect">
            <a:avLst>
              <a:gd name="adj" fmla="val 49333"/>
            </a:avLst>
          </a:prstGeom>
          <a:solidFill>
            <a:srgbClr val="231F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500000">
            <a:off x="6400800" y="1645920"/>
            <a:ext cx="685800" cy="2011680"/>
          </a:xfrm>
          <a:prstGeom prst="roundRect">
            <a:avLst>
              <a:gd name="adj" fmla="val 49333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95160" y="2468880"/>
            <a:ext cx="685800" cy="68580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1148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Fall-2026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32588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31272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Data into Meaningful Information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3657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Lecture Recap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52704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1527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463040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Database Systems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6300" y="1463040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23460" y="152704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823460" y="1527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72100" y="1463040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Database Systems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212848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227685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2276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2212848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 System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86300" y="2212848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23460" y="227685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823460" y="2276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72100" y="2212848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Database System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2962656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3026664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7724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2962656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Database System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86300" y="2962656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23460" y="3026664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82346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372100" y="2962656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System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3712464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7240" y="3776472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7724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3712464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DBMS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86300" y="3712464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23460" y="3776472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82346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372100" y="3712464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of DBMS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 Lecture Overview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to be Covered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8176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80136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554480"/>
            <a:ext cx="2994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Environment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86300" y="1554480"/>
            <a:ext cx="38176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23460" y="180136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82346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72100" y="1554480"/>
            <a:ext cx="2994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Architecture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38176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291693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2916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2670048"/>
            <a:ext cx="2994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86300" y="2670048"/>
            <a:ext cx="38176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23460" y="291693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823460" y="2916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72100" y="2670048"/>
            <a:ext cx="2994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Languages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 Outcome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40080" y="1051560"/>
          <a:ext cx="7863840" cy="24765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Intended Learning 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of Data, Data Abstraction, Instances and Schemas, Data Models, Database Languages, Data Dictionary, Database Administrator and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 the structure and purpose of database systems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data abstraction, instances, and schemas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types of database languages (DDL, DML, etc.)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 the purpose of the data dictionary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role of the Database Administrator (DBA)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 database users and user interfaces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Environment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06992" y="1565340"/>
            <a:ext cx="469920" cy="295378"/>
          </a:xfrm>
          <a:prstGeom prst="line">
            <a:avLst/>
          </a:prstGeom>
          <a:noFill/>
          <a:ln w="15875">
            <a:solidFill>
              <a:srgbClr val="5A70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13632" y="667512"/>
            <a:ext cx="1133856" cy="1133856"/>
          </a:xfrm>
          <a:prstGeom prst="ellipse">
            <a:avLst/>
          </a:prstGeom>
          <a:solidFill>
            <a:srgbClr val="5E58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913632" y="66751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flipH="1">
            <a:off x="6684608" y="1565340"/>
            <a:ext cx="469920" cy="295378"/>
          </a:xfrm>
          <a:prstGeom prst="line">
            <a:avLst/>
          </a:prstGeom>
          <a:noFill/>
          <a:ln w="15875">
            <a:solidFill>
              <a:srgbClr val="5A70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14032" y="667512"/>
            <a:ext cx="1133856" cy="1133856"/>
          </a:xfrm>
          <a:prstGeom prst="ellipse">
            <a:avLst/>
          </a:prstGeom>
          <a:solidFill>
            <a:srgbClr val="EE5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114032" y="66751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flipV="1">
            <a:off x="5006992" y="2619842"/>
            <a:ext cx="469920" cy="295378"/>
          </a:xfrm>
          <a:prstGeom prst="line">
            <a:avLst/>
          </a:prstGeom>
          <a:noFill/>
          <a:ln w="15875">
            <a:solidFill>
              <a:srgbClr val="5A70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913632" y="2679192"/>
            <a:ext cx="1133856" cy="1133856"/>
          </a:xfrm>
          <a:prstGeom prst="ellipse">
            <a:avLst/>
          </a:prstGeom>
          <a:solidFill>
            <a:srgbClr val="7FB9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913632" y="267919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modeling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 flipH="1" flipV="1">
            <a:off x="6684608" y="2619842"/>
            <a:ext cx="469920" cy="295378"/>
          </a:xfrm>
          <a:prstGeom prst="line">
            <a:avLst/>
          </a:prstGeom>
          <a:noFill/>
          <a:ln w="15875">
            <a:solidFill>
              <a:srgbClr val="5A70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14032" y="2679192"/>
            <a:ext cx="1133856" cy="1133856"/>
          </a:xfrm>
          <a:prstGeom prst="ellipse">
            <a:avLst/>
          </a:prstGeom>
          <a:solidFill>
            <a:srgbClr val="7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114032" y="267919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22392" y="1581912"/>
            <a:ext cx="1316736" cy="1316736"/>
          </a:xfrm>
          <a:prstGeom prst="ellipse">
            <a:avLst/>
          </a:prstGeom>
          <a:solidFill>
            <a:srgbClr val="F9C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422392" y="1581912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DBMS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Environment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environment consists of the components involved in managing data: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1554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231136" y="155448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231136" y="1554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22192" y="155448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822192" y="1554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13248" y="155448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13248" y="1554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04304" y="155448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004304" y="1554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6974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a framework where databases are created, stored, managed, and accessed efficiently.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data storage, retrieval, manipulation, and administration.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Three-Level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685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960120"/>
            <a:ext cx="4389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977640" y="1005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77640" y="1325880"/>
            <a:ext cx="868680" cy="365760"/>
          </a:xfrm>
          <a:prstGeom prst="rect">
            <a:avLst/>
          </a:prstGeom>
          <a:solidFill>
            <a:srgbClr val="D6E6F5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977640" y="1325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11980" y="1828800"/>
            <a:ext cx="1143000" cy="41148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047488" y="1005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47488" y="1325880"/>
            <a:ext cx="868680" cy="365760"/>
          </a:xfrm>
          <a:prstGeom prst="rect">
            <a:avLst/>
          </a:prstGeom>
          <a:solidFill>
            <a:srgbClr val="D6E6F5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047488" y="1325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1828" y="1828800"/>
            <a:ext cx="393192" cy="41148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117336" y="1005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17336" y="1325880"/>
            <a:ext cx="868680" cy="365760"/>
          </a:xfrm>
          <a:prstGeom prst="rect">
            <a:avLst/>
          </a:prstGeom>
          <a:solidFill>
            <a:srgbClr val="D6E6F5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117336" y="1325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H="1">
            <a:off x="6195060" y="1828800"/>
            <a:ext cx="356616" cy="41148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187184" y="1005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87184" y="1325880"/>
            <a:ext cx="868680" cy="365760"/>
          </a:xfrm>
          <a:prstGeom prst="rect">
            <a:avLst/>
          </a:prstGeom>
          <a:solidFill>
            <a:srgbClr val="D6E6F5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187184" y="1325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>
            <a:off x="6515100" y="1828800"/>
            <a:ext cx="1106424" cy="41148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20640" y="2240280"/>
            <a:ext cx="1828800" cy="457200"/>
          </a:xfrm>
          <a:prstGeom prst="rect">
            <a:avLst/>
          </a:prstGeom>
          <a:solidFill>
            <a:srgbClr val="D6E6F5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51206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2697480"/>
            <a:ext cx="914" cy="32004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20640" y="3017520"/>
            <a:ext cx="1828800" cy="457200"/>
          </a:xfrm>
          <a:prstGeom prst="rect">
            <a:avLst/>
          </a:prstGeom>
          <a:solidFill>
            <a:srgbClr val="D6E6F5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1206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35040" y="3474720"/>
            <a:ext cx="914" cy="18288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715000" y="3657600"/>
            <a:ext cx="6400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44652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Three-Level Architecture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ANSI/SPARC Architecture.</a:t>
            </a:r>
            <a:endParaRPr lang="en-US" sz="14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data abstraction in database management systems.</a:t>
            </a:r>
            <a:endParaRPr lang="en-US" sz="14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database architecture into three levels: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17520" y="210312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200400" y="2103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of the data for individual users or user groups.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 views possible.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2E6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17520" y="297180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200400" y="29718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structure of the entire database.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data is stored and the relationships.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017520" y="384048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200400" y="38404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of data.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actually stored on hardware.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DBMS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188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169164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3CB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96512" y="1810512"/>
            <a:ext cx="768096" cy="502920"/>
          </a:xfrm>
          <a:prstGeom prst="rect">
            <a:avLst/>
          </a:prstGeom>
          <a:solidFill>
            <a:srgbClr val="A8E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74904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server)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74920" y="2194560"/>
            <a:ext cx="502920" cy="914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23560" y="169164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2E6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60720" y="182880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16752" y="182880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182880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60720" y="210312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16752" y="210312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72784" y="210312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60720" y="237744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16752" y="237744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72784" y="237744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39496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2194560"/>
            <a:ext cx="502920" cy="914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60920" y="1691640"/>
            <a:ext cx="822960" cy="1005840"/>
          </a:xfrm>
          <a:prstGeom prst="can">
            <a:avLst/>
          </a:prstGeom>
          <a:solidFill>
            <a:srgbClr val="1F4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04088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DBMS Architecture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DBMS architecture defines how users interact with the database to read, write, or update information.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architecture and schema (a blueprint detailing tables, fields and relationships) ensure data consistency, improve performance and keep data secure.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37560" y="329184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35040" y="329184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03504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 DBMS Architecture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several types of DBMS architecture that we use according to the usage requirements.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55BFA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346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1-Tier Architecture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one machine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7560" y="178308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337560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55BFA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8346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2-Tier Architecture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talks directly to the database server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178308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035040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55BFA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8346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application server sits in between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Importance of Database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38176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32130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3213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097280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structured framework to manage data effectively.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86300" y="1097280"/>
            <a:ext cx="38176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23460" y="132130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23460" y="13213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097280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physical data storage from user views, enhancing usability and security.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2167128"/>
            <a:ext cx="38176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239115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23911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167128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Facilitates data abstraction and independence, reducing complexity for users.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686300" y="2167128"/>
            <a:ext cx="38176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3460" y="239115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23460" y="23911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2167128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consistency, integrity, and efficient data management across applications.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3236976"/>
            <a:ext cx="38176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3461004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34610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236976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database maintenance and evolution.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1-Tier Architecture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5156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1-Tier Architecture, the user works directly with the database on the same system.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the client, server and database are all in one application.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can open the application, interact with the data and perform tasks without needing a separate server or network connection.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94960" y="1371600"/>
            <a:ext cx="3108960" cy="2377440"/>
          </a:xfrm>
          <a:prstGeom prst="roundRect">
            <a:avLst>
              <a:gd name="adj" fmla="val 3846"/>
            </a:avLst>
          </a:prstGeom>
          <a:solidFill>
            <a:srgbClr val="E6F4E6"/>
          </a:solidFill>
          <a:ln w="19050">
            <a:solidFill>
              <a:srgbClr val="59B3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394960" y="1444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1965960"/>
            <a:ext cx="777240" cy="914400"/>
          </a:xfrm>
          <a:prstGeom prst="can">
            <a:avLst/>
          </a:prstGeom>
          <a:solidFill>
            <a:srgbClr val="2E8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78040" y="2011680"/>
            <a:ext cx="1051560" cy="7772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60920" y="2121408"/>
            <a:ext cx="365760" cy="457200"/>
          </a:xfrm>
          <a:prstGeom prst="rect">
            <a:avLst/>
          </a:prstGeom>
          <a:solidFill>
            <a:srgbClr val="1F6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46520" y="2423160"/>
            <a:ext cx="731520" cy="914"/>
          </a:xfrm>
          <a:prstGeom prst="line">
            <a:avLst/>
          </a:prstGeom>
          <a:noFill/>
          <a:ln w="15875">
            <a:solidFill>
              <a:srgbClr val="2E8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40680" y="29718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8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E8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8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1-Tier Architecture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7863840" cy="685800"/>
          </a:xfrm>
          <a:prstGeom prst="roundRect">
            <a:avLst>
              <a:gd name="adj" fmla="val 16000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0058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Excel. The user interface, the logic and the data storage all happen on the same device.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2024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enters data, performs calculations and saves files directly on their computer.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setup is simple and easy to use, making it ideal for personal or standalone applications.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require a network or complex setup, which is why it's often used in small-scale or individual use cases.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well for personal, standalone applications where no external server or network connection is needed.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Advantages of 1-Tier Architecture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93268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DDF2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932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1-Tier · Advantages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7863840" cy="963168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1463040"/>
            <a:ext cx="754380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Architecture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architecture to set up, as only a single machine is required to maintain 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627376"/>
            <a:ext cx="7863840" cy="963168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2627376"/>
            <a:ext cx="754380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hardware is required to implement it, which makes it cost-effective.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91712"/>
            <a:ext cx="7863840" cy="963168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3791712"/>
            <a:ext cx="754380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Implement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easily deployed, so it is mostly used in small projects.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2673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3837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Disadvantages of 1-Tier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93268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9E0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932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1-Tier · Disadvantages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38176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1463040"/>
            <a:ext cx="34975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Single User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person can use the application at a time. It's not designed for multiple users or teamwork.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86300" y="1463040"/>
            <a:ext cx="38176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869180" y="1463040"/>
            <a:ext cx="34975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Security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on the same machine, so anyone who gets access to the system can access both the data and the application easily.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07208"/>
            <a:ext cx="38176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2807208"/>
            <a:ext cx="34975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Control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locally, with no central database, making it hard to manage or back up data across devices.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86300" y="2807208"/>
            <a:ext cx="38176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869180" y="2807208"/>
            <a:ext cx="34975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Share Data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data between users is difficult because everything is stored on one computer.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04622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04622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2-Tier Architecture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5156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2-tier architecture is similar to a basic client-server model.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at the client end directly communicates with the database on the server side.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like ODBC and JDBC are used for this interaction.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side is responsible for providing query processing and transaction management functionalities.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Architecture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0" y="13716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DDEFD8"/>
          </a:solidFill>
          <a:ln w="12700">
            <a:solidFill>
              <a:srgbClr val="6E9E6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257800" y="1371600"/>
            <a:ext cx="1097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1508760"/>
            <a:ext cx="1463040" cy="329184"/>
          </a:xfrm>
          <a:prstGeom prst="rect">
            <a:avLst/>
          </a:prstGeom>
          <a:solidFill>
            <a:srgbClr val="1E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508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0" y="1837944"/>
            <a:ext cx="914" cy="265176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2011680" cy="329184"/>
          </a:xfrm>
          <a:prstGeom prst="rect">
            <a:avLst/>
          </a:prstGeom>
          <a:solidFill>
            <a:srgbClr val="1E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309360" y="2103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0" y="2432304"/>
            <a:ext cx="914" cy="722376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22376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315468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DDEFD8"/>
          </a:solidFill>
          <a:ln w="12700">
            <a:solidFill>
              <a:srgbClr val="6E9E6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257800" y="31546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09360" y="3355848"/>
            <a:ext cx="2011680" cy="329184"/>
          </a:xfrm>
          <a:prstGeom prst="rect">
            <a:avLst/>
          </a:prstGeom>
          <a:solidFill>
            <a:srgbClr val="1E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309360" y="33558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2-Tier Architecture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515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client side, the user interfaces and application programs are run.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on the client side establishes a connection with the server side to communicate with the DBMS.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863840" cy="640080"/>
          </a:xfrm>
          <a:prstGeom prst="roundRect">
            <a:avLst>
              <a:gd name="adj" fmla="val 17143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23317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Management System used in schools or small organizations is a classic two-tier architecture.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7863840" cy="1325880"/>
          </a:xfrm>
          <a:prstGeom prst="roundRect">
            <a:avLst>
              <a:gd name="adj" fmla="val 8276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3200400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 (Tier 1)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interface that library staff or users interact with — for example, a desktop application to search for books, issue them, or check due dates.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2-Tier Architecture (cont.)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09728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 (Tier 2)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server stores all the library records, such as book details, user information and transaction logs.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2194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(search for a book)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697480"/>
            <a:ext cx="2194560" cy="731520"/>
          </a:xfrm>
          <a:prstGeom prst="rect">
            <a:avLst/>
          </a:prstGeom>
          <a:solidFill>
            <a:srgbClr val="143F4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12648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(process the query)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63240" y="2926080"/>
            <a:ext cx="3017520" cy="914"/>
          </a:xfrm>
          <a:prstGeom prst="line">
            <a:avLst/>
          </a:prstGeom>
          <a:noFill/>
          <a:ln w="15875">
            <a:solidFill>
              <a:srgbClr val="55BF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H="1">
            <a:off x="3063240" y="3246120"/>
            <a:ext cx="3017520" cy="914"/>
          </a:xfrm>
          <a:prstGeom prst="line">
            <a:avLst/>
          </a:prstGeom>
          <a:noFill/>
          <a:ln w="15875">
            <a:solidFill>
              <a:srgbClr val="55BF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93192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separation allows the client to focus on the user interface, while the server handles data storage and retrieval.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Advantages of 2-Tier Architecture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93268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DDF2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932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2-Tier · Advantages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3817620" cy="963168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1463040"/>
            <a:ext cx="349758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Access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access to the database easy, which allows fast retrieval.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86300" y="1463040"/>
            <a:ext cx="3817620" cy="963168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869180" y="1463040"/>
            <a:ext cx="349758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can be scaled easily by adding clients or upgrading hardware.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627376"/>
            <a:ext cx="3817620" cy="963168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2627376"/>
            <a:ext cx="349758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3-Tier and Multi-Tier Architecture.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86300" y="2627376"/>
            <a:ext cx="3817620" cy="963168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869180" y="2627376"/>
            <a:ext cx="349758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Deployment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deploy than 3-Tier Architecture.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791712"/>
            <a:ext cx="3817620" cy="963168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22960" y="3791712"/>
            <a:ext cx="349758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understandable and simple, because there are only two components.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04622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046220" y="2673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673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046220" y="3837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Disadvantages of 2-Tier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93268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9E0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932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2-Tier · Disadvantages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38176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1463040"/>
            <a:ext cx="34975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Scalability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users increase, performance can slow down because the server gets overloaded with requests.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86300" y="1463040"/>
            <a:ext cx="38176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869180" y="1463040"/>
            <a:ext cx="34975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Issues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connect directly to the database, making the system more vulnerable to attacks or data leaks.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07208"/>
            <a:ext cx="38176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2807208"/>
            <a:ext cx="34975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server are closely linked; if the database changes, the client application often needs updating too.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86300" y="2807208"/>
            <a:ext cx="38176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869180" y="2807208"/>
            <a:ext cx="34975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Maintenance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Updates, bug fixes, and new features get harder as the number of users or systems increases.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04622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04622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3-Tier Architecture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5156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3-Tier Architecture, there is another layer between the client and the server.</a:t>
            </a:r>
            <a:endParaRPr lang="en-US" sz="15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does not directly communicate with the server. Instead, it interacts with an application server, which communicates with the database system, where query processing and transaction management take place.</a:t>
            </a:r>
            <a:endParaRPr lang="en-US" sz="15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intermediate layer acts as a medium for exchanging partially processed data between the server and the client.</a:t>
            </a:r>
            <a:endParaRPr lang="en-US" sz="15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type of architecture is used for large web applications.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3-Tier Architecture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1325880"/>
            <a:ext cx="6400800" cy="1325880"/>
          </a:xfrm>
          <a:prstGeom prst="roundRect">
            <a:avLst>
              <a:gd name="adj" fmla="val 6897"/>
            </a:avLst>
          </a:prstGeom>
          <a:solidFill>
            <a:srgbClr val="DDEFD8"/>
          </a:solidFill>
          <a:ln w="12700">
            <a:solidFill>
              <a:srgbClr val="6E9E6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508760" y="1325880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06240" y="1463040"/>
            <a:ext cx="1828800" cy="329184"/>
          </a:xfrm>
          <a:prstGeom prst="rect">
            <a:avLst/>
          </a:prstGeom>
          <a:solidFill>
            <a:srgbClr val="1E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206240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20640" y="1792224"/>
            <a:ext cx="914" cy="356616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31920" y="2148840"/>
            <a:ext cx="2377440" cy="329184"/>
          </a:xfrm>
          <a:prstGeom prst="rect">
            <a:avLst/>
          </a:prstGeom>
          <a:solidFill>
            <a:srgbClr val="1E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931920" y="2148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Client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20640" y="2478024"/>
            <a:ext cx="914" cy="630936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25780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108960"/>
            <a:ext cx="6400800" cy="1280160"/>
          </a:xfrm>
          <a:prstGeom prst="roundRect">
            <a:avLst>
              <a:gd name="adj" fmla="val 7143"/>
            </a:avLst>
          </a:prstGeom>
          <a:solidFill>
            <a:srgbClr val="DDEFD8"/>
          </a:solidFill>
          <a:ln w="12700">
            <a:solidFill>
              <a:srgbClr val="6E9E6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508760" y="310896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931920" y="3246120"/>
            <a:ext cx="2377440" cy="329184"/>
          </a:xfrm>
          <a:prstGeom prst="rect">
            <a:avLst/>
          </a:prstGeom>
          <a:solidFill>
            <a:srgbClr val="1E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931920" y="3246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20640" y="3575304"/>
            <a:ext cx="914" cy="310896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31920" y="3886200"/>
            <a:ext cx="2377440" cy="329184"/>
          </a:xfrm>
          <a:prstGeom prst="rect">
            <a:avLst/>
          </a:prstGeom>
          <a:solidFill>
            <a:srgbClr val="1E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931920" y="3886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3-Tier Architecture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E-commerce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11680"/>
            <a:ext cx="2011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User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visit an online store, search for a product and add it to your cart.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035808" y="2926080"/>
            <a:ext cx="329184" cy="914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56616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011680"/>
            <a:ext cx="2011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C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checks if the product is in stock, calculates the total price and applies any discounts.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779008" y="2926080"/>
            <a:ext cx="329184" cy="914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30936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011680"/>
            <a:ext cx="2011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details, your cart and order history are stored in the database for future reference.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Advantages of 3-Tier Architecture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93268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DDF2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932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· Advantages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7863840" cy="963168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1463040"/>
            <a:ext cx="754380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Scalability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servers are deployed in a distributed way, so individual connections between client and server are no longer needed.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627376"/>
            <a:ext cx="7863840" cy="963168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2627376"/>
            <a:ext cx="754380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layer between client and server helps avoid or remove data corruption.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91712"/>
            <a:ext cx="7863840" cy="963168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3791712"/>
            <a:ext cx="754380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direct interaction of the client with the server, reducing access to unauthorized data.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2673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3837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Disadvantages of 3-Tier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93268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9E0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932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· Disadvantages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38176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1463040"/>
            <a:ext cx="34975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than 2-Tier Architecture, and the communication points are doubled.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86300" y="1463040"/>
            <a:ext cx="38176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869180" y="1463040"/>
            <a:ext cx="34975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Interact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becomes difficult due to the presence of middle layers.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07208"/>
            <a:ext cx="38176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2807208"/>
            <a:ext cx="34975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Response Time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pass through an extra layer (application server), so responses may take longer than in 2-Tier systems.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86300" y="2807208"/>
            <a:ext cx="38176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869180" y="2807208"/>
            <a:ext cx="34975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layers need more hardware, software and skilled people, making it more expensive.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04622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04622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Independence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188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169164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3CB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96512" y="1810512"/>
            <a:ext cx="768096" cy="502920"/>
          </a:xfrm>
          <a:prstGeom prst="rect">
            <a:avLst/>
          </a:prstGeom>
          <a:solidFill>
            <a:srgbClr val="A8E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74904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server)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74920" y="2194560"/>
            <a:ext cx="502920" cy="914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23560" y="169164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2E6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60720" y="182880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16752" y="182880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182880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60720" y="210312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16752" y="210312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72784" y="210312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60720" y="237744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16752" y="237744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72784" y="2377440"/>
            <a:ext cx="201168" cy="201168"/>
          </a:xfrm>
          <a:prstGeom prst="rect">
            <a:avLst/>
          </a:prstGeom>
          <a:solidFill>
            <a:srgbClr val="7FD1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39496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2194560"/>
            <a:ext cx="502920" cy="914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60920" y="1691640"/>
            <a:ext cx="822960" cy="1005840"/>
          </a:xfrm>
          <a:prstGeom prst="can">
            <a:avLst/>
          </a:prstGeom>
          <a:solidFill>
            <a:srgbClr val="1F4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04088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Independence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0515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change the schema at one level without affecting other levels.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3794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" y="2971800"/>
            <a:ext cx="548640" cy="548640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56032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Independence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↔ External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709160" y="2560320"/>
            <a:ext cx="3794760" cy="1371600"/>
          </a:xfrm>
          <a:prstGeom prst="roundRect">
            <a:avLst>
              <a:gd name="adj" fmla="val 8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37760" y="2971800"/>
            <a:ext cx="548640" cy="54864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93776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56032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Independence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↔ Conceptual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Logical Data Independence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change the conceptual schema without affecting external schemas or application programs.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4754880" cy="1188720"/>
          </a:xfrm>
          <a:prstGeom prst="roundRect">
            <a:avLst>
              <a:gd name="adj" fmla="val 9231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2240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  <a:p>
            <a:pPr marL="0" indent="0">
              <a:buNone/>
            </a:pP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field or changing a relationship.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11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difficult to achieve than physical independence.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143F4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035040" y="1188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schema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1874520"/>
            <a:ext cx="914" cy="36576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224028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F28C28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03504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78040" y="2926080"/>
            <a:ext cx="914" cy="36576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329184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035040" y="3291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schema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29352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8778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unaffected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Physical Data Independence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change the internal schema without affecting the conceptual schema.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4754880" cy="1188720"/>
          </a:xfrm>
          <a:prstGeom prst="roundRect">
            <a:avLst>
              <a:gd name="adj" fmla="val 9231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2240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  <a:p>
            <a:pPr marL="0" indent="0">
              <a:buNone/>
            </a:pP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file organization or indexing techniques.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11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achieve in practice.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035040" y="1188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schema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1874520"/>
            <a:ext cx="914" cy="36576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224028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143F4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03504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78040" y="2926080"/>
            <a:ext cx="914" cy="36576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329184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F28C28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035040" y="3291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schema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986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1929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unaffected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Importance of Data Independence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46888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08760" y="1645920"/>
            <a:ext cx="731520" cy="73152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5087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maintenance costs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468880" cy="2560320"/>
          </a:xfrm>
          <a:prstGeom prst="roundRect">
            <a:avLst>
              <a:gd name="adj" fmla="val 4444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0" y="1645920"/>
            <a:ext cx="731520" cy="731520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2062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database flexibility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46888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03720" y="1645920"/>
            <a:ext cx="731520" cy="73152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9037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applications from database changes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Languages – Overview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used to interact with databases. Types: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1874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5BFA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DDL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169164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651760" y="1874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DML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663440" y="1874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5BFA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DCL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Language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169164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675120" y="1874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Query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Languages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Summary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817620" cy="1600200"/>
          </a:xfrm>
          <a:prstGeom prst="roundRect">
            <a:avLst>
              <a:gd name="adj" fmla="val 6857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64134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6413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051560"/>
            <a:ext cx="29946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Evolution of DBMS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development of database systems, from early file-based systems to the relational model introduced by E. F. Codd.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86300" y="1051560"/>
            <a:ext cx="38176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23460" y="164134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23460" y="16413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051560"/>
            <a:ext cx="29946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 Types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Hierarchical, Network, and Relational models: their structures and use cases.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852928"/>
            <a:ext cx="38176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344271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34427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852928"/>
            <a:ext cx="29946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 of DBMS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(e.g., data integrity, security) and limitations (e.g., complexity, cost).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86300" y="2852928"/>
            <a:ext cx="3817620" cy="1600200"/>
          </a:xfrm>
          <a:prstGeom prst="roundRect">
            <a:avLst>
              <a:gd name="adj" fmla="val 6857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3460" y="344271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23460" y="34427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2852928"/>
            <a:ext cx="29946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&amp; NoSQL DBMS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flexibility and scalability for modern applications with complex or unstructured data.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1920240"/>
            <a:ext cx="1645920" cy="1920240"/>
          </a:xfrm>
          <a:prstGeom prst="can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49040" y="118872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31920" y="150876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931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1280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Database Management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Jeffrey A. Hoffer, V. Ramesh, Heikki Topi</a:t>
            </a:r>
            <a:endParaRPr lang="en-US" sz="17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13th Edition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749040" y="256032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31920" y="288036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9319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6517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Database Management Systems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Mark L. Gillenson</a:t>
            </a:r>
            <a:endParaRPr lang="en-US" sz="17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Edition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1873</Words>
  <Application>Microsoft Office PowerPoint</Application>
  <PresentationFormat>On-screen Show (16:9)</PresentationFormat>
  <Paragraphs>422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- Lecture 04</dc:title>
  <dc:subject>PptxGenJS Presentation</dc:subject>
  <dc:creator>PptxGenJS</dc:creator>
  <cp:lastModifiedBy>FAHEEM SHAUKAT</cp:lastModifiedBy>
  <cp:revision>4</cp:revision>
  <dcterms:created xsi:type="dcterms:W3CDTF">2026-09-30T18:37:45Z</dcterms:created>
  <dcterms:modified xsi:type="dcterms:W3CDTF">2026-09-30T19:01:47Z</dcterms:modified>
</cp:coreProperties>
</file>