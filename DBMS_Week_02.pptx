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sldIdLst>
    <p:sldId id="256" r:id="rId2"/>
    <p:sldId id="258" r:id="rId3"/>
    <p:sldId id="27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80" r:id="rId23"/>
    <p:sldId id="259"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278" r:id="rId5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822"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97989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5669280" y="-1097280"/>
            <a:ext cx="2926080" cy="7772400"/>
          </a:xfrm>
          <a:prstGeom prst="roundRect">
            <a:avLst>
              <a:gd name="adj" fmla="val 50000"/>
            </a:avLst>
          </a:prstGeom>
          <a:solidFill>
            <a:srgbClr val="9ED8CE"/>
          </a:solidFill>
          <a:ln/>
        </p:spPr>
        <p:txBody>
          <a:bodyPr/>
          <a:lstStyle/>
          <a:p>
            <a:endParaRPr lang="en-US"/>
          </a:p>
        </p:txBody>
      </p:sp>
      <p:sp>
        <p:nvSpPr>
          <p:cNvPr id="3" name="Shape 1"/>
          <p:cNvSpPr/>
          <p:nvPr/>
        </p:nvSpPr>
        <p:spPr>
          <a:xfrm rot="1500000">
            <a:off x="5669280" y="1645920"/>
            <a:ext cx="685800" cy="2011680"/>
          </a:xfrm>
          <a:prstGeom prst="roundRect">
            <a:avLst>
              <a:gd name="adj" fmla="val 49333"/>
            </a:avLst>
          </a:prstGeom>
          <a:solidFill>
            <a:srgbClr val="231F20"/>
          </a:solidFill>
          <a:ln/>
        </p:spPr>
        <p:txBody>
          <a:bodyPr/>
          <a:lstStyle/>
          <a:p>
            <a:endParaRPr lang="en-US"/>
          </a:p>
        </p:txBody>
      </p:sp>
      <p:sp>
        <p:nvSpPr>
          <p:cNvPr id="4" name="Shape 2"/>
          <p:cNvSpPr/>
          <p:nvPr/>
        </p:nvSpPr>
        <p:spPr>
          <a:xfrm rot="1500000">
            <a:off x="6400800" y="1645920"/>
            <a:ext cx="685800" cy="2011680"/>
          </a:xfrm>
          <a:prstGeom prst="roundRect">
            <a:avLst>
              <a:gd name="adj" fmla="val 49333"/>
            </a:avLst>
          </a:prstGeom>
          <a:solidFill>
            <a:srgbClr val="55BFAE"/>
          </a:solidFill>
          <a:ln/>
        </p:spPr>
        <p:txBody>
          <a:bodyPr/>
          <a:lstStyle/>
          <a:p>
            <a:endParaRPr lang="en-US"/>
          </a:p>
        </p:txBody>
      </p:sp>
      <p:sp>
        <p:nvSpPr>
          <p:cNvPr id="5" name="Shape 3"/>
          <p:cNvSpPr/>
          <p:nvPr/>
        </p:nvSpPr>
        <p:spPr>
          <a:xfrm>
            <a:off x="6995160" y="2468880"/>
            <a:ext cx="685800" cy="685800"/>
          </a:xfrm>
          <a:prstGeom prst="ellipse">
            <a:avLst/>
          </a:prstGeom>
          <a:solidFill>
            <a:srgbClr val="143F4F"/>
          </a:solidFill>
          <a:ln/>
        </p:spPr>
        <p:txBody>
          <a:bodyPr/>
          <a:lstStyle/>
          <a:p>
            <a:endParaRPr lang="en-US"/>
          </a:p>
        </p:txBody>
      </p:sp>
      <p:sp>
        <p:nvSpPr>
          <p:cNvPr id="7" name="Text 4"/>
          <p:cNvSpPr txBox="1"/>
          <p:nvPr/>
        </p:nvSpPr>
        <p:spPr>
          <a:xfrm>
            <a:off x="411480" y="1005840"/>
            <a:ext cx="2743200" cy="320040"/>
          </a:xfrm>
          <a:prstGeom prst="rect">
            <a:avLst/>
          </a:prstGeom>
          <a:noFill/>
          <a:ln/>
        </p:spPr>
        <p:txBody>
          <a:bodyPr wrap="square" lIns="0" tIns="0" rIns="0" bIns="0" rtlCol="0" anchor="ctr"/>
          <a:lstStyle/>
          <a:p>
            <a:pPr marL="0" indent="0">
              <a:buNone/>
            </a:pPr>
            <a:r>
              <a:rPr lang="en-US" sz="1600" b="1" i="1" dirty="0">
                <a:solidFill>
                  <a:srgbClr val="143F4F"/>
                </a:solidFill>
                <a:latin typeface="Calibri" pitchFamily="34" charset="0"/>
                <a:ea typeface="Calibri" pitchFamily="34" charset="-122"/>
                <a:cs typeface="Calibri" pitchFamily="34" charset="-120"/>
              </a:rPr>
              <a:t>Fall-2026</a:t>
            </a:r>
            <a:endParaRPr lang="en-US" sz="1600" dirty="0"/>
          </a:p>
        </p:txBody>
      </p:sp>
      <p:sp>
        <p:nvSpPr>
          <p:cNvPr id="8" name="Text 5"/>
          <p:cNvSpPr txBox="1"/>
          <p:nvPr/>
        </p:nvSpPr>
        <p:spPr>
          <a:xfrm>
            <a:off x="411480" y="1325880"/>
            <a:ext cx="4572000" cy="1783080"/>
          </a:xfrm>
          <a:prstGeom prst="rect">
            <a:avLst/>
          </a:prstGeom>
          <a:noFill/>
          <a:ln/>
        </p:spPr>
        <p:txBody>
          <a:bodyPr wrap="square" lIns="0" tIns="0" rIns="0" bIns="0" rtlCol="0" anchor="t"/>
          <a:lstStyle/>
          <a:p>
            <a:pPr marL="0" indent="0">
              <a:lnSpc>
                <a:spcPct val="95000"/>
              </a:lnSpc>
              <a:buNone/>
            </a:pPr>
            <a:r>
              <a:rPr lang="en-US" sz="4000" b="1" dirty="0">
                <a:solidFill>
                  <a:srgbClr val="143F4F"/>
                </a:solidFill>
                <a:latin typeface="Calibri" pitchFamily="34" charset="0"/>
                <a:ea typeface="Calibri" pitchFamily="34" charset="-122"/>
                <a:cs typeface="Calibri" pitchFamily="34" charset="-120"/>
              </a:rPr>
              <a:t>Database</a:t>
            </a:r>
            <a:endParaRPr lang="en-US" sz="4000" dirty="0"/>
          </a:p>
          <a:p>
            <a:pPr marL="0" indent="0">
              <a:lnSpc>
                <a:spcPct val="95000"/>
              </a:lnSpc>
              <a:buNone/>
            </a:pPr>
            <a:r>
              <a:rPr lang="en-US" sz="4000" b="1">
                <a:solidFill>
                  <a:srgbClr val="143F4F"/>
                </a:solidFill>
                <a:latin typeface="Calibri" pitchFamily="34" charset="0"/>
                <a:ea typeface="Calibri" pitchFamily="34" charset="-122"/>
                <a:cs typeface="Calibri" pitchFamily="34" charset="-120"/>
              </a:rPr>
              <a:t>Systems</a:t>
            </a:r>
            <a:endParaRPr lang="en-US" sz="4000" dirty="0"/>
          </a:p>
        </p:txBody>
      </p:sp>
      <p:sp>
        <p:nvSpPr>
          <p:cNvPr id="9" name="Text 6"/>
          <p:cNvSpPr txBox="1"/>
          <p:nvPr/>
        </p:nvSpPr>
        <p:spPr>
          <a:xfrm>
            <a:off x="411480" y="3127248"/>
            <a:ext cx="4754880" cy="320040"/>
          </a:xfrm>
          <a:prstGeom prst="rect">
            <a:avLst/>
          </a:prstGeom>
          <a:noFill/>
          <a:ln/>
        </p:spPr>
        <p:txBody>
          <a:bodyPr wrap="square" lIns="0" tIns="0" rIns="0" bIns="0" rtlCol="0" anchor="ctr"/>
          <a:lstStyle/>
          <a:p>
            <a:pPr marL="0" indent="0">
              <a:buNone/>
            </a:pPr>
            <a:r>
              <a:rPr lang="en-US" sz="1400" b="1" i="1" dirty="0">
                <a:solidFill>
                  <a:srgbClr val="55BFAE"/>
                </a:solidFill>
                <a:latin typeface="Calibri" pitchFamily="34" charset="0"/>
                <a:ea typeface="Calibri" pitchFamily="34" charset="-122"/>
                <a:cs typeface="Calibri" pitchFamily="34" charset="-120"/>
              </a:rPr>
              <a:t>Turning Raw Data into Meaningful Information</a:t>
            </a:r>
            <a:endParaRPr lang="en-US" sz="1400" dirty="0"/>
          </a:p>
        </p:txBody>
      </p:sp>
      <p:sp>
        <p:nvSpPr>
          <p:cNvPr id="11" name="Text 8"/>
          <p:cNvSpPr txBox="1"/>
          <p:nvPr/>
        </p:nvSpPr>
        <p:spPr>
          <a:xfrm>
            <a:off x="6309360" y="3657600"/>
            <a:ext cx="2011680" cy="822960"/>
          </a:xfrm>
          <a:prstGeom prst="rect">
            <a:avLst/>
          </a:prstGeom>
          <a:noFill/>
          <a:ln/>
        </p:spPr>
        <p:txBody>
          <a:bodyPr wrap="square" lIns="0" tIns="0" rIns="0" bIns="0" rtlCol="0" anchor="ctr"/>
          <a:lstStyle/>
          <a:p>
            <a:pPr marL="0" indent="0" algn="ctr">
              <a:buNone/>
            </a:pPr>
            <a:r>
              <a:rPr lang="en-US" sz="2000" b="1" dirty="0">
                <a:solidFill>
                  <a:srgbClr val="143F4F"/>
                </a:solidFill>
                <a:latin typeface="Calibri" pitchFamily="34" charset="0"/>
                <a:ea typeface="Calibri" pitchFamily="34" charset="-122"/>
                <a:cs typeface="Calibri" pitchFamily="34" charset="-120"/>
              </a:rPr>
              <a:t>Week 02</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Overview</a:t>
            </a:r>
            <a:endParaRPr lang="en-US" sz="3000" dirty="0"/>
          </a:p>
        </p:txBody>
      </p:sp>
      <p:sp>
        <p:nvSpPr>
          <p:cNvPr id="7" name="Text 5"/>
          <p:cNvSpPr txBox="1"/>
          <p:nvPr/>
        </p:nvSpPr>
        <p:spPr>
          <a:xfrm>
            <a:off x="640080" y="1005840"/>
            <a:ext cx="7315200" cy="36576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Topics Covered</a:t>
            </a:r>
            <a:endParaRPr lang="en-US" sz="1800" dirty="0"/>
          </a:p>
        </p:txBody>
      </p:sp>
      <p:sp>
        <p:nvSpPr>
          <p:cNvPr id="8" name="Shape 6"/>
          <p:cNvSpPr/>
          <p:nvPr/>
        </p:nvSpPr>
        <p:spPr>
          <a:xfrm>
            <a:off x="640080" y="1600200"/>
            <a:ext cx="3611880" cy="960120"/>
          </a:xfrm>
          <a:prstGeom prst="roundRect">
            <a:avLst>
              <a:gd name="adj" fmla="val 1142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822960" y="1828800"/>
            <a:ext cx="502920" cy="502920"/>
          </a:xfrm>
          <a:prstGeom prst="ellipse">
            <a:avLst/>
          </a:prstGeom>
          <a:solidFill>
            <a:srgbClr val="143F4F"/>
          </a:solidFill>
          <a:ln/>
        </p:spPr>
        <p:txBody>
          <a:bodyPr/>
          <a:lstStyle/>
          <a:p>
            <a:endParaRPr lang="en-US"/>
          </a:p>
        </p:txBody>
      </p:sp>
      <p:sp>
        <p:nvSpPr>
          <p:cNvPr id="10" name="Text 8"/>
          <p:cNvSpPr txBox="1"/>
          <p:nvPr/>
        </p:nvSpPr>
        <p:spPr>
          <a:xfrm>
            <a:off x="822960" y="18288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508760" y="1600200"/>
            <a:ext cx="2651760" cy="96012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Database Management System and Its Applications</a:t>
            </a:r>
            <a:endParaRPr lang="en-US" sz="1500" dirty="0"/>
          </a:p>
        </p:txBody>
      </p:sp>
      <p:sp>
        <p:nvSpPr>
          <p:cNvPr id="12" name="Shape 10"/>
          <p:cNvSpPr/>
          <p:nvPr/>
        </p:nvSpPr>
        <p:spPr>
          <a:xfrm>
            <a:off x="4480560" y="1600200"/>
            <a:ext cx="3611880" cy="960120"/>
          </a:xfrm>
          <a:prstGeom prst="roundRect">
            <a:avLst>
              <a:gd name="adj" fmla="val 1142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663440" y="1828800"/>
            <a:ext cx="502920" cy="502920"/>
          </a:xfrm>
          <a:prstGeom prst="ellipse">
            <a:avLst/>
          </a:prstGeom>
          <a:solidFill>
            <a:srgbClr val="143F4F"/>
          </a:solidFill>
          <a:ln/>
        </p:spPr>
        <p:txBody>
          <a:bodyPr/>
          <a:lstStyle/>
          <a:p>
            <a:endParaRPr lang="en-US"/>
          </a:p>
        </p:txBody>
      </p:sp>
      <p:sp>
        <p:nvSpPr>
          <p:cNvPr id="14" name="Text 12"/>
          <p:cNvSpPr txBox="1"/>
          <p:nvPr/>
        </p:nvSpPr>
        <p:spPr>
          <a:xfrm>
            <a:off x="4663440" y="182880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5349240" y="1600200"/>
            <a:ext cx="2651760" cy="96012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Purpose of Database Systems</a:t>
            </a:r>
            <a:endParaRPr lang="en-US" sz="1500" dirty="0"/>
          </a:p>
        </p:txBody>
      </p:sp>
      <p:sp>
        <p:nvSpPr>
          <p:cNvPr id="16" name="Shape 14"/>
          <p:cNvSpPr/>
          <p:nvPr/>
        </p:nvSpPr>
        <p:spPr>
          <a:xfrm>
            <a:off x="640080" y="2834640"/>
            <a:ext cx="3611880" cy="960120"/>
          </a:xfrm>
          <a:prstGeom prst="roundRect">
            <a:avLst>
              <a:gd name="adj" fmla="val 1142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822960" y="3063240"/>
            <a:ext cx="502920" cy="502920"/>
          </a:xfrm>
          <a:prstGeom prst="ellipse">
            <a:avLst/>
          </a:prstGeom>
          <a:solidFill>
            <a:srgbClr val="143F4F"/>
          </a:solidFill>
          <a:ln/>
        </p:spPr>
        <p:txBody>
          <a:bodyPr/>
          <a:lstStyle/>
          <a:p>
            <a:endParaRPr lang="en-US"/>
          </a:p>
        </p:txBody>
      </p:sp>
      <p:sp>
        <p:nvSpPr>
          <p:cNvPr id="18" name="Text 16"/>
          <p:cNvSpPr txBox="1"/>
          <p:nvPr/>
        </p:nvSpPr>
        <p:spPr>
          <a:xfrm>
            <a:off x="822960" y="30632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508760" y="2834640"/>
            <a:ext cx="2651760" cy="96012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File Oriented Approach</a:t>
            </a:r>
            <a:endParaRPr lang="en-US" sz="1500" dirty="0"/>
          </a:p>
        </p:txBody>
      </p:sp>
      <p:sp>
        <p:nvSpPr>
          <p:cNvPr id="20" name="Shape 18"/>
          <p:cNvSpPr/>
          <p:nvPr/>
        </p:nvSpPr>
        <p:spPr>
          <a:xfrm>
            <a:off x="4480560" y="2834640"/>
            <a:ext cx="3611880" cy="960120"/>
          </a:xfrm>
          <a:prstGeom prst="roundRect">
            <a:avLst>
              <a:gd name="adj" fmla="val 1142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9"/>
          <p:cNvSpPr/>
          <p:nvPr/>
        </p:nvSpPr>
        <p:spPr>
          <a:xfrm>
            <a:off x="4663440" y="3063240"/>
            <a:ext cx="502920" cy="502920"/>
          </a:xfrm>
          <a:prstGeom prst="ellipse">
            <a:avLst/>
          </a:prstGeom>
          <a:solidFill>
            <a:srgbClr val="143F4F"/>
          </a:solidFill>
          <a:ln/>
        </p:spPr>
        <p:txBody>
          <a:bodyPr/>
          <a:lstStyle/>
          <a:p>
            <a:endParaRPr lang="en-US"/>
          </a:p>
        </p:txBody>
      </p:sp>
      <p:sp>
        <p:nvSpPr>
          <p:cNvPr id="22" name="Text 20"/>
          <p:cNvSpPr txBox="1"/>
          <p:nvPr/>
        </p:nvSpPr>
        <p:spPr>
          <a:xfrm>
            <a:off x="4663440" y="306324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349240" y="2834640"/>
            <a:ext cx="2651760" cy="96012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Disadvantages of File Oriented System</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Learning Outcome</a:t>
            </a:r>
            <a:endParaRPr lang="en-US" sz="3000" dirty="0"/>
          </a:p>
        </p:txBody>
      </p:sp>
      <p:graphicFrame>
        <p:nvGraphicFramePr>
          <p:cNvPr id="7" name="Table 0"/>
          <p:cNvGraphicFramePr>
            <a:graphicFrameLocks noGrp="1"/>
          </p:cNvGraphicFramePr>
          <p:nvPr/>
        </p:nvGraphicFramePr>
        <p:xfrm>
          <a:off x="640080" y="1143000"/>
          <a:ext cx="7680960" cy="2326640"/>
        </p:xfrm>
        <a:graphic>
          <a:graphicData uri="http://schemas.openxmlformats.org/drawingml/2006/table">
            <a:tbl>
              <a:tblPr/>
              <a:tblGrid>
                <a:gridCol w="9144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0">
                <a:tc>
                  <a:txBody>
                    <a:bodyPr/>
                    <a:lstStyle/>
                    <a:p>
                      <a:pPr marL="0" indent="0" algn="ctr">
                        <a:buNone/>
                      </a:pPr>
                      <a:r>
                        <a:rPr lang="en-US" sz="1450" b="1" dirty="0">
                          <a:solidFill>
                            <a:srgbClr val="FFFFFF"/>
                          </a:solidFill>
                          <a:latin typeface="Calibri" pitchFamily="34" charset="0"/>
                          <a:ea typeface="Calibri" pitchFamily="34" charset="-122"/>
                          <a:cs typeface="Calibri" pitchFamily="34" charset="-120"/>
                        </a:rPr>
                        <a:t>Week</a:t>
                      </a:r>
                      <a:endParaRPr lang="en-US" sz="1450" dirty="0">
                        <a:latin typeface="Calibri" charset="0"/>
                        <a:ea typeface="Calibri" charset="0"/>
                        <a:cs typeface="Calibri" charset="0"/>
                      </a:endParaRPr>
                    </a:p>
                  </a:txBody>
                  <a:tcPr marL="1270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lgn="ctr">
                        <a:buNone/>
                      </a:pPr>
                      <a:r>
                        <a:rPr lang="en-US" sz="1450" b="1" dirty="0">
                          <a:solidFill>
                            <a:srgbClr val="FFFFFF"/>
                          </a:solidFill>
                          <a:latin typeface="Calibri" pitchFamily="34" charset="0"/>
                          <a:ea typeface="Calibri" pitchFamily="34" charset="-122"/>
                          <a:cs typeface="Calibri" pitchFamily="34" charset="-120"/>
                        </a:rPr>
                        <a:t>Lecture Topic</a:t>
                      </a:r>
                      <a:endParaRPr lang="en-US" sz="1450" dirty="0">
                        <a:latin typeface="Calibri" charset="0"/>
                        <a:ea typeface="Calibri" charset="0"/>
                        <a:cs typeface="Calibri" charset="0"/>
                      </a:endParaRPr>
                    </a:p>
                  </a:txBody>
                  <a:tcPr marL="1270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lgn="ctr">
                        <a:buNone/>
                      </a:pPr>
                      <a:r>
                        <a:rPr lang="en-US" sz="1450" b="1" dirty="0">
                          <a:solidFill>
                            <a:srgbClr val="FFFFFF"/>
                          </a:solidFill>
                          <a:latin typeface="Calibri" pitchFamily="34" charset="0"/>
                          <a:ea typeface="Calibri" pitchFamily="34" charset="-122"/>
                          <a:cs typeface="Calibri" pitchFamily="34" charset="-120"/>
                        </a:rPr>
                        <a:t>Intended Learning Outcome</a:t>
                      </a:r>
                      <a:endParaRPr lang="en-US" sz="1450" dirty="0">
                        <a:latin typeface="Calibri" charset="0"/>
                        <a:ea typeface="Calibri" charset="0"/>
                        <a:cs typeface="Calibri" charset="0"/>
                      </a:endParaRPr>
                    </a:p>
                  </a:txBody>
                  <a:tcPr marL="1270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0">
                <a:tc>
                  <a:txBody>
                    <a:bodyPr/>
                    <a:lstStyle/>
                    <a:p>
                      <a:pPr marL="0" indent="0" algn="ctr">
                        <a:buNone/>
                      </a:pPr>
                      <a:r>
                        <a:rPr lang="en-US" sz="1450" dirty="0">
                          <a:solidFill>
                            <a:srgbClr val="1F3B47"/>
                          </a:solidFill>
                          <a:latin typeface="Calibri" pitchFamily="34" charset="0"/>
                          <a:ea typeface="Calibri" pitchFamily="34" charset="-122"/>
                          <a:cs typeface="Calibri" pitchFamily="34" charset="-120"/>
                        </a:rPr>
                        <a:t>02</a:t>
                      </a:r>
                      <a:endParaRPr lang="en-US" sz="1450" dirty="0">
                        <a:latin typeface="Calibri" charset="0"/>
                        <a:ea typeface="Calibri" charset="0"/>
                        <a:cs typeface="Calibri" charset="0"/>
                      </a:endParaRPr>
                    </a:p>
                  </a:txBody>
                  <a:tcPr marL="1270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50" dirty="0">
                          <a:solidFill>
                            <a:srgbClr val="1F3B47"/>
                          </a:solidFill>
                          <a:latin typeface="Calibri" pitchFamily="34" charset="0"/>
                          <a:ea typeface="Calibri" pitchFamily="34" charset="-122"/>
                          <a:cs typeface="Calibri" pitchFamily="34" charset="-120"/>
                        </a:rPr>
                        <a:t>History and Evolution of Database Systems</a:t>
                      </a:r>
                      <a:endParaRPr lang="en-US" sz="1450" dirty="0">
                        <a:latin typeface="Calibri" charset="0"/>
                        <a:ea typeface="Calibri" charset="0"/>
                        <a:cs typeface="Calibri" charset="0"/>
                      </a:endParaRPr>
                    </a:p>
                  </a:txBody>
                  <a:tcPr marL="1270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spcAft>
                          <a:spcPts val="600"/>
                        </a:spcAft>
                        <a:buNone/>
                      </a:pPr>
                      <a:r>
                        <a:rPr lang="en-US" sz="1450" dirty="0">
                          <a:solidFill>
                            <a:srgbClr val="1F3B47"/>
                          </a:solidFill>
                          <a:latin typeface="Calibri" pitchFamily="34" charset="0"/>
                          <a:ea typeface="Calibri" pitchFamily="34" charset="-122"/>
                          <a:cs typeface="Calibri" pitchFamily="34" charset="-120"/>
                        </a:rPr>
                        <a:t>Understand the </a:t>
                      </a:r>
                      <a:r>
                        <a:rPr lang="en-US" sz="1450" b="1" dirty="0">
                          <a:solidFill>
                            <a:srgbClr val="1F3B47"/>
                          </a:solidFill>
                          <a:latin typeface="Calibri" pitchFamily="34" charset="0"/>
                          <a:ea typeface="Calibri" pitchFamily="34" charset="-122"/>
                          <a:cs typeface="Calibri" pitchFamily="34" charset="-120"/>
                        </a:rPr>
                        <a:t>history and evolution</a:t>
                      </a:r>
                      <a:r>
                        <a:rPr lang="en-US" sz="1450" dirty="0">
                          <a:solidFill>
                            <a:srgbClr val="1F3B47"/>
                          </a:solidFill>
                          <a:latin typeface="Calibri" pitchFamily="34" charset="0"/>
                          <a:ea typeface="Calibri" pitchFamily="34" charset="-122"/>
                          <a:cs typeface="Calibri" pitchFamily="34" charset="-120"/>
                        </a:rPr>
                        <a:t> of database systems.</a:t>
                      </a:r>
                      <a:endParaRPr lang="en-US" sz="1450" dirty="0">
                        <a:latin typeface="Calibri" charset="0"/>
                        <a:ea typeface="Calibri" charset="0"/>
                        <a:cs typeface="Calibri" charset="0"/>
                      </a:endParaRPr>
                    </a:p>
                    <a:p>
                      <a:pPr marL="0" indent="0">
                        <a:spcAft>
                          <a:spcPts val="600"/>
                        </a:spcAft>
                        <a:buNone/>
                      </a:pPr>
                      <a:r>
                        <a:rPr lang="en-US" sz="1450" dirty="0">
                          <a:solidFill>
                            <a:srgbClr val="1F3B47"/>
                          </a:solidFill>
                          <a:latin typeface="Calibri" pitchFamily="34" charset="0"/>
                          <a:ea typeface="Calibri" pitchFamily="34" charset="-122"/>
                          <a:cs typeface="Calibri" pitchFamily="34" charset="-120"/>
                        </a:rPr>
                        <a:t>Describe the features of </a:t>
                      </a:r>
                      <a:r>
                        <a:rPr lang="en-US" sz="1450" b="1" dirty="0">
                          <a:solidFill>
                            <a:srgbClr val="1F3B47"/>
                          </a:solidFill>
                          <a:latin typeface="Calibri" pitchFamily="34" charset="0"/>
                          <a:ea typeface="Calibri" pitchFamily="34" charset="-122"/>
                          <a:cs typeface="Calibri" pitchFamily="34" charset="-120"/>
                        </a:rPr>
                        <a:t>File Management, Hierarchical, Network, and Relational</a:t>
                      </a:r>
                      <a:r>
                        <a:rPr lang="en-US" sz="1450" dirty="0">
                          <a:solidFill>
                            <a:srgbClr val="1F3B47"/>
                          </a:solidFill>
                          <a:latin typeface="Calibri" pitchFamily="34" charset="0"/>
                          <a:ea typeface="Calibri" pitchFamily="34" charset="-122"/>
                          <a:cs typeface="Calibri" pitchFamily="34" charset="-120"/>
                        </a:rPr>
                        <a:t> database systems.</a:t>
                      </a:r>
                      <a:endParaRPr lang="en-US" sz="1450" dirty="0">
                        <a:latin typeface="Calibri" charset="0"/>
                        <a:ea typeface="Calibri" charset="0"/>
                        <a:cs typeface="Calibri" charset="0"/>
                      </a:endParaRPr>
                    </a:p>
                    <a:p>
                      <a:pPr marL="0" indent="0">
                        <a:spcAft>
                          <a:spcPts val="600"/>
                        </a:spcAft>
                        <a:buNone/>
                      </a:pPr>
                      <a:r>
                        <a:rPr lang="en-US" sz="1450" dirty="0">
                          <a:solidFill>
                            <a:srgbClr val="1F3B47"/>
                          </a:solidFill>
                          <a:latin typeface="Calibri" pitchFamily="34" charset="0"/>
                          <a:ea typeface="Calibri" pitchFamily="34" charset="-122"/>
                          <a:cs typeface="Calibri" pitchFamily="34" charset="-120"/>
                        </a:rPr>
                        <a:t>Identify the </a:t>
                      </a:r>
                      <a:r>
                        <a:rPr lang="en-US" sz="1450" b="1" dirty="0">
                          <a:solidFill>
                            <a:srgbClr val="1F3B47"/>
                          </a:solidFill>
                          <a:latin typeface="Calibri" pitchFamily="34" charset="0"/>
                          <a:ea typeface="Calibri" pitchFamily="34" charset="-122"/>
                          <a:cs typeface="Calibri" pitchFamily="34" charset="-120"/>
                        </a:rPr>
                        <a:t>advantages and disadvantages</a:t>
                      </a:r>
                      <a:r>
                        <a:rPr lang="en-US" sz="1450" dirty="0">
                          <a:solidFill>
                            <a:srgbClr val="1F3B47"/>
                          </a:solidFill>
                          <a:latin typeface="Calibri" pitchFamily="34" charset="0"/>
                          <a:ea typeface="Calibri" pitchFamily="34" charset="-122"/>
                          <a:cs typeface="Calibri" pitchFamily="34" charset="-120"/>
                        </a:rPr>
                        <a:t> of Database Management Systems (DBMS).</a:t>
                      </a:r>
                      <a:endParaRPr lang="en-US" sz="1450" dirty="0">
                        <a:latin typeface="Calibri" charset="0"/>
                        <a:ea typeface="Calibri" charset="0"/>
                        <a:cs typeface="Calibri" charset="0"/>
                      </a:endParaRPr>
                    </a:p>
                  </a:txBody>
                  <a:tcPr marL="127000" marR="127000" marT="101600" marB="1016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What is Management System?</a:t>
            </a:r>
            <a:endParaRPr lang="en-US" sz="3000" dirty="0"/>
          </a:p>
        </p:txBody>
      </p:sp>
      <p:sp>
        <p:nvSpPr>
          <p:cNvPr id="7" name="Text 5"/>
          <p:cNvSpPr txBox="1"/>
          <p:nvPr/>
        </p:nvSpPr>
        <p:spPr>
          <a:xfrm>
            <a:off x="640080" y="1097280"/>
            <a:ext cx="7863840" cy="356616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A database-management system (DBMS) is a collection of interrelated data and a set of programs to access those data.</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This is a collection of related data with an implicit meaning and hence is a database. The collection of data, usually referred to as the database, contains information relevant to an enterprise.</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The primary goal of a DBMS is to provide a way to store and retrieve database information that is both convenient and efficient.</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By data, we mean known facts that can be recorded and that have implicit meaning.</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Database Management System</a:t>
            </a:r>
            <a:endParaRPr lang="en-US" sz="3000" dirty="0"/>
          </a:p>
        </p:txBody>
      </p:sp>
      <p:sp>
        <p:nvSpPr>
          <p:cNvPr id="7" name="Text 5"/>
          <p:cNvSpPr txBox="1"/>
          <p:nvPr/>
        </p:nvSpPr>
        <p:spPr>
          <a:xfrm>
            <a:off x="640080" y="1051560"/>
            <a:ext cx="7863840" cy="457200"/>
          </a:xfrm>
          <a:prstGeom prst="rect">
            <a:avLst/>
          </a:prstGeom>
          <a:noFill/>
          <a:ln/>
        </p:spPr>
        <p:txBody>
          <a:bodyPr wrap="square" lIns="0" tIns="0" rIns="0" bIns="0" rtlCol="0" anchor="ctr"/>
          <a:lstStyle/>
          <a:p>
            <a:pPr marL="0" indent="0">
              <a:buNone/>
            </a:pPr>
            <a:r>
              <a:rPr lang="en-US" sz="1700" dirty="0">
                <a:solidFill>
                  <a:srgbClr val="1F3B47"/>
                </a:solidFill>
                <a:latin typeface="Calibri" pitchFamily="34" charset="0"/>
                <a:ea typeface="Calibri" pitchFamily="34" charset="-122"/>
                <a:cs typeface="Calibri" pitchFamily="34" charset="-120"/>
              </a:rPr>
              <a:t>Database systems are designed to manage large bodies of information.</a:t>
            </a:r>
            <a:endParaRPr lang="en-US" sz="1700" dirty="0"/>
          </a:p>
        </p:txBody>
      </p:sp>
      <p:sp>
        <p:nvSpPr>
          <p:cNvPr id="8" name="Text 6"/>
          <p:cNvSpPr txBox="1"/>
          <p:nvPr/>
        </p:nvSpPr>
        <p:spPr>
          <a:xfrm>
            <a:off x="640080" y="1691640"/>
            <a:ext cx="7863840" cy="36576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Management of data involves both:</a:t>
            </a:r>
            <a:endParaRPr lang="en-US" sz="1500" dirty="0"/>
          </a:p>
        </p:txBody>
      </p:sp>
      <p:sp>
        <p:nvSpPr>
          <p:cNvPr id="9" name="Shape 7"/>
          <p:cNvSpPr/>
          <p:nvPr/>
        </p:nvSpPr>
        <p:spPr>
          <a:xfrm>
            <a:off x="640080" y="2240280"/>
            <a:ext cx="3749040" cy="1737360"/>
          </a:xfrm>
          <a:prstGeom prst="roundRect">
            <a:avLst>
              <a:gd name="adj" fmla="val 631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868680" y="2423160"/>
            <a:ext cx="548640" cy="548640"/>
          </a:xfrm>
          <a:prstGeom prst="ellipse">
            <a:avLst/>
          </a:prstGeom>
          <a:solidFill>
            <a:srgbClr val="55BFAE"/>
          </a:solidFill>
          <a:ln/>
        </p:spPr>
        <p:txBody>
          <a:bodyPr/>
          <a:lstStyle/>
          <a:p>
            <a:endParaRPr lang="en-US"/>
          </a:p>
        </p:txBody>
      </p:sp>
      <p:sp>
        <p:nvSpPr>
          <p:cNvPr id="11" name="Text 9"/>
          <p:cNvSpPr txBox="1"/>
          <p:nvPr/>
        </p:nvSpPr>
        <p:spPr>
          <a:xfrm>
            <a:off x="868680" y="24231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868680" y="3063240"/>
            <a:ext cx="3291840" cy="822960"/>
          </a:xfrm>
          <a:prstGeom prst="rect">
            <a:avLst/>
          </a:prstGeom>
          <a:noFill/>
          <a:ln/>
        </p:spPr>
        <p:txBody>
          <a:bodyPr wrap="square" lIns="0" tIns="0" rIns="0" bIns="0" rtlCol="0" anchor="t"/>
          <a:lstStyle/>
          <a:p>
            <a:pPr marL="0" indent="0">
              <a:buNone/>
            </a:pPr>
            <a:r>
              <a:rPr lang="en-US" sz="1800" b="1" dirty="0">
                <a:solidFill>
                  <a:srgbClr val="143F4F"/>
                </a:solidFill>
                <a:latin typeface="Calibri" pitchFamily="34" charset="0"/>
                <a:ea typeface="Calibri" pitchFamily="34" charset="-122"/>
                <a:cs typeface="Calibri" pitchFamily="34" charset="-120"/>
              </a:rPr>
              <a:t>Defining structures</a:t>
            </a:r>
            <a:endParaRPr lang="en-US" sz="1800" dirty="0"/>
          </a:p>
          <a:p>
            <a:pPr marL="0" indent="0">
              <a:buNone/>
            </a:pPr>
            <a:r>
              <a:rPr lang="en-US" sz="1500" dirty="0">
                <a:solidFill>
                  <a:srgbClr val="1F3B47"/>
                </a:solidFill>
                <a:latin typeface="Calibri" pitchFamily="34" charset="0"/>
                <a:ea typeface="Calibri" pitchFamily="34" charset="-122"/>
                <a:cs typeface="Calibri" pitchFamily="34" charset="-120"/>
              </a:rPr>
              <a:t>for the storage of information</a:t>
            </a:r>
            <a:endParaRPr lang="en-US" sz="1800" dirty="0"/>
          </a:p>
        </p:txBody>
      </p:sp>
      <p:sp>
        <p:nvSpPr>
          <p:cNvPr id="13" name="Shape 11"/>
          <p:cNvSpPr/>
          <p:nvPr/>
        </p:nvSpPr>
        <p:spPr>
          <a:xfrm>
            <a:off x="4754880" y="2240280"/>
            <a:ext cx="3749040" cy="1737360"/>
          </a:xfrm>
          <a:prstGeom prst="roundRect">
            <a:avLst>
              <a:gd name="adj" fmla="val 6316"/>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4" name="Shape 12"/>
          <p:cNvSpPr/>
          <p:nvPr/>
        </p:nvSpPr>
        <p:spPr>
          <a:xfrm>
            <a:off x="4983480" y="2423160"/>
            <a:ext cx="548640" cy="548640"/>
          </a:xfrm>
          <a:prstGeom prst="ellipse">
            <a:avLst/>
          </a:prstGeom>
          <a:solidFill>
            <a:srgbClr val="143F4F"/>
          </a:solidFill>
          <a:ln/>
        </p:spPr>
        <p:txBody>
          <a:bodyPr/>
          <a:lstStyle/>
          <a:p>
            <a:endParaRPr lang="en-US"/>
          </a:p>
        </p:txBody>
      </p:sp>
      <p:sp>
        <p:nvSpPr>
          <p:cNvPr id="15" name="Text 13"/>
          <p:cNvSpPr txBox="1"/>
          <p:nvPr/>
        </p:nvSpPr>
        <p:spPr>
          <a:xfrm>
            <a:off x="4983480" y="24231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4983480" y="3063240"/>
            <a:ext cx="3291840" cy="822960"/>
          </a:xfrm>
          <a:prstGeom prst="rect">
            <a:avLst/>
          </a:prstGeom>
          <a:noFill/>
          <a:ln/>
        </p:spPr>
        <p:txBody>
          <a:bodyPr wrap="square" lIns="0" tIns="0" rIns="0" bIns="0" rtlCol="0" anchor="t"/>
          <a:lstStyle/>
          <a:p>
            <a:pPr marL="0" indent="0">
              <a:buNone/>
            </a:pPr>
            <a:r>
              <a:rPr lang="en-US" sz="1800" b="1" dirty="0">
                <a:solidFill>
                  <a:srgbClr val="143F4F"/>
                </a:solidFill>
                <a:latin typeface="Calibri" pitchFamily="34" charset="0"/>
                <a:ea typeface="Calibri" pitchFamily="34" charset="-122"/>
                <a:cs typeface="Calibri" pitchFamily="34" charset="-120"/>
              </a:rPr>
              <a:t>Providing mechanisms</a:t>
            </a:r>
            <a:endParaRPr lang="en-US" sz="1800" dirty="0"/>
          </a:p>
          <a:p>
            <a:pPr marL="0" indent="0">
              <a:buNone/>
            </a:pPr>
            <a:r>
              <a:rPr lang="en-US" sz="1500" dirty="0">
                <a:solidFill>
                  <a:srgbClr val="1F3B47"/>
                </a:solidFill>
                <a:latin typeface="Calibri" pitchFamily="34" charset="0"/>
                <a:ea typeface="Calibri" pitchFamily="34" charset="-122"/>
                <a:cs typeface="Calibri" pitchFamily="34" charset="-120"/>
              </a:rPr>
              <a:t>for the manipulation of information</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DBMS and Its Applications</a:t>
            </a:r>
            <a:endParaRPr lang="en-US" sz="3000" dirty="0"/>
          </a:p>
        </p:txBody>
      </p:sp>
      <p:sp>
        <p:nvSpPr>
          <p:cNvPr id="7" name="Text 5"/>
          <p:cNvSpPr txBox="1"/>
          <p:nvPr/>
        </p:nvSpPr>
        <p:spPr>
          <a:xfrm>
            <a:off x="640080" y="1005840"/>
            <a:ext cx="7863840" cy="2560320"/>
          </a:xfrm>
          <a:prstGeom prst="rect">
            <a:avLst/>
          </a:prstGeom>
          <a:noFill/>
          <a:ln/>
        </p:spPr>
        <p:txBody>
          <a:bodyPr wrap="square" lIns="0" tIns="0" rIns="0" bIns="0" rtlCol="0" anchor="t"/>
          <a:lstStyle/>
          <a:p>
            <a:pPr marL="342900" indent="-342900">
              <a:spcAft>
                <a:spcPts val="900"/>
              </a:spcAft>
              <a:buSzPct val="100000"/>
              <a:buChar char="•"/>
            </a:pPr>
            <a:r>
              <a:rPr lang="en-US" sz="1600" dirty="0">
                <a:solidFill>
                  <a:srgbClr val="1F3B47"/>
                </a:solidFill>
                <a:latin typeface="Calibri" pitchFamily="34" charset="0"/>
                <a:ea typeface="Calibri" pitchFamily="34" charset="-122"/>
                <a:cs typeface="Calibri" pitchFamily="34" charset="-120"/>
              </a:rPr>
              <a:t>A Database management system is a computerized record-keeping system.</a:t>
            </a:r>
            <a:endParaRPr lang="en-US" sz="1600" dirty="0"/>
          </a:p>
          <a:p>
            <a:pPr marL="342900" indent="-342900">
              <a:spcAft>
                <a:spcPts val="900"/>
              </a:spcAft>
              <a:buSzPct val="100000"/>
              <a:buChar char="•"/>
            </a:pPr>
            <a:r>
              <a:rPr lang="en-US" sz="1600" dirty="0">
                <a:solidFill>
                  <a:srgbClr val="1F3B47"/>
                </a:solidFill>
                <a:latin typeface="Calibri" pitchFamily="34" charset="0"/>
                <a:ea typeface="Calibri" pitchFamily="34" charset="-122"/>
                <a:cs typeface="Calibri" pitchFamily="34" charset="-120"/>
              </a:rPr>
              <a:t>It is a repository or a container for collection of computerized data files.</a:t>
            </a:r>
            <a:endParaRPr lang="en-US" sz="1600" dirty="0"/>
          </a:p>
          <a:p>
            <a:pPr marL="342900" indent="-342900">
              <a:spcAft>
                <a:spcPts val="900"/>
              </a:spcAft>
              <a:buSzPct val="100000"/>
              <a:buChar char="•"/>
            </a:pPr>
            <a:r>
              <a:rPr lang="en-US" sz="1600" dirty="0">
                <a:solidFill>
                  <a:srgbClr val="1F3B47"/>
                </a:solidFill>
                <a:latin typeface="Calibri" pitchFamily="34" charset="0"/>
                <a:ea typeface="Calibri" pitchFamily="34" charset="-122"/>
                <a:cs typeface="Calibri" pitchFamily="34" charset="-120"/>
              </a:rPr>
              <a:t>The overall purpose of DBMS is to allow the users to define, store, retrieve and update the information contained in the database on demand.</a:t>
            </a:r>
            <a:endParaRPr lang="en-US" sz="1600" dirty="0"/>
          </a:p>
          <a:p>
            <a:pPr marL="342900" indent="-342900">
              <a:spcAft>
                <a:spcPts val="900"/>
              </a:spcAft>
              <a:buSzPct val="100000"/>
              <a:buChar char="•"/>
            </a:pPr>
            <a:r>
              <a:rPr lang="en-US" sz="1600" dirty="0">
                <a:solidFill>
                  <a:srgbClr val="1F3B47"/>
                </a:solidFill>
                <a:latin typeface="Calibri" pitchFamily="34" charset="0"/>
                <a:ea typeface="Calibri" pitchFamily="34" charset="-122"/>
                <a:cs typeface="Calibri" pitchFamily="34" charset="-120"/>
              </a:rPr>
              <a:t>Databases touch all aspects of our lives. Some of the major areas of application are:</a:t>
            </a:r>
            <a:endParaRPr lang="en-US" sz="1600" dirty="0"/>
          </a:p>
        </p:txBody>
      </p:sp>
      <p:sp>
        <p:nvSpPr>
          <p:cNvPr id="8" name="Shape 6"/>
          <p:cNvSpPr/>
          <p:nvPr/>
        </p:nvSpPr>
        <p:spPr>
          <a:xfrm>
            <a:off x="640080" y="3611880"/>
            <a:ext cx="1463040" cy="777240"/>
          </a:xfrm>
          <a:prstGeom prst="roundRect">
            <a:avLst>
              <a:gd name="adj" fmla="val 14118"/>
            </a:avLst>
          </a:prstGeom>
          <a:solidFill>
            <a:srgbClr val="143F4F"/>
          </a:solidFill>
          <a:ln/>
        </p:spPr>
        <p:txBody>
          <a:bodyPr/>
          <a:lstStyle/>
          <a:p>
            <a:endParaRPr lang="en-US"/>
          </a:p>
        </p:txBody>
      </p:sp>
      <p:sp>
        <p:nvSpPr>
          <p:cNvPr id="9" name="Text 7"/>
          <p:cNvSpPr txBox="1"/>
          <p:nvPr/>
        </p:nvSpPr>
        <p:spPr>
          <a:xfrm>
            <a:off x="685800" y="3611880"/>
            <a:ext cx="137160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Banking</a:t>
            </a:r>
            <a:endParaRPr lang="en-US" sz="1300" dirty="0"/>
          </a:p>
        </p:txBody>
      </p:sp>
      <p:sp>
        <p:nvSpPr>
          <p:cNvPr id="10" name="Shape 8"/>
          <p:cNvSpPr/>
          <p:nvPr/>
        </p:nvSpPr>
        <p:spPr>
          <a:xfrm>
            <a:off x="2231136" y="3611880"/>
            <a:ext cx="1463040" cy="777240"/>
          </a:xfrm>
          <a:prstGeom prst="roundRect">
            <a:avLst>
              <a:gd name="adj" fmla="val 14118"/>
            </a:avLst>
          </a:prstGeom>
          <a:solidFill>
            <a:srgbClr val="55BFAE"/>
          </a:solidFill>
          <a:ln/>
        </p:spPr>
        <p:txBody>
          <a:bodyPr/>
          <a:lstStyle/>
          <a:p>
            <a:endParaRPr lang="en-US"/>
          </a:p>
        </p:txBody>
      </p:sp>
      <p:sp>
        <p:nvSpPr>
          <p:cNvPr id="11" name="Text 9"/>
          <p:cNvSpPr txBox="1"/>
          <p:nvPr/>
        </p:nvSpPr>
        <p:spPr>
          <a:xfrm>
            <a:off x="2276856" y="3611880"/>
            <a:ext cx="137160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Airlines</a:t>
            </a:r>
            <a:endParaRPr lang="en-US" sz="1300" dirty="0"/>
          </a:p>
        </p:txBody>
      </p:sp>
      <p:sp>
        <p:nvSpPr>
          <p:cNvPr id="12" name="Shape 10"/>
          <p:cNvSpPr/>
          <p:nvPr/>
        </p:nvSpPr>
        <p:spPr>
          <a:xfrm>
            <a:off x="3822192" y="3611880"/>
            <a:ext cx="1463040" cy="777240"/>
          </a:xfrm>
          <a:prstGeom prst="roundRect">
            <a:avLst>
              <a:gd name="adj" fmla="val 14118"/>
            </a:avLst>
          </a:prstGeom>
          <a:solidFill>
            <a:srgbClr val="143F4F"/>
          </a:solidFill>
          <a:ln/>
        </p:spPr>
        <p:txBody>
          <a:bodyPr/>
          <a:lstStyle/>
          <a:p>
            <a:endParaRPr lang="en-US"/>
          </a:p>
        </p:txBody>
      </p:sp>
      <p:sp>
        <p:nvSpPr>
          <p:cNvPr id="13" name="Text 11"/>
          <p:cNvSpPr txBox="1"/>
          <p:nvPr/>
        </p:nvSpPr>
        <p:spPr>
          <a:xfrm>
            <a:off x="3867912" y="3611880"/>
            <a:ext cx="137160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Universities</a:t>
            </a:r>
            <a:endParaRPr lang="en-US" sz="1300" dirty="0"/>
          </a:p>
        </p:txBody>
      </p:sp>
      <p:sp>
        <p:nvSpPr>
          <p:cNvPr id="14" name="Shape 12"/>
          <p:cNvSpPr/>
          <p:nvPr/>
        </p:nvSpPr>
        <p:spPr>
          <a:xfrm>
            <a:off x="5413248" y="3611880"/>
            <a:ext cx="1463040" cy="777240"/>
          </a:xfrm>
          <a:prstGeom prst="roundRect">
            <a:avLst>
              <a:gd name="adj" fmla="val 14118"/>
            </a:avLst>
          </a:prstGeom>
          <a:solidFill>
            <a:srgbClr val="55BFAE"/>
          </a:solidFill>
          <a:ln/>
        </p:spPr>
        <p:txBody>
          <a:bodyPr/>
          <a:lstStyle/>
          <a:p>
            <a:endParaRPr lang="en-US"/>
          </a:p>
        </p:txBody>
      </p:sp>
      <p:sp>
        <p:nvSpPr>
          <p:cNvPr id="15" name="Text 13"/>
          <p:cNvSpPr txBox="1"/>
          <p:nvPr/>
        </p:nvSpPr>
        <p:spPr>
          <a:xfrm>
            <a:off x="5458968" y="3611880"/>
            <a:ext cx="137160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Manufacturing and selling</a:t>
            </a:r>
            <a:endParaRPr lang="en-US" sz="1300" dirty="0"/>
          </a:p>
        </p:txBody>
      </p:sp>
      <p:sp>
        <p:nvSpPr>
          <p:cNvPr id="16" name="Shape 14"/>
          <p:cNvSpPr/>
          <p:nvPr/>
        </p:nvSpPr>
        <p:spPr>
          <a:xfrm>
            <a:off x="7004304" y="3611880"/>
            <a:ext cx="1463040" cy="777240"/>
          </a:xfrm>
          <a:prstGeom prst="roundRect">
            <a:avLst>
              <a:gd name="adj" fmla="val 14118"/>
            </a:avLst>
          </a:prstGeom>
          <a:solidFill>
            <a:srgbClr val="143F4F"/>
          </a:solidFill>
          <a:ln/>
        </p:spPr>
        <p:txBody>
          <a:bodyPr/>
          <a:lstStyle/>
          <a:p>
            <a:endParaRPr lang="en-US"/>
          </a:p>
        </p:txBody>
      </p:sp>
      <p:sp>
        <p:nvSpPr>
          <p:cNvPr id="17" name="Text 15"/>
          <p:cNvSpPr txBox="1"/>
          <p:nvPr/>
        </p:nvSpPr>
        <p:spPr>
          <a:xfrm>
            <a:off x="7050024" y="3611880"/>
            <a:ext cx="1371600" cy="7772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Human resources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Purpose of Database Systems</a:t>
            </a:r>
            <a:endParaRPr lang="en-US" sz="3000" dirty="0"/>
          </a:p>
        </p:txBody>
      </p:sp>
      <p:sp>
        <p:nvSpPr>
          <p:cNvPr id="7" name="Text 5"/>
          <p:cNvSpPr txBox="1"/>
          <p:nvPr/>
        </p:nvSpPr>
        <p:spPr>
          <a:xfrm>
            <a:off x="640080" y="1097280"/>
            <a:ext cx="4846320" cy="34747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1F3B47"/>
                </a:solidFill>
                <a:latin typeface="Calibri" pitchFamily="34" charset="0"/>
                <a:ea typeface="Calibri" pitchFamily="34" charset="-122"/>
                <a:cs typeface="Calibri" pitchFamily="34" charset="-120"/>
              </a:rPr>
              <a:t>Database systems arose in response to early methods of computerized management of commercial data.</a:t>
            </a:r>
            <a:endParaRPr lang="en-US" sz="1600" dirty="0"/>
          </a:p>
          <a:p>
            <a:pPr marL="342900" indent="-342900">
              <a:spcAft>
                <a:spcPts val="1200"/>
              </a:spcAft>
              <a:buSzPct val="100000"/>
              <a:buChar char="•"/>
            </a:pPr>
            <a:r>
              <a:rPr lang="en-US" sz="1600" dirty="0">
                <a:solidFill>
                  <a:srgbClr val="1F3B47"/>
                </a:solidFill>
                <a:latin typeface="Calibri" pitchFamily="34" charset="0"/>
                <a:ea typeface="Calibri" pitchFamily="34" charset="-122"/>
                <a:cs typeface="Calibri" pitchFamily="34" charset="-120"/>
              </a:rPr>
              <a:t>As an example of such methods, typical of the 1960s, consider part of a university organization that, among other data, keeps information about all instructors, students, departments, and course offerings.</a:t>
            </a:r>
            <a:endParaRPr lang="en-US" sz="1600" dirty="0"/>
          </a:p>
          <a:p>
            <a:pPr marL="342900" indent="-342900">
              <a:spcAft>
                <a:spcPts val="1200"/>
              </a:spcAft>
              <a:buSzPct val="100000"/>
              <a:buChar char="•"/>
            </a:pPr>
            <a:r>
              <a:rPr lang="en-US" sz="1600" dirty="0">
                <a:solidFill>
                  <a:srgbClr val="1F3B47"/>
                </a:solidFill>
                <a:latin typeface="Calibri" pitchFamily="34" charset="0"/>
                <a:ea typeface="Calibri" pitchFamily="34" charset="-122"/>
                <a:cs typeface="Calibri" pitchFamily="34" charset="-120"/>
              </a:rPr>
              <a:t>One way to keep the information on a computer is to store it in operating system files.</a:t>
            </a:r>
            <a:endParaRPr lang="en-US" sz="1600" dirty="0"/>
          </a:p>
        </p:txBody>
      </p:sp>
      <p:sp>
        <p:nvSpPr>
          <p:cNvPr id="8" name="Shape 6"/>
          <p:cNvSpPr/>
          <p:nvPr/>
        </p:nvSpPr>
        <p:spPr>
          <a:xfrm>
            <a:off x="5852160" y="1188720"/>
            <a:ext cx="2651760" cy="3108960"/>
          </a:xfrm>
          <a:prstGeom prst="roundRect">
            <a:avLst>
              <a:gd name="adj" fmla="val 4138"/>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5989320" y="1280160"/>
            <a:ext cx="2377440" cy="365760"/>
          </a:xfrm>
          <a:prstGeom prst="rect">
            <a:avLst/>
          </a:prstGeom>
          <a:noFill/>
          <a:ln/>
        </p:spPr>
        <p:txBody>
          <a:bodyPr wrap="square" lIns="0" tIns="0" rIns="0" bIns="0" rtlCol="0" anchor="ctr"/>
          <a:lstStyle/>
          <a:p>
            <a:pPr marL="0" indent="0" algn="ctr">
              <a:buNone/>
            </a:pPr>
            <a:r>
              <a:rPr lang="en-US" sz="1300" b="1" dirty="0">
                <a:solidFill>
                  <a:srgbClr val="143F4F"/>
                </a:solidFill>
                <a:latin typeface="Calibri" pitchFamily="34" charset="0"/>
                <a:ea typeface="Calibri" pitchFamily="34" charset="-122"/>
                <a:cs typeface="Calibri" pitchFamily="34" charset="-120"/>
              </a:rPr>
              <a:t>University data (1960s)</a:t>
            </a:r>
            <a:endParaRPr lang="en-US" sz="1300" dirty="0"/>
          </a:p>
        </p:txBody>
      </p:sp>
      <p:sp>
        <p:nvSpPr>
          <p:cNvPr id="10" name="Shape 8"/>
          <p:cNvSpPr/>
          <p:nvPr/>
        </p:nvSpPr>
        <p:spPr>
          <a:xfrm>
            <a:off x="6217920" y="1737360"/>
            <a:ext cx="1920240" cy="502920"/>
          </a:xfrm>
          <a:prstGeom prst="flowChartDocument">
            <a:avLst/>
          </a:prstGeom>
          <a:solidFill>
            <a:srgbClr val="FFFFFF"/>
          </a:solidFill>
          <a:ln w="12700">
            <a:solidFill>
              <a:srgbClr val="143F4F"/>
            </a:solidFill>
            <a:prstDash val="solid"/>
          </a:ln>
        </p:spPr>
        <p:txBody>
          <a:bodyPr/>
          <a:lstStyle/>
          <a:p>
            <a:endParaRPr lang="en-US"/>
          </a:p>
        </p:txBody>
      </p:sp>
      <p:sp>
        <p:nvSpPr>
          <p:cNvPr id="11" name="Text 9"/>
          <p:cNvSpPr txBox="1"/>
          <p:nvPr/>
        </p:nvSpPr>
        <p:spPr>
          <a:xfrm>
            <a:off x="6217920" y="1737360"/>
            <a:ext cx="1920240" cy="411480"/>
          </a:xfrm>
          <a:prstGeom prst="rect">
            <a:avLst/>
          </a:prstGeom>
          <a:noFill/>
          <a:ln/>
        </p:spPr>
        <p:txBody>
          <a:bodyPr wrap="square" lIns="0" tIns="0" rIns="0" bIns="0" rtlCol="0" anchor="ctr"/>
          <a:lstStyle/>
          <a:p>
            <a:pPr marL="0" indent="0" algn="ctr">
              <a:buNone/>
            </a:pPr>
            <a:r>
              <a:rPr lang="en-US" sz="1250" dirty="0">
                <a:solidFill>
                  <a:srgbClr val="1F3B47"/>
                </a:solidFill>
                <a:latin typeface="Calibri" pitchFamily="34" charset="0"/>
                <a:ea typeface="Calibri" pitchFamily="34" charset="-122"/>
                <a:cs typeface="Calibri" pitchFamily="34" charset="-120"/>
              </a:rPr>
              <a:t>Instructors.dat</a:t>
            </a:r>
            <a:endParaRPr lang="en-US" sz="1250" dirty="0"/>
          </a:p>
        </p:txBody>
      </p:sp>
      <p:sp>
        <p:nvSpPr>
          <p:cNvPr id="12" name="Shape 10"/>
          <p:cNvSpPr/>
          <p:nvPr/>
        </p:nvSpPr>
        <p:spPr>
          <a:xfrm>
            <a:off x="6217920" y="2359152"/>
            <a:ext cx="1920240" cy="502920"/>
          </a:xfrm>
          <a:prstGeom prst="flowChartDocument">
            <a:avLst/>
          </a:prstGeom>
          <a:solidFill>
            <a:srgbClr val="FFFFFF"/>
          </a:solidFill>
          <a:ln w="12700">
            <a:solidFill>
              <a:srgbClr val="143F4F"/>
            </a:solidFill>
            <a:prstDash val="solid"/>
          </a:ln>
        </p:spPr>
        <p:txBody>
          <a:bodyPr/>
          <a:lstStyle/>
          <a:p>
            <a:endParaRPr lang="en-US"/>
          </a:p>
        </p:txBody>
      </p:sp>
      <p:sp>
        <p:nvSpPr>
          <p:cNvPr id="13" name="Text 11"/>
          <p:cNvSpPr txBox="1"/>
          <p:nvPr/>
        </p:nvSpPr>
        <p:spPr>
          <a:xfrm>
            <a:off x="6217920" y="2359152"/>
            <a:ext cx="1920240" cy="411480"/>
          </a:xfrm>
          <a:prstGeom prst="rect">
            <a:avLst/>
          </a:prstGeom>
          <a:noFill/>
          <a:ln/>
        </p:spPr>
        <p:txBody>
          <a:bodyPr wrap="square" lIns="0" tIns="0" rIns="0" bIns="0" rtlCol="0" anchor="ctr"/>
          <a:lstStyle/>
          <a:p>
            <a:pPr marL="0" indent="0" algn="ctr">
              <a:buNone/>
            </a:pPr>
            <a:r>
              <a:rPr lang="en-US" sz="1250" dirty="0">
                <a:solidFill>
                  <a:srgbClr val="1F3B47"/>
                </a:solidFill>
                <a:latin typeface="Calibri" pitchFamily="34" charset="0"/>
                <a:ea typeface="Calibri" pitchFamily="34" charset="-122"/>
                <a:cs typeface="Calibri" pitchFamily="34" charset="-120"/>
              </a:rPr>
              <a:t>Students.dat</a:t>
            </a:r>
            <a:endParaRPr lang="en-US" sz="1250" dirty="0"/>
          </a:p>
        </p:txBody>
      </p:sp>
      <p:sp>
        <p:nvSpPr>
          <p:cNvPr id="14" name="Shape 12"/>
          <p:cNvSpPr/>
          <p:nvPr/>
        </p:nvSpPr>
        <p:spPr>
          <a:xfrm>
            <a:off x="6217920" y="2980944"/>
            <a:ext cx="1920240" cy="502920"/>
          </a:xfrm>
          <a:prstGeom prst="flowChartDocument">
            <a:avLst/>
          </a:prstGeom>
          <a:solidFill>
            <a:srgbClr val="FFFFFF"/>
          </a:solidFill>
          <a:ln w="12700">
            <a:solidFill>
              <a:srgbClr val="143F4F"/>
            </a:solidFill>
            <a:prstDash val="solid"/>
          </a:ln>
        </p:spPr>
        <p:txBody>
          <a:bodyPr/>
          <a:lstStyle/>
          <a:p>
            <a:endParaRPr lang="en-US"/>
          </a:p>
        </p:txBody>
      </p:sp>
      <p:sp>
        <p:nvSpPr>
          <p:cNvPr id="15" name="Text 13"/>
          <p:cNvSpPr txBox="1"/>
          <p:nvPr/>
        </p:nvSpPr>
        <p:spPr>
          <a:xfrm>
            <a:off x="6217920" y="2980944"/>
            <a:ext cx="1920240" cy="411480"/>
          </a:xfrm>
          <a:prstGeom prst="rect">
            <a:avLst/>
          </a:prstGeom>
          <a:noFill/>
          <a:ln/>
        </p:spPr>
        <p:txBody>
          <a:bodyPr wrap="square" lIns="0" tIns="0" rIns="0" bIns="0" rtlCol="0" anchor="ctr"/>
          <a:lstStyle/>
          <a:p>
            <a:pPr marL="0" indent="0" algn="ctr">
              <a:buNone/>
            </a:pPr>
            <a:r>
              <a:rPr lang="en-US" sz="1250" dirty="0">
                <a:solidFill>
                  <a:srgbClr val="1F3B47"/>
                </a:solidFill>
                <a:latin typeface="Calibri" pitchFamily="34" charset="0"/>
                <a:ea typeface="Calibri" pitchFamily="34" charset="-122"/>
                <a:cs typeface="Calibri" pitchFamily="34" charset="-120"/>
              </a:rPr>
              <a:t>Departments.dat</a:t>
            </a:r>
            <a:endParaRPr lang="en-US" sz="1250" dirty="0"/>
          </a:p>
        </p:txBody>
      </p:sp>
      <p:sp>
        <p:nvSpPr>
          <p:cNvPr id="16" name="Shape 14"/>
          <p:cNvSpPr/>
          <p:nvPr/>
        </p:nvSpPr>
        <p:spPr>
          <a:xfrm>
            <a:off x="6217920" y="3602736"/>
            <a:ext cx="1920240" cy="502920"/>
          </a:xfrm>
          <a:prstGeom prst="flowChartDocument">
            <a:avLst/>
          </a:prstGeom>
          <a:solidFill>
            <a:srgbClr val="FFFFFF"/>
          </a:solidFill>
          <a:ln w="12700">
            <a:solidFill>
              <a:srgbClr val="143F4F"/>
            </a:solidFill>
            <a:prstDash val="solid"/>
          </a:ln>
        </p:spPr>
        <p:txBody>
          <a:bodyPr/>
          <a:lstStyle/>
          <a:p>
            <a:endParaRPr lang="en-US"/>
          </a:p>
        </p:txBody>
      </p:sp>
      <p:sp>
        <p:nvSpPr>
          <p:cNvPr id="17" name="Text 15"/>
          <p:cNvSpPr txBox="1"/>
          <p:nvPr/>
        </p:nvSpPr>
        <p:spPr>
          <a:xfrm>
            <a:off x="6217920" y="3602736"/>
            <a:ext cx="1920240" cy="411480"/>
          </a:xfrm>
          <a:prstGeom prst="rect">
            <a:avLst/>
          </a:prstGeom>
          <a:noFill/>
          <a:ln/>
        </p:spPr>
        <p:txBody>
          <a:bodyPr wrap="square" lIns="0" tIns="0" rIns="0" bIns="0" rtlCol="0" anchor="ctr"/>
          <a:lstStyle/>
          <a:p>
            <a:pPr marL="0" indent="0" algn="ctr">
              <a:buNone/>
            </a:pPr>
            <a:r>
              <a:rPr lang="en-US" sz="1250" dirty="0">
                <a:solidFill>
                  <a:srgbClr val="1F3B47"/>
                </a:solidFill>
                <a:latin typeface="Calibri" pitchFamily="34" charset="0"/>
                <a:ea typeface="Calibri" pitchFamily="34" charset="-122"/>
                <a:cs typeface="Calibri" pitchFamily="34" charset="-120"/>
              </a:rPr>
              <a:t>Course offerings.dat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Purpose of Database Systems</a:t>
            </a:r>
            <a:endParaRPr lang="en-US" sz="3000" dirty="0"/>
          </a:p>
        </p:txBody>
      </p:sp>
      <p:sp>
        <p:nvSpPr>
          <p:cNvPr id="7" name="Text 5"/>
          <p:cNvSpPr txBox="1"/>
          <p:nvPr/>
        </p:nvSpPr>
        <p:spPr>
          <a:xfrm>
            <a:off x="640080" y="1005840"/>
            <a:ext cx="7863840" cy="685800"/>
          </a:xfrm>
          <a:prstGeom prst="rect">
            <a:avLst/>
          </a:prstGeom>
          <a:noFill/>
          <a:ln/>
        </p:spPr>
        <p:txBody>
          <a:bodyPr wrap="square" lIns="0" tIns="0" rIns="0" bIns="0" rtlCol="0" anchor="ctr"/>
          <a:lstStyle/>
          <a:p>
            <a:pPr marL="0" indent="0">
              <a:buNone/>
            </a:pPr>
            <a:r>
              <a:rPr lang="en-US" sz="1600" dirty="0">
                <a:solidFill>
                  <a:srgbClr val="1F3B47"/>
                </a:solidFill>
                <a:latin typeface="Calibri" pitchFamily="34" charset="0"/>
                <a:ea typeface="Calibri" pitchFamily="34" charset="-122"/>
                <a:cs typeface="Calibri" pitchFamily="34" charset="-120"/>
              </a:rPr>
              <a:t>To allow users to manipulate the information, the system has a number of application programs that manipulate the files, including programs to:</a:t>
            </a:r>
            <a:endParaRPr lang="en-US" sz="1600" dirty="0"/>
          </a:p>
        </p:txBody>
      </p:sp>
      <p:sp>
        <p:nvSpPr>
          <p:cNvPr id="8" name="Shape 6"/>
          <p:cNvSpPr/>
          <p:nvPr/>
        </p:nvSpPr>
        <p:spPr>
          <a:xfrm>
            <a:off x="640080" y="1920240"/>
            <a:ext cx="3840480" cy="1005840"/>
          </a:xfrm>
          <a:prstGeom prst="roundRect">
            <a:avLst>
              <a:gd name="adj" fmla="val 1090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868680" y="1920240"/>
            <a:ext cx="3474720" cy="100584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Add</a:t>
            </a:r>
            <a:endParaRPr lang="en-US" sz="1800" dirty="0"/>
          </a:p>
          <a:p>
            <a:pPr marL="0" indent="0">
              <a:buNone/>
            </a:pPr>
            <a:r>
              <a:rPr lang="en-US" sz="1400" dirty="0">
                <a:solidFill>
                  <a:srgbClr val="1F3B47"/>
                </a:solidFill>
                <a:latin typeface="Calibri" pitchFamily="34" charset="0"/>
                <a:ea typeface="Calibri" pitchFamily="34" charset="-122"/>
                <a:cs typeface="Calibri" pitchFamily="34" charset="-120"/>
              </a:rPr>
              <a:t>new students, instructors, and courses</a:t>
            </a:r>
            <a:endParaRPr lang="en-US" sz="1800" dirty="0"/>
          </a:p>
        </p:txBody>
      </p:sp>
      <p:sp>
        <p:nvSpPr>
          <p:cNvPr id="10" name="Shape 8"/>
          <p:cNvSpPr/>
          <p:nvPr/>
        </p:nvSpPr>
        <p:spPr>
          <a:xfrm>
            <a:off x="4663440" y="1920240"/>
            <a:ext cx="3840480" cy="1005840"/>
          </a:xfrm>
          <a:prstGeom prst="roundRect">
            <a:avLst>
              <a:gd name="adj" fmla="val 1090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4892040" y="1920240"/>
            <a:ext cx="3474720" cy="100584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Register</a:t>
            </a:r>
            <a:endParaRPr lang="en-US" sz="1800" dirty="0"/>
          </a:p>
          <a:p>
            <a:pPr marL="0" indent="0">
              <a:buNone/>
            </a:pPr>
            <a:r>
              <a:rPr lang="en-US" sz="1400" dirty="0">
                <a:solidFill>
                  <a:srgbClr val="1F3B47"/>
                </a:solidFill>
                <a:latin typeface="Calibri" pitchFamily="34" charset="0"/>
                <a:ea typeface="Calibri" pitchFamily="34" charset="-122"/>
                <a:cs typeface="Calibri" pitchFamily="34" charset="-120"/>
              </a:rPr>
              <a:t>students for courses and generate class rosters</a:t>
            </a:r>
            <a:endParaRPr lang="en-US" sz="1800" dirty="0"/>
          </a:p>
        </p:txBody>
      </p:sp>
      <p:sp>
        <p:nvSpPr>
          <p:cNvPr id="12" name="Shape 10"/>
          <p:cNvSpPr/>
          <p:nvPr/>
        </p:nvSpPr>
        <p:spPr>
          <a:xfrm>
            <a:off x="640080" y="3154680"/>
            <a:ext cx="3840480" cy="1005840"/>
          </a:xfrm>
          <a:prstGeom prst="roundRect">
            <a:avLst>
              <a:gd name="adj" fmla="val 1090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txBox="1"/>
          <p:nvPr/>
        </p:nvSpPr>
        <p:spPr>
          <a:xfrm>
            <a:off x="868680" y="3154680"/>
            <a:ext cx="3474720" cy="100584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Assign</a:t>
            </a:r>
            <a:endParaRPr lang="en-US" sz="1800" dirty="0"/>
          </a:p>
          <a:p>
            <a:pPr marL="0" indent="0">
              <a:buNone/>
            </a:pPr>
            <a:r>
              <a:rPr lang="en-US" sz="1400" dirty="0">
                <a:solidFill>
                  <a:srgbClr val="1F3B47"/>
                </a:solidFill>
                <a:latin typeface="Calibri" pitchFamily="34" charset="0"/>
                <a:ea typeface="Calibri" pitchFamily="34" charset="-122"/>
                <a:cs typeface="Calibri" pitchFamily="34" charset="-120"/>
              </a:rPr>
              <a:t>grades to students and compute grade point averages (GPA)</a:t>
            </a:r>
            <a:endParaRPr lang="en-US" sz="1800" dirty="0"/>
          </a:p>
        </p:txBody>
      </p:sp>
      <p:sp>
        <p:nvSpPr>
          <p:cNvPr id="14" name="Shape 12"/>
          <p:cNvSpPr/>
          <p:nvPr/>
        </p:nvSpPr>
        <p:spPr>
          <a:xfrm>
            <a:off x="4663440" y="3154680"/>
            <a:ext cx="3840480" cy="1005840"/>
          </a:xfrm>
          <a:prstGeom prst="roundRect">
            <a:avLst>
              <a:gd name="adj" fmla="val 10909"/>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5" name="Text 13"/>
          <p:cNvSpPr txBox="1"/>
          <p:nvPr/>
        </p:nvSpPr>
        <p:spPr>
          <a:xfrm>
            <a:off x="4892040" y="3154680"/>
            <a:ext cx="3474720" cy="100584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Generate</a:t>
            </a:r>
            <a:endParaRPr lang="en-US" sz="1800" dirty="0"/>
          </a:p>
          <a:p>
            <a:pPr marL="0" indent="0">
              <a:buNone/>
            </a:pPr>
            <a:r>
              <a:rPr lang="en-US" sz="1400" dirty="0">
                <a:solidFill>
                  <a:srgbClr val="1F3B47"/>
                </a:solidFill>
                <a:latin typeface="Calibri" pitchFamily="34" charset="0"/>
                <a:ea typeface="Calibri" pitchFamily="34" charset="-122"/>
                <a:cs typeface="Calibri" pitchFamily="34" charset="-120"/>
              </a:rPr>
              <a:t>transcripts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File Oriented Approach</a:t>
            </a:r>
            <a:endParaRPr lang="en-US" sz="3000" dirty="0"/>
          </a:p>
        </p:txBody>
      </p:sp>
      <p:sp>
        <p:nvSpPr>
          <p:cNvPr id="7" name="Shape 5"/>
          <p:cNvSpPr/>
          <p:nvPr/>
        </p:nvSpPr>
        <p:spPr>
          <a:xfrm>
            <a:off x="640080" y="1143000"/>
            <a:ext cx="7863840" cy="914400"/>
          </a:xfrm>
          <a:prstGeom prst="roundRect">
            <a:avLst>
              <a:gd name="adj" fmla="val 12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6"/>
          <p:cNvSpPr/>
          <p:nvPr/>
        </p:nvSpPr>
        <p:spPr>
          <a:xfrm>
            <a:off x="822960" y="1344168"/>
            <a:ext cx="512064" cy="512064"/>
          </a:xfrm>
          <a:prstGeom prst="ellipse">
            <a:avLst/>
          </a:prstGeom>
          <a:solidFill>
            <a:srgbClr val="55BFAE"/>
          </a:solidFill>
          <a:ln/>
        </p:spPr>
        <p:txBody>
          <a:bodyPr/>
          <a:lstStyle/>
          <a:p>
            <a:endParaRPr lang="en-US"/>
          </a:p>
        </p:txBody>
      </p:sp>
      <p:sp>
        <p:nvSpPr>
          <p:cNvPr id="9" name="Text 7"/>
          <p:cNvSpPr txBox="1"/>
          <p:nvPr/>
        </p:nvSpPr>
        <p:spPr>
          <a:xfrm>
            <a:off x="822960" y="1344168"/>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554480" y="1143000"/>
            <a:ext cx="6766560" cy="914400"/>
          </a:xfrm>
          <a:prstGeom prst="rect">
            <a:avLst/>
          </a:prstGeom>
          <a:noFill/>
          <a:ln/>
        </p:spPr>
        <p:txBody>
          <a:bodyPr wrap="square" lIns="0" tIns="0" rIns="0" bIns="0" rtlCol="0" anchor="ctr"/>
          <a:lstStyle/>
          <a:p>
            <a:pPr marL="0" indent="0">
              <a:buNone/>
            </a:pPr>
            <a:r>
              <a:rPr lang="en-US" sz="1300" b="1" dirty="0">
                <a:solidFill>
                  <a:srgbClr val="143F4F"/>
                </a:solidFill>
                <a:latin typeface="Calibri" pitchFamily="34" charset="0"/>
                <a:ea typeface="Calibri" pitchFamily="34" charset="-122"/>
                <a:cs typeface="Calibri" pitchFamily="34" charset="-120"/>
              </a:rPr>
              <a:t>Purpose</a:t>
            </a:r>
            <a:endParaRPr lang="en-US" sz="1300" dirty="0"/>
          </a:p>
          <a:p>
            <a:pPr marL="0" indent="0">
              <a:buNone/>
            </a:pPr>
            <a:r>
              <a:rPr lang="en-US" sz="1500" dirty="0">
                <a:solidFill>
                  <a:srgbClr val="1F3B47"/>
                </a:solidFill>
                <a:latin typeface="Calibri" pitchFamily="34" charset="0"/>
                <a:ea typeface="Calibri" pitchFamily="34" charset="-122"/>
                <a:cs typeface="Calibri" pitchFamily="34" charset="-120"/>
              </a:rPr>
              <a:t>The earliest business computer systems were used to process business records and produce information.</a:t>
            </a:r>
            <a:endParaRPr lang="en-US" sz="1300" dirty="0"/>
          </a:p>
        </p:txBody>
      </p:sp>
      <p:sp>
        <p:nvSpPr>
          <p:cNvPr id="11" name="Shape 9"/>
          <p:cNvSpPr/>
          <p:nvPr/>
        </p:nvSpPr>
        <p:spPr>
          <a:xfrm>
            <a:off x="640080" y="2240280"/>
            <a:ext cx="7863840" cy="914400"/>
          </a:xfrm>
          <a:prstGeom prst="roundRect">
            <a:avLst>
              <a:gd name="adj" fmla="val 12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10"/>
          <p:cNvSpPr/>
          <p:nvPr/>
        </p:nvSpPr>
        <p:spPr>
          <a:xfrm>
            <a:off x="822960" y="2441448"/>
            <a:ext cx="512064" cy="512064"/>
          </a:xfrm>
          <a:prstGeom prst="ellipse">
            <a:avLst/>
          </a:prstGeom>
          <a:solidFill>
            <a:srgbClr val="55BFAE"/>
          </a:solidFill>
          <a:ln/>
        </p:spPr>
        <p:txBody>
          <a:bodyPr/>
          <a:lstStyle/>
          <a:p>
            <a:endParaRPr lang="en-US"/>
          </a:p>
        </p:txBody>
      </p:sp>
      <p:sp>
        <p:nvSpPr>
          <p:cNvPr id="13" name="Text 11"/>
          <p:cNvSpPr txBox="1"/>
          <p:nvPr/>
        </p:nvSpPr>
        <p:spPr>
          <a:xfrm>
            <a:off x="822960" y="2441448"/>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1554480" y="2240280"/>
            <a:ext cx="6766560" cy="914400"/>
          </a:xfrm>
          <a:prstGeom prst="rect">
            <a:avLst/>
          </a:prstGeom>
          <a:noFill/>
          <a:ln/>
        </p:spPr>
        <p:txBody>
          <a:bodyPr wrap="square" lIns="0" tIns="0" rIns="0" bIns="0" rtlCol="0" anchor="ctr"/>
          <a:lstStyle/>
          <a:p>
            <a:pPr marL="0" indent="0">
              <a:buNone/>
            </a:pPr>
            <a:r>
              <a:rPr lang="en-US" sz="1300" b="1" dirty="0">
                <a:solidFill>
                  <a:srgbClr val="143F4F"/>
                </a:solidFill>
                <a:latin typeface="Calibri" pitchFamily="34" charset="0"/>
                <a:ea typeface="Calibri" pitchFamily="34" charset="-122"/>
                <a:cs typeface="Calibri" pitchFamily="34" charset="-120"/>
              </a:rPr>
              <a:t>Benefit</a:t>
            </a:r>
            <a:endParaRPr lang="en-US" sz="1300" dirty="0"/>
          </a:p>
          <a:p>
            <a:pPr marL="0" indent="0">
              <a:buNone/>
            </a:pPr>
            <a:r>
              <a:rPr lang="en-US" sz="1500" dirty="0">
                <a:solidFill>
                  <a:srgbClr val="1F3B47"/>
                </a:solidFill>
                <a:latin typeface="Calibri" pitchFamily="34" charset="0"/>
                <a:ea typeface="Calibri" pitchFamily="34" charset="-122"/>
                <a:cs typeface="Calibri" pitchFamily="34" charset="-120"/>
              </a:rPr>
              <a:t>They were generally faster and more accurate than equivalent manual systems.</a:t>
            </a:r>
            <a:endParaRPr lang="en-US" sz="1300" dirty="0"/>
          </a:p>
        </p:txBody>
      </p:sp>
      <p:sp>
        <p:nvSpPr>
          <p:cNvPr id="15" name="Shape 13"/>
          <p:cNvSpPr/>
          <p:nvPr/>
        </p:nvSpPr>
        <p:spPr>
          <a:xfrm>
            <a:off x="640080" y="3337560"/>
            <a:ext cx="7863840" cy="914400"/>
          </a:xfrm>
          <a:prstGeom prst="roundRect">
            <a:avLst>
              <a:gd name="adj" fmla="val 12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4"/>
          <p:cNvSpPr/>
          <p:nvPr/>
        </p:nvSpPr>
        <p:spPr>
          <a:xfrm>
            <a:off x="822960" y="3538728"/>
            <a:ext cx="512064" cy="512064"/>
          </a:xfrm>
          <a:prstGeom prst="ellipse">
            <a:avLst/>
          </a:prstGeom>
          <a:solidFill>
            <a:srgbClr val="55BFAE"/>
          </a:solidFill>
          <a:ln/>
        </p:spPr>
        <p:txBody>
          <a:bodyPr/>
          <a:lstStyle/>
          <a:p>
            <a:endParaRPr lang="en-US"/>
          </a:p>
        </p:txBody>
      </p:sp>
      <p:sp>
        <p:nvSpPr>
          <p:cNvPr id="17" name="Text 15"/>
          <p:cNvSpPr txBox="1"/>
          <p:nvPr/>
        </p:nvSpPr>
        <p:spPr>
          <a:xfrm>
            <a:off x="822960" y="3538728"/>
            <a:ext cx="512064" cy="51206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554480" y="3337560"/>
            <a:ext cx="6766560" cy="914400"/>
          </a:xfrm>
          <a:prstGeom prst="rect">
            <a:avLst/>
          </a:prstGeom>
          <a:noFill/>
          <a:ln/>
        </p:spPr>
        <p:txBody>
          <a:bodyPr wrap="square" lIns="0" tIns="0" rIns="0" bIns="0" rtlCol="0" anchor="ctr"/>
          <a:lstStyle/>
          <a:p>
            <a:pPr marL="0" indent="0">
              <a:buNone/>
            </a:pPr>
            <a:r>
              <a:rPr lang="en-US" sz="1300" b="1" dirty="0">
                <a:solidFill>
                  <a:srgbClr val="143F4F"/>
                </a:solidFill>
                <a:latin typeface="Calibri" pitchFamily="34" charset="0"/>
                <a:ea typeface="Calibri" pitchFamily="34" charset="-122"/>
                <a:cs typeface="Calibri" pitchFamily="34" charset="-120"/>
              </a:rPr>
              <a:t>Name</a:t>
            </a:r>
            <a:endParaRPr lang="en-US" sz="1300" dirty="0"/>
          </a:p>
          <a:p>
            <a:pPr marL="0" indent="0">
              <a:buNone/>
            </a:pPr>
            <a:r>
              <a:rPr lang="en-US" sz="1500" dirty="0">
                <a:solidFill>
                  <a:srgbClr val="1F3B47"/>
                </a:solidFill>
                <a:latin typeface="Calibri" pitchFamily="34" charset="0"/>
                <a:ea typeface="Calibri" pitchFamily="34" charset="-122"/>
                <a:cs typeface="Calibri" pitchFamily="34" charset="-120"/>
              </a:rPr>
              <a:t>These systems stored groups of records in separate files, and so they were called file processing systems.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File Oriented Approach</a:t>
            </a:r>
            <a:endParaRPr lang="en-US" sz="3000" dirty="0"/>
          </a:p>
        </p:txBody>
      </p:sp>
      <p:sp>
        <p:nvSpPr>
          <p:cNvPr id="7" name="Text 5"/>
          <p:cNvSpPr txBox="1"/>
          <p:nvPr/>
        </p:nvSpPr>
        <p:spPr>
          <a:xfrm>
            <a:off x="640080" y="1005840"/>
            <a:ext cx="7863840" cy="3840480"/>
          </a:xfrm>
          <a:prstGeom prst="rect">
            <a:avLst/>
          </a:prstGeom>
          <a:noFill/>
          <a:ln/>
        </p:spPr>
        <p:txBody>
          <a:bodyPr wrap="square" lIns="0" tIns="0" rIns="0" bIns="0" rtlCol="0" anchor="t"/>
          <a:lstStyle/>
          <a:p>
            <a:pPr marL="342900" indent="-342900">
              <a:spcAft>
                <a:spcPts val="700"/>
              </a:spcAft>
              <a:buSzPct val="100000"/>
              <a:buChar char="•"/>
            </a:pPr>
            <a:r>
              <a:rPr lang="en-US" sz="1500" dirty="0">
                <a:solidFill>
                  <a:srgbClr val="1F3B47"/>
                </a:solidFill>
                <a:latin typeface="Calibri" pitchFamily="34" charset="0"/>
                <a:ea typeface="Calibri" pitchFamily="34" charset="-122"/>
                <a:cs typeface="Calibri" pitchFamily="34" charset="-120"/>
              </a:rPr>
              <a:t>File system is a collection of data. For any management with the file system, the user has to write the procedures.</a:t>
            </a:r>
            <a:endParaRPr lang="en-US" sz="1500" dirty="0"/>
          </a:p>
          <a:p>
            <a:pPr marL="342900" indent="-342900">
              <a:spcAft>
                <a:spcPts val="700"/>
              </a:spcAft>
              <a:buSzPct val="100000"/>
              <a:buChar char="•"/>
            </a:pPr>
            <a:r>
              <a:rPr lang="en-US" sz="1500" dirty="0">
                <a:solidFill>
                  <a:srgbClr val="1F3B47"/>
                </a:solidFill>
                <a:latin typeface="Calibri" pitchFamily="34" charset="0"/>
                <a:ea typeface="Calibri" pitchFamily="34" charset="-122"/>
                <a:cs typeface="Calibri" pitchFamily="34" charset="-120"/>
              </a:rPr>
              <a:t>File system gives the details of the data representation and storage of data.</a:t>
            </a:r>
            <a:endParaRPr lang="en-US" sz="1500" dirty="0"/>
          </a:p>
          <a:p>
            <a:pPr marL="342900" indent="-342900">
              <a:spcAft>
                <a:spcPts val="700"/>
              </a:spcAft>
              <a:buSzPct val="100000"/>
              <a:buChar char="•"/>
            </a:pPr>
            <a:r>
              <a:rPr lang="en-US" sz="1500" dirty="0">
                <a:solidFill>
                  <a:srgbClr val="1F3B47"/>
                </a:solidFill>
                <a:latin typeface="Calibri" pitchFamily="34" charset="0"/>
                <a:ea typeface="Calibri" pitchFamily="34" charset="-122"/>
                <a:cs typeface="Calibri" pitchFamily="34" charset="-120"/>
              </a:rPr>
              <a:t>In a file system, storing and retrieving of data cannot be done efficiently.</a:t>
            </a:r>
            <a:endParaRPr lang="en-US" sz="1500" dirty="0"/>
          </a:p>
          <a:p>
            <a:pPr marL="342900" indent="-342900">
              <a:spcAft>
                <a:spcPts val="700"/>
              </a:spcAft>
              <a:buSzPct val="100000"/>
              <a:buChar char="•"/>
            </a:pPr>
            <a:r>
              <a:rPr lang="en-US" sz="1500" dirty="0">
                <a:solidFill>
                  <a:srgbClr val="1F3B47"/>
                </a:solidFill>
                <a:latin typeface="Calibri" pitchFamily="34" charset="0"/>
                <a:ea typeface="Calibri" pitchFamily="34" charset="-122"/>
                <a:cs typeface="Calibri" pitchFamily="34" charset="-120"/>
              </a:rPr>
              <a:t>Concurrent access to the data in the file system has many problems, like reading the file while another user is deleting or updating some information.</a:t>
            </a:r>
            <a:endParaRPr lang="en-US" sz="1500" dirty="0"/>
          </a:p>
          <a:p>
            <a:pPr marL="342900" indent="-342900">
              <a:spcAft>
                <a:spcPts val="700"/>
              </a:spcAft>
              <a:buSzPct val="100000"/>
              <a:buChar char="•"/>
            </a:pPr>
            <a:r>
              <a:rPr lang="en-US" sz="1500" dirty="0">
                <a:solidFill>
                  <a:srgbClr val="1F3B47"/>
                </a:solidFill>
                <a:latin typeface="Calibri" pitchFamily="34" charset="0"/>
                <a:ea typeface="Calibri" pitchFamily="34" charset="-122"/>
                <a:cs typeface="Calibri" pitchFamily="34" charset="-120"/>
              </a:rPr>
              <a:t>File system does not provide a crash recovery mechanism. For example, if the system crashes while we are entering data into a file, the content of the file is completely lost.</a:t>
            </a:r>
            <a:endParaRPr lang="en-US" sz="1500" dirty="0"/>
          </a:p>
          <a:p>
            <a:pPr marL="342900" indent="-342900">
              <a:spcAft>
                <a:spcPts val="700"/>
              </a:spcAft>
              <a:buSzPct val="100000"/>
              <a:buChar char="•"/>
            </a:pPr>
            <a:r>
              <a:rPr lang="en-US" sz="1500" dirty="0">
                <a:solidFill>
                  <a:srgbClr val="1F3B47"/>
                </a:solidFill>
                <a:latin typeface="Calibri" pitchFamily="34" charset="0"/>
                <a:ea typeface="Calibri" pitchFamily="34" charset="-122"/>
                <a:cs typeface="Calibri" pitchFamily="34" charset="-120"/>
              </a:rPr>
              <a:t>Protecting a file under a file system is very difficult.</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File Oriented Approach</a:t>
            </a:r>
            <a:endParaRPr lang="en-US" sz="3000" dirty="0"/>
          </a:p>
        </p:txBody>
      </p:sp>
      <p:sp>
        <p:nvSpPr>
          <p:cNvPr id="7" name="Text 5"/>
          <p:cNvSpPr txBox="1"/>
          <p:nvPr/>
        </p:nvSpPr>
        <p:spPr>
          <a:xfrm>
            <a:off x="640080" y="960120"/>
            <a:ext cx="7863840" cy="105156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1F3B47"/>
                </a:solidFill>
                <a:latin typeface="Calibri" pitchFamily="34" charset="0"/>
                <a:ea typeface="Calibri" pitchFamily="34" charset="-122"/>
                <a:cs typeface="Calibri" pitchFamily="34" charset="-120"/>
              </a:rPr>
              <a:t>The typical file-oriented system is supported by a conventional operating system.</a:t>
            </a:r>
            <a:endParaRPr lang="en-US" sz="1450" dirty="0"/>
          </a:p>
          <a:p>
            <a:pPr marL="342900" indent="-342900">
              <a:spcAft>
                <a:spcPts val="400"/>
              </a:spcAft>
              <a:buSzPct val="100000"/>
              <a:buChar char="•"/>
            </a:pPr>
            <a:r>
              <a:rPr lang="en-US" sz="1450" dirty="0">
                <a:solidFill>
                  <a:srgbClr val="1F3B47"/>
                </a:solidFill>
                <a:latin typeface="Calibri" pitchFamily="34" charset="0"/>
                <a:ea typeface="Calibri" pitchFamily="34" charset="-122"/>
                <a:cs typeface="Calibri" pitchFamily="34" charset="-120"/>
              </a:rPr>
              <a:t>Permanent records are stored in various files and a number of different application programs are written to extract records from and add records to the appropriate files.</a:t>
            </a:r>
            <a:endParaRPr lang="en-US" sz="1450" dirty="0"/>
          </a:p>
        </p:txBody>
      </p:sp>
      <p:sp>
        <p:nvSpPr>
          <p:cNvPr id="8" name="Shape 6"/>
          <p:cNvSpPr/>
          <p:nvPr/>
        </p:nvSpPr>
        <p:spPr>
          <a:xfrm>
            <a:off x="868680" y="2103120"/>
            <a:ext cx="1371600" cy="502920"/>
          </a:xfrm>
          <a:prstGeom prst="rect">
            <a:avLst/>
          </a:prstGeom>
          <a:solidFill>
            <a:srgbClr val="143F4F"/>
          </a:solidFill>
          <a:ln/>
        </p:spPr>
        <p:txBody>
          <a:bodyPr/>
          <a:lstStyle/>
          <a:p>
            <a:endParaRPr lang="en-US"/>
          </a:p>
        </p:txBody>
      </p:sp>
      <p:sp>
        <p:nvSpPr>
          <p:cNvPr id="9" name="Text 7"/>
          <p:cNvSpPr txBox="1"/>
          <p:nvPr/>
        </p:nvSpPr>
        <p:spPr>
          <a:xfrm>
            <a:off x="868680" y="2103120"/>
            <a:ext cx="13716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Customer Orders</a:t>
            </a:r>
            <a:endParaRPr lang="en-US" sz="1150" dirty="0"/>
          </a:p>
        </p:txBody>
      </p:sp>
      <p:sp>
        <p:nvSpPr>
          <p:cNvPr id="10" name="Shape 8"/>
          <p:cNvSpPr/>
          <p:nvPr/>
        </p:nvSpPr>
        <p:spPr>
          <a:xfrm flipH="1">
            <a:off x="914400" y="2606040"/>
            <a:ext cx="640080" cy="640080"/>
          </a:xfrm>
          <a:prstGeom prst="line">
            <a:avLst/>
          </a:prstGeom>
          <a:noFill/>
          <a:ln w="12700">
            <a:solidFill>
              <a:srgbClr val="7A8B92"/>
            </a:solidFill>
            <a:prstDash val="solid"/>
            <a:tailEnd type="triangle"/>
          </a:ln>
        </p:spPr>
        <p:txBody>
          <a:bodyPr/>
          <a:lstStyle/>
          <a:p>
            <a:endParaRPr lang="en-US"/>
          </a:p>
        </p:txBody>
      </p:sp>
      <p:sp>
        <p:nvSpPr>
          <p:cNvPr id="11" name="Shape 9"/>
          <p:cNvSpPr/>
          <p:nvPr/>
        </p:nvSpPr>
        <p:spPr>
          <a:xfrm>
            <a:off x="630936" y="3246120"/>
            <a:ext cx="566928" cy="685800"/>
          </a:xfrm>
          <a:prstGeom prst="flowChartDocument">
            <a:avLst/>
          </a:prstGeom>
          <a:solidFill>
            <a:srgbClr val="FFFFFF"/>
          </a:solidFill>
          <a:ln w="9525">
            <a:solidFill>
              <a:srgbClr val="143F4F"/>
            </a:solidFill>
            <a:prstDash val="solid"/>
          </a:ln>
        </p:spPr>
        <p:txBody>
          <a:bodyPr/>
          <a:lstStyle/>
          <a:p>
            <a:endParaRPr lang="en-US"/>
          </a:p>
        </p:txBody>
      </p:sp>
      <p:sp>
        <p:nvSpPr>
          <p:cNvPr id="12" name="Text 10"/>
          <p:cNvSpPr txBox="1"/>
          <p:nvPr/>
        </p:nvSpPr>
        <p:spPr>
          <a:xfrm>
            <a:off x="63093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Customer</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13" name="Shape 11"/>
          <p:cNvSpPr/>
          <p:nvPr/>
        </p:nvSpPr>
        <p:spPr>
          <a:xfrm>
            <a:off x="1554480" y="2606040"/>
            <a:ext cx="914" cy="640080"/>
          </a:xfrm>
          <a:prstGeom prst="line">
            <a:avLst/>
          </a:prstGeom>
          <a:noFill/>
          <a:ln w="12700">
            <a:solidFill>
              <a:srgbClr val="7A8B92"/>
            </a:solidFill>
            <a:prstDash val="solid"/>
            <a:tailEnd type="triangle"/>
          </a:ln>
        </p:spPr>
        <p:txBody>
          <a:bodyPr/>
          <a:lstStyle/>
          <a:p>
            <a:endParaRPr lang="en-US"/>
          </a:p>
        </p:txBody>
      </p:sp>
      <p:sp>
        <p:nvSpPr>
          <p:cNvPr id="14" name="Shape 12"/>
          <p:cNvSpPr/>
          <p:nvPr/>
        </p:nvSpPr>
        <p:spPr>
          <a:xfrm>
            <a:off x="1271016" y="3246120"/>
            <a:ext cx="566928" cy="685800"/>
          </a:xfrm>
          <a:prstGeom prst="flowChartDocument">
            <a:avLst/>
          </a:prstGeom>
          <a:solidFill>
            <a:srgbClr val="E3F3F0"/>
          </a:solidFill>
          <a:ln w="9525">
            <a:solidFill>
              <a:srgbClr val="143F4F"/>
            </a:solidFill>
            <a:prstDash val="solid"/>
          </a:ln>
        </p:spPr>
        <p:txBody>
          <a:bodyPr/>
          <a:lstStyle/>
          <a:p>
            <a:endParaRPr lang="en-US"/>
          </a:p>
        </p:txBody>
      </p:sp>
      <p:sp>
        <p:nvSpPr>
          <p:cNvPr id="15" name="Text 13"/>
          <p:cNvSpPr txBox="1"/>
          <p:nvPr/>
        </p:nvSpPr>
        <p:spPr>
          <a:xfrm>
            <a:off x="127101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Stock</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16" name="Shape 14"/>
          <p:cNvSpPr/>
          <p:nvPr/>
        </p:nvSpPr>
        <p:spPr>
          <a:xfrm>
            <a:off x="1554480" y="2606040"/>
            <a:ext cx="640080" cy="640080"/>
          </a:xfrm>
          <a:prstGeom prst="line">
            <a:avLst/>
          </a:prstGeom>
          <a:noFill/>
          <a:ln w="12700">
            <a:solidFill>
              <a:srgbClr val="7A8B92"/>
            </a:solidFill>
            <a:prstDash val="solid"/>
            <a:tailEnd type="triangle"/>
          </a:ln>
        </p:spPr>
        <p:txBody>
          <a:bodyPr/>
          <a:lstStyle/>
          <a:p>
            <a:endParaRPr lang="en-US"/>
          </a:p>
        </p:txBody>
      </p:sp>
      <p:sp>
        <p:nvSpPr>
          <p:cNvPr id="17" name="Shape 15"/>
          <p:cNvSpPr/>
          <p:nvPr/>
        </p:nvSpPr>
        <p:spPr>
          <a:xfrm>
            <a:off x="1911096" y="3246120"/>
            <a:ext cx="566928" cy="685800"/>
          </a:xfrm>
          <a:prstGeom prst="flowChartDocument">
            <a:avLst/>
          </a:prstGeom>
          <a:solidFill>
            <a:srgbClr val="FFFFFF"/>
          </a:solidFill>
          <a:ln w="9525">
            <a:solidFill>
              <a:srgbClr val="143F4F"/>
            </a:solidFill>
            <a:prstDash val="solid"/>
          </a:ln>
        </p:spPr>
        <p:txBody>
          <a:bodyPr/>
          <a:lstStyle/>
          <a:p>
            <a:endParaRPr lang="en-US"/>
          </a:p>
        </p:txBody>
      </p:sp>
      <p:sp>
        <p:nvSpPr>
          <p:cNvPr id="18" name="Text 16"/>
          <p:cNvSpPr txBox="1"/>
          <p:nvPr/>
        </p:nvSpPr>
        <p:spPr>
          <a:xfrm>
            <a:off x="191109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Order</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19" name="Shape 17"/>
          <p:cNvSpPr/>
          <p:nvPr/>
        </p:nvSpPr>
        <p:spPr>
          <a:xfrm>
            <a:off x="2788920" y="2103120"/>
            <a:ext cx="1371600" cy="502920"/>
          </a:xfrm>
          <a:prstGeom prst="rect">
            <a:avLst/>
          </a:prstGeom>
          <a:solidFill>
            <a:srgbClr val="143F4F"/>
          </a:solidFill>
          <a:ln/>
        </p:spPr>
        <p:txBody>
          <a:bodyPr/>
          <a:lstStyle/>
          <a:p>
            <a:endParaRPr lang="en-US"/>
          </a:p>
        </p:txBody>
      </p:sp>
      <p:sp>
        <p:nvSpPr>
          <p:cNvPr id="20" name="Text 18"/>
          <p:cNvSpPr txBox="1"/>
          <p:nvPr/>
        </p:nvSpPr>
        <p:spPr>
          <a:xfrm>
            <a:off x="2788920" y="2103120"/>
            <a:ext cx="13716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Customer Invoicing</a:t>
            </a:r>
            <a:endParaRPr lang="en-US" sz="1150" dirty="0"/>
          </a:p>
        </p:txBody>
      </p:sp>
      <p:sp>
        <p:nvSpPr>
          <p:cNvPr id="21" name="Shape 19"/>
          <p:cNvSpPr/>
          <p:nvPr/>
        </p:nvSpPr>
        <p:spPr>
          <a:xfrm flipH="1">
            <a:off x="2834640" y="2606040"/>
            <a:ext cx="640080" cy="640080"/>
          </a:xfrm>
          <a:prstGeom prst="line">
            <a:avLst/>
          </a:prstGeom>
          <a:noFill/>
          <a:ln w="12700">
            <a:solidFill>
              <a:srgbClr val="7A8B92"/>
            </a:solidFill>
            <a:prstDash val="solid"/>
            <a:tailEnd type="triangle"/>
          </a:ln>
        </p:spPr>
        <p:txBody>
          <a:bodyPr/>
          <a:lstStyle/>
          <a:p>
            <a:endParaRPr lang="en-US"/>
          </a:p>
        </p:txBody>
      </p:sp>
      <p:sp>
        <p:nvSpPr>
          <p:cNvPr id="22" name="Shape 20"/>
          <p:cNvSpPr/>
          <p:nvPr/>
        </p:nvSpPr>
        <p:spPr>
          <a:xfrm>
            <a:off x="2551176" y="3246120"/>
            <a:ext cx="566928" cy="685800"/>
          </a:xfrm>
          <a:prstGeom prst="flowChartDocument">
            <a:avLst/>
          </a:prstGeom>
          <a:solidFill>
            <a:srgbClr val="FFFFFF"/>
          </a:solidFill>
          <a:ln w="9525">
            <a:solidFill>
              <a:srgbClr val="143F4F"/>
            </a:solidFill>
            <a:prstDash val="solid"/>
          </a:ln>
        </p:spPr>
        <p:txBody>
          <a:bodyPr/>
          <a:lstStyle/>
          <a:p>
            <a:endParaRPr lang="en-US"/>
          </a:p>
        </p:txBody>
      </p:sp>
      <p:sp>
        <p:nvSpPr>
          <p:cNvPr id="23" name="Text 21"/>
          <p:cNvSpPr txBox="1"/>
          <p:nvPr/>
        </p:nvSpPr>
        <p:spPr>
          <a:xfrm>
            <a:off x="255117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Customer</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24" name="Shape 22"/>
          <p:cNvSpPr/>
          <p:nvPr/>
        </p:nvSpPr>
        <p:spPr>
          <a:xfrm>
            <a:off x="3474720" y="2606040"/>
            <a:ext cx="914" cy="640080"/>
          </a:xfrm>
          <a:prstGeom prst="line">
            <a:avLst/>
          </a:prstGeom>
          <a:noFill/>
          <a:ln w="12700">
            <a:solidFill>
              <a:srgbClr val="7A8B92"/>
            </a:solidFill>
            <a:prstDash val="solid"/>
            <a:tailEnd type="triangle"/>
          </a:ln>
        </p:spPr>
        <p:txBody>
          <a:bodyPr/>
          <a:lstStyle/>
          <a:p>
            <a:endParaRPr lang="en-US"/>
          </a:p>
        </p:txBody>
      </p:sp>
      <p:sp>
        <p:nvSpPr>
          <p:cNvPr id="25" name="Shape 23"/>
          <p:cNvSpPr/>
          <p:nvPr/>
        </p:nvSpPr>
        <p:spPr>
          <a:xfrm>
            <a:off x="3191256" y="3246120"/>
            <a:ext cx="566928" cy="685800"/>
          </a:xfrm>
          <a:prstGeom prst="flowChartDocument">
            <a:avLst/>
          </a:prstGeom>
          <a:solidFill>
            <a:srgbClr val="E3F3F0"/>
          </a:solidFill>
          <a:ln w="9525">
            <a:solidFill>
              <a:srgbClr val="143F4F"/>
            </a:solidFill>
            <a:prstDash val="solid"/>
          </a:ln>
        </p:spPr>
        <p:txBody>
          <a:bodyPr/>
          <a:lstStyle/>
          <a:p>
            <a:endParaRPr lang="en-US"/>
          </a:p>
        </p:txBody>
      </p:sp>
      <p:sp>
        <p:nvSpPr>
          <p:cNvPr id="26" name="Text 24"/>
          <p:cNvSpPr txBox="1"/>
          <p:nvPr/>
        </p:nvSpPr>
        <p:spPr>
          <a:xfrm>
            <a:off x="319125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Stock</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27" name="Shape 25"/>
          <p:cNvSpPr/>
          <p:nvPr/>
        </p:nvSpPr>
        <p:spPr>
          <a:xfrm>
            <a:off x="3474720" y="2606040"/>
            <a:ext cx="640080" cy="640080"/>
          </a:xfrm>
          <a:prstGeom prst="line">
            <a:avLst/>
          </a:prstGeom>
          <a:noFill/>
          <a:ln w="12700">
            <a:solidFill>
              <a:srgbClr val="7A8B92"/>
            </a:solidFill>
            <a:prstDash val="solid"/>
            <a:tailEnd type="triangle"/>
          </a:ln>
        </p:spPr>
        <p:txBody>
          <a:bodyPr/>
          <a:lstStyle/>
          <a:p>
            <a:endParaRPr lang="en-US"/>
          </a:p>
        </p:txBody>
      </p:sp>
      <p:sp>
        <p:nvSpPr>
          <p:cNvPr id="28" name="Shape 26"/>
          <p:cNvSpPr/>
          <p:nvPr/>
        </p:nvSpPr>
        <p:spPr>
          <a:xfrm>
            <a:off x="3831336" y="3246120"/>
            <a:ext cx="566928" cy="685800"/>
          </a:xfrm>
          <a:prstGeom prst="flowChartDocument">
            <a:avLst/>
          </a:prstGeom>
          <a:solidFill>
            <a:srgbClr val="FFFFFF"/>
          </a:solidFill>
          <a:ln w="9525">
            <a:solidFill>
              <a:srgbClr val="143F4F"/>
            </a:solidFill>
            <a:prstDash val="solid"/>
          </a:ln>
        </p:spPr>
        <p:txBody>
          <a:bodyPr/>
          <a:lstStyle/>
          <a:p>
            <a:endParaRPr lang="en-US"/>
          </a:p>
        </p:txBody>
      </p:sp>
      <p:sp>
        <p:nvSpPr>
          <p:cNvPr id="29" name="Text 27"/>
          <p:cNvSpPr txBox="1"/>
          <p:nvPr/>
        </p:nvSpPr>
        <p:spPr>
          <a:xfrm>
            <a:off x="383133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Order</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30" name="Shape 28"/>
          <p:cNvSpPr/>
          <p:nvPr/>
        </p:nvSpPr>
        <p:spPr>
          <a:xfrm>
            <a:off x="4709160" y="2103120"/>
            <a:ext cx="1371600" cy="502920"/>
          </a:xfrm>
          <a:prstGeom prst="rect">
            <a:avLst/>
          </a:prstGeom>
          <a:solidFill>
            <a:srgbClr val="143F4F"/>
          </a:solidFill>
          <a:ln/>
        </p:spPr>
        <p:txBody>
          <a:bodyPr/>
          <a:lstStyle/>
          <a:p>
            <a:endParaRPr lang="en-US"/>
          </a:p>
        </p:txBody>
      </p:sp>
      <p:sp>
        <p:nvSpPr>
          <p:cNvPr id="31" name="Text 29"/>
          <p:cNvSpPr txBox="1"/>
          <p:nvPr/>
        </p:nvSpPr>
        <p:spPr>
          <a:xfrm>
            <a:off x="4709160" y="2103120"/>
            <a:ext cx="13716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Purchase Orders</a:t>
            </a:r>
            <a:endParaRPr lang="en-US" sz="1150" dirty="0"/>
          </a:p>
        </p:txBody>
      </p:sp>
      <p:sp>
        <p:nvSpPr>
          <p:cNvPr id="32" name="Shape 30"/>
          <p:cNvSpPr/>
          <p:nvPr/>
        </p:nvSpPr>
        <p:spPr>
          <a:xfrm flipH="1">
            <a:off x="5074920" y="2606040"/>
            <a:ext cx="320040" cy="640080"/>
          </a:xfrm>
          <a:prstGeom prst="line">
            <a:avLst/>
          </a:prstGeom>
          <a:noFill/>
          <a:ln w="12700">
            <a:solidFill>
              <a:srgbClr val="7A8B92"/>
            </a:solidFill>
            <a:prstDash val="solid"/>
            <a:tailEnd type="triangle"/>
          </a:ln>
        </p:spPr>
        <p:txBody>
          <a:bodyPr/>
          <a:lstStyle/>
          <a:p>
            <a:endParaRPr lang="en-US"/>
          </a:p>
        </p:txBody>
      </p:sp>
      <p:sp>
        <p:nvSpPr>
          <p:cNvPr id="33" name="Shape 31"/>
          <p:cNvSpPr/>
          <p:nvPr/>
        </p:nvSpPr>
        <p:spPr>
          <a:xfrm>
            <a:off x="4791456" y="3246120"/>
            <a:ext cx="566928" cy="685800"/>
          </a:xfrm>
          <a:prstGeom prst="flowChartDocument">
            <a:avLst/>
          </a:prstGeom>
          <a:solidFill>
            <a:srgbClr val="E3F3F0"/>
          </a:solidFill>
          <a:ln w="9525">
            <a:solidFill>
              <a:srgbClr val="143F4F"/>
            </a:solidFill>
            <a:prstDash val="solid"/>
          </a:ln>
        </p:spPr>
        <p:txBody>
          <a:bodyPr/>
          <a:lstStyle/>
          <a:p>
            <a:endParaRPr lang="en-US"/>
          </a:p>
        </p:txBody>
      </p:sp>
      <p:sp>
        <p:nvSpPr>
          <p:cNvPr id="34" name="Text 32"/>
          <p:cNvSpPr txBox="1"/>
          <p:nvPr/>
        </p:nvSpPr>
        <p:spPr>
          <a:xfrm>
            <a:off x="479145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Stock</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35" name="Shape 33"/>
          <p:cNvSpPr/>
          <p:nvPr/>
        </p:nvSpPr>
        <p:spPr>
          <a:xfrm>
            <a:off x="5394960" y="2606040"/>
            <a:ext cx="320040" cy="640080"/>
          </a:xfrm>
          <a:prstGeom prst="line">
            <a:avLst/>
          </a:prstGeom>
          <a:noFill/>
          <a:ln w="12700">
            <a:solidFill>
              <a:srgbClr val="7A8B92"/>
            </a:solidFill>
            <a:prstDash val="solid"/>
            <a:tailEnd type="triangle"/>
          </a:ln>
        </p:spPr>
        <p:txBody>
          <a:bodyPr/>
          <a:lstStyle/>
          <a:p>
            <a:endParaRPr lang="en-US"/>
          </a:p>
        </p:txBody>
      </p:sp>
      <p:sp>
        <p:nvSpPr>
          <p:cNvPr id="36" name="Shape 34"/>
          <p:cNvSpPr/>
          <p:nvPr/>
        </p:nvSpPr>
        <p:spPr>
          <a:xfrm>
            <a:off x="5431536" y="3246120"/>
            <a:ext cx="566928" cy="685800"/>
          </a:xfrm>
          <a:prstGeom prst="flowChartDocument">
            <a:avLst/>
          </a:prstGeom>
          <a:solidFill>
            <a:srgbClr val="FFFFFF"/>
          </a:solidFill>
          <a:ln w="9525">
            <a:solidFill>
              <a:srgbClr val="143F4F"/>
            </a:solidFill>
            <a:prstDash val="solid"/>
          </a:ln>
        </p:spPr>
        <p:txBody>
          <a:bodyPr/>
          <a:lstStyle/>
          <a:p>
            <a:endParaRPr lang="en-US"/>
          </a:p>
        </p:txBody>
      </p:sp>
      <p:sp>
        <p:nvSpPr>
          <p:cNvPr id="37" name="Text 35"/>
          <p:cNvSpPr txBox="1"/>
          <p:nvPr/>
        </p:nvSpPr>
        <p:spPr>
          <a:xfrm>
            <a:off x="543153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Supplier</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38" name="Shape 36"/>
          <p:cNvSpPr/>
          <p:nvPr/>
        </p:nvSpPr>
        <p:spPr>
          <a:xfrm>
            <a:off x="6629400" y="2103120"/>
            <a:ext cx="1371600" cy="502920"/>
          </a:xfrm>
          <a:prstGeom prst="rect">
            <a:avLst/>
          </a:prstGeom>
          <a:solidFill>
            <a:srgbClr val="143F4F"/>
          </a:solidFill>
          <a:ln/>
        </p:spPr>
        <p:txBody>
          <a:bodyPr/>
          <a:lstStyle/>
          <a:p>
            <a:endParaRPr lang="en-US"/>
          </a:p>
        </p:txBody>
      </p:sp>
      <p:sp>
        <p:nvSpPr>
          <p:cNvPr id="39" name="Text 37"/>
          <p:cNvSpPr txBox="1"/>
          <p:nvPr/>
        </p:nvSpPr>
        <p:spPr>
          <a:xfrm>
            <a:off x="6629400" y="2103120"/>
            <a:ext cx="137160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Stock Control</a:t>
            </a:r>
            <a:endParaRPr lang="en-US" sz="1150" dirty="0"/>
          </a:p>
        </p:txBody>
      </p:sp>
      <p:sp>
        <p:nvSpPr>
          <p:cNvPr id="40" name="Shape 38"/>
          <p:cNvSpPr/>
          <p:nvPr/>
        </p:nvSpPr>
        <p:spPr>
          <a:xfrm flipH="1">
            <a:off x="6995160" y="2606040"/>
            <a:ext cx="320040" cy="640080"/>
          </a:xfrm>
          <a:prstGeom prst="line">
            <a:avLst/>
          </a:prstGeom>
          <a:noFill/>
          <a:ln w="12700">
            <a:solidFill>
              <a:srgbClr val="7A8B92"/>
            </a:solidFill>
            <a:prstDash val="solid"/>
            <a:tailEnd type="triangle"/>
          </a:ln>
        </p:spPr>
        <p:txBody>
          <a:bodyPr/>
          <a:lstStyle/>
          <a:p>
            <a:endParaRPr lang="en-US"/>
          </a:p>
        </p:txBody>
      </p:sp>
      <p:sp>
        <p:nvSpPr>
          <p:cNvPr id="41" name="Shape 39"/>
          <p:cNvSpPr/>
          <p:nvPr/>
        </p:nvSpPr>
        <p:spPr>
          <a:xfrm>
            <a:off x="6711696" y="3246120"/>
            <a:ext cx="566928" cy="685800"/>
          </a:xfrm>
          <a:prstGeom prst="flowChartDocument">
            <a:avLst/>
          </a:prstGeom>
          <a:solidFill>
            <a:srgbClr val="E3F3F0"/>
          </a:solidFill>
          <a:ln w="9525">
            <a:solidFill>
              <a:srgbClr val="143F4F"/>
            </a:solidFill>
            <a:prstDash val="solid"/>
          </a:ln>
        </p:spPr>
        <p:txBody>
          <a:bodyPr/>
          <a:lstStyle/>
          <a:p>
            <a:endParaRPr lang="en-US"/>
          </a:p>
        </p:txBody>
      </p:sp>
      <p:sp>
        <p:nvSpPr>
          <p:cNvPr id="42" name="Text 40"/>
          <p:cNvSpPr txBox="1"/>
          <p:nvPr/>
        </p:nvSpPr>
        <p:spPr>
          <a:xfrm>
            <a:off x="671169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Stock</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
        <p:nvSpPr>
          <p:cNvPr id="43" name="Shape 41"/>
          <p:cNvSpPr/>
          <p:nvPr/>
        </p:nvSpPr>
        <p:spPr>
          <a:xfrm>
            <a:off x="7315200" y="2606040"/>
            <a:ext cx="320040" cy="640080"/>
          </a:xfrm>
          <a:prstGeom prst="line">
            <a:avLst/>
          </a:prstGeom>
          <a:noFill/>
          <a:ln w="12700">
            <a:solidFill>
              <a:srgbClr val="7A8B92"/>
            </a:solidFill>
            <a:prstDash val="solid"/>
            <a:tailEnd type="triangle"/>
          </a:ln>
        </p:spPr>
        <p:txBody>
          <a:bodyPr/>
          <a:lstStyle/>
          <a:p>
            <a:endParaRPr lang="en-US"/>
          </a:p>
        </p:txBody>
      </p:sp>
      <p:sp>
        <p:nvSpPr>
          <p:cNvPr id="44" name="Shape 42"/>
          <p:cNvSpPr/>
          <p:nvPr/>
        </p:nvSpPr>
        <p:spPr>
          <a:xfrm>
            <a:off x="7351776" y="3246120"/>
            <a:ext cx="566928" cy="685800"/>
          </a:xfrm>
          <a:prstGeom prst="flowChartDocument">
            <a:avLst/>
          </a:prstGeom>
          <a:solidFill>
            <a:srgbClr val="FFFFFF"/>
          </a:solidFill>
          <a:ln w="9525">
            <a:solidFill>
              <a:srgbClr val="143F4F"/>
            </a:solidFill>
            <a:prstDash val="solid"/>
          </a:ln>
        </p:spPr>
        <p:txBody>
          <a:bodyPr/>
          <a:lstStyle/>
          <a:p>
            <a:endParaRPr lang="en-US"/>
          </a:p>
        </p:txBody>
      </p:sp>
      <p:sp>
        <p:nvSpPr>
          <p:cNvPr id="45" name="Text 43"/>
          <p:cNvSpPr txBox="1"/>
          <p:nvPr/>
        </p:nvSpPr>
        <p:spPr>
          <a:xfrm>
            <a:off x="7351776" y="3246120"/>
            <a:ext cx="566928" cy="566928"/>
          </a:xfrm>
          <a:prstGeom prst="rect">
            <a:avLst/>
          </a:prstGeom>
          <a:noFill/>
          <a:ln/>
        </p:spPr>
        <p:txBody>
          <a:bodyPr wrap="square" lIns="0" tIns="0" rIns="0" bIns="0" rtlCol="0" anchor="ctr"/>
          <a:lstStyle/>
          <a:p>
            <a:pPr marL="0" indent="0" algn="ctr">
              <a:buNone/>
            </a:pPr>
            <a:r>
              <a:rPr lang="en-US" sz="950" dirty="0">
                <a:solidFill>
                  <a:srgbClr val="1F3B47"/>
                </a:solidFill>
                <a:latin typeface="Calibri" pitchFamily="34" charset="0"/>
                <a:ea typeface="Calibri" pitchFamily="34" charset="-122"/>
                <a:cs typeface="Calibri" pitchFamily="34" charset="-120"/>
              </a:rPr>
              <a:t>Order</a:t>
            </a:r>
            <a:endParaRPr lang="en-US" sz="950" dirty="0"/>
          </a:p>
          <a:p>
            <a:pPr marL="0" indent="0" algn="ctr">
              <a:buNone/>
            </a:pPr>
            <a:r>
              <a:rPr lang="en-US" sz="950" dirty="0">
                <a:solidFill>
                  <a:srgbClr val="1F3B47"/>
                </a:solidFill>
                <a:latin typeface="Calibri" pitchFamily="34" charset="0"/>
                <a:ea typeface="Calibri" pitchFamily="34" charset="-122"/>
                <a:cs typeface="Calibri" pitchFamily="34" charset="-120"/>
              </a:rPr>
              <a:t>File</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13</a:t>
            </a:r>
            <a:endParaRPr lang="en-US" sz="1400" dirty="0"/>
          </a:p>
        </p:txBody>
      </p:sp>
      <p:sp>
        <p:nvSpPr>
          <p:cNvPr id="6" name="Shape 4"/>
          <p:cNvSpPr/>
          <p:nvPr/>
        </p:nvSpPr>
        <p:spPr>
          <a:xfrm>
            <a:off x="-274320" y="1097280"/>
            <a:ext cx="3566160" cy="2560320"/>
          </a:xfrm>
          <a:prstGeom prst="roundRect">
            <a:avLst>
              <a:gd name="adj" fmla="val 10714"/>
            </a:avLst>
          </a:prstGeom>
          <a:solidFill>
            <a:srgbClr val="143F4F"/>
          </a:solidFill>
          <a:ln/>
        </p:spPr>
        <p:txBody>
          <a:bodyPr/>
          <a:lstStyle/>
          <a:p>
            <a:endParaRPr lang="en-US"/>
          </a:p>
        </p:txBody>
      </p:sp>
      <p:sp>
        <p:nvSpPr>
          <p:cNvPr id="7" name="Text 5"/>
          <p:cNvSpPr txBox="1"/>
          <p:nvPr/>
        </p:nvSpPr>
        <p:spPr>
          <a:xfrm>
            <a:off x="182880" y="1097280"/>
            <a:ext cx="2926080" cy="2560320"/>
          </a:xfrm>
          <a:prstGeom prst="rect">
            <a:avLst/>
          </a:prstGeom>
          <a:noFill/>
          <a:ln/>
        </p:spPr>
        <p:txBody>
          <a:bodyPr wrap="square" lIns="0" tIns="0" rIns="0" bIns="0" rtlCol="0" anchor="ctr"/>
          <a:lstStyle/>
          <a:p>
            <a:pPr marL="0" indent="0" algn="r">
              <a:buNone/>
            </a:pPr>
            <a:r>
              <a:rPr lang="en-US" sz="3000" b="1" dirty="0">
                <a:solidFill>
                  <a:srgbClr val="FFFFFF"/>
                </a:solidFill>
                <a:latin typeface="Century Schoolbook" pitchFamily="34" charset="0"/>
                <a:ea typeface="Century Schoolbook" pitchFamily="34" charset="-122"/>
                <a:cs typeface="Century Schoolbook" pitchFamily="34" charset="-120"/>
              </a:rPr>
              <a:t>File Oriented</a:t>
            </a:r>
            <a:endParaRPr lang="en-US" sz="3000" dirty="0"/>
          </a:p>
          <a:p>
            <a:pPr marL="0" indent="0" algn="r">
              <a:buNone/>
            </a:pPr>
            <a:r>
              <a:rPr lang="en-US" sz="3000" b="1" dirty="0">
                <a:solidFill>
                  <a:srgbClr val="FFFFFF"/>
                </a:solidFill>
                <a:latin typeface="Century Schoolbook" pitchFamily="34" charset="0"/>
                <a:ea typeface="Century Schoolbook" pitchFamily="34" charset="-122"/>
                <a:cs typeface="Century Schoolbook" pitchFamily="34" charset="-120"/>
              </a:rPr>
              <a:t>System</a:t>
            </a:r>
            <a:endParaRPr lang="en-US" sz="3000" dirty="0"/>
          </a:p>
        </p:txBody>
      </p:sp>
      <p:sp>
        <p:nvSpPr>
          <p:cNvPr id="8" name="Text 6"/>
          <p:cNvSpPr txBox="1"/>
          <p:nvPr/>
        </p:nvSpPr>
        <p:spPr>
          <a:xfrm>
            <a:off x="3657600" y="777240"/>
            <a:ext cx="4754880" cy="320040"/>
          </a:xfrm>
          <a:prstGeom prst="rect">
            <a:avLst/>
          </a:prstGeom>
          <a:noFill/>
          <a:ln/>
        </p:spPr>
        <p:txBody>
          <a:bodyPr wrap="square" lIns="0" tIns="0" rIns="0" bIns="0" rtlCol="0" anchor="ctr"/>
          <a:lstStyle/>
          <a:p>
            <a:pPr marL="0" indent="0" algn="ctr">
              <a:buNone/>
            </a:pPr>
            <a:r>
              <a:rPr lang="en-US" sz="1400" b="1" dirty="0">
                <a:solidFill>
                  <a:srgbClr val="143F4F"/>
                </a:solidFill>
                <a:latin typeface="Calibri" pitchFamily="34" charset="0"/>
                <a:ea typeface="Calibri" pitchFamily="34" charset="-122"/>
                <a:cs typeface="Calibri" pitchFamily="34" charset="-120"/>
              </a:rPr>
              <a:t>FAT FILE SYSTEM</a:t>
            </a:r>
            <a:endParaRPr lang="en-US" sz="1400" dirty="0"/>
          </a:p>
        </p:txBody>
      </p:sp>
      <p:sp>
        <p:nvSpPr>
          <p:cNvPr id="9" name="Shape 7"/>
          <p:cNvSpPr/>
          <p:nvPr/>
        </p:nvSpPr>
        <p:spPr>
          <a:xfrm>
            <a:off x="3657600" y="1325880"/>
            <a:ext cx="685800" cy="868680"/>
          </a:xfrm>
          <a:prstGeom prst="rect">
            <a:avLst/>
          </a:prstGeom>
          <a:solidFill>
            <a:srgbClr val="DDF1F4"/>
          </a:solidFill>
          <a:ln/>
        </p:spPr>
        <p:txBody>
          <a:bodyPr/>
          <a:lstStyle/>
          <a:p>
            <a:endParaRPr lang="en-US"/>
          </a:p>
        </p:txBody>
      </p:sp>
      <p:sp>
        <p:nvSpPr>
          <p:cNvPr id="10" name="Text 8"/>
          <p:cNvSpPr txBox="1"/>
          <p:nvPr/>
        </p:nvSpPr>
        <p:spPr>
          <a:xfrm>
            <a:off x="3657600" y="1325880"/>
            <a:ext cx="685800" cy="868680"/>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Boot</a:t>
            </a:r>
            <a:endParaRPr lang="en-US" sz="1100" dirty="0"/>
          </a:p>
          <a:p>
            <a:pPr marL="0" indent="0" algn="ctr">
              <a:buNone/>
            </a:pPr>
            <a:r>
              <a:rPr lang="en-US" sz="1100" b="1" dirty="0">
                <a:solidFill>
                  <a:srgbClr val="143F4F"/>
                </a:solidFill>
                <a:latin typeface="Calibri" pitchFamily="34" charset="0"/>
                <a:ea typeface="Calibri" pitchFamily="34" charset="-122"/>
                <a:cs typeface="Calibri" pitchFamily="34" charset="-120"/>
              </a:rPr>
              <a:t>Sector</a:t>
            </a:r>
            <a:endParaRPr lang="en-US" sz="1100" dirty="0"/>
          </a:p>
        </p:txBody>
      </p:sp>
      <p:sp>
        <p:nvSpPr>
          <p:cNvPr id="11" name="Shape 9"/>
          <p:cNvSpPr/>
          <p:nvPr/>
        </p:nvSpPr>
        <p:spPr>
          <a:xfrm>
            <a:off x="4434840" y="1325880"/>
            <a:ext cx="914400" cy="868680"/>
          </a:xfrm>
          <a:prstGeom prst="rect">
            <a:avLst/>
          </a:prstGeom>
          <a:solidFill>
            <a:srgbClr val="5FD9E0"/>
          </a:solidFill>
          <a:ln/>
        </p:spPr>
        <p:txBody>
          <a:bodyPr/>
          <a:lstStyle/>
          <a:p>
            <a:endParaRPr lang="en-US"/>
          </a:p>
        </p:txBody>
      </p:sp>
      <p:sp>
        <p:nvSpPr>
          <p:cNvPr id="12" name="Text 10"/>
          <p:cNvSpPr txBox="1"/>
          <p:nvPr/>
        </p:nvSpPr>
        <p:spPr>
          <a:xfrm>
            <a:off x="4434840" y="1325880"/>
            <a:ext cx="914400" cy="868680"/>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File</a:t>
            </a:r>
            <a:endParaRPr lang="en-US" sz="1100" dirty="0"/>
          </a:p>
          <a:p>
            <a:pPr marL="0" indent="0" algn="ctr">
              <a:buNone/>
            </a:pPr>
            <a:r>
              <a:rPr lang="en-US" sz="1100" b="1" dirty="0">
                <a:solidFill>
                  <a:srgbClr val="143F4F"/>
                </a:solidFill>
                <a:latin typeface="Calibri" pitchFamily="34" charset="0"/>
                <a:ea typeface="Calibri" pitchFamily="34" charset="-122"/>
                <a:cs typeface="Calibri" pitchFamily="34" charset="-120"/>
              </a:rPr>
              <a:t>Allocation</a:t>
            </a:r>
            <a:endParaRPr lang="en-US" sz="1100" dirty="0"/>
          </a:p>
          <a:p>
            <a:pPr marL="0" indent="0" algn="ctr">
              <a:buNone/>
            </a:pPr>
            <a:r>
              <a:rPr lang="en-US" sz="1100" b="1" dirty="0">
                <a:solidFill>
                  <a:srgbClr val="143F4F"/>
                </a:solidFill>
                <a:latin typeface="Calibri" pitchFamily="34" charset="0"/>
                <a:ea typeface="Calibri" pitchFamily="34" charset="-122"/>
                <a:cs typeface="Calibri" pitchFamily="34" charset="-120"/>
              </a:rPr>
              <a:t>Table</a:t>
            </a:r>
            <a:endParaRPr lang="en-US" sz="1100" dirty="0"/>
          </a:p>
        </p:txBody>
      </p:sp>
      <p:sp>
        <p:nvSpPr>
          <p:cNvPr id="13" name="Shape 11"/>
          <p:cNvSpPr/>
          <p:nvPr/>
        </p:nvSpPr>
        <p:spPr>
          <a:xfrm>
            <a:off x="5440680" y="1325880"/>
            <a:ext cx="685800" cy="868680"/>
          </a:xfrm>
          <a:prstGeom prst="rect">
            <a:avLst/>
          </a:prstGeom>
          <a:solidFill>
            <a:srgbClr val="DDF1F4"/>
          </a:solidFill>
          <a:ln/>
        </p:spPr>
        <p:txBody>
          <a:bodyPr/>
          <a:lstStyle/>
          <a:p>
            <a:endParaRPr lang="en-US"/>
          </a:p>
        </p:txBody>
      </p:sp>
      <p:sp>
        <p:nvSpPr>
          <p:cNvPr id="14" name="Text 12"/>
          <p:cNvSpPr txBox="1"/>
          <p:nvPr/>
        </p:nvSpPr>
        <p:spPr>
          <a:xfrm>
            <a:off x="5440680" y="1325880"/>
            <a:ext cx="685800" cy="868680"/>
          </a:xfrm>
          <a:prstGeom prst="rect">
            <a:avLst/>
          </a:prstGeom>
          <a:noFill/>
          <a:ln/>
        </p:spPr>
        <p:txBody>
          <a:bodyPr wrap="square" lIns="0" tIns="0" rIns="0" bIns="0" rtlCol="0" anchor="ctr"/>
          <a:lstStyle/>
          <a:p>
            <a:pPr marL="0" indent="0" algn="ctr">
              <a:buNone/>
            </a:pPr>
            <a:r>
              <a:rPr lang="en-US" sz="950" b="1" dirty="0">
                <a:solidFill>
                  <a:srgbClr val="143F4F"/>
                </a:solidFill>
                <a:latin typeface="Calibri" pitchFamily="34" charset="0"/>
                <a:ea typeface="Calibri" pitchFamily="34" charset="-122"/>
                <a:cs typeface="Calibri" pitchFamily="34" charset="-120"/>
              </a:rPr>
              <a:t>Root</a:t>
            </a:r>
            <a:endParaRPr lang="en-US" sz="950" dirty="0"/>
          </a:p>
          <a:p>
            <a:pPr marL="0" indent="0" algn="ctr">
              <a:buNone/>
            </a:pPr>
            <a:r>
              <a:rPr lang="en-US" sz="950" b="1" dirty="0">
                <a:solidFill>
                  <a:srgbClr val="143F4F"/>
                </a:solidFill>
                <a:latin typeface="Calibri" pitchFamily="34" charset="0"/>
                <a:ea typeface="Calibri" pitchFamily="34" charset="-122"/>
                <a:cs typeface="Calibri" pitchFamily="34" charset="-120"/>
              </a:rPr>
              <a:t>Directory</a:t>
            </a:r>
            <a:endParaRPr lang="en-US" sz="950" dirty="0"/>
          </a:p>
        </p:txBody>
      </p:sp>
      <p:sp>
        <p:nvSpPr>
          <p:cNvPr id="15" name="Shape 13"/>
          <p:cNvSpPr/>
          <p:nvPr/>
        </p:nvSpPr>
        <p:spPr>
          <a:xfrm>
            <a:off x="6263640" y="1325880"/>
            <a:ext cx="914400" cy="868680"/>
          </a:xfrm>
          <a:prstGeom prst="rect">
            <a:avLst/>
          </a:prstGeom>
          <a:solidFill>
            <a:srgbClr val="F7AE1E"/>
          </a:solidFill>
          <a:ln/>
        </p:spPr>
        <p:txBody>
          <a:bodyPr/>
          <a:lstStyle/>
          <a:p>
            <a:endParaRPr lang="en-US"/>
          </a:p>
        </p:txBody>
      </p:sp>
      <p:sp>
        <p:nvSpPr>
          <p:cNvPr id="16" name="Text 14"/>
          <p:cNvSpPr txBox="1"/>
          <p:nvPr/>
        </p:nvSpPr>
        <p:spPr>
          <a:xfrm>
            <a:off x="6263640" y="1325880"/>
            <a:ext cx="914400" cy="868680"/>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Directory</a:t>
            </a:r>
            <a:endParaRPr lang="en-US" sz="1100" dirty="0"/>
          </a:p>
        </p:txBody>
      </p:sp>
      <p:sp>
        <p:nvSpPr>
          <p:cNvPr id="17" name="Shape 15"/>
          <p:cNvSpPr/>
          <p:nvPr/>
        </p:nvSpPr>
        <p:spPr>
          <a:xfrm>
            <a:off x="7315200" y="1325880"/>
            <a:ext cx="228600" cy="868680"/>
          </a:xfrm>
          <a:prstGeom prst="rect">
            <a:avLst/>
          </a:prstGeom>
          <a:solidFill>
            <a:srgbClr val="5FD9E0"/>
          </a:solidFill>
          <a:ln/>
        </p:spPr>
        <p:txBody>
          <a:bodyPr/>
          <a:lstStyle/>
          <a:p>
            <a:endParaRPr lang="en-US"/>
          </a:p>
        </p:txBody>
      </p:sp>
      <p:sp>
        <p:nvSpPr>
          <p:cNvPr id="18" name="Shape 16"/>
          <p:cNvSpPr/>
          <p:nvPr/>
        </p:nvSpPr>
        <p:spPr>
          <a:xfrm>
            <a:off x="7616952" y="1325880"/>
            <a:ext cx="228600" cy="868680"/>
          </a:xfrm>
          <a:prstGeom prst="rect">
            <a:avLst/>
          </a:prstGeom>
          <a:solidFill>
            <a:srgbClr val="C9EEF2"/>
          </a:solidFill>
          <a:ln/>
        </p:spPr>
        <p:txBody>
          <a:bodyPr/>
          <a:lstStyle/>
          <a:p>
            <a:endParaRPr lang="en-US"/>
          </a:p>
        </p:txBody>
      </p:sp>
      <p:sp>
        <p:nvSpPr>
          <p:cNvPr id="19" name="Shape 17"/>
          <p:cNvSpPr/>
          <p:nvPr/>
        </p:nvSpPr>
        <p:spPr>
          <a:xfrm>
            <a:off x="7918704" y="1325880"/>
            <a:ext cx="228600" cy="868680"/>
          </a:xfrm>
          <a:prstGeom prst="rect">
            <a:avLst/>
          </a:prstGeom>
          <a:solidFill>
            <a:srgbClr val="C9EEF2"/>
          </a:solidFill>
          <a:ln/>
        </p:spPr>
        <p:txBody>
          <a:bodyPr/>
          <a:lstStyle/>
          <a:p>
            <a:endParaRPr lang="en-US"/>
          </a:p>
        </p:txBody>
      </p:sp>
      <p:sp>
        <p:nvSpPr>
          <p:cNvPr id="20" name="Text 18"/>
          <p:cNvSpPr txBox="1"/>
          <p:nvPr/>
        </p:nvSpPr>
        <p:spPr>
          <a:xfrm>
            <a:off x="8220456" y="1325880"/>
            <a:ext cx="228600" cy="868680"/>
          </a:xfrm>
          <a:prstGeom prst="rect">
            <a:avLst/>
          </a:prstGeom>
          <a:solidFill>
            <a:srgbClr val="E5F6F8"/>
          </a:solidFill>
          <a:ln/>
        </p:spPr>
        <p:txBody>
          <a:bodyPr wrap="square" lIns="0" tIns="0" rIns="0" bIns="0" rtlCol="0" anchor="ctr"/>
          <a:lstStyle/>
          <a:p>
            <a:pPr marL="0" indent="0" algn="ctr">
              <a:buNone/>
            </a:pPr>
            <a:r>
              <a:rPr lang="en-US" sz="900" b="1" dirty="0">
                <a:solidFill>
                  <a:srgbClr val="143F4F"/>
                </a:solidFill>
                <a:latin typeface="Calibri" pitchFamily="34" charset="0"/>
                <a:ea typeface="Calibri" pitchFamily="34" charset="-122"/>
                <a:cs typeface="Calibri" pitchFamily="34" charset="-120"/>
              </a:rPr>
              <a:t>E</a:t>
            </a:r>
            <a:endParaRPr lang="en-US" sz="900" dirty="0"/>
          </a:p>
          <a:p>
            <a:pPr marL="0" indent="0" algn="ctr">
              <a:buNone/>
            </a:pPr>
            <a:r>
              <a:rPr lang="en-US" sz="900" b="1" dirty="0">
                <a:solidFill>
                  <a:srgbClr val="143F4F"/>
                </a:solidFill>
                <a:latin typeface="Calibri" pitchFamily="34" charset="0"/>
                <a:ea typeface="Calibri" pitchFamily="34" charset="-122"/>
                <a:cs typeface="Calibri" pitchFamily="34" charset="-120"/>
              </a:rPr>
              <a:t>O</a:t>
            </a:r>
            <a:endParaRPr lang="en-US" sz="900" dirty="0"/>
          </a:p>
          <a:p>
            <a:pPr marL="0" indent="0" algn="ctr">
              <a:buNone/>
            </a:pPr>
            <a:r>
              <a:rPr lang="en-US" sz="900" b="1" dirty="0">
                <a:solidFill>
                  <a:srgbClr val="143F4F"/>
                </a:solidFill>
                <a:latin typeface="Calibri" pitchFamily="34" charset="0"/>
                <a:ea typeface="Calibri" pitchFamily="34" charset="-122"/>
                <a:cs typeface="Calibri" pitchFamily="34" charset="-120"/>
              </a:rPr>
              <a:t>F</a:t>
            </a:r>
            <a:endParaRPr lang="en-US" sz="900" dirty="0"/>
          </a:p>
        </p:txBody>
      </p:sp>
      <p:sp>
        <p:nvSpPr>
          <p:cNvPr id="21" name="Text 19"/>
          <p:cNvSpPr txBox="1"/>
          <p:nvPr/>
        </p:nvSpPr>
        <p:spPr>
          <a:xfrm>
            <a:off x="7315200" y="2240280"/>
            <a:ext cx="1143000" cy="228600"/>
          </a:xfrm>
          <a:prstGeom prst="rect">
            <a:avLst/>
          </a:prstGeom>
          <a:noFill/>
          <a:ln/>
        </p:spPr>
        <p:txBody>
          <a:bodyPr wrap="square" lIns="0" tIns="0" rIns="0" bIns="0" rtlCol="0" anchor="ctr"/>
          <a:lstStyle/>
          <a:p>
            <a:pPr marL="0" indent="0" algn="ctr">
              <a:buNone/>
            </a:pPr>
            <a:r>
              <a:rPr lang="en-US" sz="1000" b="1" dirty="0">
                <a:solidFill>
                  <a:srgbClr val="143F4F"/>
                </a:solidFill>
                <a:latin typeface="Calibri" pitchFamily="34" charset="0"/>
                <a:ea typeface="Calibri" pitchFamily="34" charset="-122"/>
                <a:cs typeface="Calibri" pitchFamily="34" charset="-120"/>
              </a:rPr>
              <a:t>Cluster</a:t>
            </a:r>
            <a:endParaRPr lang="en-US" sz="1000" dirty="0"/>
          </a:p>
        </p:txBody>
      </p:sp>
      <p:sp>
        <p:nvSpPr>
          <p:cNvPr id="22" name="Text 20"/>
          <p:cNvSpPr txBox="1"/>
          <p:nvPr/>
        </p:nvSpPr>
        <p:spPr>
          <a:xfrm>
            <a:off x="3657600" y="2743200"/>
            <a:ext cx="4846320" cy="1188720"/>
          </a:xfrm>
          <a:prstGeom prst="rect">
            <a:avLst/>
          </a:prstGeom>
          <a:noFill/>
          <a:ln/>
        </p:spPr>
        <p:txBody>
          <a:bodyPr wrap="square" lIns="0" tIns="0" rIns="0" bIns="0" rtlCol="0" anchor="ctr"/>
          <a:lstStyle/>
          <a:p>
            <a:pPr marL="0" indent="0" algn="ctr">
              <a:buNone/>
            </a:pPr>
            <a:r>
              <a:rPr lang="en-US" sz="2800" b="1" dirty="0">
                <a:solidFill>
                  <a:srgbClr val="143F4F"/>
                </a:solidFill>
                <a:latin typeface="Calibri" pitchFamily="34" charset="0"/>
                <a:ea typeface="Calibri" pitchFamily="34" charset="-122"/>
                <a:cs typeface="Calibri" pitchFamily="34" charset="-120"/>
              </a:rPr>
              <a:t>Disadvantages of File</a:t>
            </a:r>
            <a:endParaRPr lang="en-US" sz="2800" dirty="0"/>
          </a:p>
          <a:p>
            <a:pPr marL="0" indent="0" algn="ctr">
              <a:buNone/>
            </a:pPr>
            <a:r>
              <a:rPr lang="en-US" sz="2800" b="1" dirty="0">
                <a:solidFill>
                  <a:srgbClr val="143F4F"/>
                </a:solidFill>
                <a:latin typeface="Calibri" pitchFamily="34" charset="0"/>
                <a:ea typeface="Calibri" pitchFamily="34" charset="-122"/>
                <a:cs typeface="Calibri" pitchFamily="34" charset="-120"/>
              </a:rPr>
              <a:t>Oriented System</a:t>
            </a:r>
            <a:endParaRPr 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Disadvantages</a:t>
            </a:r>
            <a:endParaRPr lang="en-US" sz="3000" dirty="0"/>
          </a:p>
        </p:txBody>
      </p:sp>
      <p:sp>
        <p:nvSpPr>
          <p:cNvPr id="7" name="Text 5"/>
          <p:cNvSpPr txBox="1"/>
          <p:nvPr/>
        </p:nvSpPr>
        <p:spPr>
          <a:xfrm>
            <a:off x="640080" y="960120"/>
            <a:ext cx="7863840" cy="36576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The following are the disadvantages of a File-Oriented System:</a:t>
            </a:r>
            <a:endParaRPr lang="en-US" sz="1500" dirty="0"/>
          </a:p>
        </p:txBody>
      </p:sp>
      <p:sp>
        <p:nvSpPr>
          <p:cNvPr id="8" name="Shape 6"/>
          <p:cNvSpPr/>
          <p:nvPr/>
        </p:nvSpPr>
        <p:spPr>
          <a:xfrm>
            <a:off x="640080" y="1463040"/>
            <a:ext cx="3749040" cy="621792"/>
          </a:xfrm>
          <a:prstGeom prst="roundRect">
            <a:avLst>
              <a:gd name="adj" fmla="val 1764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749808" y="1563624"/>
            <a:ext cx="420624" cy="420624"/>
          </a:xfrm>
          <a:prstGeom prst="ellipse">
            <a:avLst/>
          </a:prstGeom>
          <a:solidFill>
            <a:srgbClr val="143F4F"/>
          </a:solidFill>
          <a:ln/>
        </p:spPr>
        <p:txBody>
          <a:bodyPr/>
          <a:lstStyle/>
          <a:p>
            <a:endParaRPr lang="en-US"/>
          </a:p>
        </p:txBody>
      </p:sp>
      <p:sp>
        <p:nvSpPr>
          <p:cNvPr id="10" name="Text 8"/>
          <p:cNvSpPr txBox="1"/>
          <p:nvPr/>
        </p:nvSpPr>
        <p:spPr>
          <a:xfrm>
            <a:off x="749808" y="15636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298448" y="1463040"/>
            <a:ext cx="3017520" cy="621792"/>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Data Redundancy and Inconsistency</a:t>
            </a:r>
            <a:endParaRPr lang="en-US" sz="1400" dirty="0"/>
          </a:p>
        </p:txBody>
      </p:sp>
      <p:sp>
        <p:nvSpPr>
          <p:cNvPr id="12" name="Shape 10"/>
          <p:cNvSpPr/>
          <p:nvPr/>
        </p:nvSpPr>
        <p:spPr>
          <a:xfrm>
            <a:off x="4572000" y="1463040"/>
            <a:ext cx="3749040" cy="621792"/>
          </a:xfrm>
          <a:prstGeom prst="roundRect">
            <a:avLst>
              <a:gd name="adj" fmla="val 1764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681728" y="1563624"/>
            <a:ext cx="420624" cy="420624"/>
          </a:xfrm>
          <a:prstGeom prst="ellipse">
            <a:avLst/>
          </a:prstGeom>
          <a:solidFill>
            <a:srgbClr val="55BFAE"/>
          </a:solidFill>
          <a:ln/>
        </p:spPr>
        <p:txBody>
          <a:bodyPr/>
          <a:lstStyle/>
          <a:p>
            <a:endParaRPr lang="en-US"/>
          </a:p>
        </p:txBody>
      </p:sp>
      <p:sp>
        <p:nvSpPr>
          <p:cNvPr id="14" name="Text 12"/>
          <p:cNvSpPr txBox="1"/>
          <p:nvPr/>
        </p:nvSpPr>
        <p:spPr>
          <a:xfrm>
            <a:off x="4681728" y="15636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5230368" y="1463040"/>
            <a:ext cx="3017520" cy="621792"/>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Difficulty in Accessing Data</a:t>
            </a:r>
            <a:endParaRPr lang="en-US" sz="1400" dirty="0"/>
          </a:p>
        </p:txBody>
      </p:sp>
      <p:sp>
        <p:nvSpPr>
          <p:cNvPr id="16" name="Shape 14"/>
          <p:cNvSpPr/>
          <p:nvPr/>
        </p:nvSpPr>
        <p:spPr>
          <a:xfrm>
            <a:off x="640080" y="2240280"/>
            <a:ext cx="3749040" cy="621792"/>
          </a:xfrm>
          <a:prstGeom prst="roundRect">
            <a:avLst>
              <a:gd name="adj" fmla="val 1764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749808" y="2340864"/>
            <a:ext cx="420624" cy="420624"/>
          </a:xfrm>
          <a:prstGeom prst="ellipse">
            <a:avLst/>
          </a:prstGeom>
          <a:solidFill>
            <a:srgbClr val="143F4F"/>
          </a:solidFill>
          <a:ln/>
        </p:spPr>
        <p:txBody>
          <a:bodyPr/>
          <a:lstStyle/>
          <a:p>
            <a:endParaRPr lang="en-US"/>
          </a:p>
        </p:txBody>
      </p:sp>
      <p:sp>
        <p:nvSpPr>
          <p:cNvPr id="18" name="Text 16"/>
          <p:cNvSpPr txBox="1"/>
          <p:nvPr/>
        </p:nvSpPr>
        <p:spPr>
          <a:xfrm>
            <a:off x="749808"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298448" y="2240280"/>
            <a:ext cx="3017520" cy="621792"/>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Data Isolation</a:t>
            </a:r>
            <a:endParaRPr lang="en-US" sz="1400" dirty="0"/>
          </a:p>
        </p:txBody>
      </p:sp>
      <p:sp>
        <p:nvSpPr>
          <p:cNvPr id="20" name="Shape 18"/>
          <p:cNvSpPr/>
          <p:nvPr/>
        </p:nvSpPr>
        <p:spPr>
          <a:xfrm>
            <a:off x="4572000" y="2240280"/>
            <a:ext cx="3749040" cy="621792"/>
          </a:xfrm>
          <a:prstGeom prst="roundRect">
            <a:avLst>
              <a:gd name="adj" fmla="val 1764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9"/>
          <p:cNvSpPr/>
          <p:nvPr/>
        </p:nvSpPr>
        <p:spPr>
          <a:xfrm>
            <a:off x="4681728" y="2340864"/>
            <a:ext cx="420624" cy="420624"/>
          </a:xfrm>
          <a:prstGeom prst="ellipse">
            <a:avLst/>
          </a:prstGeom>
          <a:solidFill>
            <a:srgbClr val="55BFAE"/>
          </a:solidFill>
          <a:ln/>
        </p:spPr>
        <p:txBody>
          <a:bodyPr/>
          <a:lstStyle/>
          <a:p>
            <a:endParaRPr lang="en-US"/>
          </a:p>
        </p:txBody>
      </p:sp>
      <p:sp>
        <p:nvSpPr>
          <p:cNvPr id="22" name="Text 20"/>
          <p:cNvSpPr txBox="1"/>
          <p:nvPr/>
        </p:nvSpPr>
        <p:spPr>
          <a:xfrm>
            <a:off x="4681728"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230368" y="2240280"/>
            <a:ext cx="3017520" cy="621792"/>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Concurrent Access Anomalies</a:t>
            </a:r>
            <a:endParaRPr lang="en-US" sz="1400" dirty="0"/>
          </a:p>
        </p:txBody>
      </p:sp>
      <p:sp>
        <p:nvSpPr>
          <p:cNvPr id="24" name="Shape 22"/>
          <p:cNvSpPr/>
          <p:nvPr/>
        </p:nvSpPr>
        <p:spPr>
          <a:xfrm>
            <a:off x="640080" y="3017520"/>
            <a:ext cx="3749040" cy="621792"/>
          </a:xfrm>
          <a:prstGeom prst="roundRect">
            <a:avLst>
              <a:gd name="adj" fmla="val 1764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749808" y="3118104"/>
            <a:ext cx="420624" cy="420624"/>
          </a:xfrm>
          <a:prstGeom prst="ellipse">
            <a:avLst/>
          </a:prstGeom>
          <a:solidFill>
            <a:srgbClr val="143F4F"/>
          </a:solidFill>
          <a:ln/>
        </p:spPr>
        <p:txBody>
          <a:bodyPr/>
          <a:lstStyle/>
          <a:p>
            <a:endParaRPr lang="en-US"/>
          </a:p>
        </p:txBody>
      </p:sp>
      <p:sp>
        <p:nvSpPr>
          <p:cNvPr id="26" name="Text 24"/>
          <p:cNvSpPr txBox="1"/>
          <p:nvPr/>
        </p:nvSpPr>
        <p:spPr>
          <a:xfrm>
            <a:off x="749808" y="311810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298448" y="3017520"/>
            <a:ext cx="3017520" cy="621792"/>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Security Problems</a:t>
            </a:r>
            <a:endParaRPr lang="en-US" sz="1400" dirty="0"/>
          </a:p>
        </p:txBody>
      </p:sp>
      <p:sp>
        <p:nvSpPr>
          <p:cNvPr id="28" name="Shape 26"/>
          <p:cNvSpPr/>
          <p:nvPr/>
        </p:nvSpPr>
        <p:spPr>
          <a:xfrm>
            <a:off x="4572000" y="3017520"/>
            <a:ext cx="3749040" cy="621792"/>
          </a:xfrm>
          <a:prstGeom prst="roundRect">
            <a:avLst>
              <a:gd name="adj" fmla="val 1764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4681728" y="3118104"/>
            <a:ext cx="420624" cy="420624"/>
          </a:xfrm>
          <a:prstGeom prst="ellipse">
            <a:avLst/>
          </a:prstGeom>
          <a:solidFill>
            <a:srgbClr val="55BFAE"/>
          </a:solidFill>
          <a:ln/>
        </p:spPr>
        <p:txBody>
          <a:bodyPr/>
          <a:lstStyle/>
          <a:p>
            <a:endParaRPr lang="en-US"/>
          </a:p>
        </p:txBody>
      </p:sp>
      <p:sp>
        <p:nvSpPr>
          <p:cNvPr id="30" name="Text 28"/>
          <p:cNvSpPr txBox="1"/>
          <p:nvPr/>
        </p:nvSpPr>
        <p:spPr>
          <a:xfrm>
            <a:off x="4681728" y="311810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5230368" y="3017520"/>
            <a:ext cx="3017520" cy="621792"/>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Integrity Problems</a:t>
            </a:r>
            <a:endParaRPr lang="en-US" sz="1400" dirty="0"/>
          </a:p>
        </p:txBody>
      </p:sp>
      <p:sp>
        <p:nvSpPr>
          <p:cNvPr id="32" name="Shape 30"/>
          <p:cNvSpPr/>
          <p:nvPr/>
        </p:nvSpPr>
        <p:spPr>
          <a:xfrm>
            <a:off x="640080" y="3794760"/>
            <a:ext cx="3749040" cy="621792"/>
          </a:xfrm>
          <a:prstGeom prst="roundRect">
            <a:avLst>
              <a:gd name="adj" fmla="val 1764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33" name="Shape 31"/>
          <p:cNvSpPr/>
          <p:nvPr/>
        </p:nvSpPr>
        <p:spPr>
          <a:xfrm>
            <a:off x="749808" y="3895344"/>
            <a:ext cx="420624" cy="420624"/>
          </a:xfrm>
          <a:prstGeom prst="ellipse">
            <a:avLst/>
          </a:prstGeom>
          <a:solidFill>
            <a:srgbClr val="143F4F"/>
          </a:solidFill>
          <a:ln/>
        </p:spPr>
        <p:txBody>
          <a:bodyPr/>
          <a:lstStyle/>
          <a:p>
            <a:endParaRPr lang="en-US"/>
          </a:p>
        </p:txBody>
      </p:sp>
      <p:sp>
        <p:nvSpPr>
          <p:cNvPr id="34" name="Text 32"/>
          <p:cNvSpPr txBox="1"/>
          <p:nvPr/>
        </p:nvSpPr>
        <p:spPr>
          <a:xfrm>
            <a:off x="749808" y="38953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5" name="Text 33"/>
          <p:cNvSpPr txBox="1"/>
          <p:nvPr/>
        </p:nvSpPr>
        <p:spPr>
          <a:xfrm>
            <a:off x="1298448" y="3794760"/>
            <a:ext cx="3017520" cy="621792"/>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Atomicity Problem</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Data Redundancy and Inconsistency</a:t>
            </a:r>
            <a:endParaRPr lang="en-US" sz="3000" dirty="0"/>
          </a:p>
        </p:txBody>
      </p:sp>
      <p:sp>
        <p:nvSpPr>
          <p:cNvPr id="7" name="Shape 5"/>
          <p:cNvSpPr/>
          <p:nvPr/>
        </p:nvSpPr>
        <p:spPr>
          <a:xfrm>
            <a:off x="640080" y="960120"/>
            <a:ext cx="173736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73736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Disadvantage 1 of 7</a:t>
            </a:r>
            <a:endParaRPr lang="en-US" sz="1100" dirty="0"/>
          </a:p>
        </p:txBody>
      </p:sp>
      <p:sp>
        <p:nvSpPr>
          <p:cNvPr id="9" name="Text 7"/>
          <p:cNvSpPr txBox="1"/>
          <p:nvPr/>
        </p:nvSpPr>
        <p:spPr>
          <a:xfrm>
            <a:off x="640080" y="1463040"/>
            <a:ext cx="7863840" cy="548640"/>
          </a:xfrm>
          <a:prstGeom prst="rect">
            <a:avLst/>
          </a:prstGeom>
          <a:noFill/>
          <a:ln/>
        </p:spPr>
        <p:txBody>
          <a:bodyPr wrap="square" lIns="0" tIns="0" rIns="0" bIns="0" rtlCol="0" anchor="ctr"/>
          <a:lstStyle/>
          <a:p>
            <a:pPr marL="0" indent="0">
              <a:buNone/>
            </a:pPr>
            <a:r>
              <a:rPr lang="en-US" sz="1500" dirty="0">
                <a:solidFill>
                  <a:srgbClr val="1F3B47"/>
                </a:solidFill>
                <a:latin typeface="Calibri" pitchFamily="34" charset="0"/>
                <a:ea typeface="Calibri" pitchFamily="34" charset="-122"/>
                <a:cs typeface="Calibri" pitchFamily="34" charset="-120"/>
              </a:rPr>
              <a:t>Since files and application programs are created by different programmers over a long period, the files are likely to be:</a:t>
            </a:r>
            <a:endParaRPr lang="en-US" sz="1500" dirty="0"/>
          </a:p>
        </p:txBody>
      </p:sp>
      <p:sp>
        <p:nvSpPr>
          <p:cNvPr id="10" name="Text 8"/>
          <p:cNvSpPr txBox="1"/>
          <p:nvPr/>
        </p:nvSpPr>
        <p:spPr>
          <a:xfrm>
            <a:off x="640080" y="2103120"/>
            <a:ext cx="4480560" cy="228600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Having different formats, and the programs may be written in several programming languages.</a:t>
            </a:r>
            <a:endParaRPr lang="en-US" sz="1450" dirty="0"/>
          </a:p>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Moreover, the same piece of information may be duplicated in several places.</a:t>
            </a:r>
            <a:endParaRPr lang="en-US" sz="1450" dirty="0"/>
          </a:p>
        </p:txBody>
      </p:sp>
      <p:sp>
        <p:nvSpPr>
          <p:cNvPr id="11" name="Shape 9"/>
          <p:cNvSpPr/>
          <p:nvPr/>
        </p:nvSpPr>
        <p:spPr>
          <a:xfrm>
            <a:off x="5486400" y="2103120"/>
            <a:ext cx="3017520" cy="2286000"/>
          </a:xfrm>
          <a:prstGeom prst="roundRect">
            <a:avLst>
              <a:gd name="adj" fmla="val 4800"/>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Text 10"/>
          <p:cNvSpPr txBox="1"/>
          <p:nvPr/>
        </p:nvSpPr>
        <p:spPr>
          <a:xfrm>
            <a:off x="5715000" y="2240280"/>
            <a:ext cx="2651760" cy="2011680"/>
          </a:xfrm>
          <a:prstGeom prst="rect">
            <a:avLst/>
          </a:prstGeom>
          <a:noFill/>
          <a:ln/>
        </p:spPr>
        <p:txBody>
          <a:bodyPr wrap="square" lIns="0" tIns="0" rIns="0" bIns="0" rtlCol="0" anchor="t"/>
          <a:lstStyle/>
          <a:p>
            <a:pPr marL="0" indent="0">
              <a:spcAft>
                <a:spcPts val="1000"/>
              </a:spcAft>
              <a:buNone/>
            </a:pPr>
            <a:r>
              <a:rPr lang="en-US" sz="1400" b="1" dirty="0">
                <a:solidFill>
                  <a:srgbClr val="55BFAE"/>
                </a:solidFill>
                <a:latin typeface="Calibri" pitchFamily="34" charset="0"/>
                <a:ea typeface="Calibri" pitchFamily="34" charset="-122"/>
                <a:cs typeface="Calibri" pitchFamily="34" charset="-120"/>
              </a:rPr>
              <a:t>This redundancy leads to:</a:t>
            </a:r>
            <a:endParaRPr lang="en-US" sz="14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Higher storage and access cost</a:t>
            </a:r>
            <a:endParaRPr lang="en-US" sz="14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Data inconsistency</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Difficulty in Accessing Data</a:t>
            </a:r>
            <a:endParaRPr lang="en-US" sz="3000" dirty="0"/>
          </a:p>
        </p:txBody>
      </p:sp>
      <p:sp>
        <p:nvSpPr>
          <p:cNvPr id="7" name="Shape 5"/>
          <p:cNvSpPr/>
          <p:nvPr/>
        </p:nvSpPr>
        <p:spPr>
          <a:xfrm>
            <a:off x="640080" y="960120"/>
            <a:ext cx="173736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73736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Disadvantage 2 of 7</a:t>
            </a:r>
            <a:endParaRPr lang="en-US" sz="1100" dirty="0"/>
          </a:p>
        </p:txBody>
      </p:sp>
      <p:sp>
        <p:nvSpPr>
          <p:cNvPr id="9" name="Text 7"/>
          <p:cNvSpPr txBox="1"/>
          <p:nvPr/>
        </p:nvSpPr>
        <p:spPr>
          <a:xfrm>
            <a:off x="640080" y="1554480"/>
            <a:ext cx="7863840" cy="228600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The conventional file processing environments do not allow needed data to be retrieved in a convenient and efficient manner.</a:t>
            </a:r>
            <a:endParaRPr lang="en-US" sz="1800" dirty="0"/>
          </a:p>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A better data retrieval system must be developed for general use.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Data Isolation</a:t>
            </a:r>
            <a:endParaRPr lang="en-US" sz="3000" dirty="0"/>
          </a:p>
        </p:txBody>
      </p:sp>
      <p:sp>
        <p:nvSpPr>
          <p:cNvPr id="7" name="Shape 5"/>
          <p:cNvSpPr/>
          <p:nvPr/>
        </p:nvSpPr>
        <p:spPr>
          <a:xfrm>
            <a:off x="640080" y="960120"/>
            <a:ext cx="173736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73736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Disadvantage 3 of 7</a:t>
            </a:r>
            <a:endParaRPr lang="en-US" sz="1100" dirty="0"/>
          </a:p>
        </p:txBody>
      </p:sp>
      <p:sp>
        <p:nvSpPr>
          <p:cNvPr id="9" name="Text 7"/>
          <p:cNvSpPr txBox="1"/>
          <p:nvPr/>
        </p:nvSpPr>
        <p:spPr>
          <a:xfrm>
            <a:off x="640080" y="1554480"/>
            <a:ext cx="4572000" cy="2377440"/>
          </a:xfrm>
          <a:prstGeom prst="rect">
            <a:avLst/>
          </a:prstGeom>
          <a:noFill/>
          <a:ln/>
        </p:spPr>
        <p:txBody>
          <a:bodyPr wrap="square" lIns="0" tIns="0" rIns="0" bIns="0" rtlCol="0" anchor="t"/>
          <a:lstStyle/>
          <a:p>
            <a:pPr marL="0" indent="0">
              <a:buNone/>
            </a:pPr>
            <a:r>
              <a:rPr lang="en-US" sz="1800" dirty="0">
                <a:solidFill>
                  <a:srgbClr val="1F3B47"/>
                </a:solidFill>
                <a:latin typeface="Calibri" pitchFamily="34" charset="0"/>
                <a:ea typeface="Calibri" pitchFamily="34" charset="-122"/>
                <a:cs typeface="Calibri" pitchFamily="34" charset="-120"/>
              </a:rPr>
              <a:t>Since data is scattered in various files, and files may be in different formats, it is difficult to write new application programs to retrieve the appropriate data.</a:t>
            </a:r>
            <a:endParaRPr lang="en-US" sz="1800" dirty="0"/>
          </a:p>
        </p:txBody>
      </p:sp>
      <p:sp>
        <p:nvSpPr>
          <p:cNvPr id="10" name="Shape 8"/>
          <p:cNvSpPr/>
          <p:nvPr/>
        </p:nvSpPr>
        <p:spPr>
          <a:xfrm>
            <a:off x="5669280" y="1554480"/>
            <a:ext cx="1005840" cy="731520"/>
          </a:xfrm>
          <a:prstGeom prst="flowChartDocument">
            <a:avLst/>
          </a:prstGeom>
          <a:solidFill>
            <a:srgbClr val="E3F3F0"/>
          </a:solidFill>
          <a:ln w="12700">
            <a:solidFill>
              <a:srgbClr val="143F4F"/>
            </a:solidFill>
            <a:prstDash val="solid"/>
          </a:ln>
        </p:spPr>
        <p:txBody>
          <a:bodyPr/>
          <a:lstStyle/>
          <a:p>
            <a:endParaRPr lang="en-US"/>
          </a:p>
        </p:txBody>
      </p:sp>
      <p:sp>
        <p:nvSpPr>
          <p:cNvPr id="11" name="Text 9"/>
          <p:cNvSpPr txBox="1"/>
          <p:nvPr/>
        </p:nvSpPr>
        <p:spPr>
          <a:xfrm>
            <a:off x="5669280" y="1554480"/>
            <a:ext cx="1005840" cy="594360"/>
          </a:xfrm>
          <a:prstGeom prst="rect">
            <a:avLst/>
          </a:prstGeom>
          <a:noFill/>
          <a:ln/>
        </p:spPr>
        <p:txBody>
          <a:bodyPr wrap="square" lIns="0" tIns="0" rIns="0" bIns="0" rtlCol="0" anchor="ctr"/>
          <a:lstStyle/>
          <a:p>
            <a:pPr marL="0" indent="0" algn="ctr">
              <a:buNone/>
            </a:pPr>
            <a:r>
              <a:rPr lang="en-US" sz="1400" b="1" dirty="0">
                <a:solidFill>
                  <a:srgbClr val="143F4F"/>
                </a:solidFill>
                <a:latin typeface="Calibri" pitchFamily="34" charset="0"/>
                <a:ea typeface="Calibri" pitchFamily="34" charset="-122"/>
                <a:cs typeface="Calibri" pitchFamily="34" charset="-120"/>
              </a:rPr>
              <a:t>.txt</a:t>
            </a:r>
            <a:endParaRPr lang="en-US" sz="1400" dirty="0"/>
          </a:p>
        </p:txBody>
      </p:sp>
      <p:sp>
        <p:nvSpPr>
          <p:cNvPr id="12" name="Shape 10"/>
          <p:cNvSpPr/>
          <p:nvPr/>
        </p:nvSpPr>
        <p:spPr>
          <a:xfrm>
            <a:off x="7223760" y="1828800"/>
            <a:ext cx="1005840" cy="731520"/>
          </a:xfrm>
          <a:prstGeom prst="flowChartDocument">
            <a:avLst/>
          </a:prstGeom>
          <a:solidFill>
            <a:srgbClr val="E3F3F0"/>
          </a:solidFill>
          <a:ln w="12700">
            <a:solidFill>
              <a:srgbClr val="143F4F"/>
            </a:solidFill>
            <a:prstDash val="solid"/>
          </a:ln>
        </p:spPr>
        <p:txBody>
          <a:bodyPr/>
          <a:lstStyle/>
          <a:p>
            <a:endParaRPr lang="en-US"/>
          </a:p>
        </p:txBody>
      </p:sp>
      <p:sp>
        <p:nvSpPr>
          <p:cNvPr id="13" name="Text 11"/>
          <p:cNvSpPr txBox="1"/>
          <p:nvPr/>
        </p:nvSpPr>
        <p:spPr>
          <a:xfrm>
            <a:off x="7223760" y="1828800"/>
            <a:ext cx="1005840" cy="594360"/>
          </a:xfrm>
          <a:prstGeom prst="rect">
            <a:avLst/>
          </a:prstGeom>
          <a:noFill/>
          <a:ln/>
        </p:spPr>
        <p:txBody>
          <a:bodyPr wrap="square" lIns="0" tIns="0" rIns="0" bIns="0" rtlCol="0" anchor="ctr"/>
          <a:lstStyle/>
          <a:p>
            <a:pPr marL="0" indent="0" algn="ctr">
              <a:buNone/>
            </a:pPr>
            <a:r>
              <a:rPr lang="en-US" sz="1400" b="1" dirty="0">
                <a:solidFill>
                  <a:srgbClr val="143F4F"/>
                </a:solidFill>
                <a:latin typeface="Calibri" pitchFamily="34" charset="0"/>
                <a:ea typeface="Calibri" pitchFamily="34" charset="-122"/>
                <a:cs typeface="Calibri" pitchFamily="34" charset="-120"/>
              </a:rPr>
              <a:t>.csv</a:t>
            </a:r>
            <a:endParaRPr lang="en-US" sz="1400" dirty="0"/>
          </a:p>
        </p:txBody>
      </p:sp>
      <p:sp>
        <p:nvSpPr>
          <p:cNvPr id="14" name="Shape 12"/>
          <p:cNvSpPr/>
          <p:nvPr/>
        </p:nvSpPr>
        <p:spPr>
          <a:xfrm>
            <a:off x="6035040" y="2926080"/>
            <a:ext cx="1005840" cy="731520"/>
          </a:xfrm>
          <a:prstGeom prst="flowChartDocument">
            <a:avLst/>
          </a:prstGeom>
          <a:solidFill>
            <a:srgbClr val="E3F3F0"/>
          </a:solidFill>
          <a:ln w="12700">
            <a:solidFill>
              <a:srgbClr val="143F4F"/>
            </a:solidFill>
            <a:prstDash val="solid"/>
          </a:ln>
        </p:spPr>
        <p:txBody>
          <a:bodyPr/>
          <a:lstStyle/>
          <a:p>
            <a:endParaRPr lang="en-US"/>
          </a:p>
        </p:txBody>
      </p:sp>
      <p:sp>
        <p:nvSpPr>
          <p:cNvPr id="15" name="Text 13"/>
          <p:cNvSpPr txBox="1"/>
          <p:nvPr/>
        </p:nvSpPr>
        <p:spPr>
          <a:xfrm>
            <a:off x="6035040" y="2926080"/>
            <a:ext cx="1005840" cy="594360"/>
          </a:xfrm>
          <a:prstGeom prst="rect">
            <a:avLst/>
          </a:prstGeom>
          <a:noFill/>
          <a:ln/>
        </p:spPr>
        <p:txBody>
          <a:bodyPr wrap="square" lIns="0" tIns="0" rIns="0" bIns="0" rtlCol="0" anchor="ctr"/>
          <a:lstStyle/>
          <a:p>
            <a:pPr marL="0" indent="0" algn="ctr">
              <a:buNone/>
            </a:pPr>
            <a:r>
              <a:rPr lang="en-US" sz="1400" b="1" dirty="0">
                <a:solidFill>
                  <a:srgbClr val="143F4F"/>
                </a:solidFill>
                <a:latin typeface="Calibri" pitchFamily="34" charset="0"/>
                <a:ea typeface="Calibri" pitchFamily="34" charset="-122"/>
                <a:cs typeface="Calibri" pitchFamily="34" charset="-120"/>
              </a:rPr>
              <a:t>.dat</a:t>
            </a:r>
            <a:endParaRPr lang="en-US" sz="1400" dirty="0"/>
          </a:p>
        </p:txBody>
      </p:sp>
      <p:sp>
        <p:nvSpPr>
          <p:cNvPr id="16" name="Shape 14"/>
          <p:cNvSpPr/>
          <p:nvPr/>
        </p:nvSpPr>
        <p:spPr>
          <a:xfrm>
            <a:off x="7406640" y="3108960"/>
            <a:ext cx="1005840" cy="731520"/>
          </a:xfrm>
          <a:prstGeom prst="flowChartDocument">
            <a:avLst/>
          </a:prstGeom>
          <a:solidFill>
            <a:srgbClr val="E3F3F0"/>
          </a:solidFill>
          <a:ln w="12700">
            <a:solidFill>
              <a:srgbClr val="143F4F"/>
            </a:solidFill>
            <a:prstDash val="solid"/>
          </a:ln>
        </p:spPr>
        <p:txBody>
          <a:bodyPr/>
          <a:lstStyle/>
          <a:p>
            <a:endParaRPr lang="en-US"/>
          </a:p>
        </p:txBody>
      </p:sp>
      <p:sp>
        <p:nvSpPr>
          <p:cNvPr id="17" name="Text 15"/>
          <p:cNvSpPr txBox="1"/>
          <p:nvPr/>
        </p:nvSpPr>
        <p:spPr>
          <a:xfrm>
            <a:off x="7406640" y="3108960"/>
            <a:ext cx="1005840" cy="594360"/>
          </a:xfrm>
          <a:prstGeom prst="rect">
            <a:avLst/>
          </a:prstGeom>
          <a:noFill/>
          <a:ln/>
        </p:spPr>
        <p:txBody>
          <a:bodyPr wrap="square" lIns="0" tIns="0" rIns="0" bIns="0" rtlCol="0" anchor="ctr"/>
          <a:lstStyle/>
          <a:p>
            <a:pPr marL="0" indent="0" algn="ctr">
              <a:buNone/>
            </a:pPr>
            <a:r>
              <a:rPr lang="en-US" sz="1400" b="1" dirty="0">
                <a:solidFill>
                  <a:srgbClr val="143F4F"/>
                </a:solidFill>
                <a:latin typeface="Calibri" pitchFamily="34" charset="0"/>
                <a:ea typeface="Calibri" pitchFamily="34" charset="-122"/>
                <a:cs typeface="Calibri" pitchFamily="34" charset="-120"/>
              </a:rPr>
              <a:t>.xls</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Concurrent Access Anomalies</a:t>
            </a:r>
            <a:endParaRPr lang="en-US" sz="3000" dirty="0"/>
          </a:p>
        </p:txBody>
      </p:sp>
      <p:sp>
        <p:nvSpPr>
          <p:cNvPr id="7" name="Shape 5"/>
          <p:cNvSpPr/>
          <p:nvPr/>
        </p:nvSpPr>
        <p:spPr>
          <a:xfrm>
            <a:off x="640080" y="960120"/>
            <a:ext cx="173736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73736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Disadvantage 4 of 7</a:t>
            </a:r>
            <a:endParaRPr lang="en-US" sz="1100" dirty="0"/>
          </a:p>
        </p:txBody>
      </p:sp>
      <p:sp>
        <p:nvSpPr>
          <p:cNvPr id="9" name="Text 7"/>
          <p:cNvSpPr txBox="1"/>
          <p:nvPr/>
        </p:nvSpPr>
        <p:spPr>
          <a:xfrm>
            <a:off x="640080" y="1554480"/>
            <a:ext cx="7863840" cy="25603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In order to improve the overall performance of the system and obtain a faster response time, many systems allow multiple users to update the data simultaneously.</a:t>
            </a:r>
            <a:endParaRPr lang="en-US" sz="1800" dirty="0"/>
          </a:p>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In such an environment, interaction of concurrent updates may result in inconsistent data.</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Security Problems</a:t>
            </a:r>
            <a:endParaRPr lang="en-US" sz="3000" dirty="0"/>
          </a:p>
        </p:txBody>
      </p:sp>
      <p:sp>
        <p:nvSpPr>
          <p:cNvPr id="7" name="Shape 5"/>
          <p:cNvSpPr/>
          <p:nvPr/>
        </p:nvSpPr>
        <p:spPr>
          <a:xfrm>
            <a:off x="640080" y="960120"/>
            <a:ext cx="173736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73736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Disadvantage 5 of 7</a:t>
            </a:r>
            <a:endParaRPr lang="en-US" sz="1100" dirty="0"/>
          </a:p>
        </p:txBody>
      </p:sp>
      <p:sp>
        <p:nvSpPr>
          <p:cNvPr id="9" name="Text 7"/>
          <p:cNvSpPr txBox="1"/>
          <p:nvPr/>
        </p:nvSpPr>
        <p:spPr>
          <a:xfrm>
            <a:off x="640080" y="1554480"/>
            <a:ext cx="7863840" cy="29260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1F3B47"/>
                </a:solidFill>
                <a:latin typeface="Calibri" pitchFamily="34" charset="0"/>
                <a:ea typeface="Calibri" pitchFamily="34" charset="-122"/>
                <a:cs typeface="Calibri" pitchFamily="34" charset="-120"/>
              </a:rPr>
              <a:t>Not every user of the database system should be able to access all the data.</a:t>
            </a:r>
            <a:endParaRPr lang="en-US" sz="1700" dirty="0"/>
          </a:p>
          <a:p>
            <a:pPr marL="342900" indent="-342900">
              <a:spcAft>
                <a:spcPts val="1200"/>
              </a:spcAft>
              <a:buSzPct val="100000"/>
              <a:buChar char="•"/>
            </a:pPr>
            <a:r>
              <a:rPr lang="en-US" sz="1700" dirty="0">
                <a:solidFill>
                  <a:srgbClr val="1F3B47"/>
                </a:solidFill>
                <a:latin typeface="Calibri" pitchFamily="34" charset="0"/>
                <a:ea typeface="Calibri" pitchFamily="34" charset="-122"/>
                <a:cs typeface="Calibri" pitchFamily="34" charset="-120"/>
              </a:rPr>
              <a:t>For example, in a banking system, payroll personnel need only that part of the database that has information about various bank employees.</a:t>
            </a:r>
            <a:endParaRPr lang="en-US" sz="1700" dirty="0"/>
          </a:p>
          <a:p>
            <a:pPr marL="342900" indent="-342900">
              <a:spcAft>
                <a:spcPts val="1200"/>
              </a:spcAft>
              <a:buSzPct val="100000"/>
              <a:buChar char="•"/>
            </a:pPr>
            <a:r>
              <a:rPr lang="en-US" sz="1700" dirty="0">
                <a:solidFill>
                  <a:srgbClr val="1F3B47"/>
                </a:solidFill>
                <a:latin typeface="Calibri" pitchFamily="34" charset="0"/>
                <a:ea typeface="Calibri" pitchFamily="34" charset="-122"/>
                <a:cs typeface="Calibri" pitchFamily="34" charset="-120"/>
              </a:rPr>
              <a:t>They do not need access to information about customer accounts. It is difficult to enforce such security constraints.</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Integrity Problems</a:t>
            </a:r>
            <a:endParaRPr lang="en-US" sz="3000" dirty="0"/>
          </a:p>
        </p:txBody>
      </p:sp>
      <p:sp>
        <p:nvSpPr>
          <p:cNvPr id="7" name="Shape 5"/>
          <p:cNvSpPr/>
          <p:nvPr/>
        </p:nvSpPr>
        <p:spPr>
          <a:xfrm>
            <a:off x="640080" y="960120"/>
            <a:ext cx="173736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73736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Disadvantage 6 of 7</a:t>
            </a:r>
            <a:endParaRPr lang="en-US" sz="1100" dirty="0"/>
          </a:p>
        </p:txBody>
      </p:sp>
      <p:sp>
        <p:nvSpPr>
          <p:cNvPr id="9" name="Text 7"/>
          <p:cNvSpPr txBox="1"/>
          <p:nvPr/>
        </p:nvSpPr>
        <p:spPr>
          <a:xfrm>
            <a:off x="640080" y="1508760"/>
            <a:ext cx="7863840" cy="320040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3B47"/>
                </a:solidFill>
                <a:latin typeface="Calibri" pitchFamily="34" charset="0"/>
                <a:ea typeface="Calibri" pitchFamily="34" charset="-122"/>
                <a:cs typeface="Calibri" pitchFamily="34" charset="-120"/>
              </a:rPr>
              <a:t>The data values stored in the database must satisfy certain types of consistency constraints.</a:t>
            </a:r>
            <a:endParaRPr lang="en-US" sz="1500" dirty="0"/>
          </a:p>
          <a:p>
            <a:pPr marL="342900" indent="-342900">
              <a:spcAft>
                <a:spcPts val="800"/>
              </a:spcAft>
              <a:buSzPct val="100000"/>
              <a:buChar char="•"/>
            </a:pPr>
            <a:r>
              <a:rPr lang="en-US" sz="1500" dirty="0">
                <a:solidFill>
                  <a:srgbClr val="1F3B47"/>
                </a:solidFill>
                <a:latin typeface="Calibri" pitchFamily="34" charset="0"/>
                <a:ea typeface="Calibri" pitchFamily="34" charset="-122"/>
                <a:cs typeface="Calibri" pitchFamily="34" charset="-120"/>
              </a:rPr>
              <a:t>For example, the balance of a bank account may never fall below a prescribed amount.</a:t>
            </a:r>
            <a:endParaRPr lang="en-US" sz="1500" dirty="0"/>
          </a:p>
          <a:p>
            <a:pPr marL="342900" indent="-342900">
              <a:spcAft>
                <a:spcPts val="800"/>
              </a:spcAft>
              <a:buSzPct val="100000"/>
              <a:buChar char="•"/>
            </a:pPr>
            <a:r>
              <a:rPr lang="en-US" sz="1500" dirty="0">
                <a:solidFill>
                  <a:srgbClr val="1F3B47"/>
                </a:solidFill>
                <a:latin typeface="Calibri" pitchFamily="34" charset="0"/>
                <a:ea typeface="Calibri" pitchFamily="34" charset="-122"/>
                <a:cs typeface="Calibri" pitchFamily="34" charset="-120"/>
              </a:rPr>
              <a:t>These constraints are enforced in the system by adding appropriate code in the various application programs.</a:t>
            </a:r>
            <a:endParaRPr lang="en-US" sz="1500" dirty="0"/>
          </a:p>
          <a:p>
            <a:pPr marL="342900" indent="-342900">
              <a:spcAft>
                <a:spcPts val="800"/>
              </a:spcAft>
              <a:buSzPct val="100000"/>
              <a:buChar char="•"/>
            </a:pPr>
            <a:r>
              <a:rPr lang="en-US" sz="1500" dirty="0">
                <a:solidFill>
                  <a:srgbClr val="1F3B47"/>
                </a:solidFill>
                <a:latin typeface="Calibri" pitchFamily="34" charset="0"/>
                <a:ea typeface="Calibri" pitchFamily="34" charset="-122"/>
                <a:cs typeface="Calibri" pitchFamily="34" charset="-120"/>
              </a:rPr>
              <a:t>When new constraints are added, it is difficult to change the programs to enforce them.</a:t>
            </a:r>
            <a:endParaRPr lang="en-US" sz="1500" dirty="0"/>
          </a:p>
          <a:p>
            <a:pPr marL="342900" indent="-342900">
              <a:spcAft>
                <a:spcPts val="800"/>
              </a:spcAft>
              <a:buSzPct val="100000"/>
              <a:buChar char="•"/>
            </a:pPr>
            <a:r>
              <a:rPr lang="en-US" sz="1500" dirty="0">
                <a:solidFill>
                  <a:srgbClr val="1F3B47"/>
                </a:solidFill>
                <a:latin typeface="Calibri" pitchFamily="34" charset="0"/>
                <a:ea typeface="Calibri" pitchFamily="34" charset="-122"/>
                <a:cs typeface="Calibri" pitchFamily="34" charset="-120"/>
              </a:rPr>
              <a:t>The problem is compounded when constraints involve several data items from different files.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Atomicity Problem</a:t>
            </a:r>
            <a:endParaRPr lang="en-US" sz="3000" dirty="0"/>
          </a:p>
        </p:txBody>
      </p:sp>
      <p:sp>
        <p:nvSpPr>
          <p:cNvPr id="7" name="Shape 5"/>
          <p:cNvSpPr/>
          <p:nvPr/>
        </p:nvSpPr>
        <p:spPr>
          <a:xfrm>
            <a:off x="640080" y="960120"/>
            <a:ext cx="173736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73736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Disadvantage 7 of 7</a:t>
            </a:r>
            <a:endParaRPr lang="en-US" sz="1100" dirty="0"/>
          </a:p>
        </p:txBody>
      </p:sp>
      <p:sp>
        <p:nvSpPr>
          <p:cNvPr id="9" name="Text 7"/>
          <p:cNvSpPr txBox="1"/>
          <p:nvPr/>
        </p:nvSpPr>
        <p:spPr>
          <a:xfrm>
            <a:off x="640080" y="1554480"/>
            <a:ext cx="7863840" cy="25603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A computer system, like any other mechanical or electrical device, is subject to failure.</a:t>
            </a:r>
            <a:endParaRPr lang="en-US" sz="1800" dirty="0"/>
          </a:p>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In many applications, it is crucial to ensure that once a failure has occurred and has been detected, the data are restored to the consistent state that existed prior to the failure.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Summary</a:t>
            </a:r>
            <a:endParaRPr lang="en-US" sz="3000" dirty="0"/>
          </a:p>
        </p:txBody>
      </p:sp>
      <p:sp>
        <p:nvSpPr>
          <p:cNvPr id="7" name="Shape 5"/>
          <p:cNvSpPr/>
          <p:nvPr/>
        </p:nvSpPr>
        <p:spPr>
          <a:xfrm>
            <a:off x="640080" y="1234440"/>
            <a:ext cx="7863840" cy="1097280"/>
          </a:xfrm>
          <a:prstGeom prst="roundRect">
            <a:avLst>
              <a:gd name="adj" fmla="val 1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6"/>
          <p:cNvSpPr/>
          <p:nvPr/>
        </p:nvSpPr>
        <p:spPr>
          <a:xfrm>
            <a:off x="868680" y="1508760"/>
            <a:ext cx="548640" cy="548640"/>
          </a:xfrm>
          <a:prstGeom prst="ellipse">
            <a:avLst/>
          </a:prstGeom>
          <a:solidFill>
            <a:srgbClr val="55BFAE"/>
          </a:solidFill>
          <a:ln/>
        </p:spPr>
        <p:txBody>
          <a:bodyPr/>
          <a:lstStyle/>
          <a:p>
            <a:endParaRPr lang="en-US"/>
          </a:p>
        </p:txBody>
      </p:sp>
      <p:sp>
        <p:nvSpPr>
          <p:cNvPr id="9" name="Text 7"/>
          <p:cNvSpPr txBox="1"/>
          <p:nvPr/>
        </p:nvSpPr>
        <p:spPr>
          <a:xfrm>
            <a:off x="868680" y="15087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691640" y="1234440"/>
            <a:ext cx="6583680" cy="1097280"/>
          </a:xfrm>
          <a:prstGeom prst="rect">
            <a:avLst/>
          </a:prstGeom>
          <a:noFill/>
          <a:ln/>
        </p:spPr>
        <p:txBody>
          <a:bodyPr wrap="square" lIns="0" tIns="0" rIns="0" bIns="0" rtlCol="0" anchor="ctr"/>
          <a:lstStyle/>
          <a:p>
            <a:pPr marL="0" indent="0">
              <a:buNone/>
            </a:pPr>
            <a:r>
              <a:rPr lang="en-US" sz="1700" dirty="0">
                <a:solidFill>
                  <a:srgbClr val="1F3B47"/>
                </a:solidFill>
                <a:latin typeface="Calibri" pitchFamily="34" charset="0"/>
                <a:ea typeface="Calibri" pitchFamily="34" charset="-122"/>
                <a:cs typeface="Calibri" pitchFamily="34" charset="-120"/>
              </a:rPr>
              <a:t>Explain the purpose and importance of databases in organizations.</a:t>
            </a:r>
            <a:endParaRPr lang="en-US" sz="1700" dirty="0"/>
          </a:p>
        </p:txBody>
      </p:sp>
      <p:sp>
        <p:nvSpPr>
          <p:cNvPr id="11" name="Shape 9"/>
          <p:cNvSpPr/>
          <p:nvPr/>
        </p:nvSpPr>
        <p:spPr>
          <a:xfrm>
            <a:off x="640080" y="2606040"/>
            <a:ext cx="7863840" cy="1097280"/>
          </a:xfrm>
          <a:prstGeom prst="roundRect">
            <a:avLst>
              <a:gd name="adj" fmla="val 10000"/>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10"/>
          <p:cNvSpPr/>
          <p:nvPr/>
        </p:nvSpPr>
        <p:spPr>
          <a:xfrm>
            <a:off x="868680" y="2880360"/>
            <a:ext cx="548640" cy="548640"/>
          </a:xfrm>
          <a:prstGeom prst="ellipse">
            <a:avLst/>
          </a:prstGeom>
          <a:solidFill>
            <a:srgbClr val="143F4F"/>
          </a:solidFill>
          <a:ln/>
        </p:spPr>
        <p:txBody>
          <a:bodyPr/>
          <a:lstStyle/>
          <a:p>
            <a:endParaRPr lang="en-US"/>
          </a:p>
        </p:txBody>
      </p:sp>
      <p:sp>
        <p:nvSpPr>
          <p:cNvPr id="13" name="Text 11"/>
          <p:cNvSpPr txBox="1"/>
          <p:nvPr/>
        </p:nvSpPr>
        <p:spPr>
          <a:xfrm>
            <a:off x="868680" y="288036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1691640" y="2606040"/>
            <a:ext cx="6583680" cy="1097280"/>
          </a:xfrm>
          <a:prstGeom prst="rect">
            <a:avLst/>
          </a:prstGeom>
          <a:noFill/>
          <a:ln/>
        </p:spPr>
        <p:txBody>
          <a:bodyPr wrap="square" lIns="0" tIns="0" rIns="0" bIns="0" rtlCol="0" anchor="ctr"/>
          <a:lstStyle/>
          <a:p>
            <a:pPr marL="0" indent="0">
              <a:buNone/>
            </a:pPr>
            <a:r>
              <a:rPr lang="en-US" sz="1700" dirty="0">
                <a:solidFill>
                  <a:srgbClr val="1F3B47"/>
                </a:solidFill>
                <a:latin typeface="Calibri" pitchFamily="34" charset="0"/>
                <a:ea typeface="Calibri" pitchFamily="34" charset="-122"/>
                <a:cs typeface="Calibri" pitchFamily="34" charset="-120"/>
              </a:rPr>
              <a:t>Describe the main characteristics and advantages of a DBMS over traditional file-processing systems.</a:t>
            </a:r>
            <a:endParaRPr lang="en-US" sz="1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Last Lecture Recap</a:t>
            </a:r>
            <a:endParaRPr lang="en-US" sz="3000" dirty="0"/>
          </a:p>
        </p:txBody>
      </p:sp>
      <p:sp>
        <p:nvSpPr>
          <p:cNvPr id="7" name="Text 5"/>
          <p:cNvSpPr txBox="1"/>
          <p:nvPr/>
        </p:nvSpPr>
        <p:spPr>
          <a:xfrm>
            <a:off x="640080" y="1005840"/>
            <a:ext cx="7315200" cy="36576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Topics Covered</a:t>
            </a:r>
            <a:endParaRPr lang="en-US" sz="1800" dirty="0"/>
          </a:p>
        </p:txBody>
      </p:sp>
      <p:sp>
        <p:nvSpPr>
          <p:cNvPr id="8" name="Shape 6"/>
          <p:cNvSpPr/>
          <p:nvPr/>
        </p:nvSpPr>
        <p:spPr>
          <a:xfrm>
            <a:off x="640080" y="1554480"/>
            <a:ext cx="3817620" cy="914400"/>
          </a:xfrm>
          <a:prstGeom prst="roundRect">
            <a:avLst>
              <a:gd name="adj" fmla="val 12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777240" y="1801368"/>
            <a:ext cx="420624" cy="420624"/>
          </a:xfrm>
          <a:prstGeom prst="ellipse">
            <a:avLst/>
          </a:prstGeom>
          <a:solidFill>
            <a:srgbClr val="143F4F"/>
          </a:solidFill>
          <a:ln/>
        </p:spPr>
        <p:txBody>
          <a:bodyPr/>
          <a:lstStyle/>
          <a:p>
            <a:endParaRPr lang="en-US"/>
          </a:p>
        </p:txBody>
      </p:sp>
      <p:sp>
        <p:nvSpPr>
          <p:cNvPr id="10" name="Text 8"/>
          <p:cNvSpPr txBox="1"/>
          <p:nvPr/>
        </p:nvSpPr>
        <p:spPr>
          <a:xfrm>
            <a:off x="777240" y="18013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325880" y="1554480"/>
            <a:ext cx="2994660" cy="914400"/>
          </a:xfrm>
          <a:prstGeom prst="rect">
            <a:avLst/>
          </a:prstGeom>
          <a:noFill/>
          <a:ln/>
        </p:spPr>
        <p:txBody>
          <a:bodyPr wrap="square" lIns="0" tIns="0" rIns="0" bIns="0" rtlCol="0" anchor="ctr"/>
          <a:lstStyle/>
          <a:p>
            <a:pPr marL="0" indent="0">
              <a:buNone/>
            </a:pPr>
            <a:r>
              <a:rPr lang="en-US" sz="1500" b="1" dirty="0">
                <a:solidFill>
                  <a:srgbClr val="1F3B47"/>
                </a:solidFill>
                <a:latin typeface="Calibri" pitchFamily="34" charset="0"/>
                <a:ea typeface="Calibri" pitchFamily="34" charset="-122"/>
                <a:cs typeface="Calibri" pitchFamily="34" charset="-120"/>
              </a:rPr>
              <a:t>Database Management System and Its Applications</a:t>
            </a:r>
            <a:endParaRPr lang="en-US" sz="1500" dirty="0"/>
          </a:p>
        </p:txBody>
      </p:sp>
      <p:sp>
        <p:nvSpPr>
          <p:cNvPr id="12" name="Shape 10"/>
          <p:cNvSpPr/>
          <p:nvPr/>
        </p:nvSpPr>
        <p:spPr>
          <a:xfrm>
            <a:off x="4686300" y="1554480"/>
            <a:ext cx="3817620" cy="914400"/>
          </a:xfrm>
          <a:prstGeom prst="roundRect">
            <a:avLst>
              <a:gd name="adj" fmla="val 12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823460" y="1801368"/>
            <a:ext cx="420624" cy="420624"/>
          </a:xfrm>
          <a:prstGeom prst="ellipse">
            <a:avLst/>
          </a:prstGeom>
          <a:solidFill>
            <a:srgbClr val="55BFAE"/>
          </a:solidFill>
          <a:ln/>
        </p:spPr>
        <p:txBody>
          <a:bodyPr/>
          <a:lstStyle/>
          <a:p>
            <a:endParaRPr lang="en-US"/>
          </a:p>
        </p:txBody>
      </p:sp>
      <p:sp>
        <p:nvSpPr>
          <p:cNvPr id="14" name="Text 12"/>
          <p:cNvSpPr txBox="1"/>
          <p:nvPr/>
        </p:nvSpPr>
        <p:spPr>
          <a:xfrm>
            <a:off x="4823460" y="18013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5372100" y="1554480"/>
            <a:ext cx="2994660" cy="914400"/>
          </a:xfrm>
          <a:prstGeom prst="rect">
            <a:avLst/>
          </a:prstGeom>
          <a:noFill/>
          <a:ln/>
        </p:spPr>
        <p:txBody>
          <a:bodyPr wrap="square" lIns="0" tIns="0" rIns="0" bIns="0" rtlCol="0" anchor="ctr"/>
          <a:lstStyle/>
          <a:p>
            <a:pPr marL="0" indent="0">
              <a:buNone/>
            </a:pPr>
            <a:r>
              <a:rPr lang="en-US" sz="1500" b="1" dirty="0">
                <a:solidFill>
                  <a:srgbClr val="1F3B47"/>
                </a:solidFill>
                <a:latin typeface="Calibri" pitchFamily="34" charset="0"/>
                <a:ea typeface="Calibri" pitchFamily="34" charset="-122"/>
                <a:cs typeface="Calibri" pitchFamily="34" charset="-120"/>
              </a:rPr>
              <a:t>Purpose of Database Systems</a:t>
            </a:r>
            <a:endParaRPr lang="en-US" sz="1500" dirty="0"/>
          </a:p>
        </p:txBody>
      </p:sp>
      <p:sp>
        <p:nvSpPr>
          <p:cNvPr id="16" name="Shape 14"/>
          <p:cNvSpPr/>
          <p:nvPr/>
        </p:nvSpPr>
        <p:spPr>
          <a:xfrm>
            <a:off x="640080" y="2670048"/>
            <a:ext cx="3817620" cy="914400"/>
          </a:xfrm>
          <a:prstGeom prst="roundRect">
            <a:avLst>
              <a:gd name="adj" fmla="val 12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777240" y="2916936"/>
            <a:ext cx="420624" cy="420624"/>
          </a:xfrm>
          <a:prstGeom prst="ellipse">
            <a:avLst/>
          </a:prstGeom>
          <a:solidFill>
            <a:srgbClr val="143F4F"/>
          </a:solidFill>
          <a:ln/>
        </p:spPr>
        <p:txBody>
          <a:bodyPr/>
          <a:lstStyle/>
          <a:p>
            <a:endParaRPr lang="en-US"/>
          </a:p>
        </p:txBody>
      </p:sp>
      <p:sp>
        <p:nvSpPr>
          <p:cNvPr id="18" name="Text 16"/>
          <p:cNvSpPr txBox="1"/>
          <p:nvPr/>
        </p:nvSpPr>
        <p:spPr>
          <a:xfrm>
            <a:off x="777240" y="291693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25880" y="2670048"/>
            <a:ext cx="2994660" cy="914400"/>
          </a:xfrm>
          <a:prstGeom prst="rect">
            <a:avLst/>
          </a:prstGeom>
          <a:noFill/>
          <a:ln/>
        </p:spPr>
        <p:txBody>
          <a:bodyPr wrap="square" lIns="0" tIns="0" rIns="0" bIns="0" rtlCol="0" anchor="ctr"/>
          <a:lstStyle/>
          <a:p>
            <a:pPr marL="0" indent="0">
              <a:buNone/>
            </a:pPr>
            <a:r>
              <a:rPr lang="en-US" sz="1500" b="1" dirty="0">
                <a:solidFill>
                  <a:srgbClr val="1F3B47"/>
                </a:solidFill>
                <a:latin typeface="Calibri" pitchFamily="34" charset="0"/>
                <a:ea typeface="Calibri" pitchFamily="34" charset="-122"/>
                <a:cs typeface="Calibri" pitchFamily="34" charset="-120"/>
              </a:rPr>
              <a:t>File Oriented Approach</a:t>
            </a:r>
            <a:endParaRPr lang="en-US" sz="1500" dirty="0"/>
          </a:p>
        </p:txBody>
      </p:sp>
      <p:sp>
        <p:nvSpPr>
          <p:cNvPr id="20" name="Shape 18"/>
          <p:cNvSpPr/>
          <p:nvPr/>
        </p:nvSpPr>
        <p:spPr>
          <a:xfrm>
            <a:off x="4686300" y="2670048"/>
            <a:ext cx="3817620" cy="914400"/>
          </a:xfrm>
          <a:prstGeom prst="roundRect">
            <a:avLst>
              <a:gd name="adj" fmla="val 12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9"/>
          <p:cNvSpPr/>
          <p:nvPr/>
        </p:nvSpPr>
        <p:spPr>
          <a:xfrm>
            <a:off x="4823460" y="2916936"/>
            <a:ext cx="420624" cy="420624"/>
          </a:xfrm>
          <a:prstGeom prst="ellipse">
            <a:avLst/>
          </a:prstGeom>
          <a:solidFill>
            <a:srgbClr val="55BFAE"/>
          </a:solidFill>
          <a:ln/>
        </p:spPr>
        <p:txBody>
          <a:bodyPr/>
          <a:lstStyle/>
          <a:p>
            <a:endParaRPr lang="en-US"/>
          </a:p>
        </p:txBody>
      </p:sp>
      <p:sp>
        <p:nvSpPr>
          <p:cNvPr id="22" name="Text 20"/>
          <p:cNvSpPr txBox="1"/>
          <p:nvPr/>
        </p:nvSpPr>
        <p:spPr>
          <a:xfrm>
            <a:off x="4823460" y="291693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372100" y="2670048"/>
            <a:ext cx="2994660" cy="914400"/>
          </a:xfrm>
          <a:prstGeom prst="rect">
            <a:avLst/>
          </a:prstGeom>
          <a:noFill/>
          <a:ln/>
        </p:spPr>
        <p:txBody>
          <a:bodyPr wrap="square" lIns="0" tIns="0" rIns="0" bIns="0" rtlCol="0" anchor="ctr"/>
          <a:lstStyle/>
          <a:p>
            <a:pPr marL="0" indent="0">
              <a:buNone/>
            </a:pPr>
            <a:r>
              <a:rPr lang="en-US" sz="1500" b="1" dirty="0">
                <a:solidFill>
                  <a:srgbClr val="1F3B47"/>
                </a:solidFill>
                <a:latin typeface="Calibri" pitchFamily="34" charset="0"/>
                <a:ea typeface="Calibri" pitchFamily="34" charset="-122"/>
                <a:cs typeface="Calibri" pitchFamily="34" charset="-120"/>
              </a:rPr>
              <a:t>Disadvantages of File Oriented System</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Next Lecture Overview</a:t>
            </a:r>
            <a:endParaRPr lang="en-US" sz="3000" dirty="0"/>
          </a:p>
        </p:txBody>
      </p:sp>
      <p:sp>
        <p:nvSpPr>
          <p:cNvPr id="7" name="Text 5"/>
          <p:cNvSpPr txBox="1"/>
          <p:nvPr/>
        </p:nvSpPr>
        <p:spPr>
          <a:xfrm>
            <a:off x="640080" y="960120"/>
            <a:ext cx="7315200" cy="36576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Topics to be Covered</a:t>
            </a:r>
            <a:endParaRPr lang="en-US" sz="1800" dirty="0"/>
          </a:p>
        </p:txBody>
      </p:sp>
      <p:sp>
        <p:nvSpPr>
          <p:cNvPr id="8" name="Shape 6"/>
          <p:cNvSpPr/>
          <p:nvPr/>
        </p:nvSpPr>
        <p:spPr>
          <a:xfrm>
            <a:off x="640080" y="1463040"/>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777240" y="1527048"/>
            <a:ext cx="420624" cy="420624"/>
          </a:xfrm>
          <a:prstGeom prst="ellipse">
            <a:avLst/>
          </a:prstGeom>
          <a:solidFill>
            <a:srgbClr val="143F4F"/>
          </a:solidFill>
          <a:ln/>
        </p:spPr>
        <p:txBody>
          <a:bodyPr/>
          <a:lstStyle/>
          <a:p>
            <a:endParaRPr lang="en-US"/>
          </a:p>
        </p:txBody>
      </p:sp>
      <p:sp>
        <p:nvSpPr>
          <p:cNvPr id="10" name="Text 8"/>
          <p:cNvSpPr txBox="1"/>
          <p:nvPr/>
        </p:nvSpPr>
        <p:spPr>
          <a:xfrm>
            <a:off x="777240" y="15270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325880" y="1463040"/>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History of Database Systems</a:t>
            </a:r>
            <a:endParaRPr lang="en-US" sz="1400" dirty="0"/>
          </a:p>
        </p:txBody>
      </p:sp>
      <p:sp>
        <p:nvSpPr>
          <p:cNvPr id="12" name="Shape 10"/>
          <p:cNvSpPr/>
          <p:nvPr/>
        </p:nvSpPr>
        <p:spPr>
          <a:xfrm>
            <a:off x="4686300" y="1463040"/>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823460" y="1527048"/>
            <a:ext cx="420624" cy="420624"/>
          </a:xfrm>
          <a:prstGeom prst="ellipse">
            <a:avLst/>
          </a:prstGeom>
          <a:solidFill>
            <a:srgbClr val="55BFAE"/>
          </a:solidFill>
          <a:ln/>
        </p:spPr>
        <p:txBody>
          <a:bodyPr/>
          <a:lstStyle/>
          <a:p>
            <a:endParaRPr lang="en-US"/>
          </a:p>
        </p:txBody>
      </p:sp>
      <p:sp>
        <p:nvSpPr>
          <p:cNvPr id="14" name="Text 12"/>
          <p:cNvSpPr txBox="1"/>
          <p:nvPr/>
        </p:nvSpPr>
        <p:spPr>
          <a:xfrm>
            <a:off x="4823460" y="15270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5372100" y="1463040"/>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The Evolution of Database Systems</a:t>
            </a:r>
            <a:endParaRPr lang="en-US" sz="1400" dirty="0"/>
          </a:p>
        </p:txBody>
      </p:sp>
      <p:sp>
        <p:nvSpPr>
          <p:cNvPr id="16" name="Shape 14"/>
          <p:cNvSpPr/>
          <p:nvPr/>
        </p:nvSpPr>
        <p:spPr>
          <a:xfrm>
            <a:off x="640080" y="2212848"/>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777240" y="2276856"/>
            <a:ext cx="420624" cy="420624"/>
          </a:xfrm>
          <a:prstGeom prst="ellipse">
            <a:avLst/>
          </a:prstGeom>
          <a:solidFill>
            <a:srgbClr val="143F4F"/>
          </a:solidFill>
          <a:ln/>
        </p:spPr>
        <p:txBody>
          <a:bodyPr/>
          <a:lstStyle/>
          <a:p>
            <a:endParaRPr lang="en-US"/>
          </a:p>
        </p:txBody>
      </p:sp>
      <p:sp>
        <p:nvSpPr>
          <p:cNvPr id="18" name="Text 16"/>
          <p:cNvSpPr txBox="1"/>
          <p:nvPr/>
        </p:nvSpPr>
        <p:spPr>
          <a:xfrm>
            <a:off x="777240" y="227685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25880" y="2212848"/>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File Management System</a:t>
            </a:r>
            <a:endParaRPr lang="en-US" sz="1400" dirty="0"/>
          </a:p>
        </p:txBody>
      </p:sp>
      <p:sp>
        <p:nvSpPr>
          <p:cNvPr id="20" name="Shape 18"/>
          <p:cNvSpPr/>
          <p:nvPr/>
        </p:nvSpPr>
        <p:spPr>
          <a:xfrm>
            <a:off x="4686300" y="2212848"/>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9"/>
          <p:cNvSpPr/>
          <p:nvPr/>
        </p:nvSpPr>
        <p:spPr>
          <a:xfrm>
            <a:off x="4823460" y="2276856"/>
            <a:ext cx="420624" cy="420624"/>
          </a:xfrm>
          <a:prstGeom prst="ellipse">
            <a:avLst/>
          </a:prstGeom>
          <a:solidFill>
            <a:srgbClr val="55BFAE"/>
          </a:solidFill>
          <a:ln/>
        </p:spPr>
        <p:txBody>
          <a:bodyPr/>
          <a:lstStyle/>
          <a:p>
            <a:endParaRPr lang="en-US"/>
          </a:p>
        </p:txBody>
      </p:sp>
      <p:sp>
        <p:nvSpPr>
          <p:cNvPr id="22" name="Text 20"/>
          <p:cNvSpPr txBox="1"/>
          <p:nvPr/>
        </p:nvSpPr>
        <p:spPr>
          <a:xfrm>
            <a:off x="4823460" y="227685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372100" y="2212848"/>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Hierarchical Database System</a:t>
            </a:r>
            <a:endParaRPr lang="en-US" sz="1400" dirty="0"/>
          </a:p>
        </p:txBody>
      </p:sp>
      <p:sp>
        <p:nvSpPr>
          <p:cNvPr id="24" name="Shape 22"/>
          <p:cNvSpPr/>
          <p:nvPr/>
        </p:nvSpPr>
        <p:spPr>
          <a:xfrm>
            <a:off x="640080" y="2962656"/>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5" name="Shape 23"/>
          <p:cNvSpPr/>
          <p:nvPr/>
        </p:nvSpPr>
        <p:spPr>
          <a:xfrm>
            <a:off x="777240" y="3026664"/>
            <a:ext cx="420624" cy="420624"/>
          </a:xfrm>
          <a:prstGeom prst="ellipse">
            <a:avLst/>
          </a:prstGeom>
          <a:solidFill>
            <a:srgbClr val="143F4F"/>
          </a:solidFill>
          <a:ln/>
        </p:spPr>
        <p:txBody>
          <a:bodyPr/>
          <a:lstStyle/>
          <a:p>
            <a:endParaRPr lang="en-US"/>
          </a:p>
        </p:txBody>
      </p:sp>
      <p:sp>
        <p:nvSpPr>
          <p:cNvPr id="26" name="Text 24"/>
          <p:cNvSpPr txBox="1"/>
          <p:nvPr/>
        </p:nvSpPr>
        <p:spPr>
          <a:xfrm>
            <a:off x="777240" y="30266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325880" y="2962656"/>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Network Database System</a:t>
            </a:r>
            <a:endParaRPr lang="en-US" sz="1400" dirty="0"/>
          </a:p>
        </p:txBody>
      </p:sp>
      <p:sp>
        <p:nvSpPr>
          <p:cNvPr id="28" name="Shape 26"/>
          <p:cNvSpPr/>
          <p:nvPr/>
        </p:nvSpPr>
        <p:spPr>
          <a:xfrm>
            <a:off x="4686300" y="2962656"/>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9" name="Shape 27"/>
          <p:cNvSpPr/>
          <p:nvPr/>
        </p:nvSpPr>
        <p:spPr>
          <a:xfrm>
            <a:off x="4823460" y="3026664"/>
            <a:ext cx="420624" cy="420624"/>
          </a:xfrm>
          <a:prstGeom prst="ellipse">
            <a:avLst/>
          </a:prstGeom>
          <a:solidFill>
            <a:srgbClr val="55BFAE"/>
          </a:solidFill>
          <a:ln/>
        </p:spPr>
        <p:txBody>
          <a:bodyPr/>
          <a:lstStyle/>
          <a:p>
            <a:endParaRPr lang="en-US"/>
          </a:p>
        </p:txBody>
      </p:sp>
      <p:sp>
        <p:nvSpPr>
          <p:cNvPr id="30" name="Text 28"/>
          <p:cNvSpPr txBox="1"/>
          <p:nvPr/>
        </p:nvSpPr>
        <p:spPr>
          <a:xfrm>
            <a:off x="4823460" y="30266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5372100" y="2962656"/>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Relational Database System</a:t>
            </a:r>
            <a:endParaRPr lang="en-US" sz="1400" dirty="0"/>
          </a:p>
        </p:txBody>
      </p:sp>
      <p:sp>
        <p:nvSpPr>
          <p:cNvPr id="32" name="Shape 30"/>
          <p:cNvSpPr/>
          <p:nvPr/>
        </p:nvSpPr>
        <p:spPr>
          <a:xfrm>
            <a:off x="640080" y="3712464"/>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33" name="Shape 31"/>
          <p:cNvSpPr/>
          <p:nvPr/>
        </p:nvSpPr>
        <p:spPr>
          <a:xfrm>
            <a:off x="777240" y="3776472"/>
            <a:ext cx="420624" cy="420624"/>
          </a:xfrm>
          <a:prstGeom prst="ellipse">
            <a:avLst/>
          </a:prstGeom>
          <a:solidFill>
            <a:srgbClr val="143F4F"/>
          </a:solidFill>
          <a:ln/>
        </p:spPr>
        <p:txBody>
          <a:bodyPr/>
          <a:lstStyle/>
          <a:p>
            <a:endParaRPr lang="en-US"/>
          </a:p>
        </p:txBody>
      </p:sp>
      <p:sp>
        <p:nvSpPr>
          <p:cNvPr id="34" name="Text 32"/>
          <p:cNvSpPr txBox="1"/>
          <p:nvPr/>
        </p:nvSpPr>
        <p:spPr>
          <a:xfrm>
            <a:off x="777240" y="37764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5" name="Text 33"/>
          <p:cNvSpPr txBox="1"/>
          <p:nvPr/>
        </p:nvSpPr>
        <p:spPr>
          <a:xfrm>
            <a:off x="1325880" y="3712464"/>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Advantages of DBMS</a:t>
            </a:r>
            <a:endParaRPr lang="en-US" sz="1400" dirty="0"/>
          </a:p>
        </p:txBody>
      </p:sp>
      <p:sp>
        <p:nvSpPr>
          <p:cNvPr id="36" name="Shape 34"/>
          <p:cNvSpPr/>
          <p:nvPr/>
        </p:nvSpPr>
        <p:spPr>
          <a:xfrm>
            <a:off x="4686300" y="3712464"/>
            <a:ext cx="3817620" cy="548640"/>
          </a:xfrm>
          <a:prstGeom prst="roundRect">
            <a:avLst>
              <a:gd name="adj" fmla="val 200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37" name="Shape 35"/>
          <p:cNvSpPr/>
          <p:nvPr/>
        </p:nvSpPr>
        <p:spPr>
          <a:xfrm>
            <a:off x="4823460" y="3776472"/>
            <a:ext cx="420624" cy="420624"/>
          </a:xfrm>
          <a:prstGeom prst="ellipse">
            <a:avLst/>
          </a:prstGeom>
          <a:solidFill>
            <a:srgbClr val="55BFAE"/>
          </a:solidFill>
          <a:ln/>
        </p:spPr>
        <p:txBody>
          <a:bodyPr/>
          <a:lstStyle/>
          <a:p>
            <a:endParaRPr lang="en-US"/>
          </a:p>
        </p:txBody>
      </p:sp>
      <p:sp>
        <p:nvSpPr>
          <p:cNvPr id="38" name="Text 36"/>
          <p:cNvSpPr txBox="1"/>
          <p:nvPr/>
        </p:nvSpPr>
        <p:spPr>
          <a:xfrm>
            <a:off x="4823460" y="37764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9" name="Text 37"/>
          <p:cNvSpPr txBox="1"/>
          <p:nvPr/>
        </p:nvSpPr>
        <p:spPr>
          <a:xfrm>
            <a:off x="5372100" y="3712464"/>
            <a:ext cx="2994660" cy="548640"/>
          </a:xfrm>
          <a:prstGeom prst="rect">
            <a:avLst/>
          </a:prstGeom>
          <a:noFill/>
          <a:ln/>
        </p:spPr>
        <p:txBody>
          <a:bodyPr wrap="square" lIns="0" tIns="0" rIns="0" bIns="0" rtlCol="0" anchor="ctr"/>
          <a:lstStyle/>
          <a:p>
            <a:pPr marL="0" indent="0">
              <a:buNone/>
            </a:pPr>
            <a:r>
              <a:rPr lang="en-US" sz="1400" b="1" dirty="0">
                <a:solidFill>
                  <a:srgbClr val="1F3B47"/>
                </a:solidFill>
                <a:latin typeface="Calibri" pitchFamily="34" charset="0"/>
                <a:ea typeface="Calibri" pitchFamily="34" charset="-122"/>
                <a:cs typeface="Calibri" pitchFamily="34" charset="-120"/>
              </a:rPr>
              <a:t>Disadvantages of DBMS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6</a:t>
            </a:r>
            <a:endParaRPr lang="en-US" sz="1400" dirty="0"/>
          </a:p>
        </p:txBody>
      </p:sp>
      <p:sp>
        <p:nvSpPr>
          <p:cNvPr id="6" name="Shape 4"/>
          <p:cNvSpPr/>
          <p:nvPr/>
        </p:nvSpPr>
        <p:spPr>
          <a:xfrm>
            <a:off x="-274320" y="868680"/>
            <a:ext cx="3566160" cy="2560320"/>
          </a:xfrm>
          <a:prstGeom prst="roundRect">
            <a:avLst>
              <a:gd name="adj" fmla="val 10714"/>
            </a:avLst>
          </a:prstGeom>
          <a:solidFill>
            <a:srgbClr val="143F4F"/>
          </a:solidFill>
          <a:ln/>
        </p:spPr>
        <p:txBody>
          <a:bodyPr/>
          <a:lstStyle/>
          <a:p>
            <a:endParaRPr lang="en-US"/>
          </a:p>
        </p:txBody>
      </p:sp>
      <p:sp>
        <p:nvSpPr>
          <p:cNvPr id="7" name="Text 5"/>
          <p:cNvSpPr txBox="1"/>
          <p:nvPr/>
        </p:nvSpPr>
        <p:spPr>
          <a:xfrm>
            <a:off x="182880" y="868680"/>
            <a:ext cx="2926080" cy="2560320"/>
          </a:xfrm>
          <a:prstGeom prst="rect">
            <a:avLst/>
          </a:prstGeom>
          <a:noFill/>
          <a:ln/>
        </p:spPr>
        <p:txBody>
          <a:bodyPr wrap="square" lIns="0" tIns="0" rIns="0" bIns="0" rtlCol="0" anchor="ctr"/>
          <a:lstStyle/>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History</a:t>
            </a:r>
            <a:endParaRPr lang="en-US" sz="2800" dirty="0"/>
          </a:p>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of Database</a:t>
            </a:r>
            <a:endParaRPr lang="en-US" sz="2800" dirty="0"/>
          </a:p>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Systems</a:t>
            </a:r>
            <a:endParaRPr lang="en-US" sz="2800" dirty="0"/>
          </a:p>
        </p:txBody>
      </p:sp>
      <p:sp>
        <p:nvSpPr>
          <p:cNvPr id="8" name="Shape 6"/>
          <p:cNvSpPr/>
          <p:nvPr/>
        </p:nvSpPr>
        <p:spPr>
          <a:xfrm>
            <a:off x="3657600" y="1920240"/>
            <a:ext cx="841248" cy="292608"/>
          </a:xfrm>
          <a:prstGeom prst="chevron">
            <a:avLst/>
          </a:prstGeom>
          <a:solidFill>
            <a:srgbClr val="F7A234"/>
          </a:solidFill>
          <a:ln/>
        </p:spPr>
        <p:txBody>
          <a:bodyPr/>
          <a:lstStyle/>
          <a:p>
            <a:endParaRPr lang="en-US"/>
          </a:p>
        </p:txBody>
      </p:sp>
      <p:sp>
        <p:nvSpPr>
          <p:cNvPr id="9" name="Shape 7"/>
          <p:cNvSpPr/>
          <p:nvPr/>
        </p:nvSpPr>
        <p:spPr>
          <a:xfrm>
            <a:off x="4078224" y="2212848"/>
            <a:ext cx="914" cy="484632"/>
          </a:xfrm>
          <a:prstGeom prst="line">
            <a:avLst/>
          </a:prstGeom>
          <a:noFill/>
          <a:ln w="15875">
            <a:solidFill>
              <a:srgbClr val="F7A234"/>
            </a:solidFill>
            <a:prstDash val="solid"/>
          </a:ln>
        </p:spPr>
        <p:txBody>
          <a:bodyPr/>
          <a:lstStyle/>
          <a:p>
            <a:endParaRPr lang="en-US"/>
          </a:p>
        </p:txBody>
      </p:sp>
      <p:sp>
        <p:nvSpPr>
          <p:cNvPr id="10" name="Shape 8"/>
          <p:cNvSpPr/>
          <p:nvPr/>
        </p:nvSpPr>
        <p:spPr>
          <a:xfrm>
            <a:off x="3849624" y="2697480"/>
            <a:ext cx="457200" cy="457200"/>
          </a:xfrm>
          <a:prstGeom prst="ellipse">
            <a:avLst/>
          </a:prstGeom>
          <a:solidFill>
            <a:srgbClr val="F7A234"/>
          </a:solidFill>
          <a:ln/>
        </p:spPr>
        <p:txBody>
          <a:bodyPr/>
          <a:lstStyle/>
          <a:p>
            <a:endParaRPr lang="en-US"/>
          </a:p>
        </p:txBody>
      </p:sp>
      <p:sp>
        <p:nvSpPr>
          <p:cNvPr id="11" name="Text 9"/>
          <p:cNvSpPr txBox="1"/>
          <p:nvPr/>
        </p:nvSpPr>
        <p:spPr>
          <a:xfrm>
            <a:off x="3611880" y="1572768"/>
            <a:ext cx="914400" cy="274320"/>
          </a:xfrm>
          <a:prstGeom prst="rect">
            <a:avLst/>
          </a:prstGeom>
          <a:noFill/>
          <a:ln/>
        </p:spPr>
        <p:txBody>
          <a:bodyPr wrap="square" lIns="0" tIns="0" rIns="0" bIns="0" rtlCol="0" anchor="ctr"/>
          <a:lstStyle/>
          <a:p>
            <a:pPr marL="0" indent="0" algn="ctr">
              <a:buNone/>
            </a:pPr>
            <a:r>
              <a:rPr lang="en-US" sz="1200" b="1" dirty="0">
                <a:solidFill>
                  <a:srgbClr val="F7A234"/>
                </a:solidFill>
                <a:latin typeface="Calibri" pitchFamily="34" charset="0"/>
                <a:ea typeface="Calibri" pitchFamily="34" charset="-122"/>
                <a:cs typeface="Calibri" pitchFamily="34" charset="-120"/>
              </a:rPr>
              <a:t>1950</a:t>
            </a:r>
            <a:endParaRPr lang="en-US" sz="1200" dirty="0"/>
          </a:p>
        </p:txBody>
      </p:sp>
      <p:sp>
        <p:nvSpPr>
          <p:cNvPr id="12" name="Shape 10"/>
          <p:cNvSpPr/>
          <p:nvPr/>
        </p:nvSpPr>
        <p:spPr>
          <a:xfrm>
            <a:off x="4462272" y="1920240"/>
            <a:ext cx="841248" cy="292608"/>
          </a:xfrm>
          <a:prstGeom prst="chevron">
            <a:avLst/>
          </a:prstGeom>
          <a:solidFill>
            <a:srgbClr val="E8457A"/>
          </a:solidFill>
          <a:ln/>
        </p:spPr>
        <p:txBody>
          <a:bodyPr/>
          <a:lstStyle/>
          <a:p>
            <a:endParaRPr lang="en-US"/>
          </a:p>
        </p:txBody>
      </p:sp>
      <p:sp>
        <p:nvSpPr>
          <p:cNvPr id="13" name="Shape 11"/>
          <p:cNvSpPr/>
          <p:nvPr/>
        </p:nvSpPr>
        <p:spPr>
          <a:xfrm>
            <a:off x="4882896" y="1417320"/>
            <a:ext cx="914" cy="502920"/>
          </a:xfrm>
          <a:prstGeom prst="line">
            <a:avLst/>
          </a:prstGeom>
          <a:noFill/>
          <a:ln w="15875">
            <a:solidFill>
              <a:srgbClr val="E8457A"/>
            </a:solidFill>
            <a:prstDash val="solid"/>
          </a:ln>
        </p:spPr>
        <p:txBody>
          <a:bodyPr/>
          <a:lstStyle/>
          <a:p>
            <a:endParaRPr lang="en-US"/>
          </a:p>
        </p:txBody>
      </p:sp>
      <p:sp>
        <p:nvSpPr>
          <p:cNvPr id="14" name="Shape 12"/>
          <p:cNvSpPr/>
          <p:nvPr/>
        </p:nvSpPr>
        <p:spPr>
          <a:xfrm>
            <a:off x="4654296" y="960120"/>
            <a:ext cx="457200" cy="457200"/>
          </a:xfrm>
          <a:prstGeom prst="ellipse">
            <a:avLst/>
          </a:prstGeom>
          <a:solidFill>
            <a:srgbClr val="E8457A"/>
          </a:solidFill>
          <a:ln/>
        </p:spPr>
        <p:txBody>
          <a:bodyPr/>
          <a:lstStyle/>
          <a:p>
            <a:endParaRPr lang="en-US"/>
          </a:p>
        </p:txBody>
      </p:sp>
      <p:sp>
        <p:nvSpPr>
          <p:cNvPr id="15" name="Text 13"/>
          <p:cNvSpPr txBox="1"/>
          <p:nvPr/>
        </p:nvSpPr>
        <p:spPr>
          <a:xfrm>
            <a:off x="4416552" y="2240280"/>
            <a:ext cx="914400" cy="274320"/>
          </a:xfrm>
          <a:prstGeom prst="rect">
            <a:avLst/>
          </a:prstGeom>
          <a:noFill/>
          <a:ln/>
        </p:spPr>
        <p:txBody>
          <a:bodyPr wrap="square" lIns="0" tIns="0" rIns="0" bIns="0" rtlCol="0" anchor="ctr"/>
          <a:lstStyle/>
          <a:p>
            <a:pPr marL="0" indent="0" algn="ctr">
              <a:buNone/>
            </a:pPr>
            <a:r>
              <a:rPr lang="en-US" sz="1200" b="1" dirty="0">
                <a:solidFill>
                  <a:srgbClr val="E8457A"/>
                </a:solidFill>
                <a:latin typeface="Calibri" pitchFamily="34" charset="0"/>
                <a:ea typeface="Calibri" pitchFamily="34" charset="-122"/>
                <a:cs typeface="Calibri" pitchFamily="34" charset="-120"/>
              </a:rPr>
              <a:t>1960</a:t>
            </a:r>
            <a:endParaRPr lang="en-US" sz="1200" dirty="0"/>
          </a:p>
        </p:txBody>
      </p:sp>
      <p:sp>
        <p:nvSpPr>
          <p:cNvPr id="16" name="Shape 14"/>
          <p:cNvSpPr/>
          <p:nvPr/>
        </p:nvSpPr>
        <p:spPr>
          <a:xfrm>
            <a:off x="5266944" y="1920240"/>
            <a:ext cx="841248" cy="292608"/>
          </a:xfrm>
          <a:prstGeom prst="chevron">
            <a:avLst/>
          </a:prstGeom>
          <a:solidFill>
            <a:srgbClr val="1E96C8"/>
          </a:solidFill>
          <a:ln/>
        </p:spPr>
        <p:txBody>
          <a:bodyPr/>
          <a:lstStyle/>
          <a:p>
            <a:endParaRPr lang="en-US"/>
          </a:p>
        </p:txBody>
      </p:sp>
      <p:sp>
        <p:nvSpPr>
          <p:cNvPr id="17" name="Shape 15"/>
          <p:cNvSpPr/>
          <p:nvPr/>
        </p:nvSpPr>
        <p:spPr>
          <a:xfrm>
            <a:off x="5687568" y="2212848"/>
            <a:ext cx="914" cy="484632"/>
          </a:xfrm>
          <a:prstGeom prst="line">
            <a:avLst/>
          </a:prstGeom>
          <a:noFill/>
          <a:ln w="15875">
            <a:solidFill>
              <a:srgbClr val="1E96C8"/>
            </a:solidFill>
            <a:prstDash val="solid"/>
          </a:ln>
        </p:spPr>
        <p:txBody>
          <a:bodyPr/>
          <a:lstStyle/>
          <a:p>
            <a:endParaRPr lang="en-US"/>
          </a:p>
        </p:txBody>
      </p:sp>
      <p:sp>
        <p:nvSpPr>
          <p:cNvPr id="18" name="Shape 16"/>
          <p:cNvSpPr/>
          <p:nvPr/>
        </p:nvSpPr>
        <p:spPr>
          <a:xfrm>
            <a:off x="5458968" y="2697480"/>
            <a:ext cx="457200" cy="457200"/>
          </a:xfrm>
          <a:prstGeom prst="ellipse">
            <a:avLst/>
          </a:prstGeom>
          <a:solidFill>
            <a:srgbClr val="1E96C8"/>
          </a:solidFill>
          <a:ln/>
        </p:spPr>
        <p:txBody>
          <a:bodyPr/>
          <a:lstStyle/>
          <a:p>
            <a:endParaRPr lang="en-US"/>
          </a:p>
        </p:txBody>
      </p:sp>
      <p:sp>
        <p:nvSpPr>
          <p:cNvPr id="19" name="Text 17"/>
          <p:cNvSpPr txBox="1"/>
          <p:nvPr/>
        </p:nvSpPr>
        <p:spPr>
          <a:xfrm>
            <a:off x="5221224" y="1572768"/>
            <a:ext cx="914400" cy="274320"/>
          </a:xfrm>
          <a:prstGeom prst="rect">
            <a:avLst/>
          </a:prstGeom>
          <a:noFill/>
          <a:ln/>
        </p:spPr>
        <p:txBody>
          <a:bodyPr wrap="square" lIns="0" tIns="0" rIns="0" bIns="0" rtlCol="0" anchor="ctr"/>
          <a:lstStyle/>
          <a:p>
            <a:pPr marL="0" indent="0" algn="ctr">
              <a:buNone/>
            </a:pPr>
            <a:r>
              <a:rPr lang="en-US" sz="1200" b="1" dirty="0">
                <a:solidFill>
                  <a:srgbClr val="1E96C8"/>
                </a:solidFill>
                <a:latin typeface="Calibri" pitchFamily="34" charset="0"/>
                <a:ea typeface="Calibri" pitchFamily="34" charset="-122"/>
                <a:cs typeface="Calibri" pitchFamily="34" charset="-120"/>
              </a:rPr>
              <a:t>1970</a:t>
            </a:r>
            <a:endParaRPr lang="en-US" sz="1200" dirty="0"/>
          </a:p>
        </p:txBody>
      </p:sp>
      <p:sp>
        <p:nvSpPr>
          <p:cNvPr id="20" name="Shape 18"/>
          <p:cNvSpPr/>
          <p:nvPr/>
        </p:nvSpPr>
        <p:spPr>
          <a:xfrm>
            <a:off x="6071616" y="1920240"/>
            <a:ext cx="841248" cy="292608"/>
          </a:xfrm>
          <a:prstGeom prst="chevron">
            <a:avLst/>
          </a:prstGeom>
          <a:solidFill>
            <a:srgbClr val="8FA31E"/>
          </a:solidFill>
          <a:ln/>
        </p:spPr>
        <p:txBody>
          <a:bodyPr/>
          <a:lstStyle/>
          <a:p>
            <a:endParaRPr lang="en-US"/>
          </a:p>
        </p:txBody>
      </p:sp>
      <p:sp>
        <p:nvSpPr>
          <p:cNvPr id="21" name="Shape 19"/>
          <p:cNvSpPr/>
          <p:nvPr/>
        </p:nvSpPr>
        <p:spPr>
          <a:xfrm>
            <a:off x="6492240" y="1417320"/>
            <a:ext cx="914" cy="502920"/>
          </a:xfrm>
          <a:prstGeom prst="line">
            <a:avLst/>
          </a:prstGeom>
          <a:noFill/>
          <a:ln w="15875">
            <a:solidFill>
              <a:srgbClr val="8FA31E"/>
            </a:solidFill>
            <a:prstDash val="solid"/>
          </a:ln>
        </p:spPr>
        <p:txBody>
          <a:bodyPr/>
          <a:lstStyle/>
          <a:p>
            <a:endParaRPr lang="en-US"/>
          </a:p>
        </p:txBody>
      </p:sp>
      <p:sp>
        <p:nvSpPr>
          <p:cNvPr id="22" name="Shape 20"/>
          <p:cNvSpPr/>
          <p:nvPr/>
        </p:nvSpPr>
        <p:spPr>
          <a:xfrm>
            <a:off x="6263640" y="960120"/>
            <a:ext cx="457200" cy="457200"/>
          </a:xfrm>
          <a:prstGeom prst="ellipse">
            <a:avLst/>
          </a:prstGeom>
          <a:solidFill>
            <a:srgbClr val="8FA31E"/>
          </a:solidFill>
          <a:ln/>
        </p:spPr>
        <p:txBody>
          <a:bodyPr/>
          <a:lstStyle/>
          <a:p>
            <a:endParaRPr lang="en-US"/>
          </a:p>
        </p:txBody>
      </p:sp>
      <p:sp>
        <p:nvSpPr>
          <p:cNvPr id="23" name="Text 21"/>
          <p:cNvSpPr txBox="1"/>
          <p:nvPr/>
        </p:nvSpPr>
        <p:spPr>
          <a:xfrm>
            <a:off x="6025896" y="2240280"/>
            <a:ext cx="914400" cy="274320"/>
          </a:xfrm>
          <a:prstGeom prst="rect">
            <a:avLst/>
          </a:prstGeom>
          <a:noFill/>
          <a:ln/>
        </p:spPr>
        <p:txBody>
          <a:bodyPr wrap="square" lIns="0" tIns="0" rIns="0" bIns="0" rtlCol="0" anchor="ctr"/>
          <a:lstStyle/>
          <a:p>
            <a:pPr marL="0" indent="0" algn="ctr">
              <a:buNone/>
            </a:pPr>
            <a:r>
              <a:rPr lang="en-US" sz="1200" b="1" dirty="0">
                <a:solidFill>
                  <a:srgbClr val="8FA31E"/>
                </a:solidFill>
                <a:latin typeface="Calibri" pitchFamily="34" charset="0"/>
                <a:ea typeface="Calibri" pitchFamily="34" charset="-122"/>
                <a:cs typeface="Calibri" pitchFamily="34" charset="-120"/>
              </a:rPr>
              <a:t>1980</a:t>
            </a:r>
            <a:endParaRPr lang="en-US" sz="1200" dirty="0"/>
          </a:p>
        </p:txBody>
      </p:sp>
      <p:sp>
        <p:nvSpPr>
          <p:cNvPr id="24" name="Shape 22"/>
          <p:cNvSpPr/>
          <p:nvPr/>
        </p:nvSpPr>
        <p:spPr>
          <a:xfrm>
            <a:off x="6876288" y="1920240"/>
            <a:ext cx="841248" cy="292608"/>
          </a:xfrm>
          <a:prstGeom prst="chevron">
            <a:avLst/>
          </a:prstGeom>
          <a:solidFill>
            <a:srgbClr val="C86BD6"/>
          </a:solidFill>
          <a:ln/>
        </p:spPr>
        <p:txBody>
          <a:bodyPr/>
          <a:lstStyle/>
          <a:p>
            <a:endParaRPr lang="en-US"/>
          </a:p>
        </p:txBody>
      </p:sp>
      <p:sp>
        <p:nvSpPr>
          <p:cNvPr id="25" name="Shape 23"/>
          <p:cNvSpPr/>
          <p:nvPr/>
        </p:nvSpPr>
        <p:spPr>
          <a:xfrm>
            <a:off x="7296912" y="2212848"/>
            <a:ext cx="914" cy="484632"/>
          </a:xfrm>
          <a:prstGeom prst="line">
            <a:avLst/>
          </a:prstGeom>
          <a:noFill/>
          <a:ln w="15875">
            <a:solidFill>
              <a:srgbClr val="C86BD6"/>
            </a:solidFill>
            <a:prstDash val="solid"/>
          </a:ln>
        </p:spPr>
        <p:txBody>
          <a:bodyPr/>
          <a:lstStyle/>
          <a:p>
            <a:endParaRPr lang="en-US"/>
          </a:p>
        </p:txBody>
      </p:sp>
      <p:sp>
        <p:nvSpPr>
          <p:cNvPr id="26" name="Shape 24"/>
          <p:cNvSpPr/>
          <p:nvPr/>
        </p:nvSpPr>
        <p:spPr>
          <a:xfrm>
            <a:off x="7068312" y="2697480"/>
            <a:ext cx="457200" cy="457200"/>
          </a:xfrm>
          <a:prstGeom prst="ellipse">
            <a:avLst/>
          </a:prstGeom>
          <a:solidFill>
            <a:srgbClr val="C86BD6"/>
          </a:solidFill>
          <a:ln/>
        </p:spPr>
        <p:txBody>
          <a:bodyPr/>
          <a:lstStyle/>
          <a:p>
            <a:endParaRPr lang="en-US"/>
          </a:p>
        </p:txBody>
      </p:sp>
      <p:sp>
        <p:nvSpPr>
          <p:cNvPr id="27" name="Text 25"/>
          <p:cNvSpPr txBox="1"/>
          <p:nvPr/>
        </p:nvSpPr>
        <p:spPr>
          <a:xfrm>
            <a:off x="6830568" y="1572768"/>
            <a:ext cx="914400" cy="274320"/>
          </a:xfrm>
          <a:prstGeom prst="rect">
            <a:avLst/>
          </a:prstGeom>
          <a:noFill/>
          <a:ln/>
        </p:spPr>
        <p:txBody>
          <a:bodyPr wrap="square" lIns="0" tIns="0" rIns="0" bIns="0" rtlCol="0" anchor="ctr"/>
          <a:lstStyle/>
          <a:p>
            <a:pPr marL="0" indent="0" algn="ctr">
              <a:buNone/>
            </a:pPr>
            <a:r>
              <a:rPr lang="en-US" sz="1200" b="1" dirty="0">
                <a:solidFill>
                  <a:srgbClr val="C86BD6"/>
                </a:solidFill>
                <a:latin typeface="Calibri" pitchFamily="34" charset="0"/>
                <a:ea typeface="Calibri" pitchFamily="34" charset="-122"/>
                <a:cs typeface="Calibri" pitchFamily="34" charset="-120"/>
              </a:rPr>
              <a:t>1990</a:t>
            </a:r>
            <a:endParaRPr lang="en-US" sz="1200" dirty="0"/>
          </a:p>
        </p:txBody>
      </p:sp>
      <p:sp>
        <p:nvSpPr>
          <p:cNvPr id="28" name="Shape 26"/>
          <p:cNvSpPr/>
          <p:nvPr/>
        </p:nvSpPr>
        <p:spPr>
          <a:xfrm>
            <a:off x="7680960" y="1920240"/>
            <a:ext cx="841248" cy="292608"/>
          </a:xfrm>
          <a:prstGeom prst="chevron">
            <a:avLst/>
          </a:prstGeom>
          <a:solidFill>
            <a:srgbClr val="5AD4E8"/>
          </a:solidFill>
          <a:ln/>
        </p:spPr>
        <p:txBody>
          <a:bodyPr/>
          <a:lstStyle/>
          <a:p>
            <a:endParaRPr lang="en-US"/>
          </a:p>
        </p:txBody>
      </p:sp>
      <p:sp>
        <p:nvSpPr>
          <p:cNvPr id="29" name="Shape 27"/>
          <p:cNvSpPr/>
          <p:nvPr/>
        </p:nvSpPr>
        <p:spPr>
          <a:xfrm>
            <a:off x="8101584" y="1417320"/>
            <a:ext cx="914" cy="502920"/>
          </a:xfrm>
          <a:prstGeom prst="line">
            <a:avLst/>
          </a:prstGeom>
          <a:noFill/>
          <a:ln w="15875">
            <a:solidFill>
              <a:srgbClr val="5AD4E8"/>
            </a:solidFill>
            <a:prstDash val="solid"/>
          </a:ln>
        </p:spPr>
        <p:txBody>
          <a:bodyPr/>
          <a:lstStyle/>
          <a:p>
            <a:endParaRPr lang="en-US"/>
          </a:p>
        </p:txBody>
      </p:sp>
      <p:sp>
        <p:nvSpPr>
          <p:cNvPr id="30" name="Shape 28"/>
          <p:cNvSpPr/>
          <p:nvPr/>
        </p:nvSpPr>
        <p:spPr>
          <a:xfrm>
            <a:off x="7872984" y="960120"/>
            <a:ext cx="457200" cy="457200"/>
          </a:xfrm>
          <a:prstGeom prst="ellipse">
            <a:avLst/>
          </a:prstGeom>
          <a:solidFill>
            <a:srgbClr val="5AD4E8"/>
          </a:solidFill>
          <a:ln/>
        </p:spPr>
        <p:txBody>
          <a:bodyPr/>
          <a:lstStyle/>
          <a:p>
            <a:endParaRPr lang="en-US"/>
          </a:p>
        </p:txBody>
      </p:sp>
      <p:sp>
        <p:nvSpPr>
          <p:cNvPr id="31" name="Text 29"/>
          <p:cNvSpPr txBox="1"/>
          <p:nvPr/>
        </p:nvSpPr>
        <p:spPr>
          <a:xfrm>
            <a:off x="7635240" y="2240280"/>
            <a:ext cx="914400" cy="274320"/>
          </a:xfrm>
          <a:prstGeom prst="rect">
            <a:avLst/>
          </a:prstGeom>
          <a:noFill/>
          <a:ln/>
        </p:spPr>
        <p:txBody>
          <a:bodyPr wrap="square" lIns="0" tIns="0" rIns="0" bIns="0" rtlCol="0" anchor="ctr"/>
          <a:lstStyle/>
          <a:p>
            <a:pPr marL="0" indent="0" algn="ctr">
              <a:buNone/>
            </a:pPr>
            <a:r>
              <a:rPr lang="en-US" sz="1200" b="1" dirty="0">
                <a:solidFill>
                  <a:srgbClr val="5AD4E8"/>
                </a:solidFill>
                <a:latin typeface="Calibri" pitchFamily="34" charset="0"/>
                <a:ea typeface="Calibri" pitchFamily="34" charset="-122"/>
                <a:cs typeface="Calibri" pitchFamily="34" charset="-120"/>
              </a:rPr>
              <a:t>2000</a:t>
            </a:r>
            <a:endParaRPr lang="en-US" sz="1200" dirty="0"/>
          </a:p>
        </p:txBody>
      </p:sp>
      <p:sp>
        <p:nvSpPr>
          <p:cNvPr id="32" name="Text 30"/>
          <p:cNvSpPr txBox="1"/>
          <p:nvPr/>
        </p:nvSpPr>
        <p:spPr>
          <a:xfrm>
            <a:off x="3657600" y="3474720"/>
            <a:ext cx="4846320" cy="640080"/>
          </a:xfrm>
          <a:prstGeom prst="rect">
            <a:avLst/>
          </a:prstGeom>
          <a:noFill/>
          <a:ln/>
        </p:spPr>
        <p:txBody>
          <a:bodyPr wrap="square" lIns="0" tIns="0" rIns="0" bIns="0" rtlCol="0" anchor="ctr"/>
          <a:lstStyle/>
          <a:p>
            <a:pPr marL="0" indent="0" algn="ctr">
              <a:buNone/>
            </a:pPr>
            <a:r>
              <a:rPr lang="en-US" sz="3000" b="1" dirty="0">
                <a:solidFill>
                  <a:srgbClr val="143F4F"/>
                </a:solidFill>
                <a:latin typeface="Century Schoolbook" pitchFamily="34" charset="0"/>
                <a:ea typeface="Century Schoolbook" pitchFamily="34" charset="-122"/>
                <a:cs typeface="Century Schoolbook" pitchFamily="34" charset="-120"/>
              </a:rPr>
              <a:t>Brief History</a:t>
            </a:r>
            <a:endParaRPr lang="en-US" sz="3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1950s and Early 1960s</a:t>
            </a:r>
            <a:endParaRPr lang="en-US" sz="3000" dirty="0"/>
          </a:p>
        </p:txBody>
      </p:sp>
      <p:sp>
        <p:nvSpPr>
          <p:cNvPr id="7" name="Shape 5"/>
          <p:cNvSpPr/>
          <p:nvPr/>
        </p:nvSpPr>
        <p:spPr>
          <a:xfrm>
            <a:off x="640080" y="1097280"/>
            <a:ext cx="3794760" cy="3383280"/>
          </a:xfrm>
          <a:prstGeom prst="roundRect">
            <a:avLst>
              <a:gd name="adj" fmla="val 3243"/>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22960" y="1188720"/>
            <a:ext cx="3474720" cy="411480"/>
          </a:xfrm>
          <a:prstGeom prst="rect">
            <a:avLst/>
          </a:prstGeom>
          <a:noFill/>
          <a:ln/>
        </p:spPr>
        <p:txBody>
          <a:bodyPr wrap="square" lIns="0" tIns="0" rIns="0" bIns="0" rtlCol="0" anchor="ctr"/>
          <a:lstStyle/>
          <a:p>
            <a:pPr marL="0" indent="0">
              <a:buNone/>
            </a:pPr>
            <a:r>
              <a:rPr lang="en-US" sz="1600" b="1" dirty="0">
                <a:solidFill>
                  <a:srgbClr val="143F4F"/>
                </a:solidFill>
                <a:latin typeface="Calibri" pitchFamily="34" charset="0"/>
                <a:ea typeface="Calibri" pitchFamily="34" charset="-122"/>
                <a:cs typeface="Calibri" pitchFamily="34" charset="-120"/>
              </a:rPr>
              <a:t>1950s – early 1960s: Tapes</a:t>
            </a:r>
            <a:endParaRPr lang="en-US" sz="1600" dirty="0"/>
          </a:p>
        </p:txBody>
      </p:sp>
      <p:sp>
        <p:nvSpPr>
          <p:cNvPr id="9" name="Text 7"/>
          <p:cNvSpPr txBox="1"/>
          <p:nvPr/>
        </p:nvSpPr>
        <p:spPr>
          <a:xfrm>
            <a:off x="822960" y="1691640"/>
            <a:ext cx="3474720" cy="2651760"/>
          </a:xfrm>
          <a:prstGeom prst="rect">
            <a:avLst/>
          </a:prstGeom>
          <a:noFill/>
          <a:ln/>
        </p:spPr>
        <p:txBody>
          <a:bodyPr wrap="square" lIns="0" tIns="0" rIns="0" bIns="0" rtlCol="0" anchor="t"/>
          <a:lstStyle/>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Magnetic tapes were developed for data storage.</a:t>
            </a:r>
            <a:endParaRPr lang="en-US" sz="1450" dirty="0"/>
          </a:p>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Data processing tasks such as payroll were automated, with data stored on tapes.</a:t>
            </a:r>
            <a:endParaRPr lang="en-US" sz="1450" dirty="0"/>
          </a:p>
          <a:p>
            <a:pPr marL="342900" indent="-342900">
              <a:spcAft>
                <a:spcPts val="1000"/>
              </a:spcAft>
              <a:buSzPct val="100000"/>
              <a:buChar char="•"/>
            </a:pPr>
            <a:r>
              <a:rPr lang="en-US" sz="1450" dirty="0">
                <a:solidFill>
                  <a:srgbClr val="1F3B47"/>
                </a:solidFill>
                <a:latin typeface="Calibri" pitchFamily="34" charset="0"/>
                <a:ea typeface="Calibri" pitchFamily="34" charset="-122"/>
                <a:cs typeface="Calibri" pitchFamily="34" charset="-120"/>
              </a:rPr>
              <a:t>Data could also be input from punched card decks, and output to printers.</a:t>
            </a:r>
            <a:endParaRPr lang="en-US" sz="1450" dirty="0"/>
          </a:p>
        </p:txBody>
      </p:sp>
      <p:sp>
        <p:nvSpPr>
          <p:cNvPr id="10" name="Shape 8"/>
          <p:cNvSpPr/>
          <p:nvPr/>
        </p:nvSpPr>
        <p:spPr>
          <a:xfrm>
            <a:off x="4709160" y="1097280"/>
            <a:ext cx="3794760" cy="3383280"/>
          </a:xfrm>
          <a:prstGeom prst="roundRect">
            <a:avLst>
              <a:gd name="adj" fmla="val 3243"/>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4892040" y="1188720"/>
            <a:ext cx="3474720" cy="411480"/>
          </a:xfrm>
          <a:prstGeom prst="rect">
            <a:avLst/>
          </a:prstGeom>
          <a:noFill/>
          <a:ln/>
        </p:spPr>
        <p:txBody>
          <a:bodyPr wrap="square" lIns="0" tIns="0" rIns="0" bIns="0" rtlCol="0" anchor="ctr"/>
          <a:lstStyle/>
          <a:p>
            <a:pPr marL="0" indent="0">
              <a:buNone/>
            </a:pPr>
            <a:r>
              <a:rPr lang="en-US" sz="1600" b="1" dirty="0">
                <a:solidFill>
                  <a:srgbClr val="55BFAE"/>
                </a:solidFill>
                <a:latin typeface="Calibri" pitchFamily="34" charset="0"/>
                <a:ea typeface="Calibri" pitchFamily="34" charset="-122"/>
                <a:cs typeface="Calibri" pitchFamily="34" charset="-120"/>
              </a:rPr>
              <a:t>Late 1960s – 1970s: Hard disks</a:t>
            </a:r>
            <a:endParaRPr lang="en-US" sz="1600" dirty="0"/>
          </a:p>
        </p:txBody>
      </p:sp>
      <p:sp>
        <p:nvSpPr>
          <p:cNvPr id="12" name="Text 10"/>
          <p:cNvSpPr txBox="1"/>
          <p:nvPr/>
        </p:nvSpPr>
        <p:spPr>
          <a:xfrm>
            <a:off x="4892040" y="1691640"/>
            <a:ext cx="3474720" cy="265176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The use of hard disks in the late 1960s changed the scenario for data processing greatly, since hard disks allowed direct access to data.</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Late 1960s and 1970s</a:t>
            </a:r>
            <a:endParaRPr lang="en-US" sz="3000" dirty="0"/>
          </a:p>
        </p:txBody>
      </p:sp>
      <p:sp>
        <p:nvSpPr>
          <p:cNvPr id="7" name="Text 5"/>
          <p:cNvSpPr txBox="1"/>
          <p:nvPr/>
        </p:nvSpPr>
        <p:spPr>
          <a:xfrm>
            <a:off x="640080" y="1097280"/>
            <a:ext cx="4754880" cy="32004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rgbClr val="1F3B47"/>
                </a:solidFill>
                <a:latin typeface="Calibri" pitchFamily="34" charset="0"/>
                <a:ea typeface="Calibri" pitchFamily="34" charset="-122"/>
                <a:cs typeface="Calibri" pitchFamily="34" charset="-120"/>
              </a:rPr>
              <a:t>With disks, network and hierarchical databases could be created that allowed data structures such as lists and trees to be stored on disk.</a:t>
            </a:r>
            <a:endParaRPr lang="en-US" sz="1600" dirty="0"/>
          </a:p>
          <a:p>
            <a:pPr marL="342900" indent="-342900">
              <a:spcAft>
                <a:spcPts val="1400"/>
              </a:spcAft>
              <a:buSzPct val="100000"/>
              <a:buChar char="•"/>
            </a:pPr>
            <a:r>
              <a:rPr lang="en-US" sz="1600" dirty="0">
                <a:solidFill>
                  <a:srgbClr val="1F3B47"/>
                </a:solidFill>
                <a:latin typeface="Calibri" pitchFamily="34" charset="0"/>
                <a:ea typeface="Calibri" pitchFamily="34" charset="-122"/>
                <a:cs typeface="Calibri" pitchFamily="34" charset="-120"/>
              </a:rPr>
              <a:t>Programmers could construct and manipulate these data structures.</a:t>
            </a:r>
            <a:endParaRPr lang="en-US" sz="1600" dirty="0"/>
          </a:p>
        </p:txBody>
      </p:sp>
      <p:sp>
        <p:nvSpPr>
          <p:cNvPr id="8" name="Shape 6"/>
          <p:cNvSpPr/>
          <p:nvPr/>
        </p:nvSpPr>
        <p:spPr>
          <a:xfrm>
            <a:off x="5669280" y="1188720"/>
            <a:ext cx="2834640" cy="2926080"/>
          </a:xfrm>
          <a:prstGeom prst="roundRect">
            <a:avLst>
              <a:gd name="adj" fmla="val 3871"/>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5852160" y="1280160"/>
            <a:ext cx="2468880" cy="2743200"/>
          </a:xfrm>
          <a:prstGeom prst="rect">
            <a:avLst/>
          </a:prstGeom>
          <a:noFill/>
          <a:ln/>
        </p:spPr>
        <p:txBody>
          <a:bodyPr wrap="square" lIns="0" tIns="0" rIns="0" bIns="0" rtlCol="0" anchor="ctr"/>
          <a:lstStyle/>
          <a:p>
            <a:pPr marL="0" indent="0" algn="ctr">
              <a:buNone/>
            </a:pPr>
            <a:r>
              <a:rPr lang="en-US" sz="3400" b="1" dirty="0">
                <a:solidFill>
                  <a:srgbClr val="55BFAE"/>
                </a:solidFill>
                <a:latin typeface="Calibri" pitchFamily="34" charset="0"/>
                <a:ea typeface="Calibri" pitchFamily="34" charset="-122"/>
                <a:cs typeface="Calibri" pitchFamily="34" charset="-120"/>
              </a:rPr>
              <a:t>1970s</a:t>
            </a:r>
            <a:endParaRPr lang="en-US" sz="3400" dirty="0"/>
          </a:p>
          <a:p>
            <a:pPr marL="0" indent="0" algn="ctr">
              <a:buNone/>
            </a:pPr>
            <a:r>
              <a:rPr lang="en-US" sz="1700" b="1" dirty="0">
                <a:solidFill>
                  <a:srgbClr val="FFFFFF"/>
                </a:solidFill>
                <a:latin typeface="Calibri" pitchFamily="34" charset="0"/>
                <a:ea typeface="Calibri" pitchFamily="34" charset="-122"/>
                <a:cs typeface="Calibri" pitchFamily="34" charset="-120"/>
              </a:rPr>
              <a:t>E. F. Codd defined the Relational Model.</a:t>
            </a:r>
            <a:endParaRPr lang="en-US" sz="3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In the 1980s</a:t>
            </a:r>
            <a:endParaRPr lang="en-US" sz="3000" dirty="0"/>
          </a:p>
        </p:txBody>
      </p:sp>
      <p:sp>
        <p:nvSpPr>
          <p:cNvPr id="7" name="Shape 5"/>
          <p:cNvSpPr/>
          <p:nvPr/>
        </p:nvSpPr>
        <p:spPr>
          <a:xfrm>
            <a:off x="6675120" y="1188720"/>
            <a:ext cx="1737360" cy="1737360"/>
          </a:xfrm>
          <a:prstGeom prst="ellipse">
            <a:avLst/>
          </a:prstGeom>
          <a:solidFill>
            <a:srgbClr val="55BFAE"/>
          </a:solidFill>
          <a:ln/>
        </p:spPr>
        <p:txBody>
          <a:bodyPr/>
          <a:lstStyle/>
          <a:p>
            <a:endParaRPr lang="en-US"/>
          </a:p>
        </p:txBody>
      </p:sp>
      <p:sp>
        <p:nvSpPr>
          <p:cNvPr id="8" name="Text 6"/>
          <p:cNvSpPr txBox="1"/>
          <p:nvPr/>
        </p:nvSpPr>
        <p:spPr>
          <a:xfrm>
            <a:off x="6675120" y="1188720"/>
            <a:ext cx="1737360" cy="173736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Schoolbook" pitchFamily="34" charset="0"/>
                <a:ea typeface="Century Schoolbook" pitchFamily="34" charset="-122"/>
                <a:cs typeface="Century Schoolbook" pitchFamily="34" charset="-120"/>
              </a:rPr>
              <a:t>1980s</a:t>
            </a:r>
            <a:endParaRPr lang="en-US" sz="2400" dirty="0"/>
          </a:p>
        </p:txBody>
      </p:sp>
      <p:sp>
        <p:nvSpPr>
          <p:cNvPr id="9" name="Text 7"/>
          <p:cNvSpPr txBox="1"/>
          <p:nvPr/>
        </p:nvSpPr>
        <p:spPr>
          <a:xfrm>
            <a:off x="640080" y="1097280"/>
            <a:ext cx="5760720" cy="356616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Initial commercial relational database systems, such as IBM DB2, Oracle, Ingres, and DEC Rdb, played a major role in advancing techniques for efficient processing of declarative queries.</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In the early 1980s, relational databases had become competitive with network and hierarchical database systems even in the area of performance.</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The 1980s also saw much research on parallel and distributed databases, as well as initial work on object-oriented databases.</a:t>
            </a:r>
            <a:endParaRPr lang="en-US" sz="15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Early 1990s</a:t>
            </a:r>
            <a:endParaRPr lang="en-US" sz="3000" dirty="0"/>
          </a:p>
        </p:txBody>
      </p:sp>
      <p:sp>
        <p:nvSpPr>
          <p:cNvPr id="7" name="Shape 5"/>
          <p:cNvSpPr/>
          <p:nvPr/>
        </p:nvSpPr>
        <p:spPr>
          <a:xfrm>
            <a:off x="6675120" y="1188720"/>
            <a:ext cx="1737360" cy="1737360"/>
          </a:xfrm>
          <a:prstGeom prst="ellipse">
            <a:avLst/>
          </a:prstGeom>
          <a:solidFill>
            <a:srgbClr val="55BFAE"/>
          </a:solidFill>
          <a:ln/>
        </p:spPr>
        <p:txBody>
          <a:bodyPr/>
          <a:lstStyle/>
          <a:p>
            <a:endParaRPr lang="en-US"/>
          </a:p>
        </p:txBody>
      </p:sp>
      <p:sp>
        <p:nvSpPr>
          <p:cNvPr id="8" name="Text 6"/>
          <p:cNvSpPr txBox="1"/>
          <p:nvPr/>
        </p:nvSpPr>
        <p:spPr>
          <a:xfrm>
            <a:off x="6675120" y="1188720"/>
            <a:ext cx="1737360" cy="173736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Schoolbook" pitchFamily="34" charset="0"/>
                <a:ea typeface="Century Schoolbook" pitchFamily="34" charset="-122"/>
                <a:cs typeface="Century Schoolbook" pitchFamily="34" charset="-120"/>
              </a:rPr>
              <a:t>Early</a:t>
            </a:r>
            <a:endParaRPr lang="en-US" sz="2400" dirty="0"/>
          </a:p>
          <a:p>
            <a:pPr marL="0" indent="0" algn="ctr">
              <a:buNone/>
            </a:pPr>
            <a:r>
              <a:rPr lang="en-US" sz="2400" b="1" dirty="0">
                <a:solidFill>
                  <a:srgbClr val="FFFFFF"/>
                </a:solidFill>
                <a:latin typeface="Century Schoolbook" pitchFamily="34" charset="0"/>
                <a:ea typeface="Century Schoolbook" pitchFamily="34" charset="-122"/>
                <a:cs typeface="Century Schoolbook" pitchFamily="34" charset="-120"/>
              </a:rPr>
              <a:t>1990s</a:t>
            </a:r>
            <a:endParaRPr lang="en-US" sz="2400" dirty="0"/>
          </a:p>
        </p:txBody>
      </p:sp>
      <p:sp>
        <p:nvSpPr>
          <p:cNvPr id="9" name="Text 7"/>
          <p:cNvSpPr txBox="1"/>
          <p:nvPr/>
        </p:nvSpPr>
        <p:spPr>
          <a:xfrm>
            <a:off x="640080" y="1097280"/>
            <a:ext cx="5760720" cy="356616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The SQL language was designed primarily in the 1990s, and it is used for transaction processing applications.</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Decision support and querying re-emerged as a major application area for databases.</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Database vendors also began to add object-relational support to their databases.</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Late 1990s</a:t>
            </a:r>
            <a:endParaRPr lang="en-US" sz="3000" dirty="0"/>
          </a:p>
        </p:txBody>
      </p:sp>
      <p:sp>
        <p:nvSpPr>
          <p:cNvPr id="7" name="Shape 5"/>
          <p:cNvSpPr/>
          <p:nvPr/>
        </p:nvSpPr>
        <p:spPr>
          <a:xfrm>
            <a:off x="6675120" y="1188720"/>
            <a:ext cx="1737360" cy="1737360"/>
          </a:xfrm>
          <a:prstGeom prst="ellipse">
            <a:avLst/>
          </a:prstGeom>
          <a:solidFill>
            <a:srgbClr val="55BFAE"/>
          </a:solidFill>
          <a:ln/>
        </p:spPr>
        <p:txBody>
          <a:bodyPr/>
          <a:lstStyle/>
          <a:p>
            <a:endParaRPr lang="en-US"/>
          </a:p>
        </p:txBody>
      </p:sp>
      <p:sp>
        <p:nvSpPr>
          <p:cNvPr id="8" name="Text 6"/>
          <p:cNvSpPr txBox="1"/>
          <p:nvPr/>
        </p:nvSpPr>
        <p:spPr>
          <a:xfrm>
            <a:off x="6675120" y="1188720"/>
            <a:ext cx="1737360" cy="173736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Schoolbook" pitchFamily="34" charset="0"/>
                <a:ea typeface="Century Schoolbook" pitchFamily="34" charset="-122"/>
                <a:cs typeface="Century Schoolbook" pitchFamily="34" charset="-120"/>
              </a:rPr>
              <a:t>Late</a:t>
            </a:r>
            <a:endParaRPr lang="en-US" sz="2400" dirty="0"/>
          </a:p>
          <a:p>
            <a:pPr marL="0" indent="0" algn="ctr">
              <a:buNone/>
            </a:pPr>
            <a:r>
              <a:rPr lang="en-US" sz="2400" b="1" dirty="0">
                <a:solidFill>
                  <a:srgbClr val="FFFFFF"/>
                </a:solidFill>
                <a:latin typeface="Century Schoolbook" pitchFamily="34" charset="0"/>
                <a:ea typeface="Century Schoolbook" pitchFamily="34" charset="-122"/>
                <a:cs typeface="Century Schoolbook" pitchFamily="34" charset="-120"/>
              </a:rPr>
              <a:t>1990s</a:t>
            </a:r>
            <a:endParaRPr lang="en-US" sz="2400" dirty="0"/>
          </a:p>
        </p:txBody>
      </p:sp>
      <p:sp>
        <p:nvSpPr>
          <p:cNvPr id="9" name="Text 7"/>
          <p:cNvSpPr txBox="1"/>
          <p:nvPr/>
        </p:nvSpPr>
        <p:spPr>
          <a:xfrm>
            <a:off x="640080" y="1097280"/>
            <a:ext cx="5760720" cy="356616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The major event was the explosive growth of the World Wide Web.</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Databases were deployed much more extensively than ever before.</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Database systems now had to support very high transaction processing rates, as well as very high reliability and 24×7 availability (no downtime for scheduled maintenance).</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Database systems also had to support Web interfaces to data.</a:t>
            </a:r>
            <a:endParaRPr lang="en-US" sz="15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12</a:t>
            </a:r>
            <a:endParaRPr lang="en-US" sz="1400" dirty="0"/>
          </a:p>
        </p:txBody>
      </p:sp>
      <p:sp>
        <p:nvSpPr>
          <p:cNvPr id="6" name="Shape 4"/>
          <p:cNvSpPr/>
          <p:nvPr/>
        </p:nvSpPr>
        <p:spPr>
          <a:xfrm>
            <a:off x="-274320" y="868680"/>
            <a:ext cx="3566160" cy="2560320"/>
          </a:xfrm>
          <a:prstGeom prst="roundRect">
            <a:avLst>
              <a:gd name="adj" fmla="val 10714"/>
            </a:avLst>
          </a:prstGeom>
          <a:solidFill>
            <a:srgbClr val="143F4F"/>
          </a:solidFill>
          <a:ln/>
        </p:spPr>
        <p:txBody>
          <a:bodyPr/>
          <a:lstStyle/>
          <a:p>
            <a:endParaRPr lang="en-US"/>
          </a:p>
        </p:txBody>
      </p:sp>
      <p:sp>
        <p:nvSpPr>
          <p:cNvPr id="7" name="Text 5"/>
          <p:cNvSpPr txBox="1"/>
          <p:nvPr/>
        </p:nvSpPr>
        <p:spPr>
          <a:xfrm>
            <a:off x="182880" y="868680"/>
            <a:ext cx="2926080" cy="2560320"/>
          </a:xfrm>
          <a:prstGeom prst="rect">
            <a:avLst/>
          </a:prstGeom>
          <a:noFill/>
          <a:ln/>
        </p:spPr>
        <p:txBody>
          <a:bodyPr wrap="square" lIns="0" tIns="0" rIns="0" bIns="0" rtlCol="0" anchor="ctr"/>
          <a:lstStyle/>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The Evolution</a:t>
            </a:r>
            <a:endParaRPr lang="en-US" sz="2800" dirty="0"/>
          </a:p>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of Database</a:t>
            </a:r>
            <a:endParaRPr lang="en-US" sz="2800" dirty="0"/>
          </a:p>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Systems</a:t>
            </a:r>
            <a:endParaRPr lang="en-US" sz="2800" dirty="0"/>
          </a:p>
        </p:txBody>
      </p:sp>
      <p:sp>
        <p:nvSpPr>
          <p:cNvPr id="8" name="Text 6"/>
          <p:cNvSpPr txBox="1"/>
          <p:nvPr/>
        </p:nvSpPr>
        <p:spPr>
          <a:xfrm>
            <a:off x="3657600" y="1005840"/>
            <a:ext cx="4846320" cy="36576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Evolution of Database Management Systems</a:t>
            </a:r>
            <a:endParaRPr lang="en-US" sz="1400" dirty="0"/>
          </a:p>
        </p:txBody>
      </p:sp>
      <p:sp>
        <p:nvSpPr>
          <p:cNvPr id="9" name="Shape 7"/>
          <p:cNvSpPr/>
          <p:nvPr/>
        </p:nvSpPr>
        <p:spPr>
          <a:xfrm>
            <a:off x="3657600" y="1554480"/>
            <a:ext cx="1188720" cy="685800"/>
          </a:xfrm>
          <a:prstGeom prst="chevron">
            <a:avLst/>
          </a:prstGeom>
          <a:solidFill>
            <a:srgbClr val="B7A9E0"/>
          </a:solidFill>
          <a:ln/>
        </p:spPr>
        <p:txBody>
          <a:bodyPr/>
          <a:lstStyle/>
          <a:p>
            <a:endParaRPr lang="en-US"/>
          </a:p>
        </p:txBody>
      </p:sp>
      <p:sp>
        <p:nvSpPr>
          <p:cNvPr id="10" name="Text 8"/>
          <p:cNvSpPr txBox="1"/>
          <p:nvPr/>
        </p:nvSpPr>
        <p:spPr>
          <a:xfrm>
            <a:off x="3858768" y="15544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Hierarchical</a:t>
            </a:r>
            <a:endParaRPr lang="en-US" sz="900" dirty="0"/>
          </a:p>
        </p:txBody>
      </p:sp>
      <p:sp>
        <p:nvSpPr>
          <p:cNvPr id="11" name="Shape 9"/>
          <p:cNvSpPr/>
          <p:nvPr/>
        </p:nvSpPr>
        <p:spPr>
          <a:xfrm>
            <a:off x="4818888" y="1554480"/>
            <a:ext cx="1188720" cy="685800"/>
          </a:xfrm>
          <a:prstGeom prst="chevron">
            <a:avLst/>
          </a:prstGeom>
          <a:solidFill>
            <a:srgbClr val="9A9BE0"/>
          </a:solidFill>
          <a:ln/>
        </p:spPr>
        <p:txBody>
          <a:bodyPr/>
          <a:lstStyle/>
          <a:p>
            <a:endParaRPr lang="en-US"/>
          </a:p>
        </p:txBody>
      </p:sp>
      <p:sp>
        <p:nvSpPr>
          <p:cNvPr id="12" name="Text 10"/>
          <p:cNvSpPr txBox="1"/>
          <p:nvPr/>
        </p:nvSpPr>
        <p:spPr>
          <a:xfrm>
            <a:off x="5020056" y="15544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Network</a:t>
            </a:r>
            <a:endParaRPr lang="en-US" sz="900" dirty="0"/>
          </a:p>
        </p:txBody>
      </p:sp>
      <p:sp>
        <p:nvSpPr>
          <p:cNvPr id="13" name="Shape 11"/>
          <p:cNvSpPr/>
          <p:nvPr/>
        </p:nvSpPr>
        <p:spPr>
          <a:xfrm>
            <a:off x="5980176" y="1554480"/>
            <a:ext cx="1188720" cy="685800"/>
          </a:xfrm>
          <a:prstGeom prst="chevron">
            <a:avLst/>
          </a:prstGeom>
          <a:solidFill>
            <a:srgbClr val="7C8FDB"/>
          </a:solidFill>
          <a:ln/>
        </p:spPr>
        <p:txBody>
          <a:bodyPr/>
          <a:lstStyle/>
          <a:p>
            <a:endParaRPr lang="en-US"/>
          </a:p>
        </p:txBody>
      </p:sp>
      <p:sp>
        <p:nvSpPr>
          <p:cNvPr id="14" name="Text 12"/>
          <p:cNvSpPr txBox="1"/>
          <p:nvPr/>
        </p:nvSpPr>
        <p:spPr>
          <a:xfrm>
            <a:off x="6181344" y="15544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Relational</a:t>
            </a:r>
            <a:endParaRPr lang="en-US" sz="900" dirty="0"/>
          </a:p>
        </p:txBody>
      </p:sp>
      <p:sp>
        <p:nvSpPr>
          <p:cNvPr id="15" name="Shape 13"/>
          <p:cNvSpPr/>
          <p:nvPr/>
        </p:nvSpPr>
        <p:spPr>
          <a:xfrm>
            <a:off x="7141464" y="1554480"/>
            <a:ext cx="1188720" cy="685800"/>
          </a:xfrm>
          <a:prstGeom prst="chevron">
            <a:avLst/>
          </a:prstGeom>
          <a:solidFill>
            <a:srgbClr val="5F83D4"/>
          </a:solidFill>
          <a:ln/>
        </p:spPr>
        <p:txBody>
          <a:bodyPr/>
          <a:lstStyle/>
          <a:p>
            <a:endParaRPr lang="en-US"/>
          </a:p>
        </p:txBody>
      </p:sp>
      <p:sp>
        <p:nvSpPr>
          <p:cNvPr id="16" name="Text 14"/>
          <p:cNvSpPr txBox="1"/>
          <p:nvPr/>
        </p:nvSpPr>
        <p:spPr>
          <a:xfrm>
            <a:off x="7342632" y="15544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Object-</a:t>
            </a:r>
            <a:endParaRPr lang="en-US" sz="900" dirty="0"/>
          </a:p>
          <a:p>
            <a:pPr marL="0" indent="0" algn="ctr">
              <a:buNone/>
            </a:pPr>
            <a:r>
              <a:rPr lang="en-US" sz="900" b="1" dirty="0">
                <a:solidFill>
                  <a:srgbClr val="FFFFFF"/>
                </a:solidFill>
                <a:latin typeface="Calibri" pitchFamily="34" charset="0"/>
                <a:ea typeface="Calibri" pitchFamily="34" charset="-122"/>
                <a:cs typeface="Calibri" pitchFamily="34" charset="-120"/>
              </a:rPr>
              <a:t>oriented</a:t>
            </a:r>
            <a:endParaRPr lang="en-US" sz="900" dirty="0"/>
          </a:p>
        </p:txBody>
      </p:sp>
      <p:sp>
        <p:nvSpPr>
          <p:cNvPr id="17" name="Shape 15"/>
          <p:cNvSpPr/>
          <p:nvPr/>
        </p:nvSpPr>
        <p:spPr>
          <a:xfrm>
            <a:off x="3657600" y="2468880"/>
            <a:ext cx="1188720" cy="685800"/>
          </a:xfrm>
          <a:prstGeom prst="chevron">
            <a:avLst/>
          </a:prstGeom>
          <a:solidFill>
            <a:srgbClr val="4471C4"/>
          </a:solidFill>
          <a:ln/>
        </p:spPr>
        <p:txBody>
          <a:bodyPr/>
          <a:lstStyle/>
          <a:p>
            <a:endParaRPr lang="en-US"/>
          </a:p>
        </p:txBody>
      </p:sp>
      <p:sp>
        <p:nvSpPr>
          <p:cNvPr id="18" name="Text 16"/>
          <p:cNvSpPr txBox="1"/>
          <p:nvPr/>
        </p:nvSpPr>
        <p:spPr>
          <a:xfrm>
            <a:off x="3858768" y="24688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Distributed</a:t>
            </a:r>
            <a:endParaRPr lang="en-US" sz="900" dirty="0"/>
          </a:p>
        </p:txBody>
      </p:sp>
      <p:sp>
        <p:nvSpPr>
          <p:cNvPr id="19" name="Shape 17"/>
          <p:cNvSpPr/>
          <p:nvPr/>
        </p:nvSpPr>
        <p:spPr>
          <a:xfrm>
            <a:off x="4818888" y="2468880"/>
            <a:ext cx="1188720" cy="685800"/>
          </a:xfrm>
          <a:prstGeom prst="chevron">
            <a:avLst/>
          </a:prstGeom>
          <a:solidFill>
            <a:srgbClr val="2F5AAE"/>
          </a:solidFill>
          <a:ln/>
        </p:spPr>
        <p:txBody>
          <a:bodyPr/>
          <a:lstStyle/>
          <a:p>
            <a:endParaRPr lang="en-US"/>
          </a:p>
        </p:txBody>
      </p:sp>
      <p:sp>
        <p:nvSpPr>
          <p:cNvPr id="20" name="Text 18"/>
          <p:cNvSpPr txBox="1"/>
          <p:nvPr/>
        </p:nvSpPr>
        <p:spPr>
          <a:xfrm>
            <a:off x="5020056" y="24688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NoSQL</a:t>
            </a:r>
            <a:endParaRPr lang="en-US" sz="900" dirty="0"/>
          </a:p>
        </p:txBody>
      </p:sp>
      <p:sp>
        <p:nvSpPr>
          <p:cNvPr id="21" name="Shape 19"/>
          <p:cNvSpPr/>
          <p:nvPr/>
        </p:nvSpPr>
        <p:spPr>
          <a:xfrm>
            <a:off x="5980176" y="2468880"/>
            <a:ext cx="1188720" cy="685800"/>
          </a:xfrm>
          <a:prstGeom prst="chevron">
            <a:avLst/>
          </a:prstGeom>
          <a:solidFill>
            <a:srgbClr val="1F4290"/>
          </a:solidFill>
          <a:ln/>
        </p:spPr>
        <p:txBody>
          <a:bodyPr/>
          <a:lstStyle/>
          <a:p>
            <a:endParaRPr lang="en-US"/>
          </a:p>
        </p:txBody>
      </p:sp>
      <p:sp>
        <p:nvSpPr>
          <p:cNvPr id="22" name="Text 20"/>
          <p:cNvSpPr txBox="1"/>
          <p:nvPr/>
        </p:nvSpPr>
        <p:spPr>
          <a:xfrm>
            <a:off x="6181344" y="24688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Cloud</a:t>
            </a:r>
            <a:endParaRPr lang="en-US" sz="900" dirty="0"/>
          </a:p>
        </p:txBody>
      </p:sp>
      <p:sp>
        <p:nvSpPr>
          <p:cNvPr id="23" name="Shape 21"/>
          <p:cNvSpPr/>
          <p:nvPr/>
        </p:nvSpPr>
        <p:spPr>
          <a:xfrm>
            <a:off x="7141464" y="2468880"/>
            <a:ext cx="1188720" cy="685800"/>
          </a:xfrm>
          <a:prstGeom prst="chevron">
            <a:avLst/>
          </a:prstGeom>
          <a:solidFill>
            <a:srgbClr val="132C66"/>
          </a:solidFill>
          <a:ln/>
        </p:spPr>
        <p:txBody>
          <a:bodyPr/>
          <a:lstStyle/>
          <a:p>
            <a:endParaRPr lang="en-US"/>
          </a:p>
        </p:txBody>
      </p:sp>
      <p:sp>
        <p:nvSpPr>
          <p:cNvPr id="24" name="Text 22"/>
          <p:cNvSpPr txBox="1"/>
          <p:nvPr/>
        </p:nvSpPr>
        <p:spPr>
          <a:xfrm>
            <a:off x="7342632" y="2468880"/>
            <a:ext cx="786384" cy="68580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Vector</a:t>
            </a:r>
            <a:endParaRPr lang="en-US" sz="900" dirty="0"/>
          </a:p>
        </p:txBody>
      </p:sp>
      <p:sp>
        <p:nvSpPr>
          <p:cNvPr id="25" name="Text 23"/>
          <p:cNvSpPr txBox="1"/>
          <p:nvPr/>
        </p:nvSpPr>
        <p:spPr>
          <a:xfrm>
            <a:off x="3657600" y="3566160"/>
            <a:ext cx="4846320" cy="365760"/>
          </a:xfrm>
          <a:prstGeom prst="rect">
            <a:avLst/>
          </a:prstGeom>
          <a:noFill/>
          <a:ln/>
        </p:spPr>
        <p:txBody>
          <a:bodyPr wrap="square" lIns="0" tIns="0" rIns="0" bIns="0" rtlCol="0" anchor="ctr"/>
          <a:lstStyle/>
          <a:p>
            <a:pPr marL="0" indent="0">
              <a:buNone/>
            </a:pPr>
            <a:r>
              <a:rPr lang="en-US" sz="1200" i="1" dirty="0">
                <a:solidFill>
                  <a:srgbClr val="5A7079"/>
                </a:solidFill>
                <a:latin typeface="Calibri" pitchFamily="34" charset="0"/>
                <a:ea typeface="Calibri" pitchFamily="34" charset="-122"/>
                <a:cs typeface="Calibri" pitchFamily="34" charset="-120"/>
              </a:rPr>
              <a:t>Each generation addressed the limits of the one before it.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File Management System</a:t>
            </a:r>
            <a:endParaRPr lang="en-US" sz="3000" dirty="0"/>
          </a:p>
        </p:txBody>
      </p:sp>
      <p:sp>
        <p:nvSpPr>
          <p:cNvPr id="7" name="Text 5"/>
          <p:cNvSpPr txBox="1"/>
          <p:nvPr/>
        </p:nvSpPr>
        <p:spPr>
          <a:xfrm>
            <a:off x="640080" y="1051560"/>
            <a:ext cx="5669280" cy="365760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1F3B47"/>
                </a:solidFill>
                <a:latin typeface="Calibri" pitchFamily="34" charset="0"/>
                <a:ea typeface="Calibri" pitchFamily="34" charset="-122"/>
                <a:cs typeface="Calibri" pitchFamily="34" charset="-120"/>
              </a:rPr>
              <a:t>The File Management System (FMS) is one in which all data is stored in a single large file.</a:t>
            </a:r>
            <a:endParaRPr lang="en-US" sz="1500" dirty="0"/>
          </a:p>
          <a:p>
            <a:pPr marL="342900" indent="-342900">
              <a:spcAft>
                <a:spcPts val="900"/>
              </a:spcAft>
              <a:buSzPct val="100000"/>
              <a:buChar char="•"/>
            </a:pPr>
            <a:r>
              <a:rPr lang="en-US" sz="1500" dirty="0">
                <a:solidFill>
                  <a:srgbClr val="1F3B47"/>
                </a:solidFill>
                <a:latin typeface="Calibri" pitchFamily="34" charset="0"/>
                <a:ea typeface="Calibri" pitchFamily="34" charset="-122"/>
                <a:cs typeface="Calibri" pitchFamily="34" charset="-120"/>
              </a:rPr>
              <a:t>Its main disadvantage is that searching for a record or data takes a long time.</a:t>
            </a:r>
            <a:endParaRPr lang="en-US" sz="1500" dirty="0"/>
          </a:p>
          <a:p>
            <a:pPr marL="342900" indent="-342900">
              <a:spcAft>
                <a:spcPts val="900"/>
              </a:spcAft>
              <a:buSzPct val="100000"/>
              <a:buChar char="•"/>
            </a:pPr>
            <a:r>
              <a:rPr lang="en-US" sz="1500" dirty="0">
                <a:solidFill>
                  <a:srgbClr val="1F3B47"/>
                </a:solidFill>
                <a:latin typeface="Calibri" pitchFamily="34" charset="0"/>
                <a:ea typeface="Calibri" pitchFamily="34" charset="-122"/>
                <a:cs typeface="Calibri" pitchFamily="34" charset="-120"/>
              </a:rPr>
              <a:t>This led to the introduction of the concept of indexing in this system.</a:t>
            </a:r>
            <a:endParaRPr lang="en-US" sz="1500" dirty="0"/>
          </a:p>
          <a:p>
            <a:pPr marL="342900" indent="-342900">
              <a:spcAft>
                <a:spcPts val="900"/>
              </a:spcAft>
              <a:buSzPct val="100000"/>
              <a:buChar char="•"/>
            </a:pPr>
            <a:r>
              <a:rPr lang="en-US" sz="1500" dirty="0">
                <a:solidFill>
                  <a:srgbClr val="1F3B47"/>
                </a:solidFill>
                <a:latin typeface="Calibri" pitchFamily="34" charset="0"/>
                <a:ea typeface="Calibri" pitchFamily="34" charset="-122"/>
                <a:cs typeface="Calibri" pitchFamily="34" charset="-120"/>
              </a:rPr>
              <a:t>Even then, FMS had many drawbacks: updates or modifications to the data could not be handled easily, sorting the records took a long time, and so on.</a:t>
            </a:r>
            <a:endParaRPr lang="en-US" sz="1500" dirty="0"/>
          </a:p>
          <a:p>
            <a:pPr marL="342900" indent="-342900">
              <a:spcAft>
                <a:spcPts val="900"/>
              </a:spcAft>
              <a:buSzPct val="100000"/>
              <a:buChar char="•"/>
            </a:pPr>
            <a:r>
              <a:rPr lang="en-US" sz="1500" dirty="0">
                <a:solidFill>
                  <a:srgbClr val="1F3B47"/>
                </a:solidFill>
                <a:latin typeface="Calibri" pitchFamily="34" charset="0"/>
                <a:ea typeface="Calibri" pitchFamily="34" charset="-122"/>
                <a:cs typeface="Calibri" pitchFamily="34" charset="-120"/>
              </a:rPr>
              <a:t>All these drawbacks led to the introduction of the Hierarchical Database System.</a:t>
            </a:r>
            <a:endParaRPr lang="en-US" sz="1500" dirty="0"/>
          </a:p>
        </p:txBody>
      </p:sp>
      <p:sp>
        <p:nvSpPr>
          <p:cNvPr id="8" name="Shape 6"/>
          <p:cNvSpPr/>
          <p:nvPr/>
        </p:nvSpPr>
        <p:spPr>
          <a:xfrm>
            <a:off x="6675120" y="1371600"/>
            <a:ext cx="1645920" cy="2194560"/>
          </a:xfrm>
          <a:prstGeom prst="flowChartDocument">
            <a:avLst/>
          </a:prstGeom>
          <a:solidFill>
            <a:srgbClr val="E3F3F0"/>
          </a:solidFill>
          <a:ln w="15875">
            <a:solidFill>
              <a:srgbClr val="143F4F"/>
            </a:solidFill>
            <a:prstDash val="solid"/>
          </a:ln>
        </p:spPr>
        <p:txBody>
          <a:bodyPr/>
          <a:lstStyle/>
          <a:p>
            <a:endParaRPr lang="en-US"/>
          </a:p>
        </p:txBody>
      </p:sp>
      <p:sp>
        <p:nvSpPr>
          <p:cNvPr id="9" name="Shape 7"/>
          <p:cNvSpPr/>
          <p:nvPr/>
        </p:nvSpPr>
        <p:spPr>
          <a:xfrm>
            <a:off x="6903720" y="1691640"/>
            <a:ext cx="1188720" cy="914"/>
          </a:xfrm>
          <a:prstGeom prst="line">
            <a:avLst/>
          </a:prstGeom>
          <a:noFill/>
          <a:ln w="15875">
            <a:solidFill>
              <a:srgbClr val="9AAFB6"/>
            </a:solidFill>
            <a:prstDash val="solid"/>
          </a:ln>
        </p:spPr>
        <p:txBody>
          <a:bodyPr/>
          <a:lstStyle/>
          <a:p>
            <a:endParaRPr lang="en-US"/>
          </a:p>
        </p:txBody>
      </p:sp>
      <p:sp>
        <p:nvSpPr>
          <p:cNvPr id="10" name="Shape 8"/>
          <p:cNvSpPr/>
          <p:nvPr/>
        </p:nvSpPr>
        <p:spPr>
          <a:xfrm>
            <a:off x="6903720" y="1965960"/>
            <a:ext cx="1188720" cy="914"/>
          </a:xfrm>
          <a:prstGeom prst="line">
            <a:avLst/>
          </a:prstGeom>
          <a:noFill/>
          <a:ln w="15875">
            <a:solidFill>
              <a:srgbClr val="9AAFB6"/>
            </a:solidFill>
            <a:prstDash val="solid"/>
          </a:ln>
        </p:spPr>
        <p:txBody>
          <a:bodyPr/>
          <a:lstStyle/>
          <a:p>
            <a:endParaRPr lang="en-US"/>
          </a:p>
        </p:txBody>
      </p:sp>
      <p:sp>
        <p:nvSpPr>
          <p:cNvPr id="11" name="Shape 9"/>
          <p:cNvSpPr/>
          <p:nvPr/>
        </p:nvSpPr>
        <p:spPr>
          <a:xfrm>
            <a:off x="6903720" y="2240280"/>
            <a:ext cx="1188720" cy="914"/>
          </a:xfrm>
          <a:prstGeom prst="line">
            <a:avLst/>
          </a:prstGeom>
          <a:noFill/>
          <a:ln w="15875">
            <a:solidFill>
              <a:srgbClr val="9AAFB6"/>
            </a:solidFill>
            <a:prstDash val="solid"/>
          </a:ln>
        </p:spPr>
        <p:txBody>
          <a:bodyPr/>
          <a:lstStyle/>
          <a:p>
            <a:endParaRPr lang="en-US"/>
          </a:p>
        </p:txBody>
      </p:sp>
      <p:sp>
        <p:nvSpPr>
          <p:cNvPr id="12" name="Shape 10"/>
          <p:cNvSpPr/>
          <p:nvPr/>
        </p:nvSpPr>
        <p:spPr>
          <a:xfrm>
            <a:off x="6903720" y="2514600"/>
            <a:ext cx="1188720" cy="914"/>
          </a:xfrm>
          <a:prstGeom prst="line">
            <a:avLst/>
          </a:prstGeom>
          <a:noFill/>
          <a:ln w="15875">
            <a:solidFill>
              <a:srgbClr val="9AAFB6"/>
            </a:solidFill>
            <a:prstDash val="solid"/>
          </a:ln>
        </p:spPr>
        <p:txBody>
          <a:bodyPr/>
          <a:lstStyle/>
          <a:p>
            <a:endParaRPr lang="en-US"/>
          </a:p>
        </p:txBody>
      </p:sp>
      <p:sp>
        <p:nvSpPr>
          <p:cNvPr id="13" name="Shape 11"/>
          <p:cNvSpPr/>
          <p:nvPr/>
        </p:nvSpPr>
        <p:spPr>
          <a:xfrm>
            <a:off x="6903720" y="2788920"/>
            <a:ext cx="1188720" cy="914"/>
          </a:xfrm>
          <a:prstGeom prst="line">
            <a:avLst/>
          </a:prstGeom>
          <a:noFill/>
          <a:ln w="15875">
            <a:solidFill>
              <a:srgbClr val="9AAFB6"/>
            </a:solidFill>
            <a:prstDash val="solid"/>
          </a:ln>
        </p:spPr>
        <p:txBody>
          <a:bodyPr/>
          <a:lstStyle/>
          <a:p>
            <a:endParaRPr lang="en-US"/>
          </a:p>
        </p:txBody>
      </p:sp>
      <p:sp>
        <p:nvSpPr>
          <p:cNvPr id="14" name="Shape 12"/>
          <p:cNvSpPr/>
          <p:nvPr/>
        </p:nvSpPr>
        <p:spPr>
          <a:xfrm>
            <a:off x="6903720" y="3063240"/>
            <a:ext cx="1188720" cy="914"/>
          </a:xfrm>
          <a:prstGeom prst="line">
            <a:avLst/>
          </a:prstGeom>
          <a:noFill/>
          <a:ln w="15875">
            <a:solidFill>
              <a:srgbClr val="9AAFB6"/>
            </a:solidFill>
            <a:prstDash val="solid"/>
          </a:ln>
        </p:spPr>
        <p:txBody>
          <a:bodyPr/>
          <a:lstStyle/>
          <a:p>
            <a:endParaRPr lang="en-US"/>
          </a:p>
        </p:txBody>
      </p:sp>
      <p:sp>
        <p:nvSpPr>
          <p:cNvPr id="15" name="Text 13"/>
          <p:cNvSpPr txBox="1"/>
          <p:nvPr/>
        </p:nvSpPr>
        <p:spPr>
          <a:xfrm>
            <a:off x="6400800" y="3703320"/>
            <a:ext cx="2194560" cy="320040"/>
          </a:xfrm>
          <a:prstGeom prst="rect">
            <a:avLst/>
          </a:prstGeom>
          <a:noFill/>
          <a:ln/>
        </p:spPr>
        <p:txBody>
          <a:bodyPr wrap="square" lIns="0" tIns="0" rIns="0" bIns="0" rtlCol="0" anchor="ctr"/>
          <a:lstStyle/>
          <a:p>
            <a:pPr marL="0" indent="0" algn="ctr">
              <a:buNone/>
            </a:pPr>
            <a:r>
              <a:rPr lang="en-US" sz="1300" b="1" dirty="0">
                <a:solidFill>
                  <a:srgbClr val="143F4F"/>
                </a:solidFill>
                <a:latin typeface="Calibri" pitchFamily="34" charset="0"/>
                <a:ea typeface="Calibri" pitchFamily="34" charset="-122"/>
                <a:cs typeface="Calibri" pitchFamily="34" charset="-120"/>
              </a:rPr>
              <a:t>One large file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Hierarchical Database System</a:t>
            </a:r>
            <a:endParaRPr lang="en-US" sz="3000" dirty="0"/>
          </a:p>
        </p:txBody>
      </p:sp>
      <p:sp>
        <p:nvSpPr>
          <p:cNvPr id="7" name="Text 5"/>
          <p:cNvSpPr txBox="1"/>
          <p:nvPr/>
        </p:nvSpPr>
        <p:spPr>
          <a:xfrm>
            <a:off x="640080" y="1051560"/>
            <a:ext cx="7863840" cy="3657600"/>
          </a:xfrm>
          <a:prstGeom prst="rect">
            <a:avLst/>
          </a:prstGeom>
          <a:noFill/>
          <a:ln/>
        </p:spPr>
        <p:txBody>
          <a:bodyPr wrap="square" lIns="0" tIns="0" rIns="0" bIns="0" rtlCol="0" anchor="t"/>
          <a:lstStyle/>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The FMS drawback of slow record access and sorting was removed by introducing a parent-child relationship between records in the database.</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The origin of the data is called the root, from which several branches have data at different levels; the last level is called the leaf.</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The main drawback: any modification or addition to the structure required altering the whole structure, which made the task tedious.</a:t>
            </a:r>
            <a:endParaRPr lang="en-US" sz="1550" dirty="0"/>
          </a:p>
          <a:p>
            <a:pPr marL="342900" indent="-342900">
              <a:spcAft>
                <a:spcPts val="1200"/>
              </a:spcAft>
              <a:buSzPct val="100000"/>
              <a:buChar char="•"/>
            </a:pPr>
            <a:r>
              <a:rPr lang="en-US" sz="1550" dirty="0">
                <a:solidFill>
                  <a:srgbClr val="1F3B47"/>
                </a:solidFill>
                <a:latin typeface="Calibri" pitchFamily="34" charset="0"/>
                <a:ea typeface="Calibri" pitchFamily="34" charset="-122"/>
                <a:cs typeface="Calibri" pitchFamily="34" charset="-120"/>
              </a:rPr>
              <a:t>To avoid this, the next system originated: the Network Database System.</a:t>
            </a:r>
            <a:endParaRPr lang="en-US" sz="15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Example</a:t>
            </a:r>
            <a:endParaRPr lang="en-US" sz="3000" dirty="0"/>
          </a:p>
        </p:txBody>
      </p:sp>
      <p:sp>
        <p:nvSpPr>
          <p:cNvPr id="7" name="Shape 5"/>
          <p:cNvSpPr/>
          <p:nvPr/>
        </p:nvSpPr>
        <p:spPr>
          <a:xfrm>
            <a:off x="822960" y="1005840"/>
            <a:ext cx="7498080" cy="3566160"/>
          </a:xfrm>
          <a:prstGeom prst="roundRect">
            <a:avLst>
              <a:gd name="adj" fmla="val 3077"/>
            </a:avLst>
          </a:prstGeom>
          <a:solidFill>
            <a:srgbClr val="E3EEF8"/>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22960" y="1097280"/>
            <a:ext cx="7498080" cy="411480"/>
          </a:xfrm>
          <a:prstGeom prst="rect">
            <a:avLst/>
          </a:prstGeom>
          <a:noFill/>
          <a:ln/>
        </p:spPr>
        <p:txBody>
          <a:bodyPr wrap="square" lIns="0" tIns="0" rIns="0" bIns="0" rtlCol="0" anchor="ctr"/>
          <a:lstStyle/>
          <a:p>
            <a:pPr marL="0" indent="0" algn="ctr">
              <a:buNone/>
            </a:pPr>
            <a:r>
              <a:rPr lang="en-US" sz="1600" b="1" dirty="0">
                <a:solidFill>
                  <a:srgbClr val="143F4F"/>
                </a:solidFill>
                <a:latin typeface="Calibri" pitchFamily="34" charset="0"/>
                <a:ea typeface="Calibri" pitchFamily="34" charset="-122"/>
                <a:cs typeface="Calibri" pitchFamily="34" charset="-120"/>
              </a:rPr>
              <a:t>Hierarchical Database Management System</a:t>
            </a:r>
            <a:endParaRPr lang="en-US" sz="1600" dirty="0"/>
          </a:p>
        </p:txBody>
      </p:sp>
      <p:sp>
        <p:nvSpPr>
          <p:cNvPr id="9" name="Shape 7"/>
          <p:cNvSpPr/>
          <p:nvPr/>
        </p:nvSpPr>
        <p:spPr>
          <a:xfrm>
            <a:off x="3886200" y="1691640"/>
            <a:ext cx="1371600" cy="457200"/>
          </a:xfrm>
          <a:prstGeom prst="rect">
            <a:avLst/>
          </a:prstGeom>
          <a:solidFill>
            <a:srgbClr val="A57BD6"/>
          </a:solidFill>
          <a:ln w="12700">
            <a:solidFill>
              <a:srgbClr val="143F4F"/>
            </a:solidFill>
            <a:prstDash val="solid"/>
          </a:ln>
        </p:spPr>
        <p:txBody>
          <a:bodyPr/>
          <a:lstStyle/>
          <a:p>
            <a:endParaRPr lang="en-US"/>
          </a:p>
        </p:txBody>
      </p:sp>
      <p:sp>
        <p:nvSpPr>
          <p:cNvPr id="10" name="Text 8"/>
          <p:cNvSpPr txBox="1"/>
          <p:nvPr/>
        </p:nvSpPr>
        <p:spPr>
          <a:xfrm>
            <a:off x="3886200" y="1691640"/>
            <a:ext cx="13716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Root</a:t>
            </a:r>
            <a:endParaRPr lang="en-US" sz="1300" dirty="0"/>
          </a:p>
        </p:txBody>
      </p:sp>
      <p:sp>
        <p:nvSpPr>
          <p:cNvPr id="11" name="Shape 9"/>
          <p:cNvSpPr/>
          <p:nvPr/>
        </p:nvSpPr>
        <p:spPr>
          <a:xfrm>
            <a:off x="4572000" y="2148840"/>
            <a:ext cx="914" cy="182880"/>
          </a:xfrm>
          <a:prstGeom prst="line">
            <a:avLst/>
          </a:prstGeom>
          <a:noFill/>
          <a:ln w="15875">
            <a:solidFill>
              <a:srgbClr val="5A7079"/>
            </a:solidFill>
            <a:prstDash val="solid"/>
          </a:ln>
        </p:spPr>
        <p:txBody>
          <a:bodyPr/>
          <a:lstStyle/>
          <a:p>
            <a:endParaRPr lang="en-US"/>
          </a:p>
        </p:txBody>
      </p:sp>
      <p:sp>
        <p:nvSpPr>
          <p:cNvPr id="12" name="Shape 10"/>
          <p:cNvSpPr/>
          <p:nvPr/>
        </p:nvSpPr>
        <p:spPr>
          <a:xfrm>
            <a:off x="2788920" y="2331720"/>
            <a:ext cx="3566160" cy="914"/>
          </a:xfrm>
          <a:prstGeom prst="line">
            <a:avLst/>
          </a:prstGeom>
          <a:noFill/>
          <a:ln w="15875">
            <a:solidFill>
              <a:srgbClr val="5A7079"/>
            </a:solidFill>
            <a:prstDash val="solid"/>
          </a:ln>
        </p:spPr>
        <p:txBody>
          <a:bodyPr/>
          <a:lstStyle/>
          <a:p>
            <a:endParaRPr lang="en-US"/>
          </a:p>
        </p:txBody>
      </p:sp>
      <p:sp>
        <p:nvSpPr>
          <p:cNvPr id="13" name="Shape 11"/>
          <p:cNvSpPr/>
          <p:nvPr/>
        </p:nvSpPr>
        <p:spPr>
          <a:xfrm>
            <a:off x="2788920" y="2331720"/>
            <a:ext cx="914" cy="274320"/>
          </a:xfrm>
          <a:prstGeom prst="line">
            <a:avLst/>
          </a:prstGeom>
          <a:noFill/>
          <a:ln w="15875">
            <a:solidFill>
              <a:srgbClr val="143F4F"/>
            </a:solidFill>
            <a:prstDash val="solid"/>
            <a:tailEnd type="triangle"/>
          </a:ln>
        </p:spPr>
        <p:txBody>
          <a:bodyPr/>
          <a:lstStyle/>
          <a:p>
            <a:endParaRPr lang="en-US"/>
          </a:p>
        </p:txBody>
      </p:sp>
      <p:sp>
        <p:nvSpPr>
          <p:cNvPr id="14" name="Shape 12"/>
          <p:cNvSpPr/>
          <p:nvPr/>
        </p:nvSpPr>
        <p:spPr>
          <a:xfrm>
            <a:off x="2103120" y="2606040"/>
            <a:ext cx="1371600" cy="411480"/>
          </a:xfrm>
          <a:prstGeom prst="rect">
            <a:avLst/>
          </a:prstGeom>
          <a:solidFill>
            <a:srgbClr val="3B78C4"/>
          </a:solidFill>
          <a:ln w="12700">
            <a:solidFill>
              <a:srgbClr val="143F4F"/>
            </a:solidFill>
            <a:prstDash val="solid"/>
          </a:ln>
        </p:spPr>
        <p:txBody>
          <a:bodyPr/>
          <a:lstStyle/>
          <a:p>
            <a:endParaRPr lang="en-US"/>
          </a:p>
        </p:txBody>
      </p:sp>
      <p:sp>
        <p:nvSpPr>
          <p:cNvPr id="15" name="Text 13"/>
          <p:cNvSpPr txBox="1"/>
          <p:nvPr/>
        </p:nvSpPr>
        <p:spPr>
          <a:xfrm>
            <a:off x="2103120" y="2606040"/>
            <a:ext cx="13716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Level 1 (1)</a:t>
            </a:r>
            <a:endParaRPr lang="en-US" sz="1200" dirty="0"/>
          </a:p>
        </p:txBody>
      </p:sp>
      <p:sp>
        <p:nvSpPr>
          <p:cNvPr id="16" name="Shape 14"/>
          <p:cNvSpPr/>
          <p:nvPr/>
        </p:nvSpPr>
        <p:spPr>
          <a:xfrm>
            <a:off x="4572000" y="2331720"/>
            <a:ext cx="914" cy="274320"/>
          </a:xfrm>
          <a:prstGeom prst="line">
            <a:avLst/>
          </a:prstGeom>
          <a:noFill/>
          <a:ln w="15875">
            <a:solidFill>
              <a:srgbClr val="143F4F"/>
            </a:solidFill>
            <a:prstDash val="solid"/>
            <a:tailEnd type="triangle"/>
          </a:ln>
        </p:spPr>
        <p:txBody>
          <a:bodyPr/>
          <a:lstStyle/>
          <a:p>
            <a:endParaRPr lang="en-US"/>
          </a:p>
        </p:txBody>
      </p:sp>
      <p:sp>
        <p:nvSpPr>
          <p:cNvPr id="17" name="Shape 15"/>
          <p:cNvSpPr/>
          <p:nvPr/>
        </p:nvSpPr>
        <p:spPr>
          <a:xfrm>
            <a:off x="3886200" y="2606040"/>
            <a:ext cx="1371600" cy="411480"/>
          </a:xfrm>
          <a:prstGeom prst="rect">
            <a:avLst/>
          </a:prstGeom>
          <a:solidFill>
            <a:srgbClr val="3B78C4"/>
          </a:solidFill>
          <a:ln w="12700">
            <a:solidFill>
              <a:srgbClr val="143F4F"/>
            </a:solidFill>
            <a:prstDash val="solid"/>
          </a:ln>
        </p:spPr>
        <p:txBody>
          <a:bodyPr/>
          <a:lstStyle/>
          <a:p>
            <a:endParaRPr lang="en-US"/>
          </a:p>
        </p:txBody>
      </p:sp>
      <p:sp>
        <p:nvSpPr>
          <p:cNvPr id="18" name="Text 16"/>
          <p:cNvSpPr txBox="1"/>
          <p:nvPr/>
        </p:nvSpPr>
        <p:spPr>
          <a:xfrm>
            <a:off x="3886200" y="2606040"/>
            <a:ext cx="13716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Level 1 (2)</a:t>
            </a:r>
            <a:endParaRPr lang="en-US" sz="1200" dirty="0"/>
          </a:p>
        </p:txBody>
      </p:sp>
      <p:sp>
        <p:nvSpPr>
          <p:cNvPr id="19" name="Shape 17"/>
          <p:cNvSpPr/>
          <p:nvPr/>
        </p:nvSpPr>
        <p:spPr>
          <a:xfrm>
            <a:off x="6355080" y="2331720"/>
            <a:ext cx="914" cy="274320"/>
          </a:xfrm>
          <a:prstGeom prst="line">
            <a:avLst/>
          </a:prstGeom>
          <a:noFill/>
          <a:ln w="15875">
            <a:solidFill>
              <a:srgbClr val="143F4F"/>
            </a:solidFill>
            <a:prstDash val="solid"/>
            <a:tailEnd type="triangle"/>
          </a:ln>
        </p:spPr>
        <p:txBody>
          <a:bodyPr/>
          <a:lstStyle/>
          <a:p>
            <a:endParaRPr lang="en-US"/>
          </a:p>
        </p:txBody>
      </p:sp>
      <p:sp>
        <p:nvSpPr>
          <p:cNvPr id="20" name="Shape 18"/>
          <p:cNvSpPr/>
          <p:nvPr/>
        </p:nvSpPr>
        <p:spPr>
          <a:xfrm>
            <a:off x="5669280" y="2606040"/>
            <a:ext cx="1371600" cy="411480"/>
          </a:xfrm>
          <a:prstGeom prst="rect">
            <a:avLst/>
          </a:prstGeom>
          <a:solidFill>
            <a:srgbClr val="3B78C4"/>
          </a:solidFill>
          <a:ln w="12700">
            <a:solidFill>
              <a:srgbClr val="143F4F"/>
            </a:solidFill>
            <a:prstDash val="solid"/>
          </a:ln>
        </p:spPr>
        <p:txBody>
          <a:bodyPr/>
          <a:lstStyle/>
          <a:p>
            <a:endParaRPr lang="en-US"/>
          </a:p>
        </p:txBody>
      </p:sp>
      <p:sp>
        <p:nvSpPr>
          <p:cNvPr id="21" name="Text 19"/>
          <p:cNvSpPr txBox="1"/>
          <p:nvPr/>
        </p:nvSpPr>
        <p:spPr>
          <a:xfrm>
            <a:off x="5669280" y="2606040"/>
            <a:ext cx="13716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Level 1 (3)</a:t>
            </a:r>
            <a:endParaRPr lang="en-US" sz="1200" dirty="0"/>
          </a:p>
        </p:txBody>
      </p:sp>
      <p:sp>
        <p:nvSpPr>
          <p:cNvPr id="22" name="Shape 20"/>
          <p:cNvSpPr/>
          <p:nvPr/>
        </p:nvSpPr>
        <p:spPr>
          <a:xfrm>
            <a:off x="2788920" y="3017520"/>
            <a:ext cx="914" cy="182880"/>
          </a:xfrm>
          <a:prstGeom prst="line">
            <a:avLst/>
          </a:prstGeom>
          <a:noFill/>
          <a:ln w="15875">
            <a:solidFill>
              <a:srgbClr val="5A7079"/>
            </a:solidFill>
            <a:prstDash val="solid"/>
          </a:ln>
        </p:spPr>
        <p:txBody>
          <a:bodyPr/>
          <a:lstStyle/>
          <a:p>
            <a:endParaRPr lang="en-US"/>
          </a:p>
        </p:txBody>
      </p:sp>
      <p:sp>
        <p:nvSpPr>
          <p:cNvPr id="23" name="Shape 21"/>
          <p:cNvSpPr/>
          <p:nvPr/>
        </p:nvSpPr>
        <p:spPr>
          <a:xfrm>
            <a:off x="1623060" y="3200400"/>
            <a:ext cx="1325880" cy="914"/>
          </a:xfrm>
          <a:prstGeom prst="line">
            <a:avLst/>
          </a:prstGeom>
          <a:noFill/>
          <a:ln w="15875">
            <a:solidFill>
              <a:srgbClr val="5A7079"/>
            </a:solidFill>
            <a:prstDash val="solid"/>
          </a:ln>
        </p:spPr>
        <p:txBody>
          <a:bodyPr/>
          <a:lstStyle/>
          <a:p>
            <a:endParaRPr lang="en-US"/>
          </a:p>
        </p:txBody>
      </p:sp>
      <p:sp>
        <p:nvSpPr>
          <p:cNvPr id="24" name="Shape 22"/>
          <p:cNvSpPr/>
          <p:nvPr/>
        </p:nvSpPr>
        <p:spPr>
          <a:xfrm>
            <a:off x="1623060" y="3200400"/>
            <a:ext cx="914" cy="320040"/>
          </a:xfrm>
          <a:prstGeom prst="line">
            <a:avLst/>
          </a:prstGeom>
          <a:noFill/>
          <a:ln w="15875">
            <a:solidFill>
              <a:srgbClr val="143F4F"/>
            </a:solidFill>
            <a:prstDash val="solid"/>
            <a:tailEnd type="triangle"/>
          </a:ln>
        </p:spPr>
        <p:txBody>
          <a:bodyPr/>
          <a:lstStyle/>
          <a:p>
            <a:endParaRPr lang="en-US"/>
          </a:p>
        </p:txBody>
      </p:sp>
      <p:sp>
        <p:nvSpPr>
          <p:cNvPr id="25" name="Shape 23"/>
          <p:cNvSpPr/>
          <p:nvPr/>
        </p:nvSpPr>
        <p:spPr>
          <a:xfrm>
            <a:off x="1051560" y="3520440"/>
            <a:ext cx="1143000" cy="411480"/>
          </a:xfrm>
          <a:prstGeom prst="rect">
            <a:avLst/>
          </a:prstGeom>
          <a:solidFill>
            <a:srgbClr val="FFFFFF"/>
          </a:solidFill>
          <a:ln w="12700">
            <a:solidFill>
              <a:srgbClr val="143F4F"/>
            </a:solidFill>
            <a:prstDash val="solid"/>
          </a:ln>
        </p:spPr>
        <p:txBody>
          <a:bodyPr/>
          <a:lstStyle/>
          <a:p>
            <a:endParaRPr lang="en-US"/>
          </a:p>
        </p:txBody>
      </p:sp>
      <p:sp>
        <p:nvSpPr>
          <p:cNvPr id="26" name="Text 24"/>
          <p:cNvSpPr txBox="1"/>
          <p:nvPr/>
        </p:nvSpPr>
        <p:spPr>
          <a:xfrm>
            <a:off x="1051560" y="3520440"/>
            <a:ext cx="1143000" cy="411480"/>
          </a:xfrm>
          <a:prstGeom prst="rect">
            <a:avLst/>
          </a:prstGeom>
          <a:noFill/>
          <a:ln/>
        </p:spPr>
        <p:txBody>
          <a:bodyPr wrap="square" lIns="0" tIns="0" rIns="0" bIns="0" rtlCol="0" anchor="ctr"/>
          <a:lstStyle/>
          <a:p>
            <a:pPr marL="0" indent="0" algn="ctr">
              <a:buNone/>
            </a:pPr>
            <a:r>
              <a:rPr lang="en-US" sz="1200" dirty="0">
                <a:solidFill>
                  <a:srgbClr val="143F4F"/>
                </a:solidFill>
                <a:latin typeface="Calibri" pitchFamily="34" charset="0"/>
                <a:ea typeface="Calibri" pitchFamily="34" charset="-122"/>
                <a:cs typeface="Calibri" pitchFamily="34" charset="-120"/>
              </a:rPr>
              <a:t>Level 2 (1)</a:t>
            </a:r>
            <a:endParaRPr lang="en-US" sz="1200" dirty="0"/>
          </a:p>
        </p:txBody>
      </p:sp>
      <p:sp>
        <p:nvSpPr>
          <p:cNvPr id="27" name="Shape 25"/>
          <p:cNvSpPr/>
          <p:nvPr/>
        </p:nvSpPr>
        <p:spPr>
          <a:xfrm>
            <a:off x="2948940" y="3200400"/>
            <a:ext cx="914" cy="320040"/>
          </a:xfrm>
          <a:prstGeom prst="line">
            <a:avLst/>
          </a:prstGeom>
          <a:noFill/>
          <a:ln w="15875">
            <a:solidFill>
              <a:srgbClr val="143F4F"/>
            </a:solidFill>
            <a:prstDash val="solid"/>
            <a:tailEnd type="triangle"/>
          </a:ln>
        </p:spPr>
        <p:txBody>
          <a:bodyPr/>
          <a:lstStyle/>
          <a:p>
            <a:endParaRPr lang="en-US"/>
          </a:p>
        </p:txBody>
      </p:sp>
      <p:sp>
        <p:nvSpPr>
          <p:cNvPr id="28" name="Shape 26"/>
          <p:cNvSpPr/>
          <p:nvPr/>
        </p:nvSpPr>
        <p:spPr>
          <a:xfrm>
            <a:off x="2377440" y="3520440"/>
            <a:ext cx="1143000" cy="411480"/>
          </a:xfrm>
          <a:prstGeom prst="rect">
            <a:avLst/>
          </a:prstGeom>
          <a:solidFill>
            <a:srgbClr val="FFFFFF"/>
          </a:solidFill>
          <a:ln w="12700">
            <a:solidFill>
              <a:srgbClr val="143F4F"/>
            </a:solidFill>
            <a:prstDash val="solid"/>
          </a:ln>
        </p:spPr>
        <p:txBody>
          <a:bodyPr/>
          <a:lstStyle/>
          <a:p>
            <a:endParaRPr lang="en-US"/>
          </a:p>
        </p:txBody>
      </p:sp>
      <p:sp>
        <p:nvSpPr>
          <p:cNvPr id="29" name="Text 27"/>
          <p:cNvSpPr txBox="1"/>
          <p:nvPr/>
        </p:nvSpPr>
        <p:spPr>
          <a:xfrm>
            <a:off x="2377440" y="3520440"/>
            <a:ext cx="1143000" cy="411480"/>
          </a:xfrm>
          <a:prstGeom prst="rect">
            <a:avLst/>
          </a:prstGeom>
          <a:noFill/>
          <a:ln/>
        </p:spPr>
        <p:txBody>
          <a:bodyPr wrap="square" lIns="0" tIns="0" rIns="0" bIns="0" rtlCol="0" anchor="ctr"/>
          <a:lstStyle/>
          <a:p>
            <a:pPr marL="0" indent="0" algn="ctr">
              <a:buNone/>
            </a:pPr>
            <a:r>
              <a:rPr lang="en-US" sz="1200" dirty="0">
                <a:solidFill>
                  <a:srgbClr val="143F4F"/>
                </a:solidFill>
                <a:latin typeface="Calibri" pitchFamily="34" charset="0"/>
                <a:ea typeface="Calibri" pitchFamily="34" charset="-122"/>
                <a:cs typeface="Calibri" pitchFamily="34" charset="-120"/>
              </a:rPr>
              <a:t>Level 2 (2)</a:t>
            </a:r>
            <a:endParaRPr lang="en-US" sz="1200" dirty="0"/>
          </a:p>
        </p:txBody>
      </p:sp>
      <p:sp>
        <p:nvSpPr>
          <p:cNvPr id="30" name="Shape 28"/>
          <p:cNvSpPr/>
          <p:nvPr/>
        </p:nvSpPr>
        <p:spPr>
          <a:xfrm>
            <a:off x="4572000" y="3017520"/>
            <a:ext cx="914" cy="182880"/>
          </a:xfrm>
          <a:prstGeom prst="line">
            <a:avLst/>
          </a:prstGeom>
          <a:noFill/>
          <a:ln w="15875">
            <a:solidFill>
              <a:srgbClr val="5A7079"/>
            </a:solidFill>
            <a:prstDash val="solid"/>
          </a:ln>
        </p:spPr>
        <p:txBody>
          <a:bodyPr/>
          <a:lstStyle/>
          <a:p>
            <a:endParaRPr lang="en-US"/>
          </a:p>
        </p:txBody>
      </p:sp>
      <p:sp>
        <p:nvSpPr>
          <p:cNvPr id="31" name="Shape 29"/>
          <p:cNvSpPr/>
          <p:nvPr/>
        </p:nvSpPr>
        <p:spPr>
          <a:xfrm>
            <a:off x="4567428" y="3200400"/>
            <a:ext cx="4572" cy="914"/>
          </a:xfrm>
          <a:prstGeom prst="line">
            <a:avLst/>
          </a:prstGeom>
          <a:noFill/>
          <a:ln w="15875">
            <a:solidFill>
              <a:srgbClr val="5A7079"/>
            </a:solidFill>
            <a:prstDash val="solid"/>
          </a:ln>
        </p:spPr>
        <p:txBody>
          <a:bodyPr/>
          <a:lstStyle/>
          <a:p>
            <a:endParaRPr lang="en-US"/>
          </a:p>
        </p:txBody>
      </p:sp>
      <p:sp>
        <p:nvSpPr>
          <p:cNvPr id="32" name="Shape 30"/>
          <p:cNvSpPr/>
          <p:nvPr/>
        </p:nvSpPr>
        <p:spPr>
          <a:xfrm>
            <a:off x="4567428" y="3200400"/>
            <a:ext cx="914" cy="320040"/>
          </a:xfrm>
          <a:prstGeom prst="line">
            <a:avLst/>
          </a:prstGeom>
          <a:noFill/>
          <a:ln w="15875">
            <a:solidFill>
              <a:srgbClr val="143F4F"/>
            </a:solidFill>
            <a:prstDash val="solid"/>
            <a:tailEnd type="triangle"/>
          </a:ln>
        </p:spPr>
        <p:txBody>
          <a:bodyPr/>
          <a:lstStyle/>
          <a:p>
            <a:endParaRPr lang="en-US"/>
          </a:p>
        </p:txBody>
      </p:sp>
      <p:sp>
        <p:nvSpPr>
          <p:cNvPr id="33" name="Shape 31"/>
          <p:cNvSpPr/>
          <p:nvPr/>
        </p:nvSpPr>
        <p:spPr>
          <a:xfrm>
            <a:off x="3995928" y="3520440"/>
            <a:ext cx="1143000" cy="411480"/>
          </a:xfrm>
          <a:prstGeom prst="rect">
            <a:avLst/>
          </a:prstGeom>
          <a:solidFill>
            <a:srgbClr val="FFFFFF"/>
          </a:solidFill>
          <a:ln w="12700">
            <a:solidFill>
              <a:srgbClr val="143F4F"/>
            </a:solidFill>
            <a:prstDash val="solid"/>
          </a:ln>
        </p:spPr>
        <p:txBody>
          <a:bodyPr/>
          <a:lstStyle/>
          <a:p>
            <a:endParaRPr lang="en-US"/>
          </a:p>
        </p:txBody>
      </p:sp>
      <p:sp>
        <p:nvSpPr>
          <p:cNvPr id="34" name="Text 32"/>
          <p:cNvSpPr txBox="1"/>
          <p:nvPr/>
        </p:nvSpPr>
        <p:spPr>
          <a:xfrm>
            <a:off x="3995928" y="3520440"/>
            <a:ext cx="1143000" cy="411480"/>
          </a:xfrm>
          <a:prstGeom prst="rect">
            <a:avLst/>
          </a:prstGeom>
          <a:noFill/>
          <a:ln/>
        </p:spPr>
        <p:txBody>
          <a:bodyPr wrap="square" lIns="0" tIns="0" rIns="0" bIns="0" rtlCol="0" anchor="ctr"/>
          <a:lstStyle/>
          <a:p>
            <a:pPr marL="0" indent="0" algn="ctr">
              <a:buNone/>
            </a:pPr>
            <a:r>
              <a:rPr lang="en-US" sz="1200" dirty="0">
                <a:solidFill>
                  <a:srgbClr val="143F4F"/>
                </a:solidFill>
                <a:latin typeface="Calibri" pitchFamily="34" charset="0"/>
                <a:ea typeface="Calibri" pitchFamily="34" charset="-122"/>
                <a:cs typeface="Calibri" pitchFamily="34" charset="-120"/>
              </a:rPr>
              <a:t>Level 2 (3)</a:t>
            </a:r>
            <a:endParaRPr lang="en-US" sz="1200" dirty="0"/>
          </a:p>
        </p:txBody>
      </p:sp>
      <p:sp>
        <p:nvSpPr>
          <p:cNvPr id="35" name="Shape 33"/>
          <p:cNvSpPr/>
          <p:nvPr/>
        </p:nvSpPr>
        <p:spPr>
          <a:xfrm>
            <a:off x="6355080" y="3017520"/>
            <a:ext cx="914" cy="182880"/>
          </a:xfrm>
          <a:prstGeom prst="line">
            <a:avLst/>
          </a:prstGeom>
          <a:noFill/>
          <a:ln w="15875">
            <a:solidFill>
              <a:srgbClr val="5A7079"/>
            </a:solidFill>
            <a:prstDash val="solid"/>
          </a:ln>
        </p:spPr>
        <p:txBody>
          <a:bodyPr/>
          <a:lstStyle/>
          <a:p>
            <a:endParaRPr lang="en-US"/>
          </a:p>
        </p:txBody>
      </p:sp>
      <p:sp>
        <p:nvSpPr>
          <p:cNvPr id="36" name="Shape 34"/>
          <p:cNvSpPr/>
          <p:nvPr/>
        </p:nvSpPr>
        <p:spPr>
          <a:xfrm>
            <a:off x="6057900" y="3200400"/>
            <a:ext cx="1371600" cy="914"/>
          </a:xfrm>
          <a:prstGeom prst="line">
            <a:avLst/>
          </a:prstGeom>
          <a:noFill/>
          <a:ln w="15875">
            <a:solidFill>
              <a:srgbClr val="5A7079"/>
            </a:solidFill>
            <a:prstDash val="solid"/>
          </a:ln>
        </p:spPr>
        <p:txBody>
          <a:bodyPr/>
          <a:lstStyle/>
          <a:p>
            <a:endParaRPr lang="en-US"/>
          </a:p>
        </p:txBody>
      </p:sp>
      <p:sp>
        <p:nvSpPr>
          <p:cNvPr id="37" name="Shape 35"/>
          <p:cNvSpPr/>
          <p:nvPr/>
        </p:nvSpPr>
        <p:spPr>
          <a:xfrm>
            <a:off x="6057900" y="3200400"/>
            <a:ext cx="914" cy="320040"/>
          </a:xfrm>
          <a:prstGeom prst="line">
            <a:avLst/>
          </a:prstGeom>
          <a:noFill/>
          <a:ln w="15875">
            <a:solidFill>
              <a:srgbClr val="143F4F"/>
            </a:solidFill>
            <a:prstDash val="solid"/>
            <a:tailEnd type="triangle"/>
          </a:ln>
        </p:spPr>
        <p:txBody>
          <a:bodyPr/>
          <a:lstStyle/>
          <a:p>
            <a:endParaRPr lang="en-US"/>
          </a:p>
        </p:txBody>
      </p:sp>
      <p:sp>
        <p:nvSpPr>
          <p:cNvPr id="38" name="Shape 36"/>
          <p:cNvSpPr/>
          <p:nvPr/>
        </p:nvSpPr>
        <p:spPr>
          <a:xfrm>
            <a:off x="5486400" y="3520440"/>
            <a:ext cx="1143000" cy="411480"/>
          </a:xfrm>
          <a:prstGeom prst="rect">
            <a:avLst/>
          </a:prstGeom>
          <a:solidFill>
            <a:srgbClr val="FFFFFF"/>
          </a:solidFill>
          <a:ln w="12700">
            <a:solidFill>
              <a:srgbClr val="143F4F"/>
            </a:solidFill>
            <a:prstDash val="solid"/>
          </a:ln>
        </p:spPr>
        <p:txBody>
          <a:bodyPr/>
          <a:lstStyle/>
          <a:p>
            <a:endParaRPr lang="en-US"/>
          </a:p>
        </p:txBody>
      </p:sp>
      <p:sp>
        <p:nvSpPr>
          <p:cNvPr id="39" name="Text 37"/>
          <p:cNvSpPr txBox="1"/>
          <p:nvPr/>
        </p:nvSpPr>
        <p:spPr>
          <a:xfrm>
            <a:off x="5486400" y="3520440"/>
            <a:ext cx="1143000" cy="411480"/>
          </a:xfrm>
          <a:prstGeom prst="rect">
            <a:avLst/>
          </a:prstGeom>
          <a:noFill/>
          <a:ln/>
        </p:spPr>
        <p:txBody>
          <a:bodyPr wrap="square" lIns="0" tIns="0" rIns="0" bIns="0" rtlCol="0" anchor="ctr"/>
          <a:lstStyle/>
          <a:p>
            <a:pPr marL="0" indent="0" algn="ctr">
              <a:buNone/>
            </a:pPr>
            <a:r>
              <a:rPr lang="en-US" sz="1200" dirty="0">
                <a:solidFill>
                  <a:srgbClr val="143F4F"/>
                </a:solidFill>
                <a:latin typeface="Calibri" pitchFamily="34" charset="0"/>
                <a:ea typeface="Calibri" pitchFamily="34" charset="-122"/>
                <a:cs typeface="Calibri" pitchFamily="34" charset="-120"/>
              </a:rPr>
              <a:t>Level 2 (4)</a:t>
            </a:r>
            <a:endParaRPr lang="en-US" sz="1200" dirty="0"/>
          </a:p>
        </p:txBody>
      </p:sp>
      <p:sp>
        <p:nvSpPr>
          <p:cNvPr id="40" name="Shape 38"/>
          <p:cNvSpPr/>
          <p:nvPr/>
        </p:nvSpPr>
        <p:spPr>
          <a:xfrm>
            <a:off x="7429500" y="3200400"/>
            <a:ext cx="914" cy="320040"/>
          </a:xfrm>
          <a:prstGeom prst="line">
            <a:avLst/>
          </a:prstGeom>
          <a:noFill/>
          <a:ln w="15875">
            <a:solidFill>
              <a:srgbClr val="143F4F"/>
            </a:solidFill>
            <a:prstDash val="solid"/>
            <a:tailEnd type="triangle"/>
          </a:ln>
        </p:spPr>
        <p:txBody>
          <a:bodyPr/>
          <a:lstStyle/>
          <a:p>
            <a:endParaRPr lang="en-US"/>
          </a:p>
        </p:txBody>
      </p:sp>
      <p:sp>
        <p:nvSpPr>
          <p:cNvPr id="41" name="Shape 39"/>
          <p:cNvSpPr/>
          <p:nvPr/>
        </p:nvSpPr>
        <p:spPr>
          <a:xfrm>
            <a:off x="6858000" y="3520440"/>
            <a:ext cx="1143000" cy="411480"/>
          </a:xfrm>
          <a:prstGeom prst="rect">
            <a:avLst/>
          </a:prstGeom>
          <a:solidFill>
            <a:srgbClr val="FFFFFF"/>
          </a:solidFill>
          <a:ln w="12700">
            <a:solidFill>
              <a:srgbClr val="143F4F"/>
            </a:solidFill>
            <a:prstDash val="solid"/>
          </a:ln>
        </p:spPr>
        <p:txBody>
          <a:bodyPr/>
          <a:lstStyle/>
          <a:p>
            <a:endParaRPr lang="en-US"/>
          </a:p>
        </p:txBody>
      </p:sp>
      <p:sp>
        <p:nvSpPr>
          <p:cNvPr id="42" name="Text 40"/>
          <p:cNvSpPr txBox="1"/>
          <p:nvPr/>
        </p:nvSpPr>
        <p:spPr>
          <a:xfrm>
            <a:off x="6858000" y="3520440"/>
            <a:ext cx="1143000" cy="411480"/>
          </a:xfrm>
          <a:prstGeom prst="rect">
            <a:avLst/>
          </a:prstGeom>
          <a:noFill/>
          <a:ln/>
        </p:spPr>
        <p:txBody>
          <a:bodyPr wrap="square" lIns="0" tIns="0" rIns="0" bIns="0" rtlCol="0" anchor="ctr"/>
          <a:lstStyle/>
          <a:p>
            <a:pPr marL="0" indent="0" algn="ctr">
              <a:buNone/>
            </a:pPr>
            <a:r>
              <a:rPr lang="en-US" sz="1200" dirty="0">
                <a:solidFill>
                  <a:srgbClr val="143F4F"/>
                </a:solidFill>
                <a:latin typeface="Calibri" pitchFamily="34" charset="0"/>
                <a:ea typeface="Calibri" pitchFamily="34" charset="-122"/>
                <a:cs typeface="Calibri" pitchFamily="34" charset="-120"/>
              </a:rPr>
              <a:t>Level 2 (5)</a:t>
            </a:r>
            <a:endParaRPr lang="en-US" sz="1200" dirty="0"/>
          </a:p>
        </p:txBody>
      </p:sp>
      <p:sp>
        <p:nvSpPr>
          <p:cNvPr id="43" name="Text 41"/>
          <p:cNvSpPr txBox="1"/>
          <p:nvPr/>
        </p:nvSpPr>
        <p:spPr>
          <a:xfrm>
            <a:off x="822960" y="4069080"/>
            <a:ext cx="7498080" cy="320040"/>
          </a:xfrm>
          <a:prstGeom prst="rect">
            <a:avLst/>
          </a:prstGeom>
          <a:noFill/>
          <a:ln/>
        </p:spPr>
        <p:txBody>
          <a:bodyPr wrap="square" lIns="0" tIns="0" rIns="0" bIns="0" rtlCol="0" anchor="ctr"/>
          <a:lstStyle/>
          <a:p>
            <a:pPr marL="0" indent="0" algn="ctr">
              <a:buNone/>
            </a:pPr>
            <a:r>
              <a:rPr lang="en-US" sz="1200" i="1" dirty="0">
                <a:solidFill>
                  <a:srgbClr val="5A7079"/>
                </a:solidFill>
                <a:latin typeface="Calibri" pitchFamily="34" charset="0"/>
                <a:ea typeface="Calibri" pitchFamily="34" charset="-122"/>
                <a:cs typeface="Calibri" pitchFamily="34" charset="-120"/>
              </a:rPr>
              <a:t>Root → parent → child (leaf)</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Network Database System</a:t>
            </a:r>
            <a:endParaRPr lang="en-US" sz="3000" dirty="0"/>
          </a:p>
        </p:txBody>
      </p:sp>
      <p:sp>
        <p:nvSpPr>
          <p:cNvPr id="7" name="Text 5"/>
          <p:cNvSpPr txBox="1"/>
          <p:nvPr/>
        </p:nvSpPr>
        <p:spPr>
          <a:xfrm>
            <a:off x="640080" y="1097280"/>
            <a:ext cx="4937760" cy="32004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F3B47"/>
                </a:solidFill>
                <a:latin typeface="Calibri" pitchFamily="34" charset="0"/>
                <a:ea typeface="Calibri" pitchFamily="34" charset="-122"/>
                <a:cs typeface="Calibri" pitchFamily="34" charset="-120"/>
              </a:rPr>
              <a:t>In this system, the main concept of many-to-many relationships was introduced.</a:t>
            </a:r>
            <a:endParaRPr lang="en-US" sz="1700" dirty="0"/>
          </a:p>
          <a:p>
            <a:pPr marL="342900" indent="-342900">
              <a:spcAft>
                <a:spcPts val="1400"/>
              </a:spcAft>
              <a:buSzPct val="100000"/>
              <a:buChar char="•"/>
            </a:pPr>
            <a:r>
              <a:rPr lang="en-US" sz="1700" dirty="0">
                <a:solidFill>
                  <a:srgbClr val="1F3B47"/>
                </a:solidFill>
                <a:latin typeface="Calibri" pitchFamily="34" charset="0"/>
                <a:ea typeface="Calibri" pitchFamily="34" charset="-122"/>
                <a:cs typeface="Calibri" pitchFamily="34" charset="-120"/>
              </a:rPr>
              <a:t>It still followed the same technology of pointers to define relationships, with one difference: data items were grouped as sets.</a:t>
            </a:r>
            <a:endParaRPr lang="en-US" sz="1700" dirty="0"/>
          </a:p>
        </p:txBody>
      </p:sp>
      <p:sp>
        <p:nvSpPr>
          <p:cNvPr id="8" name="Shape 6"/>
          <p:cNvSpPr/>
          <p:nvPr/>
        </p:nvSpPr>
        <p:spPr>
          <a:xfrm>
            <a:off x="5852160" y="1188720"/>
            <a:ext cx="2651760" cy="2926080"/>
          </a:xfrm>
          <a:prstGeom prst="roundRect">
            <a:avLst>
              <a:gd name="adj" fmla="val 4138"/>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035040" y="1280160"/>
            <a:ext cx="2286000" cy="2743200"/>
          </a:xfrm>
          <a:prstGeom prst="rect">
            <a:avLst/>
          </a:prstGeom>
          <a:noFill/>
          <a:ln/>
        </p:spPr>
        <p:txBody>
          <a:bodyPr wrap="square" lIns="0" tIns="0" rIns="0" bIns="0" rtlCol="0" anchor="ctr"/>
          <a:lstStyle/>
          <a:p>
            <a:pPr marL="0" indent="0" algn="ctr">
              <a:buNone/>
            </a:pPr>
            <a:r>
              <a:rPr lang="en-US" sz="1500" b="1" dirty="0">
                <a:solidFill>
                  <a:srgbClr val="143F4F"/>
                </a:solidFill>
                <a:latin typeface="Calibri" pitchFamily="34" charset="0"/>
                <a:ea typeface="Calibri" pitchFamily="34" charset="-122"/>
                <a:cs typeface="Calibri" pitchFamily="34" charset="-120"/>
              </a:rPr>
              <a:t>Hierarchical</a:t>
            </a:r>
            <a:endParaRPr lang="en-US" sz="1500" dirty="0"/>
          </a:p>
          <a:p>
            <a:pPr marL="0" indent="0" algn="ctr">
              <a:buNone/>
            </a:pPr>
            <a:r>
              <a:rPr lang="en-US" sz="1500" dirty="0">
                <a:solidFill>
                  <a:srgbClr val="1F3B47"/>
                </a:solidFill>
                <a:latin typeface="Calibri" pitchFamily="34" charset="0"/>
                <a:ea typeface="Calibri" pitchFamily="34" charset="-122"/>
                <a:cs typeface="Calibri" pitchFamily="34" charset="-120"/>
              </a:rPr>
              <a:t>one parent per child</a:t>
            </a:r>
            <a:endParaRPr lang="en-US" sz="1500" dirty="0"/>
          </a:p>
          <a:p>
            <a:pPr marL="0" indent="0" algn="ctr">
              <a:buNone/>
            </a:pPr>
            <a:r>
              <a:rPr lang="en-US" sz="1500" dirty="0">
                <a:solidFill>
                  <a:srgbClr val="000000"/>
                </a:solidFill>
                <a:latin typeface="Calibri" pitchFamily="34" charset="0"/>
                <a:ea typeface="Calibri" pitchFamily="34" charset="-122"/>
                <a:cs typeface="Calibri" pitchFamily="34" charset="-120"/>
              </a:rPr>
              <a:t> </a:t>
            </a:r>
            <a:endParaRPr lang="en-US" sz="1500" dirty="0"/>
          </a:p>
          <a:p>
            <a:pPr marL="0" indent="0" algn="ctr">
              <a:buNone/>
            </a:pPr>
            <a:r>
              <a:rPr lang="en-US" sz="1500" b="1" dirty="0">
                <a:solidFill>
                  <a:srgbClr val="143F4F"/>
                </a:solidFill>
                <a:latin typeface="Calibri" pitchFamily="34" charset="0"/>
                <a:ea typeface="Calibri" pitchFamily="34" charset="-122"/>
                <a:cs typeface="Calibri" pitchFamily="34" charset="-120"/>
              </a:rPr>
              <a:t>Network</a:t>
            </a:r>
            <a:endParaRPr lang="en-US" sz="1500" dirty="0"/>
          </a:p>
          <a:p>
            <a:pPr marL="0" indent="0" algn="ctr">
              <a:buNone/>
            </a:pPr>
            <a:r>
              <a:rPr lang="en-US" sz="1500" dirty="0">
                <a:solidFill>
                  <a:srgbClr val="1F3B47"/>
                </a:solidFill>
                <a:latin typeface="Calibri" pitchFamily="34" charset="0"/>
                <a:ea typeface="Calibri" pitchFamily="34" charset="-122"/>
                <a:cs typeface="Calibri" pitchFamily="34" charset="-120"/>
              </a:rPr>
              <a:t>many-to-many links using sets</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Example</a:t>
            </a:r>
            <a:endParaRPr lang="en-US" sz="3000" dirty="0"/>
          </a:p>
        </p:txBody>
      </p:sp>
      <p:sp>
        <p:nvSpPr>
          <p:cNvPr id="7" name="Shape 5"/>
          <p:cNvSpPr/>
          <p:nvPr/>
        </p:nvSpPr>
        <p:spPr>
          <a:xfrm>
            <a:off x="3840480" y="1097280"/>
            <a:ext cx="1463040" cy="502920"/>
          </a:xfrm>
          <a:prstGeom prst="rect">
            <a:avLst/>
          </a:prstGeom>
          <a:solidFill>
            <a:srgbClr val="FFFFFF"/>
          </a:solidFill>
          <a:ln w="12700">
            <a:solidFill>
              <a:srgbClr val="143F4F"/>
            </a:solidFill>
            <a:prstDash val="solid"/>
          </a:ln>
        </p:spPr>
        <p:txBody>
          <a:bodyPr/>
          <a:lstStyle/>
          <a:p>
            <a:endParaRPr lang="en-US"/>
          </a:p>
        </p:txBody>
      </p:sp>
      <p:sp>
        <p:nvSpPr>
          <p:cNvPr id="8" name="Text 6"/>
          <p:cNvSpPr txBox="1"/>
          <p:nvPr/>
        </p:nvSpPr>
        <p:spPr>
          <a:xfrm>
            <a:off x="3840480" y="1097280"/>
            <a:ext cx="1463040" cy="502920"/>
          </a:xfrm>
          <a:prstGeom prst="rect">
            <a:avLst/>
          </a:prstGeom>
          <a:noFill/>
          <a:ln/>
        </p:spPr>
        <p:txBody>
          <a:bodyPr wrap="square" lIns="0" tIns="0" rIns="0" bIns="0" rtlCol="0" anchor="ctr"/>
          <a:lstStyle/>
          <a:p>
            <a:pPr marL="0" indent="0" algn="ctr">
              <a:buNone/>
            </a:pPr>
            <a:r>
              <a:rPr lang="en-US" sz="1400" b="1" dirty="0">
                <a:solidFill>
                  <a:srgbClr val="1E7A1E"/>
                </a:solidFill>
                <a:latin typeface="Calibri" pitchFamily="34" charset="0"/>
                <a:ea typeface="Calibri" pitchFamily="34" charset="-122"/>
                <a:cs typeface="Calibri" pitchFamily="34" charset="-120"/>
              </a:rPr>
              <a:t>Project</a:t>
            </a:r>
            <a:endParaRPr lang="en-US" sz="1400" dirty="0"/>
          </a:p>
        </p:txBody>
      </p:sp>
      <p:sp>
        <p:nvSpPr>
          <p:cNvPr id="9" name="Shape 7"/>
          <p:cNvSpPr/>
          <p:nvPr/>
        </p:nvSpPr>
        <p:spPr>
          <a:xfrm>
            <a:off x="4572000" y="1600200"/>
            <a:ext cx="914" cy="182880"/>
          </a:xfrm>
          <a:prstGeom prst="line">
            <a:avLst/>
          </a:prstGeom>
          <a:noFill/>
          <a:ln w="15875">
            <a:solidFill>
              <a:srgbClr val="5A7079"/>
            </a:solidFill>
            <a:prstDash val="solid"/>
          </a:ln>
        </p:spPr>
        <p:txBody>
          <a:bodyPr/>
          <a:lstStyle/>
          <a:p>
            <a:endParaRPr lang="en-US"/>
          </a:p>
        </p:txBody>
      </p:sp>
      <p:sp>
        <p:nvSpPr>
          <p:cNvPr id="10" name="Shape 8"/>
          <p:cNvSpPr/>
          <p:nvPr/>
        </p:nvSpPr>
        <p:spPr>
          <a:xfrm>
            <a:off x="2651760" y="1783080"/>
            <a:ext cx="3840480" cy="914"/>
          </a:xfrm>
          <a:prstGeom prst="line">
            <a:avLst/>
          </a:prstGeom>
          <a:noFill/>
          <a:ln w="15875">
            <a:solidFill>
              <a:srgbClr val="5A7079"/>
            </a:solidFill>
            <a:prstDash val="solid"/>
          </a:ln>
        </p:spPr>
        <p:txBody>
          <a:bodyPr/>
          <a:lstStyle/>
          <a:p>
            <a:endParaRPr lang="en-US"/>
          </a:p>
        </p:txBody>
      </p:sp>
      <p:sp>
        <p:nvSpPr>
          <p:cNvPr id="11" name="Shape 9"/>
          <p:cNvSpPr/>
          <p:nvPr/>
        </p:nvSpPr>
        <p:spPr>
          <a:xfrm>
            <a:off x="2651760" y="1783080"/>
            <a:ext cx="914" cy="411480"/>
          </a:xfrm>
          <a:prstGeom prst="line">
            <a:avLst/>
          </a:prstGeom>
          <a:noFill/>
          <a:ln w="15875">
            <a:solidFill>
              <a:srgbClr val="222222"/>
            </a:solidFill>
            <a:prstDash val="solid"/>
            <a:tailEnd type="triangle"/>
          </a:ln>
        </p:spPr>
        <p:txBody>
          <a:bodyPr/>
          <a:lstStyle/>
          <a:p>
            <a:endParaRPr lang="en-US"/>
          </a:p>
        </p:txBody>
      </p:sp>
      <p:sp>
        <p:nvSpPr>
          <p:cNvPr id="12" name="Shape 10"/>
          <p:cNvSpPr/>
          <p:nvPr/>
        </p:nvSpPr>
        <p:spPr>
          <a:xfrm>
            <a:off x="6492240" y="1783080"/>
            <a:ext cx="914" cy="411480"/>
          </a:xfrm>
          <a:prstGeom prst="line">
            <a:avLst/>
          </a:prstGeom>
          <a:noFill/>
          <a:ln w="15875">
            <a:solidFill>
              <a:srgbClr val="222222"/>
            </a:solidFill>
            <a:prstDash val="solid"/>
            <a:tailEnd type="triangle"/>
          </a:ln>
        </p:spPr>
        <p:txBody>
          <a:bodyPr/>
          <a:lstStyle/>
          <a:p>
            <a:endParaRPr lang="en-US"/>
          </a:p>
        </p:txBody>
      </p:sp>
      <p:sp>
        <p:nvSpPr>
          <p:cNvPr id="13" name="Shape 11"/>
          <p:cNvSpPr/>
          <p:nvPr/>
        </p:nvSpPr>
        <p:spPr>
          <a:xfrm>
            <a:off x="1920240" y="2194560"/>
            <a:ext cx="1463040" cy="502920"/>
          </a:xfrm>
          <a:prstGeom prst="rect">
            <a:avLst/>
          </a:prstGeom>
          <a:solidFill>
            <a:srgbClr val="FFFFFF"/>
          </a:solidFill>
          <a:ln w="12700">
            <a:solidFill>
              <a:srgbClr val="143F4F"/>
            </a:solidFill>
            <a:prstDash val="solid"/>
          </a:ln>
        </p:spPr>
        <p:txBody>
          <a:bodyPr/>
          <a:lstStyle/>
          <a:p>
            <a:endParaRPr lang="en-US"/>
          </a:p>
        </p:txBody>
      </p:sp>
      <p:sp>
        <p:nvSpPr>
          <p:cNvPr id="14" name="Text 12"/>
          <p:cNvSpPr txBox="1"/>
          <p:nvPr/>
        </p:nvSpPr>
        <p:spPr>
          <a:xfrm>
            <a:off x="1920240" y="2194560"/>
            <a:ext cx="1463040" cy="502920"/>
          </a:xfrm>
          <a:prstGeom prst="rect">
            <a:avLst/>
          </a:prstGeom>
          <a:noFill/>
          <a:ln/>
        </p:spPr>
        <p:txBody>
          <a:bodyPr wrap="square" lIns="0" tIns="0" rIns="0" bIns="0" rtlCol="0" anchor="ctr"/>
          <a:lstStyle/>
          <a:p>
            <a:pPr marL="0" indent="0" algn="ctr">
              <a:buNone/>
            </a:pPr>
            <a:r>
              <a:rPr lang="en-US" sz="1400" b="1" dirty="0">
                <a:solidFill>
                  <a:srgbClr val="1E7A1E"/>
                </a:solidFill>
                <a:latin typeface="Calibri" pitchFamily="34" charset="0"/>
                <a:ea typeface="Calibri" pitchFamily="34" charset="-122"/>
                <a:cs typeface="Calibri" pitchFamily="34" charset="-120"/>
              </a:rPr>
              <a:t>Project 1</a:t>
            </a:r>
            <a:endParaRPr lang="en-US" sz="1400" dirty="0"/>
          </a:p>
        </p:txBody>
      </p:sp>
      <p:sp>
        <p:nvSpPr>
          <p:cNvPr id="15" name="Shape 13"/>
          <p:cNvSpPr/>
          <p:nvPr/>
        </p:nvSpPr>
        <p:spPr>
          <a:xfrm>
            <a:off x="5760720" y="2194560"/>
            <a:ext cx="1463040" cy="502920"/>
          </a:xfrm>
          <a:prstGeom prst="rect">
            <a:avLst/>
          </a:prstGeom>
          <a:solidFill>
            <a:srgbClr val="FFFFFF"/>
          </a:solidFill>
          <a:ln w="12700">
            <a:solidFill>
              <a:srgbClr val="143F4F"/>
            </a:solidFill>
            <a:prstDash val="solid"/>
          </a:ln>
        </p:spPr>
        <p:txBody>
          <a:bodyPr/>
          <a:lstStyle/>
          <a:p>
            <a:endParaRPr lang="en-US"/>
          </a:p>
        </p:txBody>
      </p:sp>
      <p:sp>
        <p:nvSpPr>
          <p:cNvPr id="16" name="Text 14"/>
          <p:cNvSpPr txBox="1"/>
          <p:nvPr/>
        </p:nvSpPr>
        <p:spPr>
          <a:xfrm>
            <a:off x="5760720" y="2194560"/>
            <a:ext cx="1463040" cy="502920"/>
          </a:xfrm>
          <a:prstGeom prst="rect">
            <a:avLst/>
          </a:prstGeom>
          <a:noFill/>
          <a:ln/>
        </p:spPr>
        <p:txBody>
          <a:bodyPr wrap="square" lIns="0" tIns="0" rIns="0" bIns="0" rtlCol="0" anchor="ctr"/>
          <a:lstStyle/>
          <a:p>
            <a:pPr marL="0" indent="0" algn="ctr">
              <a:buNone/>
            </a:pPr>
            <a:r>
              <a:rPr lang="en-US" sz="1400" b="1" dirty="0">
                <a:solidFill>
                  <a:srgbClr val="1E7A1E"/>
                </a:solidFill>
                <a:latin typeface="Calibri" pitchFamily="34" charset="0"/>
                <a:ea typeface="Calibri" pitchFamily="34" charset="-122"/>
                <a:cs typeface="Calibri" pitchFamily="34" charset="-120"/>
              </a:rPr>
              <a:t>Project 2</a:t>
            </a:r>
            <a:endParaRPr lang="en-US" sz="1400" dirty="0"/>
          </a:p>
        </p:txBody>
      </p:sp>
      <p:sp>
        <p:nvSpPr>
          <p:cNvPr id="17" name="Shape 15"/>
          <p:cNvSpPr/>
          <p:nvPr/>
        </p:nvSpPr>
        <p:spPr>
          <a:xfrm>
            <a:off x="822960" y="3383280"/>
            <a:ext cx="1645920" cy="502920"/>
          </a:xfrm>
          <a:prstGeom prst="rect">
            <a:avLst/>
          </a:prstGeom>
          <a:solidFill>
            <a:srgbClr val="FFFFFF"/>
          </a:solidFill>
          <a:ln w="12700">
            <a:solidFill>
              <a:srgbClr val="143F4F"/>
            </a:solidFill>
            <a:prstDash val="solid"/>
          </a:ln>
        </p:spPr>
        <p:txBody>
          <a:bodyPr/>
          <a:lstStyle/>
          <a:p>
            <a:endParaRPr lang="en-US"/>
          </a:p>
        </p:txBody>
      </p:sp>
      <p:sp>
        <p:nvSpPr>
          <p:cNvPr id="18" name="Text 16"/>
          <p:cNvSpPr txBox="1"/>
          <p:nvPr/>
        </p:nvSpPr>
        <p:spPr>
          <a:xfrm>
            <a:off x="822960" y="3383280"/>
            <a:ext cx="1645920" cy="502920"/>
          </a:xfrm>
          <a:prstGeom prst="rect">
            <a:avLst/>
          </a:prstGeom>
          <a:noFill/>
          <a:ln/>
        </p:spPr>
        <p:txBody>
          <a:bodyPr wrap="square" lIns="0" tIns="0" rIns="0" bIns="0" rtlCol="0" anchor="ctr"/>
          <a:lstStyle/>
          <a:p>
            <a:pPr marL="0" indent="0" algn="ctr">
              <a:buNone/>
            </a:pPr>
            <a:r>
              <a:rPr lang="en-US" sz="1300" b="1" dirty="0">
                <a:solidFill>
                  <a:srgbClr val="1E7A1E"/>
                </a:solidFill>
                <a:latin typeface="Calibri" pitchFamily="34" charset="0"/>
                <a:ea typeface="Calibri" pitchFamily="34" charset="-122"/>
                <a:cs typeface="Calibri" pitchFamily="34" charset="-120"/>
              </a:rPr>
              <a:t>Department A</a:t>
            </a:r>
            <a:endParaRPr lang="en-US" sz="1300" dirty="0"/>
          </a:p>
        </p:txBody>
      </p:sp>
      <p:sp>
        <p:nvSpPr>
          <p:cNvPr id="19" name="Shape 17"/>
          <p:cNvSpPr/>
          <p:nvPr/>
        </p:nvSpPr>
        <p:spPr>
          <a:xfrm>
            <a:off x="3749040" y="3383280"/>
            <a:ext cx="1645920" cy="502920"/>
          </a:xfrm>
          <a:prstGeom prst="rect">
            <a:avLst/>
          </a:prstGeom>
          <a:solidFill>
            <a:srgbClr val="FFFFFF"/>
          </a:solidFill>
          <a:ln w="12700">
            <a:solidFill>
              <a:srgbClr val="143F4F"/>
            </a:solidFill>
            <a:prstDash val="solid"/>
          </a:ln>
        </p:spPr>
        <p:txBody>
          <a:bodyPr/>
          <a:lstStyle/>
          <a:p>
            <a:endParaRPr lang="en-US"/>
          </a:p>
        </p:txBody>
      </p:sp>
      <p:sp>
        <p:nvSpPr>
          <p:cNvPr id="20" name="Text 18"/>
          <p:cNvSpPr txBox="1"/>
          <p:nvPr/>
        </p:nvSpPr>
        <p:spPr>
          <a:xfrm>
            <a:off x="3749040" y="3383280"/>
            <a:ext cx="1645920" cy="502920"/>
          </a:xfrm>
          <a:prstGeom prst="rect">
            <a:avLst/>
          </a:prstGeom>
          <a:noFill/>
          <a:ln/>
        </p:spPr>
        <p:txBody>
          <a:bodyPr wrap="square" lIns="0" tIns="0" rIns="0" bIns="0" rtlCol="0" anchor="ctr"/>
          <a:lstStyle/>
          <a:p>
            <a:pPr marL="0" indent="0" algn="ctr">
              <a:buNone/>
            </a:pPr>
            <a:r>
              <a:rPr lang="en-US" sz="1300" b="1" dirty="0">
                <a:solidFill>
                  <a:srgbClr val="1E7A1E"/>
                </a:solidFill>
                <a:latin typeface="Calibri" pitchFamily="34" charset="0"/>
                <a:ea typeface="Calibri" pitchFamily="34" charset="-122"/>
                <a:cs typeface="Calibri" pitchFamily="34" charset="-120"/>
              </a:rPr>
              <a:t>Department B</a:t>
            </a:r>
            <a:endParaRPr lang="en-US" sz="1300" dirty="0"/>
          </a:p>
        </p:txBody>
      </p:sp>
      <p:sp>
        <p:nvSpPr>
          <p:cNvPr id="21" name="Shape 19"/>
          <p:cNvSpPr/>
          <p:nvPr/>
        </p:nvSpPr>
        <p:spPr>
          <a:xfrm>
            <a:off x="6675120" y="3383280"/>
            <a:ext cx="1645920" cy="502920"/>
          </a:xfrm>
          <a:prstGeom prst="rect">
            <a:avLst/>
          </a:prstGeom>
          <a:solidFill>
            <a:srgbClr val="FFFFFF"/>
          </a:solidFill>
          <a:ln w="12700">
            <a:solidFill>
              <a:srgbClr val="143F4F"/>
            </a:solidFill>
            <a:prstDash val="solid"/>
          </a:ln>
        </p:spPr>
        <p:txBody>
          <a:bodyPr/>
          <a:lstStyle/>
          <a:p>
            <a:endParaRPr lang="en-US"/>
          </a:p>
        </p:txBody>
      </p:sp>
      <p:sp>
        <p:nvSpPr>
          <p:cNvPr id="22" name="Text 20"/>
          <p:cNvSpPr txBox="1"/>
          <p:nvPr/>
        </p:nvSpPr>
        <p:spPr>
          <a:xfrm>
            <a:off x="6675120" y="3383280"/>
            <a:ext cx="1645920" cy="502920"/>
          </a:xfrm>
          <a:prstGeom prst="rect">
            <a:avLst/>
          </a:prstGeom>
          <a:noFill/>
          <a:ln/>
        </p:spPr>
        <p:txBody>
          <a:bodyPr wrap="square" lIns="0" tIns="0" rIns="0" bIns="0" rtlCol="0" anchor="ctr"/>
          <a:lstStyle/>
          <a:p>
            <a:pPr marL="0" indent="0" algn="ctr">
              <a:buNone/>
            </a:pPr>
            <a:r>
              <a:rPr lang="en-US" sz="1300" b="1" dirty="0">
                <a:solidFill>
                  <a:srgbClr val="1E7A1E"/>
                </a:solidFill>
                <a:latin typeface="Calibri" pitchFamily="34" charset="0"/>
                <a:ea typeface="Calibri" pitchFamily="34" charset="-122"/>
                <a:cs typeface="Calibri" pitchFamily="34" charset="-120"/>
              </a:rPr>
              <a:t>Department C</a:t>
            </a:r>
            <a:endParaRPr lang="en-US" sz="1300" dirty="0"/>
          </a:p>
        </p:txBody>
      </p:sp>
      <p:sp>
        <p:nvSpPr>
          <p:cNvPr id="23" name="Shape 21"/>
          <p:cNvSpPr/>
          <p:nvPr/>
        </p:nvSpPr>
        <p:spPr>
          <a:xfrm flipH="1">
            <a:off x="1645920" y="2697480"/>
            <a:ext cx="1005840" cy="685800"/>
          </a:xfrm>
          <a:prstGeom prst="line">
            <a:avLst/>
          </a:prstGeom>
          <a:noFill/>
          <a:ln w="15875">
            <a:solidFill>
              <a:srgbClr val="222222"/>
            </a:solidFill>
            <a:prstDash val="solid"/>
            <a:tailEnd type="triangle"/>
          </a:ln>
        </p:spPr>
        <p:txBody>
          <a:bodyPr/>
          <a:lstStyle/>
          <a:p>
            <a:endParaRPr lang="en-US"/>
          </a:p>
        </p:txBody>
      </p:sp>
      <p:sp>
        <p:nvSpPr>
          <p:cNvPr id="24" name="Shape 22"/>
          <p:cNvSpPr/>
          <p:nvPr/>
        </p:nvSpPr>
        <p:spPr>
          <a:xfrm>
            <a:off x="2651760" y="2697480"/>
            <a:ext cx="1920240" cy="685800"/>
          </a:xfrm>
          <a:prstGeom prst="line">
            <a:avLst/>
          </a:prstGeom>
          <a:noFill/>
          <a:ln w="15875">
            <a:solidFill>
              <a:srgbClr val="222222"/>
            </a:solidFill>
            <a:prstDash val="solid"/>
            <a:tailEnd type="triangle"/>
          </a:ln>
        </p:spPr>
        <p:txBody>
          <a:bodyPr/>
          <a:lstStyle/>
          <a:p>
            <a:endParaRPr lang="en-US"/>
          </a:p>
        </p:txBody>
      </p:sp>
      <p:sp>
        <p:nvSpPr>
          <p:cNvPr id="25" name="Shape 23"/>
          <p:cNvSpPr/>
          <p:nvPr/>
        </p:nvSpPr>
        <p:spPr>
          <a:xfrm>
            <a:off x="2651760" y="2697480"/>
            <a:ext cx="4846320" cy="685800"/>
          </a:xfrm>
          <a:prstGeom prst="line">
            <a:avLst/>
          </a:prstGeom>
          <a:noFill/>
          <a:ln w="15875">
            <a:solidFill>
              <a:srgbClr val="222222"/>
            </a:solidFill>
            <a:prstDash val="solid"/>
            <a:tailEnd type="triangle"/>
          </a:ln>
        </p:spPr>
        <p:txBody>
          <a:bodyPr/>
          <a:lstStyle/>
          <a:p>
            <a:endParaRPr lang="en-US"/>
          </a:p>
        </p:txBody>
      </p:sp>
      <p:sp>
        <p:nvSpPr>
          <p:cNvPr id="26" name="Shape 24"/>
          <p:cNvSpPr/>
          <p:nvPr/>
        </p:nvSpPr>
        <p:spPr>
          <a:xfrm flipH="1">
            <a:off x="4572000" y="2697480"/>
            <a:ext cx="1920240" cy="685800"/>
          </a:xfrm>
          <a:prstGeom prst="line">
            <a:avLst/>
          </a:prstGeom>
          <a:noFill/>
          <a:ln w="15875">
            <a:solidFill>
              <a:srgbClr val="222222"/>
            </a:solidFill>
            <a:prstDash val="solid"/>
            <a:tailEnd type="triangle"/>
          </a:ln>
        </p:spPr>
        <p:txBody>
          <a:bodyPr/>
          <a:lstStyle/>
          <a:p>
            <a:endParaRPr lang="en-US"/>
          </a:p>
        </p:txBody>
      </p:sp>
      <p:sp>
        <p:nvSpPr>
          <p:cNvPr id="27" name="Shape 25"/>
          <p:cNvSpPr/>
          <p:nvPr/>
        </p:nvSpPr>
        <p:spPr>
          <a:xfrm>
            <a:off x="6492240" y="2697480"/>
            <a:ext cx="1005840" cy="685800"/>
          </a:xfrm>
          <a:prstGeom prst="line">
            <a:avLst/>
          </a:prstGeom>
          <a:noFill/>
          <a:ln w="15875">
            <a:solidFill>
              <a:srgbClr val="222222"/>
            </a:solidFill>
            <a:prstDash val="solid"/>
            <a:tailEnd type="triangle"/>
          </a:ln>
        </p:spPr>
        <p:txBody>
          <a:bodyPr/>
          <a:lstStyle/>
          <a:p>
            <a:endParaRPr lang="en-US"/>
          </a:p>
        </p:txBody>
      </p:sp>
      <p:sp>
        <p:nvSpPr>
          <p:cNvPr id="28" name="Text 26"/>
          <p:cNvSpPr txBox="1"/>
          <p:nvPr/>
        </p:nvSpPr>
        <p:spPr>
          <a:xfrm>
            <a:off x="640080" y="4114800"/>
            <a:ext cx="7863840" cy="365760"/>
          </a:xfrm>
          <a:prstGeom prst="rect">
            <a:avLst/>
          </a:prstGeom>
          <a:noFill/>
          <a:ln/>
        </p:spPr>
        <p:txBody>
          <a:bodyPr wrap="square" lIns="0" tIns="0" rIns="0" bIns="0" rtlCol="0" anchor="ctr"/>
          <a:lstStyle/>
          <a:p>
            <a:pPr marL="0" indent="0" algn="ctr">
              <a:buNone/>
            </a:pPr>
            <a:r>
              <a:rPr lang="en-US" sz="1200" i="1" dirty="0">
                <a:solidFill>
                  <a:srgbClr val="5A7079"/>
                </a:solidFill>
                <a:latin typeface="Calibri" pitchFamily="34" charset="0"/>
                <a:ea typeface="Calibri" pitchFamily="34" charset="-122"/>
                <a:cs typeface="Calibri" pitchFamily="34" charset="-120"/>
              </a:rPr>
              <a:t>Fig: Network Database System — Project 1 and Project 2 share Departments B and C (many-to-many).</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Relational Database System</a:t>
            </a:r>
            <a:endParaRPr lang="en-US" sz="3000" dirty="0"/>
          </a:p>
        </p:txBody>
      </p:sp>
      <p:sp>
        <p:nvSpPr>
          <p:cNvPr id="7" name="Text 5"/>
          <p:cNvSpPr txBox="1"/>
          <p:nvPr/>
        </p:nvSpPr>
        <p:spPr>
          <a:xfrm>
            <a:off x="640080" y="1097280"/>
            <a:ext cx="7863840" cy="201168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F3B47"/>
                </a:solidFill>
                <a:latin typeface="Calibri" pitchFamily="34" charset="0"/>
                <a:ea typeface="Calibri" pitchFamily="34" charset="-122"/>
                <a:cs typeface="Calibri" pitchFamily="34" charset="-120"/>
              </a:rPr>
              <a:t>To overcome all the drawbacks of the previous systems, the Relational Database System was introduced, in which data is organized as tables and each record forms a row with many fields or attributes.</a:t>
            </a:r>
            <a:endParaRPr lang="en-US" sz="1700" dirty="0"/>
          </a:p>
          <a:p>
            <a:pPr marL="342900" indent="-342900">
              <a:spcAft>
                <a:spcPts val="1400"/>
              </a:spcAft>
              <a:buSzPct val="100000"/>
              <a:buChar char="•"/>
            </a:pPr>
            <a:r>
              <a:rPr lang="en-US" sz="1700" dirty="0">
                <a:solidFill>
                  <a:srgbClr val="1F3B47"/>
                </a:solidFill>
                <a:latin typeface="Calibri" pitchFamily="34" charset="0"/>
                <a:ea typeface="Calibri" pitchFamily="34" charset="-122"/>
                <a:cs typeface="Calibri" pitchFamily="34" charset="-120"/>
              </a:rPr>
              <a:t>Relationships between tables are also formed in this system.</a:t>
            </a:r>
            <a:endParaRPr lang="en-US" sz="1700" dirty="0"/>
          </a:p>
        </p:txBody>
      </p:sp>
      <p:sp>
        <p:nvSpPr>
          <p:cNvPr id="8" name="Shape 6"/>
          <p:cNvSpPr/>
          <p:nvPr/>
        </p:nvSpPr>
        <p:spPr>
          <a:xfrm>
            <a:off x="640080" y="3246120"/>
            <a:ext cx="2468880" cy="1005840"/>
          </a:xfrm>
          <a:prstGeom prst="roundRect">
            <a:avLst>
              <a:gd name="adj" fmla="val 10909"/>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640080" y="3246120"/>
            <a:ext cx="2468880" cy="1005840"/>
          </a:xfrm>
          <a:prstGeom prst="rect">
            <a:avLst/>
          </a:prstGeom>
          <a:noFill/>
          <a:ln/>
        </p:spPr>
        <p:txBody>
          <a:bodyPr wrap="square" lIns="0" tIns="0" rIns="0" bIns="0" rtlCol="0" anchor="ctr"/>
          <a:lstStyle/>
          <a:p>
            <a:pPr marL="0" indent="0" algn="ctr">
              <a:buNone/>
            </a:pPr>
            <a:r>
              <a:rPr lang="en-US" sz="1800" b="1" dirty="0">
                <a:solidFill>
                  <a:srgbClr val="143F4F"/>
                </a:solidFill>
                <a:latin typeface="Calibri" pitchFamily="34" charset="0"/>
                <a:ea typeface="Calibri" pitchFamily="34" charset="-122"/>
                <a:cs typeface="Calibri" pitchFamily="34" charset="-120"/>
              </a:rPr>
              <a:t>Table</a:t>
            </a:r>
            <a:endParaRPr lang="en-US" sz="1800" dirty="0"/>
          </a:p>
          <a:p>
            <a:pPr marL="0" indent="0" algn="ctr">
              <a:buNone/>
            </a:pPr>
            <a:r>
              <a:rPr lang="en-US" sz="1400" dirty="0">
                <a:solidFill>
                  <a:srgbClr val="1F3B47"/>
                </a:solidFill>
                <a:latin typeface="Calibri" pitchFamily="34" charset="0"/>
                <a:ea typeface="Calibri" pitchFamily="34" charset="-122"/>
                <a:cs typeface="Calibri" pitchFamily="34" charset="-120"/>
              </a:rPr>
              <a:t>a relation</a:t>
            </a:r>
            <a:endParaRPr lang="en-US" sz="1800" dirty="0"/>
          </a:p>
        </p:txBody>
      </p:sp>
      <p:sp>
        <p:nvSpPr>
          <p:cNvPr id="10" name="Shape 8"/>
          <p:cNvSpPr/>
          <p:nvPr/>
        </p:nvSpPr>
        <p:spPr>
          <a:xfrm>
            <a:off x="3337560" y="3246120"/>
            <a:ext cx="2468880" cy="1005840"/>
          </a:xfrm>
          <a:prstGeom prst="roundRect">
            <a:avLst>
              <a:gd name="adj" fmla="val 10909"/>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3337560" y="3246120"/>
            <a:ext cx="2468880" cy="1005840"/>
          </a:xfrm>
          <a:prstGeom prst="rect">
            <a:avLst/>
          </a:prstGeom>
          <a:noFill/>
          <a:ln/>
        </p:spPr>
        <p:txBody>
          <a:bodyPr wrap="square" lIns="0" tIns="0" rIns="0" bIns="0" rtlCol="0" anchor="ctr"/>
          <a:lstStyle/>
          <a:p>
            <a:pPr marL="0" indent="0" algn="ctr">
              <a:buNone/>
            </a:pPr>
            <a:r>
              <a:rPr lang="en-US" sz="1800" b="1" dirty="0">
                <a:solidFill>
                  <a:srgbClr val="55BFAE"/>
                </a:solidFill>
                <a:latin typeface="Calibri" pitchFamily="34" charset="0"/>
                <a:ea typeface="Calibri" pitchFamily="34" charset="-122"/>
                <a:cs typeface="Calibri" pitchFamily="34" charset="-120"/>
              </a:rPr>
              <a:t>Row</a:t>
            </a:r>
            <a:endParaRPr lang="en-US" sz="1800" dirty="0"/>
          </a:p>
          <a:p>
            <a:pPr marL="0" indent="0" algn="ctr">
              <a:buNone/>
            </a:pPr>
            <a:r>
              <a:rPr lang="en-US" sz="1400" dirty="0">
                <a:solidFill>
                  <a:srgbClr val="FFFFFF"/>
                </a:solidFill>
                <a:latin typeface="Calibri" pitchFamily="34" charset="0"/>
                <a:ea typeface="Calibri" pitchFamily="34" charset="-122"/>
                <a:cs typeface="Calibri" pitchFamily="34" charset="-120"/>
              </a:rPr>
              <a:t>a record</a:t>
            </a:r>
            <a:endParaRPr lang="en-US" sz="1800" dirty="0"/>
          </a:p>
        </p:txBody>
      </p:sp>
      <p:sp>
        <p:nvSpPr>
          <p:cNvPr id="12" name="Shape 10"/>
          <p:cNvSpPr/>
          <p:nvPr/>
        </p:nvSpPr>
        <p:spPr>
          <a:xfrm>
            <a:off x="6035040" y="3246120"/>
            <a:ext cx="2468880" cy="1005840"/>
          </a:xfrm>
          <a:prstGeom prst="roundRect">
            <a:avLst>
              <a:gd name="adj" fmla="val 10909"/>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txBox="1"/>
          <p:nvPr/>
        </p:nvSpPr>
        <p:spPr>
          <a:xfrm>
            <a:off x="6035040" y="3246120"/>
            <a:ext cx="2468880" cy="1005840"/>
          </a:xfrm>
          <a:prstGeom prst="rect">
            <a:avLst/>
          </a:prstGeom>
          <a:noFill/>
          <a:ln/>
        </p:spPr>
        <p:txBody>
          <a:bodyPr wrap="square" lIns="0" tIns="0" rIns="0" bIns="0" rtlCol="0" anchor="ctr"/>
          <a:lstStyle/>
          <a:p>
            <a:pPr marL="0" indent="0" algn="ctr">
              <a:buNone/>
            </a:pPr>
            <a:r>
              <a:rPr lang="en-US" sz="1800" b="1" dirty="0">
                <a:solidFill>
                  <a:srgbClr val="143F4F"/>
                </a:solidFill>
                <a:latin typeface="Calibri" pitchFamily="34" charset="0"/>
                <a:ea typeface="Calibri" pitchFamily="34" charset="-122"/>
                <a:cs typeface="Calibri" pitchFamily="34" charset="-120"/>
              </a:rPr>
              <a:t>Column</a:t>
            </a:r>
            <a:endParaRPr lang="en-US" sz="1800" dirty="0"/>
          </a:p>
          <a:p>
            <a:pPr marL="0" indent="0" algn="ctr">
              <a:buNone/>
            </a:pPr>
            <a:r>
              <a:rPr lang="en-US" sz="1400" dirty="0">
                <a:solidFill>
                  <a:srgbClr val="1F3B47"/>
                </a:solidFill>
                <a:latin typeface="Calibri" pitchFamily="34" charset="0"/>
                <a:ea typeface="Calibri" pitchFamily="34" charset="-122"/>
                <a:cs typeface="Calibri" pitchFamily="34" charset="-120"/>
              </a:rPr>
              <a:t>a field / attribute</a:t>
            </a:r>
            <a:endParaRPr lang="en-US" sz="1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19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Example</a:t>
            </a:r>
            <a:endParaRPr lang="en-US" sz="3000" dirty="0"/>
          </a:p>
        </p:txBody>
      </p:sp>
      <p:sp>
        <p:nvSpPr>
          <p:cNvPr id="7" name="Shape 5"/>
          <p:cNvSpPr/>
          <p:nvPr/>
        </p:nvSpPr>
        <p:spPr>
          <a:xfrm>
            <a:off x="822960" y="1005840"/>
            <a:ext cx="7498080" cy="3566160"/>
          </a:xfrm>
          <a:prstGeom prst="roundRect">
            <a:avLst>
              <a:gd name="adj" fmla="val 3077"/>
            </a:avLst>
          </a:prstGeom>
          <a:solidFill>
            <a:srgbClr val="E3EEF8"/>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22960" y="1097280"/>
            <a:ext cx="7498080" cy="411480"/>
          </a:xfrm>
          <a:prstGeom prst="rect">
            <a:avLst/>
          </a:prstGeom>
          <a:noFill/>
          <a:ln/>
        </p:spPr>
        <p:txBody>
          <a:bodyPr wrap="square" lIns="0" tIns="0" rIns="0" bIns="0" rtlCol="0" anchor="ctr"/>
          <a:lstStyle/>
          <a:p>
            <a:pPr marL="0" indent="0" algn="ctr">
              <a:buNone/>
            </a:pPr>
            <a:r>
              <a:rPr lang="en-US" sz="1600" b="1" dirty="0">
                <a:solidFill>
                  <a:srgbClr val="143F4F"/>
                </a:solidFill>
                <a:latin typeface="Calibri" pitchFamily="34" charset="0"/>
                <a:ea typeface="Calibri" pitchFamily="34" charset="-122"/>
                <a:cs typeface="Calibri" pitchFamily="34" charset="-120"/>
              </a:rPr>
              <a:t>Relational Database Management System</a:t>
            </a:r>
            <a:endParaRPr lang="en-US" sz="1600" dirty="0"/>
          </a:p>
        </p:txBody>
      </p:sp>
      <p:sp>
        <p:nvSpPr>
          <p:cNvPr id="9" name="Shape 7"/>
          <p:cNvSpPr/>
          <p:nvPr/>
        </p:nvSpPr>
        <p:spPr>
          <a:xfrm>
            <a:off x="1645920" y="1920240"/>
            <a:ext cx="822960" cy="548640"/>
          </a:xfrm>
          <a:prstGeom prst="rect">
            <a:avLst/>
          </a:prstGeom>
          <a:solidFill>
            <a:srgbClr val="FFFFFF"/>
          </a:solidFill>
          <a:ln w="15875">
            <a:solidFill>
              <a:srgbClr val="143F4F"/>
            </a:solidFill>
            <a:prstDash val="solid"/>
          </a:ln>
        </p:spPr>
        <p:txBody>
          <a:bodyPr/>
          <a:lstStyle/>
          <a:p>
            <a:endParaRPr lang="en-US"/>
          </a:p>
        </p:txBody>
      </p:sp>
      <p:sp>
        <p:nvSpPr>
          <p:cNvPr id="10" name="Shape 8"/>
          <p:cNvSpPr/>
          <p:nvPr/>
        </p:nvSpPr>
        <p:spPr>
          <a:xfrm>
            <a:off x="1645920" y="1920240"/>
            <a:ext cx="822960" cy="137160"/>
          </a:xfrm>
          <a:prstGeom prst="rect">
            <a:avLst/>
          </a:prstGeom>
          <a:solidFill>
            <a:srgbClr val="D98BB5"/>
          </a:solidFill>
          <a:ln w="15875">
            <a:solidFill>
              <a:srgbClr val="143F4F"/>
            </a:solidFill>
            <a:prstDash val="solid"/>
          </a:ln>
        </p:spPr>
        <p:txBody>
          <a:bodyPr/>
          <a:lstStyle/>
          <a:p>
            <a:endParaRPr lang="en-US"/>
          </a:p>
        </p:txBody>
      </p:sp>
      <p:sp>
        <p:nvSpPr>
          <p:cNvPr id="11" name="Shape 9"/>
          <p:cNvSpPr/>
          <p:nvPr/>
        </p:nvSpPr>
        <p:spPr>
          <a:xfrm>
            <a:off x="1645920" y="2194560"/>
            <a:ext cx="822960" cy="914"/>
          </a:xfrm>
          <a:prstGeom prst="line">
            <a:avLst/>
          </a:prstGeom>
          <a:noFill/>
          <a:ln w="15875">
            <a:solidFill>
              <a:srgbClr val="143F4F"/>
            </a:solidFill>
            <a:prstDash val="solid"/>
          </a:ln>
        </p:spPr>
        <p:txBody>
          <a:bodyPr/>
          <a:lstStyle/>
          <a:p>
            <a:endParaRPr lang="en-US"/>
          </a:p>
        </p:txBody>
      </p:sp>
      <p:sp>
        <p:nvSpPr>
          <p:cNvPr id="12" name="Shape 10"/>
          <p:cNvSpPr/>
          <p:nvPr/>
        </p:nvSpPr>
        <p:spPr>
          <a:xfrm>
            <a:off x="1645920" y="2331720"/>
            <a:ext cx="822960" cy="914"/>
          </a:xfrm>
          <a:prstGeom prst="line">
            <a:avLst/>
          </a:prstGeom>
          <a:noFill/>
          <a:ln w="15875">
            <a:solidFill>
              <a:srgbClr val="143F4F"/>
            </a:solidFill>
            <a:prstDash val="solid"/>
          </a:ln>
        </p:spPr>
        <p:txBody>
          <a:bodyPr/>
          <a:lstStyle/>
          <a:p>
            <a:endParaRPr lang="en-US"/>
          </a:p>
        </p:txBody>
      </p:sp>
      <p:sp>
        <p:nvSpPr>
          <p:cNvPr id="13" name="Shape 11"/>
          <p:cNvSpPr/>
          <p:nvPr/>
        </p:nvSpPr>
        <p:spPr>
          <a:xfrm>
            <a:off x="1920240" y="2057400"/>
            <a:ext cx="914" cy="411480"/>
          </a:xfrm>
          <a:prstGeom prst="line">
            <a:avLst/>
          </a:prstGeom>
          <a:noFill/>
          <a:ln w="15875">
            <a:solidFill>
              <a:srgbClr val="143F4F"/>
            </a:solidFill>
            <a:prstDash val="solid"/>
          </a:ln>
        </p:spPr>
        <p:txBody>
          <a:bodyPr/>
          <a:lstStyle/>
          <a:p>
            <a:endParaRPr lang="en-US"/>
          </a:p>
        </p:txBody>
      </p:sp>
      <p:sp>
        <p:nvSpPr>
          <p:cNvPr id="14" name="Shape 12"/>
          <p:cNvSpPr/>
          <p:nvPr/>
        </p:nvSpPr>
        <p:spPr>
          <a:xfrm>
            <a:off x="2194560" y="2057400"/>
            <a:ext cx="914" cy="411480"/>
          </a:xfrm>
          <a:prstGeom prst="line">
            <a:avLst/>
          </a:prstGeom>
          <a:noFill/>
          <a:ln w="15875">
            <a:solidFill>
              <a:srgbClr val="143F4F"/>
            </a:solidFill>
            <a:prstDash val="solid"/>
          </a:ln>
        </p:spPr>
        <p:txBody>
          <a:bodyPr/>
          <a:lstStyle/>
          <a:p>
            <a:endParaRPr lang="en-US"/>
          </a:p>
        </p:txBody>
      </p:sp>
      <p:sp>
        <p:nvSpPr>
          <p:cNvPr id="15" name="Shape 13"/>
          <p:cNvSpPr/>
          <p:nvPr/>
        </p:nvSpPr>
        <p:spPr>
          <a:xfrm>
            <a:off x="1645920" y="3017520"/>
            <a:ext cx="822960" cy="548640"/>
          </a:xfrm>
          <a:prstGeom prst="rect">
            <a:avLst/>
          </a:prstGeom>
          <a:solidFill>
            <a:srgbClr val="FFFFFF"/>
          </a:solidFill>
          <a:ln w="15875">
            <a:solidFill>
              <a:srgbClr val="143F4F"/>
            </a:solidFill>
            <a:prstDash val="solid"/>
          </a:ln>
        </p:spPr>
        <p:txBody>
          <a:bodyPr/>
          <a:lstStyle/>
          <a:p>
            <a:endParaRPr lang="en-US"/>
          </a:p>
        </p:txBody>
      </p:sp>
      <p:sp>
        <p:nvSpPr>
          <p:cNvPr id="16" name="Shape 14"/>
          <p:cNvSpPr/>
          <p:nvPr/>
        </p:nvSpPr>
        <p:spPr>
          <a:xfrm>
            <a:off x="1645920" y="3017520"/>
            <a:ext cx="822960" cy="137160"/>
          </a:xfrm>
          <a:prstGeom prst="rect">
            <a:avLst/>
          </a:prstGeom>
          <a:solidFill>
            <a:srgbClr val="D98BB5"/>
          </a:solidFill>
          <a:ln w="15875">
            <a:solidFill>
              <a:srgbClr val="143F4F"/>
            </a:solidFill>
            <a:prstDash val="solid"/>
          </a:ln>
        </p:spPr>
        <p:txBody>
          <a:bodyPr/>
          <a:lstStyle/>
          <a:p>
            <a:endParaRPr lang="en-US"/>
          </a:p>
        </p:txBody>
      </p:sp>
      <p:sp>
        <p:nvSpPr>
          <p:cNvPr id="17" name="Shape 15"/>
          <p:cNvSpPr/>
          <p:nvPr/>
        </p:nvSpPr>
        <p:spPr>
          <a:xfrm>
            <a:off x="1645920" y="3291840"/>
            <a:ext cx="822960" cy="914"/>
          </a:xfrm>
          <a:prstGeom prst="line">
            <a:avLst/>
          </a:prstGeom>
          <a:noFill/>
          <a:ln w="15875">
            <a:solidFill>
              <a:srgbClr val="143F4F"/>
            </a:solidFill>
            <a:prstDash val="solid"/>
          </a:ln>
        </p:spPr>
        <p:txBody>
          <a:bodyPr/>
          <a:lstStyle/>
          <a:p>
            <a:endParaRPr lang="en-US"/>
          </a:p>
        </p:txBody>
      </p:sp>
      <p:sp>
        <p:nvSpPr>
          <p:cNvPr id="18" name="Shape 16"/>
          <p:cNvSpPr/>
          <p:nvPr/>
        </p:nvSpPr>
        <p:spPr>
          <a:xfrm>
            <a:off x="1645920" y="3429000"/>
            <a:ext cx="822960" cy="914"/>
          </a:xfrm>
          <a:prstGeom prst="line">
            <a:avLst/>
          </a:prstGeom>
          <a:noFill/>
          <a:ln w="15875">
            <a:solidFill>
              <a:srgbClr val="143F4F"/>
            </a:solidFill>
            <a:prstDash val="solid"/>
          </a:ln>
        </p:spPr>
        <p:txBody>
          <a:bodyPr/>
          <a:lstStyle/>
          <a:p>
            <a:endParaRPr lang="en-US"/>
          </a:p>
        </p:txBody>
      </p:sp>
      <p:sp>
        <p:nvSpPr>
          <p:cNvPr id="19" name="Shape 17"/>
          <p:cNvSpPr/>
          <p:nvPr/>
        </p:nvSpPr>
        <p:spPr>
          <a:xfrm>
            <a:off x="1920240" y="3154680"/>
            <a:ext cx="914" cy="411480"/>
          </a:xfrm>
          <a:prstGeom prst="line">
            <a:avLst/>
          </a:prstGeom>
          <a:noFill/>
          <a:ln w="15875">
            <a:solidFill>
              <a:srgbClr val="143F4F"/>
            </a:solidFill>
            <a:prstDash val="solid"/>
          </a:ln>
        </p:spPr>
        <p:txBody>
          <a:bodyPr/>
          <a:lstStyle/>
          <a:p>
            <a:endParaRPr lang="en-US"/>
          </a:p>
        </p:txBody>
      </p:sp>
      <p:sp>
        <p:nvSpPr>
          <p:cNvPr id="20" name="Shape 18"/>
          <p:cNvSpPr/>
          <p:nvPr/>
        </p:nvSpPr>
        <p:spPr>
          <a:xfrm>
            <a:off x="2194560" y="3154680"/>
            <a:ext cx="914" cy="411480"/>
          </a:xfrm>
          <a:prstGeom prst="line">
            <a:avLst/>
          </a:prstGeom>
          <a:noFill/>
          <a:ln w="15875">
            <a:solidFill>
              <a:srgbClr val="143F4F"/>
            </a:solidFill>
            <a:prstDash val="solid"/>
          </a:ln>
        </p:spPr>
        <p:txBody>
          <a:bodyPr/>
          <a:lstStyle/>
          <a:p>
            <a:endParaRPr lang="en-US"/>
          </a:p>
        </p:txBody>
      </p:sp>
      <p:sp>
        <p:nvSpPr>
          <p:cNvPr id="21" name="Shape 19"/>
          <p:cNvSpPr/>
          <p:nvPr/>
        </p:nvSpPr>
        <p:spPr>
          <a:xfrm>
            <a:off x="4160520" y="1645920"/>
            <a:ext cx="822960" cy="548640"/>
          </a:xfrm>
          <a:prstGeom prst="rect">
            <a:avLst/>
          </a:prstGeom>
          <a:solidFill>
            <a:srgbClr val="FFFFFF"/>
          </a:solidFill>
          <a:ln w="15875">
            <a:solidFill>
              <a:srgbClr val="143F4F"/>
            </a:solidFill>
            <a:prstDash val="solid"/>
          </a:ln>
        </p:spPr>
        <p:txBody>
          <a:bodyPr/>
          <a:lstStyle/>
          <a:p>
            <a:endParaRPr lang="en-US"/>
          </a:p>
        </p:txBody>
      </p:sp>
      <p:sp>
        <p:nvSpPr>
          <p:cNvPr id="22" name="Shape 20"/>
          <p:cNvSpPr/>
          <p:nvPr/>
        </p:nvSpPr>
        <p:spPr>
          <a:xfrm>
            <a:off x="4160520" y="1645920"/>
            <a:ext cx="822960" cy="137160"/>
          </a:xfrm>
          <a:prstGeom prst="rect">
            <a:avLst/>
          </a:prstGeom>
          <a:solidFill>
            <a:srgbClr val="D98BB5"/>
          </a:solidFill>
          <a:ln w="15875">
            <a:solidFill>
              <a:srgbClr val="143F4F"/>
            </a:solidFill>
            <a:prstDash val="solid"/>
          </a:ln>
        </p:spPr>
        <p:txBody>
          <a:bodyPr/>
          <a:lstStyle/>
          <a:p>
            <a:endParaRPr lang="en-US"/>
          </a:p>
        </p:txBody>
      </p:sp>
      <p:sp>
        <p:nvSpPr>
          <p:cNvPr id="23" name="Shape 21"/>
          <p:cNvSpPr/>
          <p:nvPr/>
        </p:nvSpPr>
        <p:spPr>
          <a:xfrm>
            <a:off x="4160520" y="1920240"/>
            <a:ext cx="822960" cy="914"/>
          </a:xfrm>
          <a:prstGeom prst="line">
            <a:avLst/>
          </a:prstGeom>
          <a:noFill/>
          <a:ln w="15875">
            <a:solidFill>
              <a:srgbClr val="143F4F"/>
            </a:solidFill>
            <a:prstDash val="solid"/>
          </a:ln>
        </p:spPr>
        <p:txBody>
          <a:bodyPr/>
          <a:lstStyle/>
          <a:p>
            <a:endParaRPr lang="en-US"/>
          </a:p>
        </p:txBody>
      </p:sp>
      <p:sp>
        <p:nvSpPr>
          <p:cNvPr id="24" name="Shape 22"/>
          <p:cNvSpPr/>
          <p:nvPr/>
        </p:nvSpPr>
        <p:spPr>
          <a:xfrm>
            <a:off x="4160520" y="2057400"/>
            <a:ext cx="822960" cy="914"/>
          </a:xfrm>
          <a:prstGeom prst="line">
            <a:avLst/>
          </a:prstGeom>
          <a:noFill/>
          <a:ln w="15875">
            <a:solidFill>
              <a:srgbClr val="143F4F"/>
            </a:solidFill>
            <a:prstDash val="solid"/>
          </a:ln>
        </p:spPr>
        <p:txBody>
          <a:bodyPr/>
          <a:lstStyle/>
          <a:p>
            <a:endParaRPr lang="en-US"/>
          </a:p>
        </p:txBody>
      </p:sp>
      <p:sp>
        <p:nvSpPr>
          <p:cNvPr id="25" name="Shape 23"/>
          <p:cNvSpPr/>
          <p:nvPr/>
        </p:nvSpPr>
        <p:spPr>
          <a:xfrm>
            <a:off x="4434840" y="1783080"/>
            <a:ext cx="914" cy="411480"/>
          </a:xfrm>
          <a:prstGeom prst="line">
            <a:avLst/>
          </a:prstGeom>
          <a:noFill/>
          <a:ln w="15875">
            <a:solidFill>
              <a:srgbClr val="143F4F"/>
            </a:solidFill>
            <a:prstDash val="solid"/>
          </a:ln>
        </p:spPr>
        <p:txBody>
          <a:bodyPr/>
          <a:lstStyle/>
          <a:p>
            <a:endParaRPr lang="en-US"/>
          </a:p>
        </p:txBody>
      </p:sp>
      <p:sp>
        <p:nvSpPr>
          <p:cNvPr id="26" name="Shape 24"/>
          <p:cNvSpPr/>
          <p:nvPr/>
        </p:nvSpPr>
        <p:spPr>
          <a:xfrm>
            <a:off x="4709160" y="1783080"/>
            <a:ext cx="914" cy="411480"/>
          </a:xfrm>
          <a:prstGeom prst="line">
            <a:avLst/>
          </a:prstGeom>
          <a:noFill/>
          <a:ln w="15875">
            <a:solidFill>
              <a:srgbClr val="143F4F"/>
            </a:solidFill>
            <a:prstDash val="solid"/>
          </a:ln>
        </p:spPr>
        <p:txBody>
          <a:bodyPr/>
          <a:lstStyle/>
          <a:p>
            <a:endParaRPr lang="en-US"/>
          </a:p>
        </p:txBody>
      </p:sp>
      <p:sp>
        <p:nvSpPr>
          <p:cNvPr id="27" name="Shape 25"/>
          <p:cNvSpPr/>
          <p:nvPr/>
        </p:nvSpPr>
        <p:spPr>
          <a:xfrm>
            <a:off x="4160520" y="2514600"/>
            <a:ext cx="822960" cy="548640"/>
          </a:xfrm>
          <a:prstGeom prst="rect">
            <a:avLst/>
          </a:prstGeom>
          <a:solidFill>
            <a:srgbClr val="FFFFFF"/>
          </a:solidFill>
          <a:ln w="15875">
            <a:solidFill>
              <a:srgbClr val="143F4F"/>
            </a:solidFill>
            <a:prstDash val="solid"/>
          </a:ln>
        </p:spPr>
        <p:txBody>
          <a:bodyPr/>
          <a:lstStyle/>
          <a:p>
            <a:endParaRPr lang="en-US"/>
          </a:p>
        </p:txBody>
      </p:sp>
      <p:sp>
        <p:nvSpPr>
          <p:cNvPr id="28" name="Shape 26"/>
          <p:cNvSpPr/>
          <p:nvPr/>
        </p:nvSpPr>
        <p:spPr>
          <a:xfrm>
            <a:off x="4160520" y="2514600"/>
            <a:ext cx="822960" cy="137160"/>
          </a:xfrm>
          <a:prstGeom prst="rect">
            <a:avLst/>
          </a:prstGeom>
          <a:solidFill>
            <a:srgbClr val="D98BB5"/>
          </a:solidFill>
          <a:ln w="15875">
            <a:solidFill>
              <a:srgbClr val="143F4F"/>
            </a:solidFill>
            <a:prstDash val="solid"/>
          </a:ln>
        </p:spPr>
        <p:txBody>
          <a:bodyPr/>
          <a:lstStyle/>
          <a:p>
            <a:endParaRPr lang="en-US"/>
          </a:p>
        </p:txBody>
      </p:sp>
      <p:sp>
        <p:nvSpPr>
          <p:cNvPr id="29" name="Shape 27"/>
          <p:cNvSpPr/>
          <p:nvPr/>
        </p:nvSpPr>
        <p:spPr>
          <a:xfrm>
            <a:off x="4160520" y="2788920"/>
            <a:ext cx="822960" cy="914"/>
          </a:xfrm>
          <a:prstGeom prst="line">
            <a:avLst/>
          </a:prstGeom>
          <a:noFill/>
          <a:ln w="15875">
            <a:solidFill>
              <a:srgbClr val="143F4F"/>
            </a:solidFill>
            <a:prstDash val="solid"/>
          </a:ln>
        </p:spPr>
        <p:txBody>
          <a:bodyPr/>
          <a:lstStyle/>
          <a:p>
            <a:endParaRPr lang="en-US"/>
          </a:p>
        </p:txBody>
      </p:sp>
      <p:sp>
        <p:nvSpPr>
          <p:cNvPr id="30" name="Shape 28"/>
          <p:cNvSpPr/>
          <p:nvPr/>
        </p:nvSpPr>
        <p:spPr>
          <a:xfrm>
            <a:off x="4160520" y="2926080"/>
            <a:ext cx="822960" cy="914"/>
          </a:xfrm>
          <a:prstGeom prst="line">
            <a:avLst/>
          </a:prstGeom>
          <a:noFill/>
          <a:ln w="15875">
            <a:solidFill>
              <a:srgbClr val="143F4F"/>
            </a:solidFill>
            <a:prstDash val="solid"/>
          </a:ln>
        </p:spPr>
        <p:txBody>
          <a:bodyPr/>
          <a:lstStyle/>
          <a:p>
            <a:endParaRPr lang="en-US"/>
          </a:p>
        </p:txBody>
      </p:sp>
      <p:sp>
        <p:nvSpPr>
          <p:cNvPr id="31" name="Shape 29"/>
          <p:cNvSpPr/>
          <p:nvPr/>
        </p:nvSpPr>
        <p:spPr>
          <a:xfrm>
            <a:off x="4434840" y="2651760"/>
            <a:ext cx="914" cy="411480"/>
          </a:xfrm>
          <a:prstGeom prst="line">
            <a:avLst/>
          </a:prstGeom>
          <a:noFill/>
          <a:ln w="15875">
            <a:solidFill>
              <a:srgbClr val="143F4F"/>
            </a:solidFill>
            <a:prstDash val="solid"/>
          </a:ln>
        </p:spPr>
        <p:txBody>
          <a:bodyPr/>
          <a:lstStyle/>
          <a:p>
            <a:endParaRPr lang="en-US"/>
          </a:p>
        </p:txBody>
      </p:sp>
      <p:sp>
        <p:nvSpPr>
          <p:cNvPr id="32" name="Shape 30"/>
          <p:cNvSpPr/>
          <p:nvPr/>
        </p:nvSpPr>
        <p:spPr>
          <a:xfrm>
            <a:off x="4709160" y="2651760"/>
            <a:ext cx="914" cy="411480"/>
          </a:xfrm>
          <a:prstGeom prst="line">
            <a:avLst/>
          </a:prstGeom>
          <a:noFill/>
          <a:ln w="15875">
            <a:solidFill>
              <a:srgbClr val="143F4F"/>
            </a:solidFill>
            <a:prstDash val="solid"/>
          </a:ln>
        </p:spPr>
        <p:txBody>
          <a:bodyPr/>
          <a:lstStyle/>
          <a:p>
            <a:endParaRPr lang="en-US"/>
          </a:p>
        </p:txBody>
      </p:sp>
      <p:sp>
        <p:nvSpPr>
          <p:cNvPr id="33" name="Shape 31"/>
          <p:cNvSpPr/>
          <p:nvPr/>
        </p:nvSpPr>
        <p:spPr>
          <a:xfrm>
            <a:off x="4160520" y="3383280"/>
            <a:ext cx="822960" cy="548640"/>
          </a:xfrm>
          <a:prstGeom prst="rect">
            <a:avLst/>
          </a:prstGeom>
          <a:solidFill>
            <a:srgbClr val="FFFFFF"/>
          </a:solidFill>
          <a:ln w="15875">
            <a:solidFill>
              <a:srgbClr val="143F4F"/>
            </a:solidFill>
            <a:prstDash val="solid"/>
          </a:ln>
        </p:spPr>
        <p:txBody>
          <a:bodyPr/>
          <a:lstStyle/>
          <a:p>
            <a:endParaRPr lang="en-US"/>
          </a:p>
        </p:txBody>
      </p:sp>
      <p:sp>
        <p:nvSpPr>
          <p:cNvPr id="34" name="Shape 32"/>
          <p:cNvSpPr/>
          <p:nvPr/>
        </p:nvSpPr>
        <p:spPr>
          <a:xfrm>
            <a:off x="4160520" y="3383280"/>
            <a:ext cx="822960" cy="137160"/>
          </a:xfrm>
          <a:prstGeom prst="rect">
            <a:avLst/>
          </a:prstGeom>
          <a:solidFill>
            <a:srgbClr val="D98BB5"/>
          </a:solidFill>
          <a:ln w="15875">
            <a:solidFill>
              <a:srgbClr val="143F4F"/>
            </a:solidFill>
            <a:prstDash val="solid"/>
          </a:ln>
        </p:spPr>
        <p:txBody>
          <a:bodyPr/>
          <a:lstStyle/>
          <a:p>
            <a:endParaRPr lang="en-US"/>
          </a:p>
        </p:txBody>
      </p:sp>
      <p:sp>
        <p:nvSpPr>
          <p:cNvPr id="35" name="Shape 33"/>
          <p:cNvSpPr/>
          <p:nvPr/>
        </p:nvSpPr>
        <p:spPr>
          <a:xfrm>
            <a:off x="4160520" y="3657600"/>
            <a:ext cx="822960" cy="914"/>
          </a:xfrm>
          <a:prstGeom prst="line">
            <a:avLst/>
          </a:prstGeom>
          <a:noFill/>
          <a:ln w="15875">
            <a:solidFill>
              <a:srgbClr val="143F4F"/>
            </a:solidFill>
            <a:prstDash val="solid"/>
          </a:ln>
        </p:spPr>
        <p:txBody>
          <a:bodyPr/>
          <a:lstStyle/>
          <a:p>
            <a:endParaRPr lang="en-US"/>
          </a:p>
        </p:txBody>
      </p:sp>
      <p:sp>
        <p:nvSpPr>
          <p:cNvPr id="36" name="Shape 34"/>
          <p:cNvSpPr/>
          <p:nvPr/>
        </p:nvSpPr>
        <p:spPr>
          <a:xfrm>
            <a:off x="4160520" y="3794760"/>
            <a:ext cx="822960" cy="914"/>
          </a:xfrm>
          <a:prstGeom prst="line">
            <a:avLst/>
          </a:prstGeom>
          <a:noFill/>
          <a:ln w="15875">
            <a:solidFill>
              <a:srgbClr val="143F4F"/>
            </a:solidFill>
            <a:prstDash val="solid"/>
          </a:ln>
        </p:spPr>
        <p:txBody>
          <a:bodyPr/>
          <a:lstStyle/>
          <a:p>
            <a:endParaRPr lang="en-US"/>
          </a:p>
        </p:txBody>
      </p:sp>
      <p:sp>
        <p:nvSpPr>
          <p:cNvPr id="37" name="Shape 35"/>
          <p:cNvSpPr/>
          <p:nvPr/>
        </p:nvSpPr>
        <p:spPr>
          <a:xfrm>
            <a:off x="4434840" y="3520440"/>
            <a:ext cx="914" cy="411480"/>
          </a:xfrm>
          <a:prstGeom prst="line">
            <a:avLst/>
          </a:prstGeom>
          <a:noFill/>
          <a:ln w="15875">
            <a:solidFill>
              <a:srgbClr val="143F4F"/>
            </a:solidFill>
            <a:prstDash val="solid"/>
          </a:ln>
        </p:spPr>
        <p:txBody>
          <a:bodyPr/>
          <a:lstStyle/>
          <a:p>
            <a:endParaRPr lang="en-US"/>
          </a:p>
        </p:txBody>
      </p:sp>
      <p:sp>
        <p:nvSpPr>
          <p:cNvPr id="38" name="Shape 36"/>
          <p:cNvSpPr/>
          <p:nvPr/>
        </p:nvSpPr>
        <p:spPr>
          <a:xfrm>
            <a:off x="4709160" y="3520440"/>
            <a:ext cx="914" cy="411480"/>
          </a:xfrm>
          <a:prstGeom prst="line">
            <a:avLst/>
          </a:prstGeom>
          <a:noFill/>
          <a:ln w="15875">
            <a:solidFill>
              <a:srgbClr val="143F4F"/>
            </a:solidFill>
            <a:prstDash val="solid"/>
          </a:ln>
        </p:spPr>
        <p:txBody>
          <a:bodyPr/>
          <a:lstStyle/>
          <a:p>
            <a:endParaRPr lang="en-US"/>
          </a:p>
        </p:txBody>
      </p:sp>
      <p:sp>
        <p:nvSpPr>
          <p:cNvPr id="39" name="Shape 37"/>
          <p:cNvSpPr/>
          <p:nvPr/>
        </p:nvSpPr>
        <p:spPr>
          <a:xfrm>
            <a:off x="6675120" y="2514600"/>
            <a:ext cx="822960" cy="548640"/>
          </a:xfrm>
          <a:prstGeom prst="rect">
            <a:avLst/>
          </a:prstGeom>
          <a:solidFill>
            <a:srgbClr val="FFFFFF"/>
          </a:solidFill>
          <a:ln w="15875">
            <a:solidFill>
              <a:srgbClr val="143F4F"/>
            </a:solidFill>
            <a:prstDash val="solid"/>
          </a:ln>
        </p:spPr>
        <p:txBody>
          <a:bodyPr/>
          <a:lstStyle/>
          <a:p>
            <a:endParaRPr lang="en-US"/>
          </a:p>
        </p:txBody>
      </p:sp>
      <p:sp>
        <p:nvSpPr>
          <p:cNvPr id="40" name="Shape 38"/>
          <p:cNvSpPr/>
          <p:nvPr/>
        </p:nvSpPr>
        <p:spPr>
          <a:xfrm>
            <a:off x="6675120" y="2514600"/>
            <a:ext cx="822960" cy="137160"/>
          </a:xfrm>
          <a:prstGeom prst="rect">
            <a:avLst/>
          </a:prstGeom>
          <a:solidFill>
            <a:srgbClr val="D98BB5"/>
          </a:solidFill>
          <a:ln w="15875">
            <a:solidFill>
              <a:srgbClr val="143F4F"/>
            </a:solidFill>
            <a:prstDash val="solid"/>
          </a:ln>
        </p:spPr>
        <p:txBody>
          <a:bodyPr/>
          <a:lstStyle/>
          <a:p>
            <a:endParaRPr lang="en-US"/>
          </a:p>
        </p:txBody>
      </p:sp>
      <p:sp>
        <p:nvSpPr>
          <p:cNvPr id="41" name="Shape 39"/>
          <p:cNvSpPr/>
          <p:nvPr/>
        </p:nvSpPr>
        <p:spPr>
          <a:xfrm>
            <a:off x="6675120" y="2788920"/>
            <a:ext cx="822960" cy="914"/>
          </a:xfrm>
          <a:prstGeom prst="line">
            <a:avLst/>
          </a:prstGeom>
          <a:noFill/>
          <a:ln w="15875">
            <a:solidFill>
              <a:srgbClr val="143F4F"/>
            </a:solidFill>
            <a:prstDash val="solid"/>
          </a:ln>
        </p:spPr>
        <p:txBody>
          <a:bodyPr/>
          <a:lstStyle/>
          <a:p>
            <a:endParaRPr lang="en-US"/>
          </a:p>
        </p:txBody>
      </p:sp>
      <p:sp>
        <p:nvSpPr>
          <p:cNvPr id="42" name="Shape 40"/>
          <p:cNvSpPr/>
          <p:nvPr/>
        </p:nvSpPr>
        <p:spPr>
          <a:xfrm>
            <a:off x="6675120" y="2926080"/>
            <a:ext cx="822960" cy="914"/>
          </a:xfrm>
          <a:prstGeom prst="line">
            <a:avLst/>
          </a:prstGeom>
          <a:noFill/>
          <a:ln w="15875">
            <a:solidFill>
              <a:srgbClr val="143F4F"/>
            </a:solidFill>
            <a:prstDash val="solid"/>
          </a:ln>
        </p:spPr>
        <p:txBody>
          <a:bodyPr/>
          <a:lstStyle/>
          <a:p>
            <a:endParaRPr lang="en-US"/>
          </a:p>
        </p:txBody>
      </p:sp>
      <p:sp>
        <p:nvSpPr>
          <p:cNvPr id="43" name="Shape 41"/>
          <p:cNvSpPr/>
          <p:nvPr/>
        </p:nvSpPr>
        <p:spPr>
          <a:xfrm>
            <a:off x="6949440" y="2651760"/>
            <a:ext cx="914" cy="411480"/>
          </a:xfrm>
          <a:prstGeom prst="line">
            <a:avLst/>
          </a:prstGeom>
          <a:noFill/>
          <a:ln w="15875">
            <a:solidFill>
              <a:srgbClr val="143F4F"/>
            </a:solidFill>
            <a:prstDash val="solid"/>
          </a:ln>
        </p:spPr>
        <p:txBody>
          <a:bodyPr/>
          <a:lstStyle/>
          <a:p>
            <a:endParaRPr lang="en-US"/>
          </a:p>
        </p:txBody>
      </p:sp>
      <p:sp>
        <p:nvSpPr>
          <p:cNvPr id="44" name="Shape 42"/>
          <p:cNvSpPr/>
          <p:nvPr/>
        </p:nvSpPr>
        <p:spPr>
          <a:xfrm>
            <a:off x="7223760" y="2651760"/>
            <a:ext cx="914" cy="411480"/>
          </a:xfrm>
          <a:prstGeom prst="line">
            <a:avLst/>
          </a:prstGeom>
          <a:noFill/>
          <a:ln w="15875">
            <a:solidFill>
              <a:srgbClr val="143F4F"/>
            </a:solidFill>
            <a:prstDash val="solid"/>
          </a:ln>
        </p:spPr>
        <p:txBody>
          <a:bodyPr/>
          <a:lstStyle/>
          <a:p>
            <a:endParaRPr lang="en-US"/>
          </a:p>
        </p:txBody>
      </p:sp>
      <p:sp>
        <p:nvSpPr>
          <p:cNvPr id="45" name="Shape 43"/>
          <p:cNvSpPr/>
          <p:nvPr/>
        </p:nvSpPr>
        <p:spPr>
          <a:xfrm>
            <a:off x="2468880" y="2194560"/>
            <a:ext cx="822960" cy="914"/>
          </a:xfrm>
          <a:prstGeom prst="line">
            <a:avLst/>
          </a:prstGeom>
          <a:noFill/>
          <a:ln w="15875">
            <a:solidFill>
              <a:srgbClr val="5A7079"/>
            </a:solidFill>
            <a:prstDash val="solid"/>
          </a:ln>
        </p:spPr>
        <p:txBody>
          <a:bodyPr/>
          <a:lstStyle/>
          <a:p>
            <a:endParaRPr lang="en-US"/>
          </a:p>
        </p:txBody>
      </p:sp>
      <p:sp>
        <p:nvSpPr>
          <p:cNvPr id="46" name="Shape 44"/>
          <p:cNvSpPr/>
          <p:nvPr/>
        </p:nvSpPr>
        <p:spPr>
          <a:xfrm>
            <a:off x="2468880" y="3291840"/>
            <a:ext cx="822960" cy="914"/>
          </a:xfrm>
          <a:prstGeom prst="line">
            <a:avLst/>
          </a:prstGeom>
          <a:noFill/>
          <a:ln w="15875">
            <a:solidFill>
              <a:srgbClr val="5A7079"/>
            </a:solidFill>
            <a:prstDash val="solid"/>
          </a:ln>
        </p:spPr>
        <p:txBody>
          <a:bodyPr/>
          <a:lstStyle/>
          <a:p>
            <a:endParaRPr lang="en-US"/>
          </a:p>
        </p:txBody>
      </p:sp>
      <p:sp>
        <p:nvSpPr>
          <p:cNvPr id="47" name="Shape 45"/>
          <p:cNvSpPr/>
          <p:nvPr/>
        </p:nvSpPr>
        <p:spPr>
          <a:xfrm>
            <a:off x="3291840" y="1920240"/>
            <a:ext cx="914" cy="1737360"/>
          </a:xfrm>
          <a:prstGeom prst="line">
            <a:avLst/>
          </a:prstGeom>
          <a:noFill/>
          <a:ln w="15875">
            <a:solidFill>
              <a:srgbClr val="5A7079"/>
            </a:solidFill>
            <a:prstDash val="solid"/>
          </a:ln>
        </p:spPr>
        <p:txBody>
          <a:bodyPr/>
          <a:lstStyle/>
          <a:p>
            <a:endParaRPr lang="en-US"/>
          </a:p>
        </p:txBody>
      </p:sp>
      <p:sp>
        <p:nvSpPr>
          <p:cNvPr id="48" name="Shape 46"/>
          <p:cNvSpPr/>
          <p:nvPr/>
        </p:nvSpPr>
        <p:spPr>
          <a:xfrm>
            <a:off x="3291840" y="1920240"/>
            <a:ext cx="868680" cy="914"/>
          </a:xfrm>
          <a:prstGeom prst="line">
            <a:avLst/>
          </a:prstGeom>
          <a:noFill/>
          <a:ln w="15875">
            <a:solidFill>
              <a:srgbClr val="3B78C4"/>
            </a:solidFill>
            <a:prstDash val="solid"/>
            <a:tailEnd type="triangle"/>
          </a:ln>
        </p:spPr>
        <p:txBody>
          <a:bodyPr/>
          <a:lstStyle/>
          <a:p>
            <a:endParaRPr lang="en-US"/>
          </a:p>
        </p:txBody>
      </p:sp>
      <p:sp>
        <p:nvSpPr>
          <p:cNvPr id="49" name="Shape 47"/>
          <p:cNvSpPr/>
          <p:nvPr/>
        </p:nvSpPr>
        <p:spPr>
          <a:xfrm>
            <a:off x="3291840" y="2788920"/>
            <a:ext cx="868680" cy="914"/>
          </a:xfrm>
          <a:prstGeom prst="line">
            <a:avLst/>
          </a:prstGeom>
          <a:noFill/>
          <a:ln w="15875">
            <a:solidFill>
              <a:srgbClr val="3B78C4"/>
            </a:solidFill>
            <a:prstDash val="solid"/>
            <a:tailEnd type="triangle"/>
          </a:ln>
        </p:spPr>
        <p:txBody>
          <a:bodyPr/>
          <a:lstStyle/>
          <a:p>
            <a:endParaRPr lang="en-US"/>
          </a:p>
        </p:txBody>
      </p:sp>
      <p:sp>
        <p:nvSpPr>
          <p:cNvPr id="50" name="Shape 48"/>
          <p:cNvSpPr/>
          <p:nvPr/>
        </p:nvSpPr>
        <p:spPr>
          <a:xfrm>
            <a:off x="3291840" y="3657600"/>
            <a:ext cx="868680" cy="914"/>
          </a:xfrm>
          <a:prstGeom prst="line">
            <a:avLst/>
          </a:prstGeom>
          <a:noFill/>
          <a:ln w="15875">
            <a:solidFill>
              <a:srgbClr val="3B78C4"/>
            </a:solidFill>
            <a:prstDash val="solid"/>
            <a:tailEnd type="triangle"/>
          </a:ln>
        </p:spPr>
        <p:txBody>
          <a:bodyPr/>
          <a:lstStyle/>
          <a:p>
            <a:endParaRPr lang="en-US"/>
          </a:p>
        </p:txBody>
      </p:sp>
      <p:sp>
        <p:nvSpPr>
          <p:cNvPr id="51" name="Shape 49"/>
          <p:cNvSpPr/>
          <p:nvPr/>
        </p:nvSpPr>
        <p:spPr>
          <a:xfrm>
            <a:off x="4983480" y="1920240"/>
            <a:ext cx="777240" cy="914"/>
          </a:xfrm>
          <a:prstGeom prst="line">
            <a:avLst/>
          </a:prstGeom>
          <a:noFill/>
          <a:ln w="15875">
            <a:solidFill>
              <a:srgbClr val="5A7079"/>
            </a:solidFill>
            <a:prstDash val="solid"/>
          </a:ln>
        </p:spPr>
        <p:txBody>
          <a:bodyPr/>
          <a:lstStyle/>
          <a:p>
            <a:endParaRPr lang="en-US"/>
          </a:p>
        </p:txBody>
      </p:sp>
      <p:sp>
        <p:nvSpPr>
          <p:cNvPr id="52" name="Shape 50"/>
          <p:cNvSpPr/>
          <p:nvPr/>
        </p:nvSpPr>
        <p:spPr>
          <a:xfrm>
            <a:off x="4983480" y="2788920"/>
            <a:ext cx="777240" cy="914"/>
          </a:xfrm>
          <a:prstGeom prst="line">
            <a:avLst/>
          </a:prstGeom>
          <a:noFill/>
          <a:ln w="15875">
            <a:solidFill>
              <a:srgbClr val="5A7079"/>
            </a:solidFill>
            <a:prstDash val="solid"/>
          </a:ln>
        </p:spPr>
        <p:txBody>
          <a:bodyPr/>
          <a:lstStyle/>
          <a:p>
            <a:endParaRPr lang="en-US"/>
          </a:p>
        </p:txBody>
      </p:sp>
      <p:sp>
        <p:nvSpPr>
          <p:cNvPr id="53" name="Shape 51"/>
          <p:cNvSpPr/>
          <p:nvPr/>
        </p:nvSpPr>
        <p:spPr>
          <a:xfrm>
            <a:off x="4983480" y="3657600"/>
            <a:ext cx="777240" cy="914"/>
          </a:xfrm>
          <a:prstGeom prst="line">
            <a:avLst/>
          </a:prstGeom>
          <a:noFill/>
          <a:ln w="15875">
            <a:solidFill>
              <a:srgbClr val="5A7079"/>
            </a:solidFill>
            <a:prstDash val="solid"/>
          </a:ln>
        </p:spPr>
        <p:txBody>
          <a:bodyPr/>
          <a:lstStyle/>
          <a:p>
            <a:endParaRPr lang="en-US"/>
          </a:p>
        </p:txBody>
      </p:sp>
      <p:sp>
        <p:nvSpPr>
          <p:cNvPr id="54" name="Shape 52"/>
          <p:cNvSpPr/>
          <p:nvPr/>
        </p:nvSpPr>
        <p:spPr>
          <a:xfrm>
            <a:off x="5760720" y="1920240"/>
            <a:ext cx="914" cy="1737360"/>
          </a:xfrm>
          <a:prstGeom prst="line">
            <a:avLst/>
          </a:prstGeom>
          <a:noFill/>
          <a:ln w="15875">
            <a:solidFill>
              <a:srgbClr val="5A7079"/>
            </a:solidFill>
            <a:prstDash val="solid"/>
          </a:ln>
        </p:spPr>
        <p:txBody>
          <a:bodyPr/>
          <a:lstStyle/>
          <a:p>
            <a:endParaRPr lang="en-US"/>
          </a:p>
        </p:txBody>
      </p:sp>
      <p:sp>
        <p:nvSpPr>
          <p:cNvPr id="55" name="Shape 53"/>
          <p:cNvSpPr/>
          <p:nvPr/>
        </p:nvSpPr>
        <p:spPr>
          <a:xfrm>
            <a:off x="5760720" y="2788920"/>
            <a:ext cx="914400" cy="914"/>
          </a:xfrm>
          <a:prstGeom prst="line">
            <a:avLst/>
          </a:prstGeom>
          <a:noFill/>
          <a:ln w="15875">
            <a:solidFill>
              <a:srgbClr val="3B78C4"/>
            </a:solidFill>
            <a:prstDash val="solid"/>
            <a:tailEnd type="triangle"/>
          </a:ln>
        </p:spPr>
        <p:txBody>
          <a:bodyPr/>
          <a:lstStyle/>
          <a:p>
            <a:endParaRPr lang="en-US"/>
          </a:p>
        </p:txBody>
      </p:sp>
      <p:sp>
        <p:nvSpPr>
          <p:cNvPr id="56" name="Text 54"/>
          <p:cNvSpPr txBox="1"/>
          <p:nvPr/>
        </p:nvSpPr>
        <p:spPr>
          <a:xfrm>
            <a:off x="822960" y="4114800"/>
            <a:ext cx="7498080" cy="320040"/>
          </a:xfrm>
          <a:prstGeom prst="rect">
            <a:avLst/>
          </a:prstGeom>
          <a:noFill/>
          <a:ln/>
        </p:spPr>
        <p:txBody>
          <a:bodyPr wrap="square" lIns="0" tIns="0" rIns="0" bIns="0" rtlCol="0" anchor="ctr"/>
          <a:lstStyle/>
          <a:p>
            <a:pPr marL="0" indent="0" algn="ctr">
              <a:buNone/>
            </a:pPr>
            <a:r>
              <a:rPr lang="en-US" sz="1200" i="1" dirty="0">
                <a:solidFill>
                  <a:srgbClr val="5A7079"/>
                </a:solidFill>
                <a:latin typeface="Calibri" pitchFamily="34" charset="0"/>
                <a:ea typeface="Calibri" pitchFamily="34" charset="-122"/>
                <a:cs typeface="Calibri" pitchFamily="34" charset="-120"/>
              </a:rPr>
              <a:t>Tables linked through shared keys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Example</a:t>
            </a:r>
            <a:endParaRPr lang="en-US" sz="3000" dirty="0"/>
          </a:p>
        </p:txBody>
      </p:sp>
      <p:sp>
        <p:nvSpPr>
          <p:cNvPr id="7" name="Text 5"/>
          <p:cNvSpPr txBox="1"/>
          <p:nvPr/>
        </p:nvSpPr>
        <p:spPr>
          <a:xfrm>
            <a:off x="822960" y="1005840"/>
            <a:ext cx="2743200" cy="32004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CUSTOMER</a:t>
            </a:r>
            <a:endParaRPr lang="en-US" sz="1500" dirty="0"/>
          </a:p>
        </p:txBody>
      </p:sp>
      <p:graphicFrame>
        <p:nvGraphicFramePr>
          <p:cNvPr id="21" name="Table 0"/>
          <p:cNvGraphicFramePr>
            <a:graphicFrameLocks noGrp="1"/>
          </p:cNvGraphicFramePr>
          <p:nvPr/>
        </p:nvGraphicFramePr>
        <p:xfrm>
          <a:off x="822960" y="1371600"/>
          <a:ext cx="7498080" cy="2468880"/>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CUSTOMER_ID</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FIRST_NAME</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LAST_NAME</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PHONE</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COUNTRY</a:t>
                      </a:r>
                      <a:endParaRPr lang="en-US" sz="13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411480">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JOHN</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DOE</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817-646-8833</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USA</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411480">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ROBERT</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LUNA</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412-862-0502</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USA</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411480">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DAVID</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ROBINSON</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208-340-7906</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UK</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3"/>
                  </a:ext>
                </a:extLst>
              </a:tr>
              <a:tr h="411480">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JOHN</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REINHARDT</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307-242-6285</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UK</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4"/>
                  </a:ext>
                </a:extLst>
              </a:tr>
              <a:tr h="411480">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BETTY</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TAYLOR</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806-749-2958</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400" dirty="0">
                          <a:solidFill>
                            <a:srgbClr val="1F3B47"/>
                          </a:solidFill>
                          <a:latin typeface="Calibri" pitchFamily="34" charset="0"/>
                          <a:ea typeface="Calibri" pitchFamily="34" charset="-122"/>
                          <a:cs typeface="Calibri" pitchFamily="34" charset="-120"/>
                        </a:rPr>
                        <a:t>UAE</a:t>
                      </a:r>
                      <a:endParaRPr lang="en-US" sz="14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5"/>
                  </a:ext>
                </a:extLst>
              </a:tr>
            </a:tbl>
          </a:graphicData>
        </a:graphic>
      </p:graphicFrame>
      <p:sp>
        <p:nvSpPr>
          <p:cNvPr id="9" name="Text 6"/>
          <p:cNvSpPr txBox="1"/>
          <p:nvPr/>
        </p:nvSpPr>
        <p:spPr>
          <a:xfrm>
            <a:off x="822960" y="4069080"/>
            <a:ext cx="7498080" cy="320040"/>
          </a:xfrm>
          <a:prstGeom prst="rect">
            <a:avLst/>
          </a:prstGeom>
          <a:noFill/>
          <a:ln/>
        </p:spPr>
        <p:txBody>
          <a:bodyPr wrap="square" lIns="0" tIns="0" rIns="0" bIns="0" rtlCol="0" anchor="ctr"/>
          <a:lstStyle/>
          <a:p>
            <a:pPr marL="0" indent="0" algn="ctr">
              <a:buNone/>
            </a:pPr>
            <a:r>
              <a:rPr lang="en-US" sz="1200" i="1" dirty="0">
                <a:solidFill>
                  <a:srgbClr val="5A7079"/>
                </a:solidFill>
                <a:latin typeface="Calibri" pitchFamily="34" charset="0"/>
                <a:ea typeface="Calibri" pitchFamily="34" charset="-122"/>
                <a:cs typeface="Calibri" pitchFamily="34" charset="-120"/>
              </a:rPr>
              <a:t>Fig: Relational Database System (RDBMS)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Example</a:t>
            </a:r>
            <a:endParaRPr lang="en-US" sz="3000" dirty="0"/>
          </a:p>
        </p:txBody>
      </p:sp>
      <p:sp>
        <p:nvSpPr>
          <p:cNvPr id="7" name="Text 5"/>
          <p:cNvSpPr txBox="1"/>
          <p:nvPr/>
        </p:nvSpPr>
        <p:spPr>
          <a:xfrm>
            <a:off x="4206240" y="1024128"/>
            <a:ext cx="1828800" cy="274320"/>
          </a:xfrm>
          <a:prstGeom prst="rect">
            <a:avLst/>
          </a:prstGeom>
          <a:noFill/>
          <a:ln/>
        </p:spPr>
        <p:txBody>
          <a:bodyPr wrap="square" lIns="0" tIns="0" rIns="0" bIns="0" rtlCol="0" anchor="ctr"/>
          <a:lstStyle/>
          <a:p>
            <a:pPr marL="0" indent="0">
              <a:buNone/>
            </a:pPr>
            <a:r>
              <a:rPr lang="en-US" sz="1200" b="1" dirty="0">
                <a:solidFill>
                  <a:srgbClr val="143F4F"/>
                </a:solidFill>
                <a:latin typeface="Calibri" pitchFamily="34" charset="0"/>
                <a:ea typeface="Calibri" pitchFamily="34" charset="-122"/>
                <a:cs typeface="Calibri" pitchFamily="34" charset="-120"/>
              </a:rPr>
              <a:t>ORDER</a:t>
            </a:r>
            <a:endParaRPr lang="en-US" sz="1200" dirty="0"/>
          </a:p>
        </p:txBody>
      </p:sp>
      <p:graphicFrame>
        <p:nvGraphicFramePr>
          <p:cNvPr id="22" name="Table 0"/>
          <p:cNvGraphicFramePr>
            <a:graphicFrameLocks noGrp="1"/>
          </p:cNvGraphicFramePr>
          <p:nvPr/>
        </p:nvGraphicFramePr>
        <p:xfrm>
          <a:off x="4206240" y="1325880"/>
          <a:ext cx="4297680" cy="1569720"/>
        </p:xfrm>
        <a:graphic>
          <a:graphicData uri="http://schemas.openxmlformats.org/drawingml/2006/table">
            <a:tbl>
              <a:tblPr/>
              <a:tblGrid>
                <a:gridCol w="9601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24688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ORDER_ID</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PRODUCT</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CUSTOMER_ID</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246888">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paper</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500</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246888">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pen</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246888">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marker</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3"/>
                  </a:ext>
                </a:extLst>
              </a:tr>
              <a:tr h="246888">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books</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4"/>
                  </a:ext>
                </a:extLst>
              </a:tr>
              <a:tr h="246888">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erasers</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50" dirty="0">
                          <a:solidFill>
                            <a:srgbClr val="1F3B47"/>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5"/>
                  </a:ext>
                </a:extLst>
              </a:tr>
            </a:tbl>
          </a:graphicData>
        </a:graphic>
      </p:graphicFrame>
      <p:sp>
        <p:nvSpPr>
          <p:cNvPr id="9" name="Text 6"/>
          <p:cNvSpPr txBox="1"/>
          <p:nvPr/>
        </p:nvSpPr>
        <p:spPr>
          <a:xfrm>
            <a:off x="1371600" y="2852928"/>
            <a:ext cx="1828800" cy="274320"/>
          </a:xfrm>
          <a:prstGeom prst="rect">
            <a:avLst/>
          </a:prstGeom>
          <a:noFill/>
          <a:ln/>
        </p:spPr>
        <p:txBody>
          <a:bodyPr wrap="square" lIns="0" tIns="0" rIns="0" bIns="0" rtlCol="0" anchor="ctr"/>
          <a:lstStyle/>
          <a:p>
            <a:pPr marL="0" indent="0">
              <a:buNone/>
            </a:pPr>
            <a:r>
              <a:rPr lang="en-US" sz="1200" b="1" dirty="0">
                <a:solidFill>
                  <a:srgbClr val="143F4F"/>
                </a:solidFill>
                <a:latin typeface="Calibri" pitchFamily="34" charset="0"/>
                <a:ea typeface="Calibri" pitchFamily="34" charset="-122"/>
                <a:cs typeface="Calibri" pitchFamily="34" charset="-120"/>
              </a:rPr>
              <a:t>CUSTOMER</a:t>
            </a:r>
            <a:endParaRPr lang="en-US" sz="1200" dirty="0"/>
          </a:p>
        </p:txBody>
      </p:sp>
      <p:graphicFrame>
        <p:nvGraphicFramePr>
          <p:cNvPr id="43" name="Table 1"/>
          <p:cNvGraphicFramePr>
            <a:graphicFrameLocks noGrp="1"/>
          </p:cNvGraphicFramePr>
          <p:nvPr/>
        </p:nvGraphicFramePr>
        <p:xfrm>
          <a:off x="640080" y="3127248"/>
          <a:ext cx="5120640" cy="1516380"/>
        </p:xfrm>
        <a:graphic>
          <a:graphicData uri="http://schemas.openxmlformats.org/drawingml/2006/table">
            <a:tbl>
              <a:tblPr/>
              <a:tblGrid>
                <a:gridCol w="11430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237744">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CUSTOMER_ID</a:t>
                      </a:r>
                      <a:endParaRPr lang="en-US" sz="9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FIRST_NAME</a:t>
                      </a:r>
                      <a:endParaRPr lang="en-US" sz="9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LAST_NAME</a:t>
                      </a:r>
                      <a:endParaRPr lang="en-US" sz="9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PHONE</a:t>
                      </a:r>
                      <a:endParaRPr lang="en-US" sz="9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tc>
                  <a:txBody>
                    <a:bodyPr/>
                    <a:lstStyle/>
                    <a:p>
                      <a:pPr marL="0" indent="0">
                        <a:buNone/>
                      </a:pPr>
                      <a:r>
                        <a:rPr lang="en-US" sz="950" b="1" dirty="0">
                          <a:solidFill>
                            <a:srgbClr val="FFFFFF"/>
                          </a:solidFill>
                          <a:latin typeface="Calibri" pitchFamily="34" charset="0"/>
                          <a:ea typeface="Calibri" pitchFamily="34" charset="-122"/>
                          <a:cs typeface="Calibri" pitchFamily="34" charset="-120"/>
                        </a:rPr>
                        <a:t>COUNTRY</a:t>
                      </a:r>
                      <a:endParaRPr lang="en-US" sz="95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43F4F"/>
                    </a:solidFill>
                  </a:tcPr>
                </a:tc>
                <a:extLst>
                  <a:ext uri="{0D108BD9-81ED-4DB2-BD59-A6C34878D82A}">
                    <a16:rowId xmlns:a16="http://schemas.microsoft.com/office/drawing/2014/main" val="10000"/>
                  </a:ext>
                </a:extLst>
              </a:tr>
              <a:tr h="237744">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JOHN</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DOE</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817-646-8833</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USA</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1"/>
                  </a:ext>
                </a:extLst>
              </a:tr>
              <a:tr h="237744">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ROBERT</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LUNA</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412-862-0502</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USA</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237744">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DAVID</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ROBINSON</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208-340-7906</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UK</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3"/>
                  </a:ext>
                </a:extLst>
              </a:tr>
              <a:tr h="237744">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JOHN</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REINHARDT</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307-242-6285</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UK</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2F6F8"/>
                    </a:solidFill>
                  </a:tcPr>
                </a:tc>
                <a:extLst>
                  <a:ext uri="{0D108BD9-81ED-4DB2-BD59-A6C34878D82A}">
                    <a16:rowId xmlns:a16="http://schemas.microsoft.com/office/drawing/2014/main" val="10004"/>
                  </a:ext>
                </a:extLst>
              </a:tr>
              <a:tr h="237744">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BETTY</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TAYLOR</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806-749-2958</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tc>
                  <a:txBody>
                    <a:bodyPr/>
                    <a:lstStyle/>
                    <a:p>
                      <a:pPr marL="0" indent="0">
                        <a:buNone/>
                      </a:pPr>
                      <a:r>
                        <a:rPr lang="en-US" sz="1000" dirty="0">
                          <a:solidFill>
                            <a:srgbClr val="1F3B47"/>
                          </a:solidFill>
                          <a:latin typeface="Calibri" pitchFamily="34" charset="0"/>
                          <a:ea typeface="Calibri" pitchFamily="34" charset="-122"/>
                          <a:cs typeface="Calibri" pitchFamily="34" charset="-120"/>
                        </a:rPr>
                        <a:t>UAE</a:t>
                      </a:r>
                      <a:endParaRPr lang="en-US" sz="1000" dirty="0">
                        <a:latin typeface="Calibri" charset="0"/>
                        <a:ea typeface="Calibri" charset="0"/>
                        <a:cs typeface="Calibri" charset="0"/>
                      </a:endParaRPr>
                    </a:p>
                  </a:txBody>
                  <a:tcPr marL="101600" marR="101600" marT="50800" marB="508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4ECEF"/>
                    </a:solidFill>
                  </a:tcPr>
                </a:tc>
                <a:extLst>
                  <a:ext uri="{0D108BD9-81ED-4DB2-BD59-A6C34878D82A}">
                    <a16:rowId xmlns:a16="http://schemas.microsoft.com/office/drawing/2014/main" val="10005"/>
                  </a:ext>
                </a:extLst>
              </a:tr>
            </a:tbl>
          </a:graphicData>
        </a:graphic>
      </p:graphicFrame>
      <p:sp>
        <p:nvSpPr>
          <p:cNvPr id="11" name="Shape 7"/>
          <p:cNvSpPr/>
          <p:nvPr/>
        </p:nvSpPr>
        <p:spPr>
          <a:xfrm flipV="1">
            <a:off x="7836408" y="1188720"/>
            <a:ext cx="914" cy="137160"/>
          </a:xfrm>
          <a:prstGeom prst="line">
            <a:avLst/>
          </a:prstGeom>
          <a:noFill/>
          <a:ln w="15875">
            <a:solidFill>
              <a:srgbClr val="3B78C4"/>
            </a:solidFill>
            <a:prstDash val="solid"/>
          </a:ln>
        </p:spPr>
        <p:txBody>
          <a:bodyPr/>
          <a:lstStyle/>
          <a:p>
            <a:endParaRPr lang="en-US"/>
          </a:p>
        </p:txBody>
      </p:sp>
      <p:sp>
        <p:nvSpPr>
          <p:cNvPr id="12" name="Shape 8"/>
          <p:cNvSpPr/>
          <p:nvPr/>
        </p:nvSpPr>
        <p:spPr>
          <a:xfrm>
            <a:off x="1207008" y="1188720"/>
            <a:ext cx="6629400" cy="914"/>
          </a:xfrm>
          <a:prstGeom prst="line">
            <a:avLst/>
          </a:prstGeom>
          <a:noFill/>
          <a:ln w="15875">
            <a:solidFill>
              <a:srgbClr val="3B78C4"/>
            </a:solidFill>
            <a:prstDash val="solid"/>
          </a:ln>
        </p:spPr>
        <p:txBody>
          <a:bodyPr/>
          <a:lstStyle/>
          <a:p>
            <a:endParaRPr lang="en-US"/>
          </a:p>
        </p:txBody>
      </p:sp>
      <p:sp>
        <p:nvSpPr>
          <p:cNvPr id="13" name="Shape 9"/>
          <p:cNvSpPr/>
          <p:nvPr/>
        </p:nvSpPr>
        <p:spPr>
          <a:xfrm>
            <a:off x="1207008" y="1188720"/>
            <a:ext cx="914" cy="1938528"/>
          </a:xfrm>
          <a:prstGeom prst="line">
            <a:avLst/>
          </a:prstGeom>
          <a:noFill/>
          <a:ln w="15875">
            <a:solidFill>
              <a:srgbClr val="3B78C4"/>
            </a:solidFill>
            <a:prstDash val="solid"/>
            <a:tailEnd type="triangle"/>
          </a:ln>
        </p:spPr>
        <p:txBody>
          <a:bodyPr/>
          <a:lstStyle/>
          <a:p>
            <a:endParaRPr lang="en-US"/>
          </a:p>
        </p:txBody>
      </p:sp>
      <p:sp>
        <p:nvSpPr>
          <p:cNvPr id="14" name="Text 10"/>
          <p:cNvSpPr txBox="1"/>
          <p:nvPr/>
        </p:nvSpPr>
        <p:spPr>
          <a:xfrm>
            <a:off x="1371600" y="1737360"/>
            <a:ext cx="2651760" cy="548640"/>
          </a:xfrm>
          <a:prstGeom prst="rect">
            <a:avLst/>
          </a:prstGeom>
          <a:noFill/>
          <a:ln/>
        </p:spPr>
        <p:txBody>
          <a:bodyPr wrap="square" lIns="0" tIns="0" rIns="0" bIns="0" rtlCol="0" anchor="ctr"/>
          <a:lstStyle/>
          <a:p>
            <a:pPr marL="0" indent="0">
              <a:buNone/>
            </a:pPr>
            <a:r>
              <a:rPr lang="en-US" sz="1200" i="1" dirty="0">
                <a:solidFill>
                  <a:srgbClr val="3B78C4"/>
                </a:solidFill>
                <a:latin typeface="Calibri" pitchFamily="34" charset="0"/>
                <a:ea typeface="Calibri" pitchFamily="34" charset="-122"/>
                <a:cs typeface="Calibri" pitchFamily="34" charset="-120"/>
              </a:rPr>
              <a:t>CUSTOMER_ID links each order to a customer</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Object Oriented DBMS</a:t>
            </a:r>
            <a:endParaRPr lang="en-US" sz="3000" dirty="0"/>
          </a:p>
        </p:txBody>
      </p:sp>
      <p:sp>
        <p:nvSpPr>
          <p:cNvPr id="7" name="Text 5"/>
          <p:cNvSpPr txBox="1"/>
          <p:nvPr/>
        </p:nvSpPr>
        <p:spPr>
          <a:xfrm>
            <a:off x="640080" y="960120"/>
            <a:ext cx="7863840" cy="548640"/>
          </a:xfrm>
          <a:prstGeom prst="rect">
            <a:avLst/>
          </a:prstGeom>
          <a:noFill/>
          <a:ln/>
        </p:spPr>
        <p:txBody>
          <a:bodyPr wrap="square" lIns="0" tIns="0" rIns="0" bIns="0" rtlCol="0" anchor="ctr"/>
          <a:lstStyle/>
          <a:p>
            <a:pPr marL="0" indent="0">
              <a:buNone/>
            </a:pPr>
            <a:r>
              <a:rPr lang="en-US" sz="1450" dirty="0">
                <a:solidFill>
                  <a:srgbClr val="1F3B47"/>
                </a:solidFill>
                <a:latin typeface="Calibri" pitchFamily="34" charset="0"/>
                <a:ea typeface="Calibri" pitchFamily="34" charset="-122"/>
                <a:cs typeface="Calibri" pitchFamily="34" charset="-120"/>
              </a:rPr>
              <a:t>OODBMS combine object-oriented programming with database management, representing data as objects that encapsulate both attributes and behavior.</a:t>
            </a:r>
            <a:endParaRPr lang="en-US" sz="1450" dirty="0"/>
          </a:p>
        </p:txBody>
      </p:sp>
      <p:sp>
        <p:nvSpPr>
          <p:cNvPr id="8" name="Shape 6"/>
          <p:cNvSpPr/>
          <p:nvPr/>
        </p:nvSpPr>
        <p:spPr>
          <a:xfrm>
            <a:off x="640080" y="1645920"/>
            <a:ext cx="2468880" cy="1691640"/>
          </a:xfrm>
          <a:prstGeom prst="roundRect">
            <a:avLst>
              <a:gd name="adj" fmla="val 648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Text 7"/>
          <p:cNvSpPr txBox="1"/>
          <p:nvPr/>
        </p:nvSpPr>
        <p:spPr>
          <a:xfrm>
            <a:off x="822960" y="1645920"/>
            <a:ext cx="2148840" cy="169164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Data as Objects</a:t>
            </a:r>
            <a:endParaRPr lang="en-US" sz="1200" dirty="0"/>
          </a:p>
          <a:p>
            <a:pPr marL="0" indent="0">
              <a:buNone/>
            </a:pPr>
            <a:r>
              <a:rPr lang="en-US" sz="1200" dirty="0">
                <a:solidFill>
                  <a:srgbClr val="1F3B47"/>
                </a:solidFill>
                <a:latin typeface="Calibri" pitchFamily="34" charset="0"/>
                <a:ea typeface="Calibri" pitchFamily="34" charset="-122"/>
                <a:cs typeface="Calibri" pitchFamily="34" charset="-120"/>
              </a:rPr>
              <a:t>Objects contain both data and methods, enabling seamless integration of operations with the data.</a:t>
            </a:r>
            <a:endParaRPr lang="en-US" sz="1200" dirty="0"/>
          </a:p>
        </p:txBody>
      </p:sp>
      <p:sp>
        <p:nvSpPr>
          <p:cNvPr id="10" name="Shape 8"/>
          <p:cNvSpPr/>
          <p:nvPr/>
        </p:nvSpPr>
        <p:spPr>
          <a:xfrm>
            <a:off x="3337560" y="1645920"/>
            <a:ext cx="2468880" cy="1691640"/>
          </a:xfrm>
          <a:prstGeom prst="roundRect">
            <a:avLst>
              <a:gd name="adj" fmla="val 648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3520440" y="1645920"/>
            <a:ext cx="2148840" cy="169164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Rich Data Modeling</a:t>
            </a:r>
            <a:endParaRPr lang="en-US" sz="1200" dirty="0"/>
          </a:p>
          <a:p>
            <a:pPr marL="0" indent="0">
              <a:buNone/>
            </a:pPr>
            <a:r>
              <a:rPr lang="en-US" sz="1200" dirty="0">
                <a:solidFill>
                  <a:srgbClr val="1F3B47"/>
                </a:solidFill>
                <a:latin typeface="Calibri" pitchFamily="34" charset="0"/>
                <a:ea typeface="Calibri" pitchFamily="34" charset="-122"/>
                <a:cs typeface="Calibri" pitchFamily="34" charset="-120"/>
              </a:rPr>
              <a:t>Supports relationships, inheritance, and methods; ideal for scientific research, social media, and complex simulations.</a:t>
            </a:r>
            <a:endParaRPr lang="en-US" sz="1200" dirty="0"/>
          </a:p>
        </p:txBody>
      </p:sp>
      <p:sp>
        <p:nvSpPr>
          <p:cNvPr id="12" name="Shape 10"/>
          <p:cNvSpPr/>
          <p:nvPr/>
        </p:nvSpPr>
        <p:spPr>
          <a:xfrm>
            <a:off x="6035040" y="1645920"/>
            <a:ext cx="2468880" cy="1691640"/>
          </a:xfrm>
          <a:prstGeom prst="roundRect">
            <a:avLst>
              <a:gd name="adj" fmla="val 648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Text 11"/>
          <p:cNvSpPr txBox="1"/>
          <p:nvPr/>
        </p:nvSpPr>
        <p:spPr>
          <a:xfrm>
            <a:off x="6217920" y="1645920"/>
            <a:ext cx="2148840" cy="169164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Transparent Persistence</a:t>
            </a:r>
            <a:endParaRPr lang="en-US" sz="1200" dirty="0"/>
          </a:p>
          <a:p>
            <a:pPr marL="0" indent="0">
              <a:buNone/>
            </a:pPr>
            <a:r>
              <a:rPr lang="en-US" sz="1200" dirty="0">
                <a:solidFill>
                  <a:srgbClr val="1F3B47"/>
                </a:solidFill>
                <a:latin typeface="Calibri" pitchFamily="34" charset="0"/>
                <a:ea typeface="Calibri" pitchFamily="34" charset="-122"/>
                <a:cs typeface="Calibri" pitchFamily="34" charset="-120"/>
              </a:rPr>
              <a:t>Objects can be stored and retrieved directly without complex mapping, simplifying development.</a:t>
            </a:r>
            <a:endParaRPr lang="en-US" sz="1200" dirty="0"/>
          </a:p>
        </p:txBody>
      </p:sp>
      <p:sp>
        <p:nvSpPr>
          <p:cNvPr id="14" name="Shape 12"/>
          <p:cNvSpPr/>
          <p:nvPr/>
        </p:nvSpPr>
        <p:spPr>
          <a:xfrm>
            <a:off x="640080" y="3611880"/>
            <a:ext cx="7863840" cy="868680"/>
          </a:xfrm>
          <a:prstGeom prst="roundRect">
            <a:avLst>
              <a:gd name="adj" fmla="val 12632"/>
            </a:avLst>
          </a:prstGeom>
          <a:solidFill>
            <a:srgbClr val="143F4F"/>
          </a:solidFill>
          <a:ln/>
        </p:spPr>
        <p:txBody>
          <a:bodyPr/>
          <a:lstStyle/>
          <a:p>
            <a:endParaRPr lang="en-US"/>
          </a:p>
        </p:txBody>
      </p:sp>
      <p:sp>
        <p:nvSpPr>
          <p:cNvPr id="15" name="Text 13"/>
          <p:cNvSpPr txBox="1"/>
          <p:nvPr/>
        </p:nvSpPr>
        <p:spPr>
          <a:xfrm>
            <a:off x="868680" y="3611880"/>
            <a:ext cx="7406640" cy="868680"/>
          </a:xfrm>
          <a:prstGeom prst="rect">
            <a:avLst/>
          </a:prstGeom>
          <a:noFill/>
          <a:ln/>
        </p:spPr>
        <p:txBody>
          <a:bodyPr wrap="square" lIns="0" tIns="0" rIns="0" bIns="0" rtlCol="0" anchor="ctr"/>
          <a:lstStyle/>
          <a:p>
            <a:pPr marL="0" indent="0">
              <a:buNone/>
            </a:pPr>
            <a:r>
              <a:rPr lang="en-US" sz="1300" b="1" dirty="0">
                <a:solidFill>
                  <a:srgbClr val="55BFAE"/>
                </a:solidFill>
                <a:latin typeface="Calibri" pitchFamily="34" charset="0"/>
                <a:ea typeface="Calibri" pitchFamily="34" charset="-122"/>
                <a:cs typeface="Calibri" pitchFamily="34" charset="-120"/>
              </a:rPr>
              <a:t>Limitations: </a:t>
            </a:r>
            <a:r>
              <a:rPr lang="en-US" sz="1300" dirty="0">
                <a:solidFill>
                  <a:srgbClr val="FFFFFF"/>
                </a:solidFill>
                <a:latin typeface="Calibri" pitchFamily="34" charset="0"/>
                <a:ea typeface="Calibri" pitchFamily="34" charset="-122"/>
                <a:cs typeface="Calibri" pitchFamily="34" charset="-120"/>
              </a:rPr>
              <a:t>OODBMS may not be ideal for all applications. For concerns like data consistency, scalability, or complex queries, other systems (e.g., RDBMS or DDBMS) may be more suitable.</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Object Oriented DBMS</a:t>
            </a:r>
            <a:endParaRPr lang="en-US" sz="3000" dirty="0"/>
          </a:p>
        </p:txBody>
      </p:sp>
      <p:sp>
        <p:nvSpPr>
          <p:cNvPr id="7" name="Shape 5"/>
          <p:cNvSpPr/>
          <p:nvPr/>
        </p:nvSpPr>
        <p:spPr>
          <a:xfrm>
            <a:off x="822960" y="1005840"/>
            <a:ext cx="7498080" cy="3566160"/>
          </a:xfrm>
          <a:prstGeom prst="roundRect">
            <a:avLst>
              <a:gd name="adj" fmla="val 3077"/>
            </a:avLst>
          </a:prstGeom>
          <a:solidFill>
            <a:srgbClr val="E3EEF8"/>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22960" y="1097280"/>
            <a:ext cx="7498080" cy="411480"/>
          </a:xfrm>
          <a:prstGeom prst="rect">
            <a:avLst/>
          </a:prstGeom>
          <a:noFill/>
          <a:ln/>
        </p:spPr>
        <p:txBody>
          <a:bodyPr wrap="square" lIns="0" tIns="0" rIns="0" bIns="0" rtlCol="0" anchor="ctr"/>
          <a:lstStyle/>
          <a:p>
            <a:pPr marL="0" indent="0" algn="ctr">
              <a:buNone/>
            </a:pPr>
            <a:r>
              <a:rPr lang="en-US" sz="1600" b="1" dirty="0">
                <a:solidFill>
                  <a:srgbClr val="143F4F"/>
                </a:solidFill>
                <a:latin typeface="Calibri" pitchFamily="34" charset="0"/>
                <a:ea typeface="Calibri" pitchFamily="34" charset="-122"/>
                <a:cs typeface="Calibri" pitchFamily="34" charset="-120"/>
              </a:rPr>
              <a:t>Object-oriented Database Management System</a:t>
            </a:r>
            <a:endParaRPr lang="en-US" sz="1600" dirty="0"/>
          </a:p>
        </p:txBody>
      </p:sp>
      <p:sp>
        <p:nvSpPr>
          <p:cNvPr id="9" name="Shape 7"/>
          <p:cNvSpPr/>
          <p:nvPr/>
        </p:nvSpPr>
        <p:spPr>
          <a:xfrm>
            <a:off x="3429000" y="1691640"/>
            <a:ext cx="2286000" cy="365760"/>
          </a:xfrm>
          <a:prstGeom prst="rect">
            <a:avLst/>
          </a:prstGeom>
          <a:solidFill>
            <a:srgbClr val="4F8FDA"/>
          </a:solidFill>
          <a:ln w="12700">
            <a:solidFill>
              <a:srgbClr val="143F4F"/>
            </a:solidFill>
            <a:prstDash val="solid"/>
          </a:ln>
        </p:spPr>
        <p:txBody>
          <a:bodyPr/>
          <a:lstStyle/>
          <a:p>
            <a:endParaRPr lang="en-US"/>
          </a:p>
        </p:txBody>
      </p:sp>
      <p:sp>
        <p:nvSpPr>
          <p:cNvPr id="10" name="Text 8"/>
          <p:cNvSpPr txBox="1"/>
          <p:nvPr/>
        </p:nvSpPr>
        <p:spPr>
          <a:xfrm>
            <a:off x="3429000" y="1691640"/>
            <a:ext cx="22860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Jeff: customer</a:t>
            </a:r>
            <a:endParaRPr lang="en-US" sz="1300" dirty="0"/>
          </a:p>
        </p:txBody>
      </p:sp>
      <p:sp>
        <p:nvSpPr>
          <p:cNvPr id="11" name="Shape 9"/>
          <p:cNvSpPr/>
          <p:nvPr/>
        </p:nvSpPr>
        <p:spPr>
          <a:xfrm>
            <a:off x="3429000" y="2057400"/>
            <a:ext cx="2286000" cy="640080"/>
          </a:xfrm>
          <a:prstGeom prst="rect">
            <a:avLst/>
          </a:prstGeom>
          <a:solidFill>
            <a:srgbClr val="FFFFFF"/>
          </a:solidFill>
          <a:ln w="12700">
            <a:solidFill>
              <a:srgbClr val="143F4F"/>
            </a:solidFill>
            <a:prstDash val="solid"/>
          </a:ln>
        </p:spPr>
        <p:txBody>
          <a:bodyPr/>
          <a:lstStyle/>
          <a:p>
            <a:endParaRPr lang="en-US"/>
          </a:p>
        </p:txBody>
      </p:sp>
      <p:sp>
        <p:nvSpPr>
          <p:cNvPr id="12" name="Text 10"/>
          <p:cNvSpPr txBox="1"/>
          <p:nvPr/>
        </p:nvSpPr>
        <p:spPr>
          <a:xfrm>
            <a:off x="3429000" y="2057400"/>
            <a:ext cx="2286000" cy="640080"/>
          </a:xfrm>
          <a:prstGeom prst="rect">
            <a:avLst/>
          </a:prstGeom>
          <a:noFill/>
          <a:ln/>
        </p:spPr>
        <p:txBody>
          <a:bodyPr wrap="square" lIns="0" tIns="0" rIns="0" bIns="0" rtlCol="0" anchor="ctr"/>
          <a:lstStyle/>
          <a:p>
            <a:pPr marL="0" indent="0" algn="ctr">
              <a:buNone/>
            </a:pPr>
            <a:r>
              <a:rPr lang="en-US" sz="1200" dirty="0">
                <a:solidFill>
                  <a:srgbClr val="1F3B47"/>
                </a:solidFill>
                <a:latin typeface="Calibri" pitchFamily="34" charset="0"/>
                <a:ea typeface="Calibri" pitchFamily="34" charset="-122"/>
                <a:cs typeface="Calibri" pitchFamily="34" charset="-120"/>
              </a:rPr>
              <a:t>sName = Jeff</a:t>
            </a:r>
            <a:endParaRPr lang="en-US" sz="1200" dirty="0"/>
          </a:p>
          <a:p>
            <a:pPr marL="0" indent="0" algn="ctr">
              <a:buNone/>
            </a:pPr>
            <a:r>
              <a:rPr lang="en-US" sz="1200" dirty="0">
                <a:solidFill>
                  <a:srgbClr val="1F3B47"/>
                </a:solidFill>
                <a:latin typeface="Calibri" pitchFamily="34" charset="0"/>
                <a:ea typeface="Calibri" pitchFamily="34" charset="-122"/>
                <a:cs typeface="Calibri" pitchFamily="34" charset="-120"/>
              </a:rPr>
              <a:t>fName = Smith</a:t>
            </a:r>
            <a:endParaRPr lang="en-US" sz="1200" dirty="0"/>
          </a:p>
        </p:txBody>
      </p:sp>
      <p:sp>
        <p:nvSpPr>
          <p:cNvPr id="13" name="Shape 11"/>
          <p:cNvSpPr/>
          <p:nvPr/>
        </p:nvSpPr>
        <p:spPr>
          <a:xfrm>
            <a:off x="4572000" y="2697480"/>
            <a:ext cx="914" cy="182880"/>
          </a:xfrm>
          <a:prstGeom prst="line">
            <a:avLst/>
          </a:prstGeom>
          <a:noFill/>
          <a:ln w="15875">
            <a:solidFill>
              <a:srgbClr val="5A7079"/>
            </a:solidFill>
            <a:prstDash val="solid"/>
          </a:ln>
        </p:spPr>
        <p:txBody>
          <a:bodyPr/>
          <a:lstStyle/>
          <a:p>
            <a:endParaRPr lang="en-US"/>
          </a:p>
        </p:txBody>
      </p:sp>
      <p:sp>
        <p:nvSpPr>
          <p:cNvPr id="14" name="Shape 12"/>
          <p:cNvSpPr/>
          <p:nvPr/>
        </p:nvSpPr>
        <p:spPr>
          <a:xfrm>
            <a:off x="2011680" y="2880360"/>
            <a:ext cx="4663440" cy="914"/>
          </a:xfrm>
          <a:prstGeom prst="line">
            <a:avLst/>
          </a:prstGeom>
          <a:noFill/>
          <a:ln w="15875">
            <a:solidFill>
              <a:srgbClr val="5A7079"/>
            </a:solidFill>
            <a:prstDash val="solid"/>
          </a:ln>
        </p:spPr>
        <p:txBody>
          <a:bodyPr/>
          <a:lstStyle/>
          <a:p>
            <a:endParaRPr lang="en-US"/>
          </a:p>
        </p:txBody>
      </p:sp>
      <p:sp>
        <p:nvSpPr>
          <p:cNvPr id="15" name="Shape 13"/>
          <p:cNvSpPr/>
          <p:nvPr/>
        </p:nvSpPr>
        <p:spPr>
          <a:xfrm>
            <a:off x="2011680" y="2880360"/>
            <a:ext cx="914" cy="274320"/>
          </a:xfrm>
          <a:prstGeom prst="line">
            <a:avLst/>
          </a:prstGeom>
          <a:noFill/>
          <a:ln w="15875">
            <a:solidFill>
              <a:srgbClr val="143F4F"/>
            </a:solidFill>
            <a:prstDash val="solid"/>
            <a:tailEnd type="triangle"/>
          </a:ln>
        </p:spPr>
        <p:txBody>
          <a:bodyPr/>
          <a:lstStyle/>
          <a:p>
            <a:endParaRPr lang="en-US"/>
          </a:p>
        </p:txBody>
      </p:sp>
      <p:sp>
        <p:nvSpPr>
          <p:cNvPr id="16" name="Shape 14"/>
          <p:cNvSpPr/>
          <p:nvPr/>
        </p:nvSpPr>
        <p:spPr>
          <a:xfrm>
            <a:off x="1097280" y="3154680"/>
            <a:ext cx="1828800" cy="365760"/>
          </a:xfrm>
          <a:prstGeom prst="rect">
            <a:avLst/>
          </a:prstGeom>
          <a:solidFill>
            <a:srgbClr val="4F8FDA"/>
          </a:solidFill>
          <a:ln w="12700">
            <a:solidFill>
              <a:srgbClr val="143F4F"/>
            </a:solidFill>
            <a:prstDash val="solid"/>
          </a:ln>
        </p:spPr>
        <p:txBody>
          <a:bodyPr/>
          <a:lstStyle/>
          <a:p>
            <a:endParaRPr lang="en-US"/>
          </a:p>
        </p:txBody>
      </p:sp>
      <p:sp>
        <p:nvSpPr>
          <p:cNvPr id="17" name="Text 15"/>
          <p:cNvSpPr txBox="1"/>
          <p:nvPr/>
        </p:nvSpPr>
        <p:spPr>
          <a:xfrm>
            <a:off x="1097280" y="3154680"/>
            <a:ext cx="18288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Bank Account</a:t>
            </a:r>
            <a:endParaRPr lang="en-US" sz="1300" dirty="0"/>
          </a:p>
        </p:txBody>
      </p:sp>
      <p:sp>
        <p:nvSpPr>
          <p:cNvPr id="18" name="Shape 16"/>
          <p:cNvSpPr/>
          <p:nvPr/>
        </p:nvSpPr>
        <p:spPr>
          <a:xfrm>
            <a:off x="1097280" y="3520440"/>
            <a:ext cx="1828800" cy="365760"/>
          </a:xfrm>
          <a:prstGeom prst="rect">
            <a:avLst/>
          </a:prstGeom>
          <a:solidFill>
            <a:srgbClr val="FFFFFF"/>
          </a:solidFill>
          <a:ln w="12700">
            <a:solidFill>
              <a:srgbClr val="143F4F"/>
            </a:solidFill>
            <a:prstDash val="solid"/>
          </a:ln>
        </p:spPr>
        <p:txBody>
          <a:bodyPr/>
          <a:lstStyle/>
          <a:p>
            <a:endParaRPr lang="en-US"/>
          </a:p>
        </p:txBody>
      </p:sp>
      <p:sp>
        <p:nvSpPr>
          <p:cNvPr id="19" name="Text 17"/>
          <p:cNvSpPr txBox="1"/>
          <p:nvPr/>
        </p:nvSpPr>
        <p:spPr>
          <a:xfrm>
            <a:off x="1097280" y="3520440"/>
            <a:ext cx="1828800" cy="365760"/>
          </a:xfrm>
          <a:prstGeom prst="rect">
            <a:avLst/>
          </a:prstGeom>
          <a:noFill/>
          <a:ln/>
        </p:spPr>
        <p:txBody>
          <a:bodyPr wrap="square" lIns="0" tIns="0" rIns="0" bIns="0" rtlCol="0" anchor="ctr"/>
          <a:lstStyle/>
          <a:p>
            <a:pPr marL="0" indent="0" algn="ctr">
              <a:buNone/>
            </a:pPr>
            <a:r>
              <a:rPr lang="en-US" sz="1200" dirty="0">
                <a:solidFill>
                  <a:srgbClr val="1F3B47"/>
                </a:solidFill>
                <a:latin typeface="Calibri" pitchFamily="34" charset="0"/>
                <a:ea typeface="Calibri" pitchFamily="34" charset="-122"/>
                <a:cs typeface="Calibri" pitchFamily="34" charset="-120"/>
              </a:rPr>
              <a:t>accNo = 3452865</a:t>
            </a:r>
            <a:endParaRPr lang="en-US" sz="1200" dirty="0"/>
          </a:p>
        </p:txBody>
      </p:sp>
      <p:sp>
        <p:nvSpPr>
          <p:cNvPr id="20" name="Shape 18"/>
          <p:cNvSpPr/>
          <p:nvPr/>
        </p:nvSpPr>
        <p:spPr>
          <a:xfrm>
            <a:off x="4343400" y="2880360"/>
            <a:ext cx="914" cy="274320"/>
          </a:xfrm>
          <a:prstGeom prst="line">
            <a:avLst/>
          </a:prstGeom>
          <a:noFill/>
          <a:ln w="15875">
            <a:solidFill>
              <a:srgbClr val="143F4F"/>
            </a:solidFill>
            <a:prstDash val="solid"/>
            <a:tailEnd type="triangle"/>
          </a:ln>
        </p:spPr>
        <p:txBody>
          <a:bodyPr/>
          <a:lstStyle/>
          <a:p>
            <a:endParaRPr lang="en-US"/>
          </a:p>
        </p:txBody>
      </p:sp>
      <p:sp>
        <p:nvSpPr>
          <p:cNvPr id="21" name="Shape 19"/>
          <p:cNvSpPr/>
          <p:nvPr/>
        </p:nvSpPr>
        <p:spPr>
          <a:xfrm>
            <a:off x="3429000" y="3154680"/>
            <a:ext cx="1828800" cy="365760"/>
          </a:xfrm>
          <a:prstGeom prst="rect">
            <a:avLst/>
          </a:prstGeom>
          <a:solidFill>
            <a:srgbClr val="4F8FDA"/>
          </a:solidFill>
          <a:ln w="12700">
            <a:solidFill>
              <a:srgbClr val="143F4F"/>
            </a:solidFill>
            <a:prstDash val="solid"/>
          </a:ln>
        </p:spPr>
        <p:txBody>
          <a:bodyPr/>
          <a:lstStyle/>
          <a:p>
            <a:endParaRPr lang="en-US"/>
          </a:p>
        </p:txBody>
      </p:sp>
      <p:sp>
        <p:nvSpPr>
          <p:cNvPr id="22" name="Text 20"/>
          <p:cNvSpPr txBox="1"/>
          <p:nvPr/>
        </p:nvSpPr>
        <p:spPr>
          <a:xfrm>
            <a:off x="3429000" y="3154680"/>
            <a:ext cx="18288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London: Address</a:t>
            </a:r>
            <a:endParaRPr lang="en-US" sz="1300" dirty="0"/>
          </a:p>
        </p:txBody>
      </p:sp>
      <p:sp>
        <p:nvSpPr>
          <p:cNvPr id="23" name="Shape 21"/>
          <p:cNvSpPr/>
          <p:nvPr/>
        </p:nvSpPr>
        <p:spPr>
          <a:xfrm>
            <a:off x="3429000" y="3520440"/>
            <a:ext cx="1828800" cy="365760"/>
          </a:xfrm>
          <a:prstGeom prst="rect">
            <a:avLst/>
          </a:prstGeom>
          <a:solidFill>
            <a:srgbClr val="FFFFFF"/>
          </a:solidFill>
          <a:ln w="12700">
            <a:solidFill>
              <a:srgbClr val="143F4F"/>
            </a:solidFill>
            <a:prstDash val="solid"/>
          </a:ln>
        </p:spPr>
        <p:txBody>
          <a:bodyPr/>
          <a:lstStyle/>
          <a:p>
            <a:endParaRPr lang="en-US"/>
          </a:p>
        </p:txBody>
      </p:sp>
      <p:sp>
        <p:nvSpPr>
          <p:cNvPr id="24" name="Text 22"/>
          <p:cNvSpPr txBox="1"/>
          <p:nvPr/>
        </p:nvSpPr>
        <p:spPr>
          <a:xfrm>
            <a:off x="3429000" y="3520440"/>
            <a:ext cx="1828800" cy="365760"/>
          </a:xfrm>
          <a:prstGeom prst="rect">
            <a:avLst/>
          </a:prstGeom>
          <a:noFill/>
          <a:ln/>
        </p:spPr>
        <p:txBody>
          <a:bodyPr wrap="square" lIns="0" tIns="0" rIns="0" bIns="0" rtlCol="0" anchor="ctr"/>
          <a:lstStyle/>
          <a:p>
            <a:pPr marL="0" indent="0" algn="ctr">
              <a:buNone/>
            </a:pPr>
            <a:r>
              <a:rPr lang="en-US" sz="1200" dirty="0">
                <a:solidFill>
                  <a:srgbClr val="1F3B47"/>
                </a:solidFill>
                <a:latin typeface="Calibri" pitchFamily="34" charset="0"/>
                <a:ea typeface="Calibri" pitchFamily="34" charset="-122"/>
                <a:cs typeface="Calibri" pitchFamily="34" charset="-120"/>
              </a:rPr>
              <a:t>city = London</a:t>
            </a:r>
            <a:endParaRPr lang="en-US" sz="1200" dirty="0"/>
          </a:p>
        </p:txBody>
      </p:sp>
      <p:sp>
        <p:nvSpPr>
          <p:cNvPr id="25" name="Shape 23"/>
          <p:cNvSpPr/>
          <p:nvPr/>
        </p:nvSpPr>
        <p:spPr>
          <a:xfrm>
            <a:off x="6675120" y="2880360"/>
            <a:ext cx="914" cy="274320"/>
          </a:xfrm>
          <a:prstGeom prst="line">
            <a:avLst/>
          </a:prstGeom>
          <a:noFill/>
          <a:ln w="15875">
            <a:solidFill>
              <a:srgbClr val="143F4F"/>
            </a:solidFill>
            <a:prstDash val="solid"/>
            <a:tailEnd type="triangle"/>
          </a:ln>
        </p:spPr>
        <p:txBody>
          <a:bodyPr/>
          <a:lstStyle/>
          <a:p>
            <a:endParaRPr lang="en-US"/>
          </a:p>
        </p:txBody>
      </p:sp>
      <p:sp>
        <p:nvSpPr>
          <p:cNvPr id="26" name="Shape 24"/>
          <p:cNvSpPr/>
          <p:nvPr/>
        </p:nvSpPr>
        <p:spPr>
          <a:xfrm>
            <a:off x="5760720" y="3154680"/>
            <a:ext cx="1828800" cy="365760"/>
          </a:xfrm>
          <a:prstGeom prst="rect">
            <a:avLst/>
          </a:prstGeom>
          <a:solidFill>
            <a:srgbClr val="4F8FDA"/>
          </a:solidFill>
          <a:ln w="12700">
            <a:solidFill>
              <a:srgbClr val="143F4F"/>
            </a:solidFill>
            <a:prstDash val="solid"/>
          </a:ln>
        </p:spPr>
        <p:txBody>
          <a:bodyPr/>
          <a:lstStyle/>
          <a:p>
            <a:endParaRPr lang="en-US"/>
          </a:p>
        </p:txBody>
      </p:sp>
      <p:sp>
        <p:nvSpPr>
          <p:cNvPr id="27" name="Text 25"/>
          <p:cNvSpPr txBox="1"/>
          <p:nvPr/>
        </p:nvSpPr>
        <p:spPr>
          <a:xfrm>
            <a:off x="5760720" y="3154680"/>
            <a:ext cx="182880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Brussels: Address</a:t>
            </a:r>
            <a:endParaRPr lang="en-US" sz="1300" dirty="0"/>
          </a:p>
        </p:txBody>
      </p:sp>
      <p:sp>
        <p:nvSpPr>
          <p:cNvPr id="28" name="Shape 26"/>
          <p:cNvSpPr/>
          <p:nvPr/>
        </p:nvSpPr>
        <p:spPr>
          <a:xfrm>
            <a:off x="5760720" y="3520440"/>
            <a:ext cx="1828800" cy="365760"/>
          </a:xfrm>
          <a:prstGeom prst="rect">
            <a:avLst/>
          </a:prstGeom>
          <a:solidFill>
            <a:srgbClr val="FFFFFF"/>
          </a:solidFill>
          <a:ln w="12700">
            <a:solidFill>
              <a:srgbClr val="143F4F"/>
            </a:solidFill>
            <a:prstDash val="solid"/>
          </a:ln>
        </p:spPr>
        <p:txBody>
          <a:bodyPr/>
          <a:lstStyle/>
          <a:p>
            <a:endParaRPr lang="en-US"/>
          </a:p>
        </p:txBody>
      </p:sp>
      <p:sp>
        <p:nvSpPr>
          <p:cNvPr id="29" name="Text 27"/>
          <p:cNvSpPr txBox="1"/>
          <p:nvPr/>
        </p:nvSpPr>
        <p:spPr>
          <a:xfrm>
            <a:off x="5760720" y="3520440"/>
            <a:ext cx="1828800" cy="365760"/>
          </a:xfrm>
          <a:prstGeom prst="rect">
            <a:avLst/>
          </a:prstGeom>
          <a:noFill/>
          <a:ln/>
        </p:spPr>
        <p:txBody>
          <a:bodyPr wrap="square" lIns="0" tIns="0" rIns="0" bIns="0" rtlCol="0" anchor="ctr"/>
          <a:lstStyle/>
          <a:p>
            <a:pPr marL="0" indent="0" algn="ctr">
              <a:buNone/>
            </a:pPr>
            <a:r>
              <a:rPr lang="en-US" sz="1200" dirty="0">
                <a:solidFill>
                  <a:srgbClr val="1F3B47"/>
                </a:solidFill>
                <a:latin typeface="Calibri" pitchFamily="34" charset="0"/>
                <a:ea typeface="Calibri" pitchFamily="34" charset="-122"/>
                <a:cs typeface="Calibri" pitchFamily="34" charset="-120"/>
              </a:rPr>
              <a:t>city = Brussels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NoSQL DBMS</a:t>
            </a:r>
            <a:endParaRPr lang="en-US" sz="3000" dirty="0"/>
          </a:p>
        </p:txBody>
      </p:sp>
      <p:sp>
        <p:nvSpPr>
          <p:cNvPr id="7" name="Text 5"/>
          <p:cNvSpPr txBox="1"/>
          <p:nvPr/>
        </p:nvSpPr>
        <p:spPr>
          <a:xfrm>
            <a:off x="640080" y="960120"/>
            <a:ext cx="7863840" cy="548640"/>
          </a:xfrm>
          <a:prstGeom prst="rect">
            <a:avLst/>
          </a:prstGeom>
          <a:noFill/>
          <a:ln/>
        </p:spPr>
        <p:txBody>
          <a:bodyPr wrap="square" lIns="0" tIns="0" rIns="0" bIns="0" rtlCol="0" anchor="ctr"/>
          <a:lstStyle/>
          <a:p>
            <a:pPr marL="0" indent="0">
              <a:buNone/>
            </a:pPr>
            <a:r>
              <a:rPr lang="en-US" sz="1450" dirty="0">
                <a:solidFill>
                  <a:srgbClr val="1F3B47"/>
                </a:solidFill>
                <a:latin typeface="Calibri" pitchFamily="34" charset="0"/>
                <a:ea typeface="Calibri" pitchFamily="34" charset="-122"/>
                <a:cs typeface="Calibri" pitchFamily="34" charset="-120"/>
              </a:rPr>
              <a:t>NoSQL DBMSs offer flexible, scalable solutions for handling unstructured and semi-structured data, crucial for modern applications.</a:t>
            </a:r>
            <a:endParaRPr lang="en-US" sz="1450" dirty="0"/>
          </a:p>
        </p:txBody>
      </p:sp>
      <p:sp>
        <p:nvSpPr>
          <p:cNvPr id="8" name="Shape 6"/>
          <p:cNvSpPr/>
          <p:nvPr/>
        </p:nvSpPr>
        <p:spPr>
          <a:xfrm>
            <a:off x="640080" y="1600200"/>
            <a:ext cx="3817620" cy="1325880"/>
          </a:xfrm>
          <a:prstGeom prst="roundRect">
            <a:avLst>
              <a:gd name="adj" fmla="val 827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777240" y="2052828"/>
            <a:ext cx="420624" cy="420624"/>
          </a:xfrm>
          <a:prstGeom prst="ellipse">
            <a:avLst/>
          </a:prstGeom>
          <a:solidFill>
            <a:srgbClr val="143F4F"/>
          </a:solidFill>
          <a:ln/>
        </p:spPr>
        <p:txBody>
          <a:bodyPr/>
          <a:lstStyle/>
          <a:p>
            <a:endParaRPr lang="en-US"/>
          </a:p>
        </p:txBody>
      </p:sp>
      <p:sp>
        <p:nvSpPr>
          <p:cNvPr id="10" name="Text 8"/>
          <p:cNvSpPr txBox="1"/>
          <p:nvPr/>
        </p:nvSpPr>
        <p:spPr>
          <a:xfrm>
            <a:off x="777240" y="20528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325880" y="1600200"/>
            <a:ext cx="2994660" cy="132588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Schema-Flexible Design</a:t>
            </a:r>
            <a:endParaRPr lang="en-US" sz="1200" dirty="0"/>
          </a:p>
          <a:p>
            <a:pPr marL="0" indent="0">
              <a:buNone/>
            </a:pPr>
            <a:r>
              <a:rPr lang="en-US" sz="1200" dirty="0">
                <a:solidFill>
                  <a:srgbClr val="1F3B47"/>
                </a:solidFill>
                <a:latin typeface="Calibri" pitchFamily="34" charset="0"/>
                <a:ea typeface="Calibri" pitchFamily="34" charset="-122"/>
                <a:cs typeface="Calibri" pitchFamily="34" charset="-120"/>
              </a:rPr>
              <a:t>Unlike rigid RDBMS, NoSQL allows dynamic data modeling, adapting to changing business needs and reducing costly schema migrations.</a:t>
            </a:r>
            <a:endParaRPr lang="en-US" sz="1200" dirty="0"/>
          </a:p>
        </p:txBody>
      </p:sp>
      <p:sp>
        <p:nvSpPr>
          <p:cNvPr id="12" name="Shape 10"/>
          <p:cNvSpPr/>
          <p:nvPr/>
        </p:nvSpPr>
        <p:spPr>
          <a:xfrm>
            <a:off x="4686300" y="1600200"/>
            <a:ext cx="3817620" cy="1325880"/>
          </a:xfrm>
          <a:prstGeom prst="roundRect">
            <a:avLst>
              <a:gd name="adj" fmla="val 827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823460" y="2052828"/>
            <a:ext cx="420624" cy="420624"/>
          </a:xfrm>
          <a:prstGeom prst="ellipse">
            <a:avLst/>
          </a:prstGeom>
          <a:solidFill>
            <a:srgbClr val="55BFAE"/>
          </a:solidFill>
          <a:ln/>
        </p:spPr>
        <p:txBody>
          <a:bodyPr/>
          <a:lstStyle/>
          <a:p>
            <a:endParaRPr lang="en-US"/>
          </a:p>
        </p:txBody>
      </p:sp>
      <p:sp>
        <p:nvSpPr>
          <p:cNvPr id="14" name="Text 12"/>
          <p:cNvSpPr txBox="1"/>
          <p:nvPr/>
        </p:nvSpPr>
        <p:spPr>
          <a:xfrm>
            <a:off x="4823460" y="20528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5372100" y="1600200"/>
            <a:ext cx="2994660" cy="132588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Versatile Data Formats</a:t>
            </a:r>
            <a:endParaRPr lang="en-US" sz="1200" dirty="0"/>
          </a:p>
          <a:p>
            <a:pPr marL="0" indent="0">
              <a:buNone/>
            </a:pPr>
            <a:r>
              <a:rPr lang="en-US" sz="1200" dirty="0">
                <a:solidFill>
                  <a:srgbClr val="1F3B47"/>
                </a:solidFill>
                <a:latin typeface="Calibri" pitchFamily="34" charset="0"/>
                <a:ea typeface="Calibri" pitchFamily="34" charset="-122"/>
                <a:cs typeface="Calibri" pitchFamily="34" charset="-120"/>
              </a:rPr>
              <a:t>Supports JSON, XML, key-value pairs, graphs, and documents — ideal for evolving data structures.</a:t>
            </a:r>
            <a:endParaRPr lang="en-US" sz="1200" dirty="0"/>
          </a:p>
        </p:txBody>
      </p:sp>
      <p:sp>
        <p:nvSpPr>
          <p:cNvPr id="16" name="Shape 14"/>
          <p:cNvSpPr/>
          <p:nvPr/>
        </p:nvSpPr>
        <p:spPr>
          <a:xfrm>
            <a:off x="640080" y="3127248"/>
            <a:ext cx="3817620" cy="1325880"/>
          </a:xfrm>
          <a:prstGeom prst="roundRect">
            <a:avLst>
              <a:gd name="adj" fmla="val 827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777240" y="3579876"/>
            <a:ext cx="420624" cy="420624"/>
          </a:xfrm>
          <a:prstGeom prst="ellipse">
            <a:avLst/>
          </a:prstGeom>
          <a:solidFill>
            <a:srgbClr val="143F4F"/>
          </a:solidFill>
          <a:ln/>
        </p:spPr>
        <p:txBody>
          <a:bodyPr/>
          <a:lstStyle/>
          <a:p>
            <a:endParaRPr lang="en-US"/>
          </a:p>
        </p:txBody>
      </p:sp>
      <p:sp>
        <p:nvSpPr>
          <p:cNvPr id="18" name="Text 16"/>
          <p:cNvSpPr txBox="1"/>
          <p:nvPr/>
        </p:nvSpPr>
        <p:spPr>
          <a:xfrm>
            <a:off x="777240" y="35798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25880" y="3127248"/>
            <a:ext cx="2994660" cy="132588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Scalability</a:t>
            </a:r>
            <a:endParaRPr lang="en-US" sz="1200" dirty="0"/>
          </a:p>
          <a:p>
            <a:pPr marL="0" indent="0">
              <a:buNone/>
            </a:pPr>
            <a:r>
              <a:rPr lang="en-US" sz="1200" dirty="0">
                <a:solidFill>
                  <a:srgbClr val="1F3B47"/>
                </a:solidFill>
                <a:latin typeface="Calibri" pitchFamily="34" charset="0"/>
                <a:ea typeface="Calibri" pitchFamily="34" charset="-122"/>
                <a:cs typeface="Calibri" pitchFamily="34" charset="-120"/>
              </a:rPr>
              <a:t>Many NoSQL databases scale horizontally, distributing data across nodes to handle large volumes of data and traffic.</a:t>
            </a:r>
            <a:endParaRPr lang="en-US" sz="1200" dirty="0"/>
          </a:p>
        </p:txBody>
      </p:sp>
      <p:sp>
        <p:nvSpPr>
          <p:cNvPr id="20" name="Shape 18"/>
          <p:cNvSpPr/>
          <p:nvPr/>
        </p:nvSpPr>
        <p:spPr>
          <a:xfrm>
            <a:off x="4686300" y="3127248"/>
            <a:ext cx="3817620" cy="1325880"/>
          </a:xfrm>
          <a:prstGeom prst="roundRect">
            <a:avLst>
              <a:gd name="adj" fmla="val 8276"/>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9"/>
          <p:cNvSpPr/>
          <p:nvPr/>
        </p:nvSpPr>
        <p:spPr>
          <a:xfrm>
            <a:off x="4823460" y="3579876"/>
            <a:ext cx="420624" cy="420624"/>
          </a:xfrm>
          <a:prstGeom prst="ellipse">
            <a:avLst/>
          </a:prstGeom>
          <a:solidFill>
            <a:srgbClr val="55BFAE"/>
          </a:solidFill>
          <a:ln/>
        </p:spPr>
        <p:txBody>
          <a:bodyPr/>
          <a:lstStyle/>
          <a:p>
            <a:endParaRPr lang="en-US"/>
          </a:p>
        </p:txBody>
      </p:sp>
      <p:sp>
        <p:nvSpPr>
          <p:cNvPr id="22" name="Text 20"/>
          <p:cNvSpPr txBox="1"/>
          <p:nvPr/>
        </p:nvSpPr>
        <p:spPr>
          <a:xfrm>
            <a:off x="4823460" y="357987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372100" y="3127248"/>
            <a:ext cx="2994660" cy="1325880"/>
          </a:xfrm>
          <a:prstGeom prst="rect">
            <a:avLst/>
          </a:prstGeom>
          <a:noFill/>
          <a:ln/>
        </p:spPr>
        <p:txBody>
          <a:bodyPr wrap="square" lIns="0" tIns="0" rIns="0" bIns="0" rtlCol="0" anchor="ctr"/>
          <a:lstStyle/>
          <a:p>
            <a:pPr marL="0" indent="0">
              <a:buNone/>
            </a:pPr>
            <a:r>
              <a:rPr lang="en-US" sz="1400" b="1" dirty="0">
                <a:solidFill>
                  <a:srgbClr val="143F4F"/>
                </a:solidFill>
                <a:latin typeface="Calibri" pitchFamily="34" charset="0"/>
                <a:ea typeface="Calibri" pitchFamily="34" charset="-122"/>
                <a:cs typeface="Calibri" pitchFamily="34" charset="-120"/>
              </a:rPr>
              <a:t>Tailored Query Capabilities</a:t>
            </a:r>
            <a:endParaRPr lang="en-US" sz="1200" dirty="0"/>
          </a:p>
          <a:p>
            <a:pPr marL="0" indent="0">
              <a:buNone/>
            </a:pPr>
            <a:r>
              <a:rPr lang="en-US" sz="1200" dirty="0">
                <a:solidFill>
                  <a:srgbClr val="1F3B47"/>
                </a:solidFill>
                <a:latin typeface="Calibri" pitchFamily="34" charset="0"/>
                <a:ea typeface="Calibri" pitchFamily="34" charset="-122"/>
                <a:cs typeface="Calibri" pitchFamily="34" charset="-120"/>
              </a:rPr>
              <a:t>Specialized query languages per type (e.g., MongoDB for documents, Neo4j for graph traversal) enable flexible retrieval.</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NoSQL DBMS</a:t>
            </a:r>
            <a:endParaRPr lang="en-US" sz="3000" dirty="0"/>
          </a:p>
        </p:txBody>
      </p:sp>
      <p:sp>
        <p:nvSpPr>
          <p:cNvPr id="7" name="Text 5"/>
          <p:cNvSpPr txBox="1"/>
          <p:nvPr/>
        </p:nvSpPr>
        <p:spPr>
          <a:xfrm>
            <a:off x="640080" y="1005840"/>
            <a:ext cx="7315200" cy="365760"/>
          </a:xfrm>
          <a:prstGeom prst="rect">
            <a:avLst/>
          </a:prstGeom>
          <a:noFill/>
          <a:ln/>
        </p:spPr>
        <p:txBody>
          <a:bodyPr wrap="square" lIns="0" tIns="0" rIns="0" bIns="0" rtlCol="0" anchor="ctr"/>
          <a:lstStyle/>
          <a:p>
            <a:pPr marL="0" indent="0">
              <a:buNone/>
            </a:pPr>
            <a:r>
              <a:rPr lang="en-US" sz="1800" b="1" dirty="0">
                <a:solidFill>
                  <a:srgbClr val="55BFAE"/>
                </a:solidFill>
                <a:latin typeface="Calibri" pitchFamily="34" charset="0"/>
                <a:ea typeface="Calibri" pitchFamily="34" charset="-122"/>
                <a:cs typeface="Calibri" pitchFamily="34" charset="-120"/>
              </a:rPr>
              <a:t>Types of NoSQL Databases</a:t>
            </a:r>
            <a:endParaRPr lang="en-US" sz="1800" dirty="0"/>
          </a:p>
        </p:txBody>
      </p:sp>
      <p:sp>
        <p:nvSpPr>
          <p:cNvPr id="8" name="Shape 6"/>
          <p:cNvSpPr/>
          <p:nvPr/>
        </p:nvSpPr>
        <p:spPr>
          <a:xfrm>
            <a:off x="640080" y="1508760"/>
            <a:ext cx="3817620" cy="822960"/>
          </a:xfrm>
          <a:prstGeom prst="roundRect">
            <a:avLst>
              <a:gd name="adj" fmla="val 1333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9" name="Shape 7"/>
          <p:cNvSpPr/>
          <p:nvPr/>
        </p:nvSpPr>
        <p:spPr>
          <a:xfrm>
            <a:off x="777240" y="1709928"/>
            <a:ext cx="420624" cy="420624"/>
          </a:xfrm>
          <a:prstGeom prst="ellipse">
            <a:avLst/>
          </a:prstGeom>
          <a:solidFill>
            <a:srgbClr val="143F4F"/>
          </a:solidFill>
          <a:ln/>
        </p:spPr>
        <p:txBody>
          <a:bodyPr/>
          <a:lstStyle/>
          <a:p>
            <a:endParaRPr lang="en-US"/>
          </a:p>
        </p:txBody>
      </p:sp>
      <p:sp>
        <p:nvSpPr>
          <p:cNvPr id="10" name="Text 8"/>
          <p:cNvSpPr txBox="1"/>
          <p:nvPr/>
        </p:nvSpPr>
        <p:spPr>
          <a:xfrm>
            <a:off x="777240" y="17099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1325880" y="1508760"/>
            <a:ext cx="2994660" cy="822960"/>
          </a:xfrm>
          <a:prstGeom prst="rect">
            <a:avLst/>
          </a:prstGeom>
          <a:noFill/>
          <a:ln/>
        </p:spPr>
        <p:txBody>
          <a:bodyPr wrap="square" lIns="0" tIns="0" rIns="0" bIns="0" rtlCol="0" anchor="ctr"/>
          <a:lstStyle/>
          <a:p>
            <a:pPr marL="0" indent="0">
              <a:buNone/>
            </a:pPr>
            <a:r>
              <a:rPr lang="en-US" sz="1600" b="1" dirty="0">
                <a:solidFill>
                  <a:srgbClr val="143F4F"/>
                </a:solidFill>
                <a:latin typeface="Calibri" pitchFamily="34" charset="0"/>
                <a:ea typeface="Calibri" pitchFamily="34" charset="-122"/>
                <a:cs typeface="Calibri" pitchFamily="34" charset="-120"/>
              </a:rPr>
              <a:t>Document Databases</a:t>
            </a:r>
            <a:endParaRPr lang="en-US" sz="1300" dirty="0"/>
          </a:p>
          <a:p>
            <a:pPr marL="0" indent="0">
              <a:buNone/>
            </a:pPr>
            <a:r>
              <a:rPr lang="en-US" sz="1300" dirty="0">
                <a:solidFill>
                  <a:srgbClr val="1F3B47"/>
                </a:solidFill>
                <a:latin typeface="Calibri" pitchFamily="34" charset="0"/>
                <a:ea typeface="Calibri" pitchFamily="34" charset="-122"/>
                <a:cs typeface="Calibri" pitchFamily="34" charset="-120"/>
              </a:rPr>
              <a:t>e.g., MongoDB</a:t>
            </a:r>
            <a:endParaRPr lang="en-US" sz="1300" dirty="0"/>
          </a:p>
        </p:txBody>
      </p:sp>
      <p:sp>
        <p:nvSpPr>
          <p:cNvPr id="12" name="Shape 10"/>
          <p:cNvSpPr/>
          <p:nvPr/>
        </p:nvSpPr>
        <p:spPr>
          <a:xfrm>
            <a:off x="4686300" y="1508760"/>
            <a:ext cx="3817620" cy="822960"/>
          </a:xfrm>
          <a:prstGeom prst="roundRect">
            <a:avLst>
              <a:gd name="adj" fmla="val 1333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3" name="Shape 11"/>
          <p:cNvSpPr/>
          <p:nvPr/>
        </p:nvSpPr>
        <p:spPr>
          <a:xfrm>
            <a:off x="4823460" y="1709928"/>
            <a:ext cx="420624" cy="420624"/>
          </a:xfrm>
          <a:prstGeom prst="ellipse">
            <a:avLst/>
          </a:prstGeom>
          <a:solidFill>
            <a:srgbClr val="55BFAE"/>
          </a:solidFill>
          <a:ln/>
        </p:spPr>
        <p:txBody>
          <a:bodyPr/>
          <a:lstStyle/>
          <a:p>
            <a:endParaRPr lang="en-US"/>
          </a:p>
        </p:txBody>
      </p:sp>
      <p:sp>
        <p:nvSpPr>
          <p:cNvPr id="14" name="Text 12"/>
          <p:cNvSpPr txBox="1"/>
          <p:nvPr/>
        </p:nvSpPr>
        <p:spPr>
          <a:xfrm>
            <a:off x="4823460" y="170992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5372100" y="1508760"/>
            <a:ext cx="2994660" cy="822960"/>
          </a:xfrm>
          <a:prstGeom prst="rect">
            <a:avLst/>
          </a:prstGeom>
          <a:noFill/>
          <a:ln/>
        </p:spPr>
        <p:txBody>
          <a:bodyPr wrap="square" lIns="0" tIns="0" rIns="0" bIns="0" rtlCol="0" anchor="ctr"/>
          <a:lstStyle/>
          <a:p>
            <a:pPr marL="0" indent="0">
              <a:buNone/>
            </a:pPr>
            <a:r>
              <a:rPr lang="en-US" sz="1600" b="1" dirty="0">
                <a:solidFill>
                  <a:srgbClr val="143F4F"/>
                </a:solidFill>
                <a:latin typeface="Calibri" pitchFamily="34" charset="0"/>
                <a:ea typeface="Calibri" pitchFamily="34" charset="-122"/>
                <a:cs typeface="Calibri" pitchFamily="34" charset="-120"/>
              </a:rPr>
              <a:t>Graph Databases</a:t>
            </a:r>
            <a:endParaRPr lang="en-US" sz="1300" dirty="0"/>
          </a:p>
          <a:p>
            <a:pPr marL="0" indent="0">
              <a:buNone/>
            </a:pPr>
            <a:r>
              <a:rPr lang="en-US" sz="1300" dirty="0">
                <a:solidFill>
                  <a:srgbClr val="1F3B47"/>
                </a:solidFill>
                <a:latin typeface="Calibri" pitchFamily="34" charset="0"/>
                <a:ea typeface="Calibri" pitchFamily="34" charset="-122"/>
                <a:cs typeface="Calibri" pitchFamily="34" charset="-120"/>
              </a:rPr>
              <a:t>e.g., Neo4j</a:t>
            </a:r>
            <a:endParaRPr lang="en-US" sz="1300" dirty="0"/>
          </a:p>
        </p:txBody>
      </p:sp>
      <p:sp>
        <p:nvSpPr>
          <p:cNvPr id="16" name="Shape 14"/>
          <p:cNvSpPr/>
          <p:nvPr/>
        </p:nvSpPr>
        <p:spPr>
          <a:xfrm>
            <a:off x="640080" y="2532888"/>
            <a:ext cx="3817620" cy="822960"/>
          </a:xfrm>
          <a:prstGeom prst="roundRect">
            <a:avLst>
              <a:gd name="adj" fmla="val 1333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7" name="Shape 15"/>
          <p:cNvSpPr/>
          <p:nvPr/>
        </p:nvSpPr>
        <p:spPr>
          <a:xfrm>
            <a:off x="777240" y="2734056"/>
            <a:ext cx="420624" cy="420624"/>
          </a:xfrm>
          <a:prstGeom prst="ellipse">
            <a:avLst/>
          </a:prstGeom>
          <a:solidFill>
            <a:srgbClr val="143F4F"/>
          </a:solidFill>
          <a:ln/>
        </p:spPr>
        <p:txBody>
          <a:bodyPr/>
          <a:lstStyle/>
          <a:p>
            <a:endParaRPr lang="en-US"/>
          </a:p>
        </p:txBody>
      </p:sp>
      <p:sp>
        <p:nvSpPr>
          <p:cNvPr id="18" name="Text 16"/>
          <p:cNvSpPr txBox="1"/>
          <p:nvPr/>
        </p:nvSpPr>
        <p:spPr>
          <a:xfrm>
            <a:off x="777240" y="273405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25880" y="2532888"/>
            <a:ext cx="2994660" cy="822960"/>
          </a:xfrm>
          <a:prstGeom prst="rect">
            <a:avLst/>
          </a:prstGeom>
          <a:noFill/>
          <a:ln/>
        </p:spPr>
        <p:txBody>
          <a:bodyPr wrap="square" lIns="0" tIns="0" rIns="0" bIns="0" rtlCol="0" anchor="ctr"/>
          <a:lstStyle/>
          <a:p>
            <a:pPr marL="0" indent="0">
              <a:buNone/>
            </a:pPr>
            <a:r>
              <a:rPr lang="en-US" sz="1600" b="1" dirty="0">
                <a:solidFill>
                  <a:srgbClr val="143F4F"/>
                </a:solidFill>
                <a:latin typeface="Calibri" pitchFamily="34" charset="0"/>
                <a:ea typeface="Calibri" pitchFamily="34" charset="-122"/>
                <a:cs typeface="Calibri" pitchFamily="34" charset="-120"/>
              </a:rPr>
              <a:t>Key-Value Stores</a:t>
            </a:r>
            <a:endParaRPr lang="en-US" sz="1300" dirty="0"/>
          </a:p>
          <a:p>
            <a:pPr marL="0" indent="0">
              <a:buNone/>
            </a:pPr>
            <a:endParaRPr lang="en-US" sz="1300" dirty="0"/>
          </a:p>
        </p:txBody>
      </p:sp>
      <p:sp>
        <p:nvSpPr>
          <p:cNvPr id="20" name="Shape 18"/>
          <p:cNvSpPr/>
          <p:nvPr/>
        </p:nvSpPr>
        <p:spPr>
          <a:xfrm>
            <a:off x="4686300" y="2532888"/>
            <a:ext cx="3817620" cy="822960"/>
          </a:xfrm>
          <a:prstGeom prst="roundRect">
            <a:avLst>
              <a:gd name="adj" fmla="val 13333"/>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1" name="Shape 19"/>
          <p:cNvSpPr/>
          <p:nvPr/>
        </p:nvSpPr>
        <p:spPr>
          <a:xfrm>
            <a:off x="4823460" y="2734056"/>
            <a:ext cx="420624" cy="420624"/>
          </a:xfrm>
          <a:prstGeom prst="ellipse">
            <a:avLst/>
          </a:prstGeom>
          <a:solidFill>
            <a:srgbClr val="55BFAE"/>
          </a:solidFill>
          <a:ln/>
        </p:spPr>
        <p:txBody>
          <a:bodyPr/>
          <a:lstStyle/>
          <a:p>
            <a:endParaRPr lang="en-US"/>
          </a:p>
        </p:txBody>
      </p:sp>
      <p:sp>
        <p:nvSpPr>
          <p:cNvPr id="22" name="Text 20"/>
          <p:cNvSpPr txBox="1"/>
          <p:nvPr/>
        </p:nvSpPr>
        <p:spPr>
          <a:xfrm>
            <a:off x="4823460" y="273405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5372100" y="2532888"/>
            <a:ext cx="2994660" cy="822960"/>
          </a:xfrm>
          <a:prstGeom prst="rect">
            <a:avLst/>
          </a:prstGeom>
          <a:noFill/>
          <a:ln/>
        </p:spPr>
        <p:txBody>
          <a:bodyPr wrap="square" lIns="0" tIns="0" rIns="0" bIns="0" rtlCol="0" anchor="ctr"/>
          <a:lstStyle/>
          <a:p>
            <a:pPr marL="0" indent="0">
              <a:buNone/>
            </a:pPr>
            <a:r>
              <a:rPr lang="en-US" sz="1600" b="1" dirty="0">
                <a:solidFill>
                  <a:srgbClr val="143F4F"/>
                </a:solidFill>
                <a:latin typeface="Calibri" pitchFamily="34" charset="0"/>
                <a:ea typeface="Calibri" pitchFamily="34" charset="-122"/>
                <a:cs typeface="Calibri" pitchFamily="34" charset="-120"/>
              </a:rPr>
              <a:t>Wide-Column Stores</a:t>
            </a:r>
            <a:endParaRPr lang="en-US" sz="1300" dirty="0"/>
          </a:p>
          <a:p>
            <a:pPr marL="0" indent="0">
              <a:buNone/>
            </a:pPr>
            <a:endParaRPr lang="en-US" sz="1300" dirty="0"/>
          </a:p>
        </p:txBody>
      </p:sp>
      <p:sp>
        <p:nvSpPr>
          <p:cNvPr id="24" name="Text 22"/>
          <p:cNvSpPr txBox="1"/>
          <p:nvPr/>
        </p:nvSpPr>
        <p:spPr>
          <a:xfrm>
            <a:off x="640080" y="3749040"/>
            <a:ext cx="7863840" cy="640080"/>
          </a:xfrm>
          <a:prstGeom prst="rect">
            <a:avLst/>
          </a:prstGeom>
          <a:noFill/>
          <a:ln/>
        </p:spPr>
        <p:txBody>
          <a:bodyPr wrap="square" lIns="0" tIns="0" rIns="0" bIns="0" rtlCol="0" anchor="ctr"/>
          <a:lstStyle/>
          <a:p>
            <a:pPr marL="0" indent="0">
              <a:buNone/>
            </a:pPr>
            <a:r>
              <a:rPr lang="en-US" sz="1400" i="1" dirty="0">
                <a:solidFill>
                  <a:srgbClr val="5A7079"/>
                </a:solidFill>
                <a:latin typeface="Calibri" pitchFamily="34" charset="0"/>
                <a:ea typeface="Calibri" pitchFamily="34" charset="-122"/>
                <a:cs typeface="Calibri" pitchFamily="34" charset="-120"/>
              </a:rPr>
              <a:t>NoSQL DBMSs are ideal for scenarios requiring high flexibility, scalability, and efficient handling of large, diverse datasets.</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NoSQL Database</a:t>
            </a:r>
            <a:endParaRPr lang="en-US" sz="3000" dirty="0"/>
          </a:p>
        </p:txBody>
      </p:sp>
      <p:sp>
        <p:nvSpPr>
          <p:cNvPr id="7" name="Shape 5"/>
          <p:cNvSpPr/>
          <p:nvPr/>
        </p:nvSpPr>
        <p:spPr>
          <a:xfrm>
            <a:off x="822960" y="1005840"/>
            <a:ext cx="7498080" cy="3566160"/>
          </a:xfrm>
          <a:prstGeom prst="roundRect">
            <a:avLst>
              <a:gd name="adj" fmla="val 3077"/>
            </a:avLst>
          </a:prstGeom>
          <a:solidFill>
            <a:srgbClr val="E3EEF8"/>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Text 6"/>
          <p:cNvSpPr txBox="1"/>
          <p:nvPr/>
        </p:nvSpPr>
        <p:spPr>
          <a:xfrm>
            <a:off x="822960" y="1097280"/>
            <a:ext cx="7498080" cy="411480"/>
          </a:xfrm>
          <a:prstGeom prst="rect">
            <a:avLst/>
          </a:prstGeom>
          <a:noFill/>
          <a:ln/>
        </p:spPr>
        <p:txBody>
          <a:bodyPr wrap="square" lIns="0" tIns="0" rIns="0" bIns="0" rtlCol="0" anchor="ctr"/>
          <a:lstStyle/>
          <a:p>
            <a:pPr marL="0" indent="0" algn="ctr">
              <a:buNone/>
            </a:pPr>
            <a:r>
              <a:rPr lang="en-US" sz="1600" b="1" dirty="0">
                <a:solidFill>
                  <a:srgbClr val="143F4F"/>
                </a:solidFill>
                <a:latin typeface="Calibri" pitchFamily="34" charset="0"/>
                <a:ea typeface="Calibri" pitchFamily="34" charset="-122"/>
                <a:cs typeface="Calibri" pitchFamily="34" charset="-120"/>
              </a:rPr>
              <a:t>NoSQL Database Management System</a:t>
            </a:r>
            <a:endParaRPr lang="en-US" sz="1600" dirty="0"/>
          </a:p>
        </p:txBody>
      </p:sp>
      <p:sp>
        <p:nvSpPr>
          <p:cNvPr id="9" name="Shape 7"/>
          <p:cNvSpPr/>
          <p:nvPr/>
        </p:nvSpPr>
        <p:spPr>
          <a:xfrm>
            <a:off x="1143000" y="1691640"/>
            <a:ext cx="1508760" cy="2377440"/>
          </a:xfrm>
          <a:prstGeom prst="roundRect">
            <a:avLst>
              <a:gd name="adj" fmla="val 7273"/>
            </a:avLst>
          </a:prstGeom>
          <a:solidFill>
            <a:srgbClr val="A9CBF0"/>
          </a:solidFill>
          <a:ln/>
        </p:spPr>
        <p:txBody>
          <a:bodyPr/>
          <a:lstStyle/>
          <a:p>
            <a:endParaRPr lang="en-US"/>
          </a:p>
        </p:txBody>
      </p:sp>
      <p:sp>
        <p:nvSpPr>
          <p:cNvPr id="10" name="Text 8"/>
          <p:cNvSpPr txBox="1"/>
          <p:nvPr/>
        </p:nvSpPr>
        <p:spPr>
          <a:xfrm>
            <a:off x="1143000" y="1783080"/>
            <a:ext cx="1508760" cy="365760"/>
          </a:xfrm>
          <a:prstGeom prst="rect">
            <a:avLst/>
          </a:prstGeom>
          <a:noFill/>
          <a:ln/>
        </p:spPr>
        <p:txBody>
          <a:bodyPr wrap="square" lIns="0" tIns="0" rIns="0" bIns="0" rtlCol="0" anchor="ctr"/>
          <a:lstStyle/>
          <a:p>
            <a:pPr marL="0" indent="0" algn="ctr">
              <a:buNone/>
            </a:pPr>
            <a:r>
              <a:rPr lang="en-US" sz="1300" b="1" dirty="0">
                <a:solidFill>
                  <a:srgbClr val="143F4F"/>
                </a:solidFill>
                <a:latin typeface="Calibri" pitchFamily="34" charset="0"/>
                <a:ea typeface="Calibri" pitchFamily="34" charset="-122"/>
                <a:cs typeface="Calibri" pitchFamily="34" charset="-120"/>
              </a:rPr>
              <a:t>Key – Value</a:t>
            </a:r>
            <a:endParaRPr lang="en-US" sz="1300" dirty="0"/>
          </a:p>
        </p:txBody>
      </p:sp>
      <p:sp>
        <p:nvSpPr>
          <p:cNvPr id="11" name="Shape 9"/>
          <p:cNvSpPr/>
          <p:nvPr/>
        </p:nvSpPr>
        <p:spPr>
          <a:xfrm>
            <a:off x="1325880" y="2331720"/>
            <a:ext cx="502920" cy="228600"/>
          </a:xfrm>
          <a:prstGeom prst="roundRect">
            <a:avLst>
              <a:gd name="adj" fmla="val 40000"/>
            </a:avLst>
          </a:prstGeom>
          <a:solidFill>
            <a:srgbClr val="FFFFFF"/>
          </a:solidFill>
          <a:ln w="12700">
            <a:solidFill>
              <a:srgbClr val="3B5BA5"/>
            </a:solidFill>
            <a:prstDash val="solid"/>
          </a:ln>
        </p:spPr>
        <p:txBody>
          <a:bodyPr/>
          <a:lstStyle/>
          <a:p>
            <a:endParaRPr lang="en-US"/>
          </a:p>
        </p:txBody>
      </p:sp>
      <p:sp>
        <p:nvSpPr>
          <p:cNvPr id="12" name="Shape 10"/>
          <p:cNvSpPr/>
          <p:nvPr/>
        </p:nvSpPr>
        <p:spPr>
          <a:xfrm>
            <a:off x="1965960" y="2331720"/>
            <a:ext cx="502920" cy="228600"/>
          </a:xfrm>
          <a:prstGeom prst="roundRect">
            <a:avLst>
              <a:gd name="adj" fmla="val 40000"/>
            </a:avLst>
          </a:prstGeom>
          <a:solidFill>
            <a:srgbClr val="3B5BA5"/>
          </a:solidFill>
          <a:ln/>
        </p:spPr>
        <p:txBody>
          <a:bodyPr/>
          <a:lstStyle/>
          <a:p>
            <a:endParaRPr lang="en-US"/>
          </a:p>
        </p:txBody>
      </p:sp>
      <p:sp>
        <p:nvSpPr>
          <p:cNvPr id="13" name="Shape 11"/>
          <p:cNvSpPr/>
          <p:nvPr/>
        </p:nvSpPr>
        <p:spPr>
          <a:xfrm>
            <a:off x="1325880" y="2697480"/>
            <a:ext cx="502920" cy="228600"/>
          </a:xfrm>
          <a:prstGeom prst="roundRect">
            <a:avLst>
              <a:gd name="adj" fmla="val 40000"/>
            </a:avLst>
          </a:prstGeom>
          <a:solidFill>
            <a:srgbClr val="FFFFFF"/>
          </a:solidFill>
          <a:ln w="12700">
            <a:solidFill>
              <a:srgbClr val="3B5BA5"/>
            </a:solidFill>
            <a:prstDash val="solid"/>
          </a:ln>
        </p:spPr>
        <p:txBody>
          <a:bodyPr/>
          <a:lstStyle/>
          <a:p>
            <a:endParaRPr lang="en-US"/>
          </a:p>
        </p:txBody>
      </p:sp>
      <p:sp>
        <p:nvSpPr>
          <p:cNvPr id="14" name="Shape 12"/>
          <p:cNvSpPr/>
          <p:nvPr/>
        </p:nvSpPr>
        <p:spPr>
          <a:xfrm>
            <a:off x="1965960" y="2697480"/>
            <a:ext cx="502920" cy="228600"/>
          </a:xfrm>
          <a:prstGeom prst="roundRect">
            <a:avLst>
              <a:gd name="adj" fmla="val 40000"/>
            </a:avLst>
          </a:prstGeom>
          <a:solidFill>
            <a:srgbClr val="3B5BA5"/>
          </a:solidFill>
          <a:ln/>
        </p:spPr>
        <p:txBody>
          <a:bodyPr/>
          <a:lstStyle/>
          <a:p>
            <a:endParaRPr lang="en-US"/>
          </a:p>
        </p:txBody>
      </p:sp>
      <p:sp>
        <p:nvSpPr>
          <p:cNvPr id="15" name="Shape 13"/>
          <p:cNvSpPr/>
          <p:nvPr/>
        </p:nvSpPr>
        <p:spPr>
          <a:xfrm>
            <a:off x="1325880" y="3063240"/>
            <a:ext cx="502920" cy="228600"/>
          </a:xfrm>
          <a:prstGeom prst="roundRect">
            <a:avLst>
              <a:gd name="adj" fmla="val 40000"/>
            </a:avLst>
          </a:prstGeom>
          <a:solidFill>
            <a:srgbClr val="FFFFFF"/>
          </a:solidFill>
          <a:ln w="12700">
            <a:solidFill>
              <a:srgbClr val="3B5BA5"/>
            </a:solidFill>
            <a:prstDash val="solid"/>
          </a:ln>
        </p:spPr>
        <p:txBody>
          <a:bodyPr/>
          <a:lstStyle/>
          <a:p>
            <a:endParaRPr lang="en-US"/>
          </a:p>
        </p:txBody>
      </p:sp>
      <p:sp>
        <p:nvSpPr>
          <p:cNvPr id="16" name="Shape 14"/>
          <p:cNvSpPr/>
          <p:nvPr/>
        </p:nvSpPr>
        <p:spPr>
          <a:xfrm>
            <a:off x="1965960" y="3063240"/>
            <a:ext cx="502920" cy="228600"/>
          </a:xfrm>
          <a:prstGeom prst="roundRect">
            <a:avLst>
              <a:gd name="adj" fmla="val 40000"/>
            </a:avLst>
          </a:prstGeom>
          <a:solidFill>
            <a:srgbClr val="3B5BA5"/>
          </a:solidFill>
          <a:ln/>
        </p:spPr>
        <p:txBody>
          <a:bodyPr/>
          <a:lstStyle/>
          <a:p>
            <a:endParaRPr lang="en-US"/>
          </a:p>
        </p:txBody>
      </p:sp>
      <p:sp>
        <p:nvSpPr>
          <p:cNvPr id="17" name="Shape 15"/>
          <p:cNvSpPr/>
          <p:nvPr/>
        </p:nvSpPr>
        <p:spPr>
          <a:xfrm>
            <a:off x="1325880" y="3429000"/>
            <a:ext cx="502920" cy="228600"/>
          </a:xfrm>
          <a:prstGeom prst="roundRect">
            <a:avLst>
              <a:gd name="adj" fmla="val 40000"/>
            </a:avLst>
          </a:prstGeom>
          <a:solidFill>
            <a:srgbClr val="FFFFFF"/>
          </a:solidFill>
          <a:ln w="12700">
            <a:solidFill>
              <a:srgbClr val="3B5BA5"/>
            </a:solidFill>
            <a:prstDash val="solid"/>
          </a:ln>
        </p:spPr>
        <p:txBody>
          <a:bodyPr/>
          <a:lstStyle/>
          <a:p>
            <a:endParaRPr lang="en-US"/>
          </a:p>
        </p:txBody>
      </p:sp>
      <p:sp>
        <p:nvSpPr>
          <p:cNvPr id="18" name="Shape 16"/>
          <p:cNvSpPr/>
          <p:nvPr/>
        </p:nvSpPr>
        <p:spPr>
          <a:xfrm>
            <a:off x="1965960" y="3429000"/>
            <a:ext cx="502920" cy="228600"/>
          </a:xfrm>
          <a:prstGeom prst="roundRect">
            <a:avLst>
              <a:gd name="adj" fmla="val 40000"/>
            </a:avLst>
          </a:prstGeom>
          <a:solidFill>
            <a:srgbClr val="3B5BA5"/>
          </a:solidFill>
          <a:ln/>
        </p:spPr>
        <p:txBody>
          <a:bodyPr/>
          <a:lstStyle/>
          <a:p>
            <a:endParaRPr lang="en-US"/>
          </a:p>
        </p:txBody>
      </p:sp>
      <p:sp>
        <p:nvSpPr>
          <p:cNvPr id="19" name="Shape 17"/>
          <p:cNvSpPr/>
          <p:nvPr/>
        </p:nvSpPr>
        <p:spPr>
          <a:xfrm>
            <a:off x="2926080" y="1691640"/>
            <a:ext cx="1508760" cy="2377440"/>
          </a:xfrm>
          <a:prstGeom prst="roundRect">
            <a:avLst>
              <a:gd name="adj" fmla="val 7273"/>
            </a:avLst>
          </a:prstGeom>
          <a:solidFill>
            <a:srgbClr val="A9CBF0"/>
          </a:solidFill>
          <a:ln/>
        </p:spPr>
        <p:txBody>
          <a:bodyPr/>
          <a:lstStyle/>
          <a:p>
            <a:endParaRPr lang="en-US"/>
          </a:p>
        </p:txBody>
      </p:sp>
      <p:sp>
        <p:nvSpPr>
          <p:cNvPr id="20" name="Text 18"/>
          <p:cNvSpPr txBox="1"/>
          <p:nvPr/>
        </p:nvSpPr>
        <p:spPr>
          <a:xfrm>
            <a:off x="2926080" y="1783080"/>
            <a:ext cx="1508760" cy="365760"/>
          </a:xfrm>
          <a:prstGeom prst="rect">
            <a:avLst/>
          </a:prstGeom>
          <a:noFill/>
          <a:ln/>
        </p:spPr>
        <p:txBody>
          <a:bodyPr wrap="square" lIns="0" tIns="0" rIns="0" bIns="0" rtlCol="0" anchor="ctr"/>
          <a:lstStyle/>
          <a:p>
            <a:pPr marL="0" indent="0" algn="ctr">
              <a:buNone/>
            </a:pPr>
            <a:r>
              <a:rPr lang="en-US" sz="1300" b="1" dirty="0">
                <a:solidFill>
                  <a:srgbClr val="143F4F"/>
                </a:solidFill>
                <a:latin typeface="Calibri" pitchFamily="34" charset="0"/>
                <a:ea typeface="Calibri" pitchFamily="34" charset="-122"/>
                <a:cs typeface="Calibri" pitchFamily="34" charset="-120"/>
              </a:rPr>
              <a:t>Graph</a:t>
            </a:r>
            <a:endParaRPr lang="en-US" sz="1300" dirty="0"/>
          </a:p>
        </p:txBody>
      </p:sp>
      <p:sp>
        <p:nvSpPr>
          <p:cNvPr id="21" name="Shape 19"/>
          <p:cNvSpPr/>
          <p:nvPr/>
        </p:nvSpPr>
        <p:spPr>
          <a:xfrm flipH="1">
            <a:off x="3268980" y="2468880"/>
            <a:ext cx="411480" cy="365760"/>
          </a:xfrm>
          <a:prstGeom prst="line">
            <a:avLst/>
          </a:prstGeom>
          <a:noFill/>
          <a:ln w="15875">
            <a:solidFill>
              <a:srgbClr val="132C66"/>
            </a:solidFill>
            <a:prstDash val="solid"/>
          </a:ln>
        </p:spPr>
        <p:txBody>
          <a:bodyPr/>
          <a:lstStyle/>
          <a:p>
            <a:endParaRPr lang="en-US"/>
          </a:p>
        </p:txBody>
      </p:sp>
      <p:sp>
        <p:nvSpPr>
          <p:cNvPr id="22" name="Shape 20"/>
          <p:cNvSpPr/>
          <p:nvPr/>
        </p:nvSpPr>
        <p:spPr>
          <a:xfrm>
            <a:off x="3680460" y="2468880"/>
            <a:ext cx="411480" cy="365760"/>
          </a:xfrm>
          <a:prstGeom prst="line">
            <a:avLst/>
          </a:prstGeom>
          <a:noFill/>
          <a:ln w="15875">
            <a:solidFill>
              <a:srgbClr val="132C66"/>
            </a:solidFill>
            <a:prstDash val="solid"/>
          </a:ln>
        </p:spPr>
        <p:txBody>
          <a:bodyPr/>
          <a:lstStyle/>
          <a:p>
            <a:endParaRPr lang="en-US"/>
          </a:p>
        </p:txBody>
      </p:sp>
      <p:sp>
        <p:nvSpPr>
          <p:cNvPr id="23" name="Shape 21"/>
          <p:cNvSpPr/>
          <p:nvPr/>
        </p:nvSpPr>
        <p:spPr>
          <a:xfrm>
            <a:off x="3268980" y="2834640"/>
            <a:ext cx="411480" cy="365760"/>
          </a:xfrm>
          <a:prstGeom prst="line">
            <a:avLst/>
          </a:prstGeom>
          <a:noFill/>
          <a:ln w="15875">
            <a:solidFill>
              <a:srgbClr val="132C66"/>
            </a:solidFill>
            <a:prstDash val="solid"/>
          </a:ln>
        </p:spPr>
        <p:txBody>
          <a:bodyPr/>
          <a:lstStyle/>
          <a:p>
            <a:endParaRPr lang="en-US"/>
          </a:p>
        </p:txBody>
      </p:sp>
      <p:sp>
        <p:nvSpPr>
          <p:cNvPr id="24" name="Shape 22"/>
          <p:cNvSpPr/>
          <p:nvPr/>
        </p:nvSpPr>
        <p:spPr>
          <a:xfrm flipH="1">
            <a:off x="3680460" y="2834640"/>
            <a:ext cx="411480" cy="365760"/>
          </a:xfrm>
          <a:prstGeom prst="line">
            <a:avLst/>
          </a:prstGeom>
          <a:noFill/>
          <a:ln w="15875">
            <a:solidFill>
              <a:srgbClr val="132C66"/>
            </a:solidFill>
            <a:prstDash val="solid"/>
          </a:ln>
        </p:spPr>
        <p:txBody>
          <a:bodyPr/>
          <a:lstStyle/>
          <a:p>
            <a:endParaRPr lang="en-US"/>
          </a:p>
        </p:txBody>
      </p:sp>
      <p:sp>
        <p:nvSpPr>
          <p:cNvPr id="25" name="Shape 23"/>
          <p:cNvSpPr/>
          <p:nvPr/>
        </p:nvSpPr>
        <p:spPr>
          <a:xfrm flipH="1">
            <a:off x="3268980" y="3200400"/>
            <a:ext cx="411480" cy="365760"/>
          </a:xfrm>
          <a:prstGeom prst="line">
            <a:avLst/>
          </a:prstGeom>
          <a:noFill/>
          <a:ln w="15875">
            <a:solidFill>
              <a:srgbClr val="132C66"/>
            </a:solidFill>
            <a:prstDash val="solid"/>
          </a:ln>
        </p:spPr>
        <p:txBody>
          <a:bodyPr/>
          <a:lstStyle/>
          <a:p>
            <a:endParaRPr lang="en-US"/>
          </a:p>
        </p:txBody>
      </p:sp>
      <p:sp>
        <p:nvSpPr>
          <p:cNvPr id="26" name="Shape 24"/>
          <p:cNvSpPr/>
          <p:nvPr/>
        </p:nvSpPr>
        <p:spPr>
          <a:xfrm>
            <a:off x="3680460" y="3200400"/>
            <a:ext cx="411480" cy="365760"/>
          </a:xfrm>
          <a:prstGeom prst="line">
            <a:avLst/>
          </a:prstGeom>
          <a:noFill/>
          <a:ln w="15875">
            <a:solidFill>
              <a:srgbClr val="132C66"/>
            </a:solidFill>
            <a:prstDash val="solid"/>
          </a:ln>
        </p:spPr>
        <p:txBody>
          <a:bodyPr/>
          <a:lstStyle/>
          <a:p>
            <a:endParaRPr lang="en-US"/>
          </a:p>
        </p:txBody>
      </p:sp>
      <p:sp>
        <p:nvSpPr>
          <p:cNvPr id="27" name="Shape 25"/>
          <p:cNvSpPr/>
          <p:nvPr/>
        </p:nvSpPr>
        <p:spPr>
          <a:xfrm>
            <a:off x="3561588" y="2350008"/>
            <a:ext cx="237744" cy="237744"/>
          </a:xfrm>
          <a:prstGeom prst="ellipse">
            <a:avLst/>
          </a:prstGeom>
          <a:solidFill>
            <a:srgbClr val="132C66"/>
          </a:solidFill>
          <a:ln/>
        </p:spPr>
        <p:txBody>
          <a:bodyPr/>
          <a:lstStyle/>
          <a:p>
            <a:endParaRPr lang="en-US"/>
          </a:p>
        </p:txBody>
      </p:sp>
      <p:sp>
        <p:nvSpPr>
          <p:cNvPr id="28" name="Shape 26"/>
          <p:cNvSpPr/>
          <p:nvPr/>
        </p:nvSpPr>
        <p:spPr>
          <a:xfrm>
            <a:off x="3150108" y="2715768"/>
            <a:ext cx="237744" cy="237744"/>
          </a:xfrm>
          <a:prstGeom prst="ellipse">
            <a:avLst/>
          </a:prstGeom>
          <a:solidFill>
            <a:srgbClr val="3B5BA5"/>
          </a:solidFill>
          <a:ln/>
        </p:spPr>
        <p:txBody>
          <a:bodyPr/>
          <a:lstStyle/>
          <a:p>
            <a:endParaRPr lang="en-US"/>
          </a:p>
        </p:txBody>
      </p:sp>
      <p:sp>
        <p:nvSpPr>
          <p:cNvPr id="29" name="Shape 27"/>
          <p:cNvSpPr/>
          <p:nvPr/>
        </p:nvSpPr>
        <p:spPr>
          <a:xfrm>
            <a:off x="3973068" y="2715768"/>
            <a:ext cx="237744" cy="237744"/>
          </a:xfrm>
          <a:prstGeom prst="ellipse">
            <a:avLst/>
          </a:prstGeom>
          <a:solidFill>
            <a:srgbClr val="C86BD6"/>
          </a:solidFill>
          <a:ln/>
        </p:spPr>
        <p:txBody>
          <a:bodyPr/>
          <a:lstStyle/>
          <a:p>
            <a:endParaRPr lang="en-US"/>
          </a:p>
        </p:txBody>
      </p:sp>
      <p:sp>
        <p:nvSpPr>
          <p:cNvPr id="30" name="Shape 28"/>
          <p:cNvSpPr/>
          <p:nvPr/>
        </p:nvSpPr>
        <p:spPr>
          <a:xfrm>
            <a:off x="3561588" y="3081528"/>
            <a:ext cx="237744" cy="237744"/>
          </a:xfrm>
          <a:prstGeom prst="ellipse">
            <a:avLst/>
          </a:prstGeom>
          <a:solidFill>
            <a:srgbClr val="132C66"/>
          </a:solidFill>
          <a:ln/>
        </p:spPr>
        <p:txBody>
          <a:bodyPr/>
          <a:lstStyle/>
          <a:p>
            <a:endParaRPr lang="en-US"/>
          </a:p>
        </p:txBody>
      </p:sp>
      <p:sp>
        <p:nvSpPr>
          <p:cNvPr id="31" name="Shape 29"/>
          <p:cNvSpPr/>
          <p:nvPr/>
        </p:nvSpPr>
        <p:spPr>
          <a:xfrm>
            <a:off x="3150108" y="3447288"/>
            <a:ext cx="237744" cy="237744"/>
          </a:xfrm>
          <a:prstGeom prst="ellipse">
            <a:avLst/>
          </a:prstGeom>
          <a:solidFill>
            <a:srgbClr val="3B5BA5"/>
          </a:solidFill>
          <a:ln/>
        </p:spPr>
        <p:txBody>
          <a:bodyPr/>
          <a:lstStyle/>
          <a:p>
            <a:endParaRPr lang="en-US"/>
          </a:p>
        </p:txBody>
      </p:sp>
      <p:sp>
        <p:nvSpPr>
          <p:cNvPr id="32" name="Shape 30"/>
          <p:cNvSpPr/>
          <p:nvPr/>
        </p:nvSpPr>
        <p:spPr>
          <a:xfrm>
            <a:off x="3973068" y="3447288"/>
            <a:ext cx="237744" cy="237744"/>
          </a:xfrm>
          <a:prstGeom prst="ellipse">
            <a:avLst/>
          </a:prstGeom>
          <a:solidFill>
            <a:srgbClr val="C86BD6"/>
          </a:solidFill>
          <a:ln/>
        </p:spPr>
        <p:txBody>
          <a:bodyPr/>
          <a:lstStyle/>
          <a:p>
            <a:endParaRPr lang="en-US"/>
          </a:p>
        </p:txBody>
      </p:sp>
      <p:sp>
        <p:nvSpPr>
          <p:cNvPr id="33" name="Shape 31"/>
          <p:cNvSpPr/>
          <p:nvPr/>
        </p:nvSpPr>
        <p:spPr>
          <a:xfrm>
            <a:off x="4709160" y="1691640"/>
            <a:ext cx="1508760" cy="2377440"/>
          </a:xfrm>
          <a:prstGeom prst="roundRect">
            <a:avLst>
              <a:gd name="adj" fmla="val 7273"/>
            </a:avLst>
          </a:prstGeom>
          <a:solidFill>
            <a:srgbClr val="A9CBF0"/>
          </a:solidFill>
          <a:ln/>
        </p:spPr>
        <p:txBody>
          <a:bodyPr/>
          <a:lstStyle/>
          <a:p>
            <a:endParaRPr lang="en-US"/>
          </a:p>
        </p:txBody>
      </p:sp>
      <p:sp>
        <p:nvSpPr>
          <p:cNvPr id="34" name="Text 32"/>
          <p:cNvSpPr txBox="1"/>
          <p:nvPr/>
        </p:nvSpPr>
        <p:spPr>
          <a:xfrm>
            <a:off x="4709160" y="1783080"/>
            <a:ext cx="1508760" cy="365760"/>
          </a:xfrm>
          <a:prstGeom prst="rect">
            <a:avLst/>
          </a:prstGeom>
          <a:noFill/>
          <a:ln/>
        </p:spPr>
        <p:txBody>
          <a:bodyPr wrap="square" lIns="0" tIns="0" rIns="0" bIns="0" rtlCol="0" anchor="ctr"/>
          <a:lstStyle/>
          <a:p>
            <a:pPr marL="0" indent="0" algn="ctr">
              <a:buNone/>
            </a:pPr>
            <a:r>
              <a:rPr lang="en-US" sz="1300" b="1" dirty="0">
                <a:solidFill>
                  <a:srgbClr val="143F4F"/>
                </a:solidFill>
                <a:latin typeface="Calibri" pitchFamily="34" charset="0"/>
                <a:ea typeface="Calibri" pitchFamily="34" charset="-122"/>
                <a:cs typeface="Calibri" pitchFamily="34" charset="-120"/>
              </a:rPr>
              <a:t>Document</a:t>
            </a:r>
            <a:endParaRPr lang="en-US" sz="1300" dirty="0"/>
          </a:p>
        </p:txBody>
      </p:sp>
      <p:sp>
        <p:nvSpPr>
          <p:cNvPr id="35" name="Shape 33"/>
          <p:cNvSpPr/>
          <p:nvPr/>
        </p:nvSpPr>
        <p:spPr>
          <a:xfrm>
            <a:off x="5280660" y="2377440"/>
            <a:ext cx="365760" cy="548640"/>
          </a:xfrm>
          <a:prstGeom prst="flowChartDocument">
            <a:avLst/>
          </a:prstGeom>
          <a:solidFill>
            <a:srgbClr val="FFFFFF"/>
          </a:solidFill>
          <a:ln w="15875">
            <a:solidFill>
              <a:srgbClr val="132C66"/>
            </a:solidFill>
            <a:prstDash val="solid"/>
          </a:ln>
        </p:spPr>
        <p:txBody>
          <a:bodyPr/>
          <a:lstStyle/>
          <a:p>
            <a:endParaRPr lang="en-US"/>
          </a:p>
        </p:txBody>
      </p:sp>
      <p:sp>
        <p:nvSpPr>
          <p:cNvPr id="36" name="Shape 34"/>
          <p:cNvSpPr/>
          <p:nvPr/>
        </p:nvSpPr>
        <p:spPr>
          <a:xfrm>
            <a:off x="5006340" y="3063240"/>
            <a:ext cx="365760" cy="548640"/>
          </a:xfrm>
          <a:prstGeom prst="flowChartDocument">
            <a:avLst/>
          </a:prstGeom>
          <a:solidFill>
            <a:srgbClr val="FFFFFF"/>
          </a:solidFill>
          <a:ln w="15875">
            <a:solidFill>
              <a:srgbClr val="132C66"/>
            </a:solidFill>
            <a:prstDash val="solid"/>
          </a:ln>
        </p:spPr>
        <p:txBody>
          <a:bodyPr/>
          <a:lstStyle/>
          <a:p>
            <a:endParaRPr lang="en-US"/>
          </a:p>
        </p:txBody>
      </p:sp>
      <p:sp>
        <p:nvSpPr>
          <p:cNvPr id="37" name="Shape 35"/>
          <p:cNvSpPr/>
          <p:nvPr/>
        </p:nvSpPr>
        <p:spPr>
          <a:xfrm>
            <a:off x="5554980" y="3063240"/>
            <a:ext cx="365760" cy="548640"/>
          </a:xfrm>
          <a:prstGeom prst="flowChartDocument">
            <a:avLst/>
          </a:prstGeom>
          <a:solidFill>
            <a:srgbClr val="FFFFFF"/>
          </a:solidFill>
          <a:ln w="15875">
            <a:solidFill>
              <a:srgbClr val="132C66"/>
            </a:solidFill>
            <a:prstDash val="solid"/>
          </a:ln>
        </p:spPr>
        <p:txBody>
          <a:bodyPr/>
          <a:lstStyle/>
          <a:p>
            <a:endParaRPr lang="en-US"/>
          </a:p>
        </p:txBody>
      </p:sp>
      <p:sp>
        <p:nvSpPr>
          <p:cNvPr id="38" name="Shape 36"/>
          <p:cNvSpPr/>
          <p:nvPr/>
        </p:nvSpPr>
        <p:spPr>
          <a:xfrm>
            <a:off x="6492240" y="1691640"/>
            <a:ext cx="1508760" cy="2377440"/>
          </a:xfrm>
          <a:prstGeom prst="roundRect">
            <a:avLst>
              <a:gd name="adj" fmla="val 7273"/>
            </a:avLst>
          </a:prstGeom>
          <a:solidFill>
            <a:srgbClr val="A9CBF0"/>
          </a:solidFill>
          <a:ln/>
        </p:spPr>
        <p:txBody>
          <a:bodyPr/>
          <a:lstStyle/>
          <a:p>
            <a:endParaRPr lang="en-US"/>
          </a:p>
        </p:txBody>
      </p:sp>
      <p:sp>
        <p:nvSpPr>
          <p:cNvPr id="39" name="Text 37"/>
          <p:cNvSpPr txBox="1"/>
          <p:nvPr/>
        </p:nvSpPr>
        <p:spPr>
          <a:xfrm>
            <a:off x="6492240" y="1783080"/>
            <a:ext cx="1508760" cy="365760"/>
          </a:xfrm>
          <a:prstGeom prst="rect">
            <a:avLst/>
          </a:prstGeom>
          <a:noFill/>
          <a:ln/>
        </p:spPr>
        <p:txBody>
          <a:bodyPr wrap="square" lIns="0" tIns="0" rIns="0" bIns="0" rtlCol="0" anchor="ctr"/>
          <a:lstStyle/>
          <a:p>
            <a:pPr marL="0" indent="0" algn="ctr">
              <a:buNone/>
            </a:pPr>
            <a:r>
              <a:rPr lang="en-US" sz="1300" b="1" dirty="0">
                <a:solidFill>
                  <a:srgbClr val="143F4F"/>
                </a:solidFill>
                <a:latin typeface="Calibri" pitchFamily="34" charset="0"/>
                <a:ea typeface="Calibri" pitchFamily="34" charset="-122"/>
                <a:cs typeface="Calibri" pitchFamily="34" charset="-120"/>
              </a:rPr>
              <a:t>Wide column</a:t>
            </a:r>
            <a:endParaRPr lang="en-US" sz="1300" dirty="0"/>
          </a:p>
        </p:txBody>
      </p:sp>
      <p:graphicFrame>
        <p:nvGraphicFramePr>
          <p:cNvPr id="40" name="Table 0"/>
          <p:cNvGraphicFramePr>
            <a:graphicFrameLocks noGrp="1"/>
          </p:cNvGraphicFramePr>
          <p:nvPr/>
        </p:nvGraphicFramePr>
        <p:xfrm>
          <a:off x="6766560" y="2377440"/>
          <a:ext cx="960120" cy="1371600"/>
        </p:xfrm>
        <a:graphic>
          <a:graphicData uri="http://schemas.openxmlformats.org/drawingml/2006/table">
            <a:tbl>
              <a:tblPr/>
              <a:tblGrid>
                <a:gridCol w="237744">
                  <a:extLst>
                    <a:ext uri="{9D8B030D-6E8A-4147-A177-3AD203B41FA5}">
                      <a16:colId xmlns:a16="http://schemas.microsoft.com/office/drawing/2014/main" val="20000"/>
                    </a:ext>
                  </a:extLst>
                </a:gridCol>
                <a:gridCol w="237744">
                  <a:extLst>
                    <a:ext uri="{9D8B030D-6E8A-4147-A177-3AD203B41FA5}">
                      <a16:colId xmlns:a16="http://schemas.microsoft.com/office/drawing/2014/main" val="20001"/>
                    </a:ext>
                  </a:extLst>
                </a:gridCol>
                <a:gridCol w="237744">
                  <a:extLst>
                    <a:ext uri="{9D8B030D-6E8A-4147-A177-3AD203B41FA5}">
                      <a16:colId xmlns:a16="http://schemas.microsoft.com/office/drawing/2014/main" val="20002"/>
                    </a:ext>
                  </a:extLst>
                </a:gridCol>
                <a:gridCol w="246888">
                  <a:extLst>
                    <a:ext uri="{9D8B030D-6E8A-4147-A177-3AD203B41FA5}">
                      <a16:colId xmlns:a16="http://schemas.microsoft.com/office/drawing/2014/main" val="20003"/>
                    </a:ext>
                  </a:extLst>
                </a:gridCol>
              </a:tblGrid>
              <a:tr h="237744">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3B5BA5"/>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3B5BA5"/>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3B5BA5"/>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3B5BA5"/>
                    </a:solidFill>
                  </a:tcPr>
                </a:tc>
                <a:extLst>
                  <a:ext uri="{0D108BD9-81ED-4DB2-BD59-A6C34878D82A}">
                    <a16:rowId xmlns:a16="http://schemas.microsoft.com/office/drawing/2014/main" val="10000"/>
                  </a:ext>
                </a:extLst>
              </a:tr>
              <a:tr h="237744">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37744">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37744">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37744">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tc>
                  <a:txBody>
                    <a:bodyPr/>
                    <a:lstStyle/>
                    <a:p>
                      <a:pPr marL="0" indent="0">
                        <a:buNone/>
                      </a:pPr>
                      <a:endParaRPr lang="en-US" sz="1200" dirty="0"/>
                    </a:p>
                  </a:txBody>
                  <a:tcPr>
                    <a:lnL w="12700" cap="flat" cmpd="sng" algn="ctr">
                      <a:solidFill>
                        <a:srgbClr val="132C66"/>
                      </a:solidFill>
                      <a:prstDash val="solid"/>
                      <a:round/>
                      <a:headEnd type="none" w="med" len="med"/>
                      <a:tailEnd type="none" w="med" len="med"/>
                    </a:lnL>
                    <a:lnR w="12700" cap="flat" cmpd="sng" algn="ctr">
                      <a:solidFill>
                        <a:srgbClr val="132C66"/>
                      </a:solidFill>
                      <a:prstDash val="solid"/>
                      <a:round/>
                      <a:headEnd type="none" w="med" len="med"/>
                      <a:tailEnd type="none" w="med" len="med"/>
                    </a:lnR>
                    <a:lnT w="12700" cap="flat" cmpd="sng" algn="ctr">
                      <a:solidFill>
                        <a:srgbClr val="132C66"/>
                      </a:solidFill>
                      <a:prstDash val="solid"/>
                      <a:round/>
                      <a:headEnd type="none" w="med" len="med"/>
                      <a:tailEnd type="none" w="med" len="med"/>
                    </a:lnT>
                    <a:lnB w="12700" cap="flat" cmpd="sng" algn="ctr">
                      <a:solidFill>
                        <a:srgbClr val="132C6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27</a:t>
            </a:r>
            <a:endParaRPr lang="en-US" sz="1400" dirty="0"/>
          </a:p>
        </p:txBody>
      </p:sp>
      <p:sp>
        <p:nvSpPr>
          <p:cNvPr id="6" name="Shape 4"/>
          <p:cNvSpPr/>
          <p:nvPr/>
        </p:nvSpPr>
        <p:spPr>
          <a:xfrm>
            <a:off x="-274320" y="868680"/>
            <a:ext cx="3566160" cy="2560320"/>
          </a:xfrm>
          <a:prstGeom prst="roundRect">
            <a:avLst>
              <a:gd name="adj" fmla="val 10714"/>
            </a:avLst>
          </a:prstGeom>
          <a:solidFill>
            <a:srgbClr val="143F4F"/>
          </a:solidFill>
          <a:ln/>
        </p:spPr>
        <p:txBody>
          <a:bodyPr/>
          <a:lstStyle/>
          <a:p>
            <a:endParaRPr lang="en-US"/>
          </a:p>
        </p:txBody>
      </p:sp>
      <p:sp>
        <p:nvSpPr>
          <p:cNvPr id="7" name="Text 5"/>
          <p:cNvSpPr txBox="1"/>
          <p:nvPr/>
        </p:nvSpPr>
        <p:spPr>
          <a:xfrm>
            <a:off x="182880" y="868680"/>
            <a:ext cx="2926080" cy="2560320"/>
          </a:xfrm>
          <a:prstGeom prst="rect">
            <a:avLst/>
          </a:prstGeom>
          <a:noFill/>
          <a:ln/>
        </p:spPr>
        <p:txBody>
          <a:bodyPr wrap="square" lIns="0" tIns="0" rIns="0" bIns="0" rtlCol="0" anchor="ctr"/>
          <a:lstStyle/>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Advantages</a:t>
            </a:r>
            <a:endParaRPr lang="en-US" sz="2800" dirty="0"/>
          </a:p>
          <a:p>
            <a:pPr marL="0" indent="0" algn="r">
              <a:buNone/>
            </a:pPr>
            <a:r>
              <a:rPr lang="en-US" sz="2800" b="1" dirty="0">
                <a:solidFill>
                  <a:srgbClr val="FFFFFF"/>
                </a:solidFill>
                <a:latin typeface="Century Schoolbook" pitchFamily="34" charset="0"/>
                <a:ea typeface="Century Schoolbook" pitchFamily="34" charset="-122"/>
                <a:cs typeface="Century Schoolbook" pitchFamily="34" charset="-120"/>
              </a:rPr>
              <a:t>of DBMS</a:t>
            </a:r>
            <a:endParaRPr lang="en-US" sz="2800" dirty="0"/>
          </a:p>
        </p:txBody>
      </p:sp>
      <p:sp>
        <p:nvSpPr>
          <p:cNvPr id="8" name="Shape 6"/>
          <p:cNvSpPr/>
          <p:nvPr/>
        </p:nvSpPr>
        <p:spPr>
          <a:xfrm>
            <a:off x="3657600" y="822960"/>
            <a:ext cx="2331720" cy="548640"/>
          </a:xfrm>
          <a:prstGeom prst="roundRect">
            <a:avLst>
              <a:gd name="adj" fmla="val 16667"/>
            </a:avLst>
          </a:prstGeom>
          <a:solidFill>
            <a:srgbClr val="FFFFFF"/>
          </a:solidFill>
          <a:ln w="12700">
            <a:solidFill>
              <a:srgbClr val="D5E4E8"/>
            </a:solidFill>
            <a:prstDash val="solid"/>
          </a:ln>
        </p:spPr>
        <p:txBody>
          <a:bodyPr/>
          <a:lstStyle/>
          <a:p>
            <a:endParaRPr lang="en-US"/>
          </a:p>
        </p:txBody>
      </p:sp>
      <p:sp>
        <p:nvSpPr>
          <p:cNvPr id="9" name="Shape 7"/>
          <p:cNvSpPr/>
          <p:nvPr/>
        </p:nvSpPr>
        <p:spPr>
          <a:xfrm>
            <a:off x="3730752" y="914400"/>
            <a:ext cx="365760" cy="365760"/>
          </a:xfrm>
          <a:prstGeom prst="ellipse">
            <a:avLst/>
          </a:prstGeom>
          <a:solidFill>
            <a:srgbClr val="143F4F"/>
          </a:solidFill>
          <a:ln/>
        </p:spPr>
        <p:txBody>
          <a:bodyPr/>
          <a:lstStyle/>
          <a:p>
            <a:endParaRPr lang="en-US"/>
          </a:p>
        </p:txBody>
      </p:sp>
      <p:sp>
        <p:nvSpPr>
          <p:cNvPr id="10" name="Text 8"/>
          <p:cNvSpPr txBox="1"/>
          <p:nvPr/>
        </p:nvSpPr>
        <p:spPr>
          <a:xfrm>
            <a:off x="3730752" y="9144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txBox="1"/>
          <p:nvPr/>
        </p:nvSpPr>
        <p:spPr>
          <a:xfrm>
            <a:off x="4160520" y="822960"/>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Controlling Redundancy</a:t>
            </a:r>
            <a:endParaRPr lang="en-US" sz="1150" dirty="0"/>
          </a:p>
        </p:txBody>
      </p:sp>
      <p:sp>
        <p:nvSpPr>
          <p:cNvPr id="12" name="Shape 10"/>
          <p:cNvSpPr/>
          <p:nvPr/>
        </p:nvSpPr>
        <p:spPr>
          <a:xfrm>
            <a:off x="6126480" y="822960"/>
            <a:ext cx="2331720" cy="548640"/>
          </a:xfrm>
          <a:prstGeom prst="roundRect">
            <a:avLst>
              <a:gd name="adj" fmla="val 16667"/>
            </a:avLst>
          </a:prstGeom>
          <a:solidFill>
            <a:srgbClr val="E3F3F0"/>
          </a:solidFill>
          <a:ln w="12700">
            <a:solidFill>
              <a:srgbClr val="D5E4E8"/>
            </a:solidFill>
            <a:prstDash val="solid"/>
          </a:ln>
        </p:spPr>
        <p:txBody>
          <a:bodyPr/>
          <a:lstStyle/>
          <a:p>
            <a:endParaRPr lang="en-US"/>
          </a:p>
        </p:txBody>
      </p:sp>
      <p:sp>
        <p:nvSpPr>
          <p:cNvPr id="13" name="Shape 11"/>
          <p:cNvSpPr/>
          <p:nvPr/>
        </p:nvSpPr>
        <p:spPr>
          <a:xfrm>
            <a:off x="6199632" y="914400"/>
            <a:ext cx="365760" cy="365760"/>
          </a:xfrm>
          <a:prstGeom prst="ellipse">
            <a:avLst/>
          </a:prstGeom>
          <a:solidFill>
            <a:srgbClr val="55BFAE"/>
          </a:solidFill>
          <a:ln/>
        </p:spPr>
        <p:txBody>
          <a:bodyPr/>
          <a:lstStyle/>
          <a:p>
            <a:endParaRPr lang="en-US"/>
          </a:p>
        </p:txBody>
      </p:sp>
      <p:sp>
        <p:nvSpPr>
          <p:cNvPr id="14" name="Text 12"/>
          <p:cNvSpPr txBox="1"/>
          <p:nvPr/>
        </p:nvSpPr>
        <p:spPr>
          <a:xfrm>
            <a:off x="6199632" y="91440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txBox="1"/>
          <p:nvPr/>
        </p:nvSpPr>
        <p:spPr>
          <a:xfrm>
            <a:off x="6629400" y="822960"/>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Improved Data Sharing</a:t>
            </a:r>
            <a:endParaRPr lang="en-US" sz="1150" dirty="0"/>
          </a:p>
        </p:txBody>
      </p:sp>
      <p:sp>
        <p:nvSpPr>
          <p:cNvPr id="16" name="Shape 14"/>
          <p:cNvSpPr/>
          <p:nvPr/>
        </p:nvSpPr>
        <p:spPr>
          <a:xfrm>
            <a:off x="3657600" y="1536192"/>
            <a:ext cx="2331720" cy="548640"/>
          </a:xfrm>
          <a:prstGeom prst="roundRect">
            <a:avLst>
              <a:gd name="adj" fmla="val 16667"/>
            </a:avLst>
          </a:prstGeom>
          <a:solidFill>
            <a:srgbClr val="FFFFFF"/>
          </a:solidFill>
          <a:ln w="12700">
            <a:solidFill>
              <a:srgbClr val="D5E4E8"/>
            </a:solidFill>
            <a:prstDash val="solid"/>
          </a:ln>
        </p:spPr>
        <p:txBody>
          <a:bodyPr/>
          <a:lstStyle/>
          <a:p>
            <a:endParaRPr lang="en-US"/>
          </a:p>
        </p:txBody>
      </p:sp>
      <p:sp>
        <p:nvSpPr>
          <p:cNvPr id="17" name="Shape 15"/>
          <p:cNvSpPr/>
          <p:nvPr/>
        </p:nvSpPr>
        <p:spPr>
          <a:xfrm>
            <a:off x="3730752" y="1627632"/>
            <a:ext cx="365760" cy="365760"/>
          </a:xfrm>
          <a:prstGeom prst="ellipse">
            <a:avLst/>
          </a:prstGeom>
          <a:solidFill>
            <a:srgbClr val="143F4F"/>
          </a:solidFill>
          <a:ln/>
        </p:spPr>
        <p:txBody>
          <a:bodyPr/>
          <a:lstStyle/>
          <a:p>
            <a:endParaRPr lang="en-US"/>
          </a:p>
        </p:txBody>
      </p:sp>
      <p:sp>
        <p:nvSpPr>
          <p:cNvPr id="18" name="Text 16"/>
          <p:cNvSpPr txBox="1"/>
          <p:nvPr/>
        </p:nvSpPr>
        <p:spPr>
          <a:xfrm>
            <a:off x="3730752" y="162763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4160520" y="1536192"/>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Data Integrity</a:t>
            </a:r>
            <a:endParaRPr lang="en-US" sz="1150" dirty="0"/>
          </a:p>
        </p:txBody>
      </p:sp>
      <p:sp>
        <p:nvSpPr>
          <p:cNvPr id="20" name="Shape 18"/>
          <p:cNvSpPr/>
          <p:nvPr/>
        </p:nvSpPr>
        <p:spPr>
          <a:xfrm>
            <a:off x="6126480" y="1536192"/>
            <a:ext cx="2331720" cy="548640"/>
          </a:xfrm>
          <a:prstGeom prst="roundRect">
            <a:avLst>
              <a:gd name="adj" fmla="val 16667"/>
            </a:avLst>
          </a:prstGeom>
          <a:solidFill>
            <a:srgbClr val="E3F3F0"/>
          </a:solidFill>
          <a:ln w="12700">
            <a:solidFill>
              <a:srgbClr val="D5E4E8"/>
            </a:solidFill>
            <a:prstDash val="solid"/>
          </a:ln>
        </p:spPr>
        <p:txBody>
          <a:bodyPr/>
          <a:lstStyle/>
          <a:p>
            <a:endParaRPr lang="en-US"/>
          </a:p>
        </p:txBody>
      </p:sp>
      <p:sp>
        <p:nvSpPr>
          <p:cNvPr id="21" name="Shape 19"/>
          <p:cNvSpPr/>
          <p:nvPr/>
        </p:nvSpPr>
        <p:spPr>
          <a:xfrm>
            <a:off x="6199632" y="1627632"/>
            <a:ext cx="365760" cy="365760"/>
          </a:xfrm>
          <a:prstGeom prst="ellipse">
            <a:avLst/>
          </a:prstGeom>
          <a:solidFill>
            <a:srgbClr val="55BFAE"/>
          </a:solidFill>
          <a:ln/>
        </p:spPr>
        <p:txBody>
          <a:bodyPr/>
          <a:lstStyle/>
          <a:p>
            <a:endParaRPr lang="en-US"/>
          </a:p>
        </p:txBody>
      </p:sp>
      <p:sp>
        <p:nvSpPr>
          <p:cNvPr id="22" name="Text 20"/>
          <p:cNvSpPr txBox="1"/>
          <p:nvPr/>
        </p:nvSpPr>
        <p:spPr>
          <a:xfrm>
            <a:off x="6199632" y="1627632"/>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6629400" y="1536192"/>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Security</a:t>
            </a:r>
            <a:endParaRPr lang="en-US" sz="1150" dirty="0"/>
          </a:p>
        </p:txBody>
      </p:sp>
      <p:sp>
        <p:nvSpPr>
          <p:cNvPr id="24" name="Shape 22"/>
          <p:cNvSpPr/>
          <p:nvPr/>
        </p:nvSpPr>
        <p:spPr>
          <a:xfrm>
            <a:off x="3657600" y="2249424"/>
            <a:ext cx="2331720" cy="548640"/>
          </a:xfrm>
          <a:prstGeom prst="roundRect">
            <a:avLst>
              <a:gd name="adj" fmla="val 16667"/>
            </a:avLst>
          </a:prstGeom>
          <a:solidFill>
            <a:srgbClr val="FFFFFF"/>
          </a:solidFill>
          <a:ln w="12700">
            <a:solidFill>
              <a:srgbClr val="D5E4E8"/>
            </a:solidFill>
            <a:prstDash val="solid"/>
          </a:ln>
        </p:spPr>
        <p:txBody>
          <a:bodyPr/>
          <a:lstStyle/>
          <a:p>
            <a:endParaRPr lang="en-US"/>
          </a:p>
        </p:txBody>
      </p:sp>
      <p:sp>
        <p:nvSpPr>
          <p:cNvPr id="25" name="Shape 23"/>
          <p:cNvSpPr/>
          <p:nvPr/>
        </p:nvSpPr>
        <p:spPr>
          <a:xfrm>
            <a:off x="3730752" y="2340864"/>
            <a:ext cx="365760" cy="365760"/>
          </a:xfrm>
          <a:prstGeom prst="ellipse">
            <a:avLst/>
          </a:prstGeom>
          <a:solidFill>
            <a:srgbClr val="143F4F"/>
          </a:solidFill>
          <a:ln/>
        </p:spPr>
        <p:txBody>
          <a:bodyPr/>
          <a:lstStyle/>
          <a:p>
            <a:endParaRPr lang="en-US"/>
          </a:p>
        </p:txBody>
      </p:sp>
      <p:sp>
        <p:nvSpPr>
          <p:cNvPr id="26" name="Text 24"/>
          <p:cNvSpPr txBox="1"/>
          <p:nvPr/>
        </p:nvSpPr>
        <p:spPr>
          <a:xfrm>
            <a:off x="3730752" y="234086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4160520" y="2249424"/>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Data Consistency</a:t>
            </a:r>
            <a:endParaRPr lang="en-US" sz="1150" dirty="0"/>
          </a:p>
        </p:txBody>
      </p:sp>
      <p:sp>
        <p:nvSpPr>
          <p:cNvPr id="28" name="Shape 26"/>
          <p:cNvSpPr/>
          <p:nvPr/>
        </p:nvSpPr>
        <p:spPr>
          <a:xfrm>
            <a:off x="6126480" y="2249424"/>
            <a:ext cx="2331720" cy="548640"/>
          </a:xfrm>
          <a:prstGeom prst="roundRect">
            <a:avLst>
              <a:gd name="adj" fmla="val 16667"/>
            </a:avLst>
          </a:prstGeom>
          <a:solidFill>
            <a:srgbClr val="E3F3F0"/>
          </a:solidFill>
          <a:ln w="12700">
            <a:solidFill>
              <a:srgbClr val="D5E4E8"/>
            </a:solidFill>
            <a:prstDash val="solid"/>
          </a:ln>
        </p:spPr>
        <p:txBody>
          <a:bodyPr/>
          <a:lstStyle/>
          <a:p>
            <a:endParaRPr lang="en-US"/>
          </a:p>
        </p:txBody>
      </p:sp>
      <p:sp>
        <p:nvSpPr>
          <p:cNvPr id="29" name="Shape 27"/>
          <p:cNvSpPr/>
          <p:nvPr/>
        </p:nvSpPr>
        <p:spPr>
          <a:xfrm>
            <a:off x="6199632" y="2340864"/>
            <a:ext cx="365760" cy="365760"/>
          </a:xfrm>
          <a:prstGeom prst="ellipse">
            <a:avLst/>
          </a:prstGeom>
          <a:solidFill>
            <a:srgbClr val="55BFAE"/>
          </a:solidFill>
          <a:ln/>
        </p:spPr>
        <p:txBody>
          <a:bodyPr/>
          <a:lstStyle/>
          <a:p>
            <a:endParaRPr lang="en-US"/>
          </a:p>
        </p:txBody>
      </p:sp>
      <p:sp>
        <p:nvSpPr>
          <p:cNvPr id="30" name="Text 28"/>
          <p:cNvSpPr txBox="1"/>
          <p:nvPr/>
        </p:nvSpPr>
        <p:spPr>
          <a:xfrm>
            <a:off x="6199632" y="2340864"/>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1" name="Text 29"/>
          <p:cNvSpPr txBox="1"/>
          <p:nvPr/>
        </p:nvSpPr>
        <p:spPr>
          <a:xfrm>
            <a:off x="6629400" y="2249424"/>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Efficient Data Access</a:t>
            </a:r>
            <a:endParaRPr lang="en-US" sz="1150" dirty="0"/>
          </a:p>
        </p:txBody>
      </p:sp>
      <p:sp>
        <p:nvSpPr>
          <p:cNvPr id="32" name="Shape 30"/>
          <p:cNvSpPr/>
          <p:nvPr/>
        </p:nvSpPr>
        <p:spPr>
          <a:xfrm>
            <a:off x="3657600" y="2962656"/>
            <a:ext cx="2331720" cy="548640"/>
          </a:xfrm>
          <a:prstGeom prst="roundRect">
            <a:avLst>
              <a:gd name="adj" fmla="val 16667"/>
            </a:avLst>
          </a:prstGeom>
          <a:solidFill>
            <a:srgbClr val="FFFFFF"/>
          </a:solidFill>
          <a:ln w="12700">
            <a:solidFill>
              <a:srgbClr val="D5E4E8"/>
            </a:solidFill>
            <a:prstDash val="solid"/>
          </a:ln>
        </p:spPr>
        <p:txBody>
          <a:bodyPr/>
          <a:lstStyle/>
          <a:p>
            <a:endParaRPr lang="en-US"/>
          </a:p>
        </p:txBody>
      </p:sp>
      <p:sp>
        <p:nvSpPr>
          <p:cNvPr id="33" name="Shape 31"/>
          <p:cNvSpPr/>
          <p:nvPr/>
        </p:nvSpPr>
        <p:spPr>
          <a:xfrm>
            <a:off x="3730752" y="3054096"/>
            <a:ext cx="365760" cy="365760"/>
          </a:xfrm>
          <a:prstGeom prst="ellipse">
            <a:avLst/>
          </a:prstGeom>
          <a:solidFill>
            <a:srgbClr val="143F4F"/>
          </a:solidFill>
          <a:ln/>
        </p:spPr>
        <p:txBody>
          <a:bodyPr/>
          <a:lstStyle/>
          <a:p>
            <a:endParaRPr lang="en-US"/>
          </a:p>
        </p:txBody>
      </p:sp>
      <p:sp>
        <p:nvSpPr>
          <p:cNvPr id="34" name="Text 32"/>
          <p:cNvSpPr txBox="1"/>
          <p:nvPr/>
        </p:nvSpPr>
        <p:spPr>
          <a:xfrm>
            <a:off x="3730752" y="305409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5" name="Text 33"/>
          <p:cNvSpPr txBox="1"/>
          <p:nvPr/>
        </p:nvSpPr>
        <p:spPr>
          <a:xfrm>
            <a:off x="4160520" y="2962656"/>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Enforcement of Standards</a:t>
            </a:r>
            <a:endParaRPr lang="en-US" sz="1150" dirty="0"/>
          </a:p>
        </p:txBody>
      </p:sp>
      <p:sp>
        <p:nvSpPr>
          <p:cNvPr id="36" name="Shape 34"/>
          <p:cNvSpPr/>
          <p:nvPr/>
        </p:nvSpPr>
        <p:spPr>
          <a:xfrm>
            <a:off x="6126480" y="2962656"/>
            <a:ext cx="2331720" cy="548640"/>
          </a:xfrm>
          <a:prstGeom prst="roundRect">
            <a:avLst>
              <a:gd name="adj" fmla="val 16667"/>
            </a:avLst>
          </a:prstGeom>
          <a:solidFill>
            <a:srgbClr val="E3F3F0"/>
          </a:solidFill>
          <a:ln w="12700">
            <a:solidFill>
              <a:srgbClr val="D5E4E8"/>
            </a:solidFill>
            <a:prstDash val="solid"/>
          </a:ln>
        </p:spPr>
        <p:txBody>
          <a:bodyPr/>
          <a:lstStyle/>
          <a:p>
            <a:endParaRPr lang="en-US"/>
          </a:p>
        </p:txBody>
      </p:sp>
      <p:sp>
        <p:nvSpPr>
          <p:cNvPr id="37" name="Shape 35"/>
          <p:cNvSpPr/>
          <p:nvPr/>
        </p:nvSpPr>
        <p:spPr>
          <a:xfrm>
            <a:off x="6199632" y="3054096"/>
            <a:ext cx="365760" cy="365760"/>
          </a:xfrm>
          <a:prstGeom prst="ellipse">
            <a:avLst/>
          </a:prstGeom>
          <a:solidFill>
            <a:srgbClr val="55BFAE"/>
          </a:solidFill>
          <a:ln/>
        </p:spPr>
        <p:txBody>
          <a:bodyPr/>
          <a:lstStyle/>
          <a:p>
            <a:endParaRPr lang="en-US"/>
          </a:p>
        </p:txBody>
      </p:sp>
      <p:sp>
        <p:nvSpPr>
          <p:cNvPr id="38" name="Text 36"/>
          <p:cNvSpPr txBox="1"/>
          <p:nvPr/>
        </p:nvSpPr>
        <p:spPr>
          <a:xfrm>
            <a:off x="6199632" y="3054096"/>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39" name="Text 37"/>
          <p:cNvSpPr txBox="1"/>
          <p:nvPr/>
        </p:nvSpPr>
        <p:spPr>
          <a:xfrm>
            <a:off x="6629400" y="2962656"/>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Data Independence</a:t>
            </a:r>
            <a:endParaRPr lang="en-US" sz="1150" dirty="0"/>
          </a:p>
        </p:txBody>
      </p:sp>
      <p:sp>
        <p:nvSpPr>
          <p:cNvPr id="40" name="Shape 38"/>
          <p:cNvSpPr/>
          <p:nvPr/>
        </p:nvSpPr>
        <p:spPr>
          <a:xfrm>
            <a:off x="3657600" y="3675888"/>
            <a:ext cx="2331720" cy="548640"/>
          </a:xfrm>
          <a:prstGeom prst="roundRect">
            <a:avLst>
              <a:gd name="adj" fmla="val 16667"/>
            </a:avLst>
          </a:prstGeom>
          <a:solidFill>
            <a:srgbClr val="FFFFFF"/>
          </a:solidFill>
          <a:ln w="12700">
            <a:solidFill>
              <a:srgbClr val="D5E4E8"/>
            </a:solidFill>
            <a:prstDash val="solid"/>
          </a:ln>
        </p:spPr>
        <p:txBody>
          <a:bodyPr/>
          <a:lstStyle/>
          <a:p>
            <a:endParaRPr lang="en-US"/>
          </a:p>
        </p:txBody>
      </p:sp>
      <p:sp>
        <p:nvSpPr>
          <p:cNvPr id="41" name="Shape 39"/>
          <p:cNvSpPr/>
          <p:nvPr/>
        </p:nvSpPr>
        <p:spPr>
          <a:xfrm>
            <a:off x="3730752" y="3767328"/>
            <a:ext cx="365760" cy="365760"/>
          </a:xfrm>
          <a:prstGeom prst="ellipse">
            <a:avLst/>
          </a:prstGeom>
          <a:solidFill>
            <a:srgbClr val="143F4F"/>
          </a:solidFill>
          <a:ln/>
        </p:spPr>
        <p:txBody>
          <a:bodyPr/>
          <a:lstStyle/>
          <a:p>
            <a:endParaRPr lang="en-US"/>
          </a:p>
        </p:txBody>
      </p:sp>
      <p:sp>
        <p:nvSpPr>
          <p:cNvPr id="42" name="Text 40"/>
          <p:cNvSpPr txBox="1"/>
          <p:nvPr/>
        </p:nvSpPr>
        <p:spPr>
          <a:xfrm>
            <a:off x="3730752" y="376732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43" name="Text 41"/>
          <p:cNvSpPr txBox="1"/>
          <p:nvPr/>
        </p:nvSpPr>
        <p:spPr>
          <a:xfrm>
            <a:off x="4160520" y="3675888"/>
            <a:ext cx="1783080" cy="548640"/>
          </a:xfrm>
          <a:prstGeom prst="rect">
            <a:avLst/>
          </a:prstGeom>
          <a:noFill/>
          <a:ln/>
        </p:spPr>
        <p:txBody>
          <a:bodyPr wrap="square" lIns="0" tIns="0" rIns="0" bIns="0" rtlCol="0" anchor="ctr"/>
          <a:lstStyle/>
          <a:p>
            <a:pPr marL="0" indent="0">
              <a:buNone/>
            </a:pPr>
            <a:r>
              <a:rPr lang="en-US" sz="1150" b="1" dirty="0">
                <a:solidFill>
                  <a:srgbClr val="1F3B47"/>
                </a:solidFill>
                <a:latin typeface="Calibri" pitchFamily="34" charset="0"/>
                <a:ea typeface="Calibri" pitchFamily="34" charset="-122"/>
                <a:cs typeface="Calibri" pitchFamily="34" charset="-120"/>
              </a:rPr>
              <a:t>Reduced Development &amp; Maintenance Time</a:t>
            </a:r>
            <a:endParaRPr lang="en-US" sz="11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Controlling Redundancy</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1 of 9</a:t>
            </a:r>
            <a:endParaRPr lang="en-US" sz="1100" dirty="0"/>
          </a:p>
        </p:txBody>
      </p:sp>
      <p:sp>
        <p:nvSpPr>
          <p:cNvPr id="9" name="Text 7"/>
          <p:cNvSpPr txBox="1"/>
          <p:nvPr/>
        </p:nvSpPr>
        <p:spPr>
          <a:xfrm>
            <a:off x="640080" y="150876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Data redundancy refers to the duplication of data (i.e., storing the same data multiple times).</a:t>
            </a:r>
            <a:endParaRPr lang="en-US" sz="1550" dirty="0"/>
          </a:p>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In a database system, centralized data and centralized control by the DBA avoid unnecessary duplication of data.</a:t>
            </a:r>
            <a:endParaRPr lang="en-US" sz="1550" dirty="0"/>
          </a:p>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It also eliminates the extra time for processing large volumes of data.</a:t>
            </a:r>
            <a:endParaRPr lang="en-US" sz="1550" dirty="0"/>
          </a:p>
        </p:txBody>
      </p:sp>
      <p:sp>
        <p:nvSpPr>
          <p:cNvPr id="10" name="Shape 8"/>
          <p:cNvSpPr/>
          <p:nvPr/>
        </p:nvSpPr>
        <p:spPr>
          <a:xfrm>
            <a:off x="5852160" y="1554480"/>
            <a:ext cx="2651760" cy="2651760"/>
          </a:xfrm>
          <a:prstGeom prst="roundRect">
            <a:avLst>
              <a:gd name="adj" fmla="val 4138"/>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6035040" y="1645920"/>
            <a:ext cx="2286000" cy="2468880"/>
          </a:xfrm>
          <a:prstGeom prst="rect">
            <a:avLst/>
          </a:prstGeom>
          <a:noFill/>
          <a:ln/>
        </p:spPr>
        <p:txBody>
          <a:bodyPr wrap="square" lIns="0" tIns="0" rIns="0" bIns="0" rtlCol="0" anchor="ctr"/>
          <a:lstStyle/>
          <a:p>
            <a:pPr marL="0" indent="0">
              <a:spcAft>
                <a:spcPts val="800"/>
              </a:spcAft>
              <a:buNone/>
            </a:pPr>
            <a:r>
              <a:rPr lang="en-US" sz="1300" b="1" dirty="0">
                <a:solidFill>
                  <a:srgbClr val="55BFAE"/>
                </a:solidFill>
                <a:latin typeface="Calibri" pitchFamily="34" charset="0"/>
                <a:ea typeface="Calibri" pitchFamily="34" charset="-122"/>
                <a:cs typeface="Calibri" pitchFamily="34" charset="-120"/>
              </a:rPr>
              <a:t>Result</a:t>
            </a:r>
            <a:endParaRPr lang="en-US" sz="1300" dirty="0"/>
          </a:p>
          <a:p>
            <a:pPr marL="0" indent="0">
              <a:spcAft>
                <a:spcPts val="800"/>
              </a:spcAft>
              <a:buNone/>
            </a:pPr>
            <a:r>
              <a:rPr lang="en-US" sz="1500" dirty="0">
                <a:solidFill>
                  <a:srgbClr val="FFFFFF"/>
                </a:solidFill>
                <a:latin typeface="Calibri" pitchFamily="34" charset="0"/>
                <a:ea typeface="Calibri" pitchFamily="34" charset="-122"/>
                <a:cs typeface="Calibri" pitchFamily="34" charset="-120"/>
              </a:rPr>
              <a:t>Saves storage space.</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29</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Improved Data Sharing</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2 of 9</a:t>
            </a:r>
            <a:endParaRPr lang="en-US" sz="1100" dirty="0"/>
          </a:p>
        </p:txBody>
      </p:sp>
      <p:sp>
        <p:nvSpPr>
          <p:cNvPr id="9" name="Text 7"/>
          <p:cNvSpPr txBox="1"/>
          <p:nvPr/>
        </p:nvSpPr>
        <p:spPr>
          <a:xfrm>
            <a:off x="640080" y="1554480"/>
            <a:ext cx="5120640" cy="30175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A DBMS allows a user to share the data in any number of application programs.</a:t>
            </a:r>
            <a:endParaRPr lang="en-US" sz="1800" dirty="0"/>
          </a:p>
        </p:txBody>
      </p:sp>
      <p:sp>
        <p:nvSpPr>
          <p:cNvPr id="10" name="Shape 8"/>
          <p:cNvSpPr/>
          <p:nvPr/>
        </p:nvSpPr>
        <p:spPr>
          <a:xfrm>
            <a:off x="6263640" y="1600200"/>
            <a:ext cx="2011680" cy="2011680"/>
          </a:xfrm>
          <a:prstGeom prst="ellipse">
            <a:avLst/>
          </a:prstGeom>
          <a:solidFill>
            <a:srgbClr val="E3F3F0"/>
          </a:solidFill>
          <a:ln/>
        </p:spPr>
        <p:txBody>
          <a:bodyPr/>
          <a:lstStyle/>
          <a:p>
            <a:endParaRPr lang="en-US"/>
          </a:p>
        </p:txBody>
      </p:sp>
      <p:sp>
        <p:nvSpPr>
          <p:cNvPr id="11" name="Shape 9"/>
          <p:cNvSpPr/>
          <p:nvPr/>
        </p:nvSpPr>
        <p:spPr>
          <a:xfrm>
            <a:off x="6537960" y="1874520"/>
            <a:ext cx="1463040" cy="1463040"/>
          </a:xfrm>
          <a:prstGeom prst="ellipse">
            <a:avLst/>
          </a:prstGeom>
          <a:solidFill>
            <a:srgbClr val="55BFAE"/>
          </a:solidFill>
          <a:ln/>
        </p:spPr>
        <p:txBody>
          <a:bodyPr/>
          <a:lstStyle/>
          <a:p>
            <a:endParaRPr lang="en-US"/>
          </a:p>
        </p:txBody>
      </p:sp>
      <p:sp>
        <p:nvSpPr>
          <p:cNvPr id="12" name="Text 10"/>
          <p:cNvSpPr txBox="1"/>
          <p:nvPr/>
        </p:nvSpPr>
        <p:spPr>
          <a:xfrm>
            <a:off x="6537960" y="1874520"/>
            <a:ext cx="1463040" cy="1463040"/>
          </a:xfrm>
          <a:prstGeom prst="rect">
            <a:avLst/>
          </a:prstGeom>
          <a:noFill/>
          <a:ln/>
        </p:spPr>
        <p:txBody>
          <a:bodyPr wrap="square" lIns="0" tIns="0" rIns="0" bIns="0" rtlCol="0" anchor="ctr"/>
          <a:lstStyle/>
          <a:p>
            <a:pPr marL="0" indent="0" algn="ctr">
              <a:buNone/>
            </a:pPr>
            <a:r>
              <a:rPr lang="en-US" sz="4000" b="1" dirty="0">
                <a:solidFill>
                  <a:srgbClr val="FFFFFF"/>
                </a:solidFill>
                <a:latin typeface="Century Schoolbook" pitchFamily="34" charset="0"/>
                <a:ea typeface="Century Schoolbook" pitchFamily="34" charset="-122"/>
                <a:cs typeface="Century Schoolbook" pitchFamily="34" charset="-120"/>
              </a:rPr>
              <a:t>2</a:t>
            </a:r>
            <a:endParaRPr lang="en-US" sz="4000" dirty="0"/>
          </a:p>
          <a:p>
            <a:pPr marL="0" indent="0" algn="ctr">
              <a:buNone/>
            </a:pPr>
            <a:r>
              <a:rPr lang="en-US" sz="1200" dirty="0">
                <a:solidFill>
                  <a:srgbClr val="FFFFFF"/>
                </a:solidFill>
                <a:latin typeface="Century Schoolbook" pitchFamily="34" charset="0"/>
                <a:ea typeface="Century Schoolbook" pitchFamily="34" charset="-122"/>
                <a:cs typeface="Century Schoolbook" pitchFamily="34" charset="-120"/>
              </a:rPr>
              <a:t>of 9</a:t>
            </a:r>
            <a:endParaRPr lang="en-US" sz="4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30</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Data Integrity</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3 of 9</a:t>
            </a:r>
            <a:endParaRPr lang="en-US" sz="1100" dirty="0"/>
          </a:p>
        </p:txBody>
      </p:sp>
      <p:sp>
        <p:nvSpPr>
          <p:cNvPr id="9" name="Text 7"/>
          <p:cNvSpPr txBox="1"/>
          <p:nvPr/>
        </p:nvSpPr>
        <p:spPr>
          <a:xfrm>
            <a:off x="640080" y="150876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Integrity means that the data in the database is accurate.</a:t>
            </a:r>
            <a:endParaRPr lang="en-US" sz="1550" dirty="0"/>
          </a:p>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Centralized control of the data lets the administrator define integrity constraints on the data in the database.</a:t>
            </a:r>
            <a:endParaRPr lang="en-US" sz="1550" dirty="0"/>
          </a:p>
        </p:txBody>
      </p:sp>
      <p:sp>
        <p:nvSpPr>
          <p:cNvPr id="10" name="Shape 8"/>
          <p:cNvSpPr/>
          <p:nvPr/>
        </p:nvSpPr>
        <p:spPr>
          <a:xfrm>
            <a:off x="5852160" y="1554480"/>
            <a:ext cx="2651760" cy="2651760"/>
          </a:xfrm>
          <a:prstGeom prst="roundRect">
            <a:avLst>
              <a:gd name="adj" fmla="val 4138"/>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6035040" y="1645920"/>
            <a:ext cx="2286000" cy="2468880"/>
          </a:xfrm>
          <a:prstGeom prst="rect">
            <a:avLst/>
          </a:prstGeom>
          <a:noFill/>
          <a:ln/>
        </p:spPr>
        <p:txBody>
          <a:bodyPr wrap="square" lIns="0" tIns="0" rIns="0" bIns="0" rtlCol="0" anchor="ctr"/>
          <a:lstStyle/>
          <a:p>
            <a:pPr marL="0" indent="0">
              <a:spcAft>
                <a:spcPts val="800"/>
              </a:spcAft>
              <a:buNone/>
            </a:pPr>
            <a:r>
              <a:rPr lang="en-US" sz="1300" b="1" dirty="0">
                <a:solidFill>
                  <a:srgbClr val="55BFAE"/>
                </a:solidFill>
                <a:latin typeface="Calibri" pitchFamily="34" charset="0"/>
                <a:ea typeface="Calibri" pitchFamily="34" charset="-122"/>
                <a:cs typeface="Calibri" pitchFamily="34" charset="-120"/>
              </a:rPr>
              <a:t>Example</a:t>
            </a:r>
            <a:endParaRPr lang="en-US" sz="1300" dirty="0"/>
          </a:p>
          <a:p>
            <a:pPr marL="0" indent="0">
              <a:spcAft>
                <a:spcPts val="800"/>
              </a:spcAft>
              <a:buNone/>
            </a:pPr>
            <a:r>
              <a:rPr lang="en-US" sz="1500" dirty="0">
                <a:solidFill>
                  <a:srgbClr val="FFFFFF"/>
                </a:solidFill>
                <a:latin typeface="Calibri" pitchFamily="34" charset="0"/>
                <a:ea typeface="Calibri" pitchFamily="34" charset="-122"/>
                <a:cs typeface="Calibri" pitchFamily="34" charset="-120"/>
              </a:rPr>
              <a:t>In a customer database, we can enforce that customers are accepted only from Noida and Meerut city.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31</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Security</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4 of 9</a:t>
            </a:r>
            <a:endParaRPr lang="en-US" sz="1100" dirty="0"/>
          </a:p>
        </p:txBody>
      </p:sp>
      <p:sp>
        <p:nvSpPr>
          <p:cNvPr id="9" name="Text 7"/>
          <p:cNvSpPr txBox="1"/>
          <p:nvPr/>
        </p:nvSpPr>
        <p:spPr>
          <a:xfrm>
            <a:off x="640080" y="1554480"/>
            <a:ext cx="5120640" cy="30175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Having complete authority over the operational data enables the DBA to ensure that the only means of access to the database is through proper channels.</a:t>
            </a:r>
            <a:endParaRPr lang="en-US" sz="1800" dirty="0"/>
          </a:p>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The DBA can define authorization checks to be carried out whenever access to sensitive data is attempted.</a:t>
            </a:r>
            <a:endParaRPr lang="en-US" sz="1800" dirty="0"/>
          </a:p>
        </p:txBody>
      </p:sp>
      <p:sp>
        <p:nvSpPr>
          <p:cNvPr id="10" name="Shape 8"/>
          <p:cNvSpPr/>
          <p:nvPr/>
        </p:nvSpPr>
        <p:spPr>
          <a:xfrm>
            <a:off x="6263640" y="1600200"/>
            <a:ext cx="2011680" cy="2011680"/>
          </a:xfrm>
          <a:prstGeom prst="ellipse">
            <a:avLst/>
          </a:prstGeom>
          <a:solidFill>
            <a:srgbClr val="E3F3F0"/>
          </a:solidFill>
          <a:ln/>
        </p:spPr>
        <p:txBody>
          <a:bodyPr/>
          <a:lstStyle/>
          <a:p>
            <a:endParaRPr lang="en-US"/>
          </a:p>
        </p:txBody>
      </p:sp>
      <p:sp>
        <p:nvSpPr>
          <p:cNvPr id="11" name="Shape 9"/>
          <p:cNvSpPr/>
          <p:nvPr/>
        </p:nvSpPr>
        <p:spPr>
          <a:xfrm>
            <a:off x="6537960" y="1874520"/>
            <a:ext cx="1463040" cy="1463040"/>
          </a:xfrm>
          <a:prstGeom prst="ellipse">
            <a:avLst/>
          </a:prstGeom>
          <a:solidFill>
            <a:srgbClr val="55BFAE"/>
          </a:solidFill>
          <a:ln/>
        </p:spPr>
        <p:txBody>
          <a:bodyPr/>
          <a:lstStyle/>
          <a:p>
            <a:endParaRPr lang="en-US"/>
          </a:p>
        </p:txBody>
      </p:sp>
      <p:sp>
        <p:nvSpPr>
          <p:cNvPr id="12" name="Text 10"/>
          <p:cNvSpPr txBox="1"/>
          <p:nvPr/>
        </p:nvSpPr>
        <p:spPr>
          <a:xfrm>
            <a:off x="6537960" y="1874520"/>
            <a:ext cx="1463040" cy="1463040"/>
          </a:xfrm>
          <a:prstGeom prst="rect">
            <a:avLst/>
          </a:prstGeom>
          <a:noFill/>
          <a:ln/>
        </p:spPr>
        <p:txBody>
          <a:bodyPr wrap="square" lIns="0" tIns="0" rIns="0" bIns="0" rtlCol="0" anchor="ctr"/>
          <a:lstStyle/>
          <a:p>
            <a:pPr marL="0" indent="0" algn="ctr">
              <a:buNone/>
            </a:pPr>
            <a:r>
              <a:rPr lang="en-US" sz="4000" b="1" dirty="0">
                <a:solidFill>
                  <a:srgbClr val="FFFFFF"/>
                </a:solidFill>
                <a:latin typeface="Century Schoolbook" pitchFamily="34" charset="0"/>
                <a:ea typeface="Century Schoolbook" pitchFamily="34" charset="-122"/>
                <a:cs typeface="Century Schoolbook" pitchFamily="34" charset="-120"/>
              </a:rPr>
              <a:t>4</a:t>
            </a:r>
            <a:endParaRPr lang="en-US" sz="4000" dirty="0"/>
          </a:p>
          <a:p>
            <a:pPr marL="0" indent="0" algn="ctr">
              <a:buNone/>
            </a:pPr>
            <a:r>
              <a:rPr lang="en-US" sz="1200" dirty="0">
                <a:solidFill>
                  <a:srgbClr val="FFFFFF"/>
                </a:solidFill>
                <a:latin typeface="Century Schoolbook" pitchFamily="34" charset="0"/>
                <a:ea typeface="Century Schoolbook" pitchFamily="34" charset="-122"/>
                <a:cs typeface="Century Schoolbook" pitchFamily="34" charset="-120"/>
              </a:rPr>
              <a:t>of 9</a:t>
            </a:r>
            <a:endParaRPr lang="en-US" sz="4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32</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Data Consistency</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5 of 9</a:t>
            </a:r>
            <a:endParaRPr lang="en-US" sz="1100" dirty="0"/>
          </a:p>
        </p:txBody>
      </p:sp>
      <p:sp>
        <p:nvSpPr>
          <p:cNvPr id="9" name="Text 7"/>
          <p:cNvSpPr txBox="1"/>
          <p:nvPr/>
        </p:nvSpPr>
        <p:spPr>
          <a:xfrm>
            <a:off x="640080" y="1508760"/>
            <a:ext cx="4937760" cy="310896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By eliminating data redundancy, we greatly reduce the opportunities for inconsistency.</a:t>
            </a:r>
            <a:endParaRPr lang="en-US" sz="1550" dirty="0"/>
          </a:p>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Updating data values is greatly simplified when each value is stored in one place only.</a:t>
            </a:r>
            <a:endParaRPr lang="en-US" sz="1550" dirty="0"/>
          </a:p>
          <a:p>
            <a:pPr marL="342900" indent="-342900">
              <a:spcAft>
                <a:spcPts val="1000"/>
              </a:spcAft>
              <a:buSzPct val="100000"/>
              <a:buChar char="•"/>
            </a:pPr>
            <a:r>
              <a:rPr lang="en-US" sz="1550" dirty="0">
                <a:solidFill>
                  <a:srgbClr val="1F3B47"/>
                </a:solidFill>
                <a:latin typeface="Calibri" pitchFamily="34" charset="0"/>
                <a:ea typeface="Calibri" pitchFamily="34" charset="-122"/>
                <a:cs typeface="Calibri" pitchFamily="34" charset="-120"/>
              </a:rPr>
              <a:t>Finally, we avoid the wasted storage that results from redundant data storage.</a:t>
            </a:r>
            <a:endParaRPr lang="en-US" sz="1550" dirty="0"/>
          </a:p>
        </p:txBody>
      </p:sp>
      <p:sp>
        <p:nvSpPr>
          <p:cNvPr id="10" name="Shape 8"/>
          <p:cNvSpPr/>
          <p:nvPr/>
        </p:nvSpPr>
        <p:spPr>
          <a:xfrm>
            <a:off x="5852160" y="1554480"/>
            <a:ext cx="2651760" cy="2651760"/>
          </a:xfrm>
          <a:prstGeom prst="roundRect">
            <a:avLst>
              <a:gd name="adj" fmla="val 4138"/>
            </a:avLst>
          </a:prstGeom>
          <a:solidFill>
            <a:srgbClr val="143F4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1" name="Text 9"/>
          <p:cNvSpPr txBox="1"/>
          <p:nvPr/>
        </p:nvSpPr>
        <p:spPr>
          <a:xfrm>
            <a:off x="6035040" y="1645920"/>
            <a:ext cx="2286000" cy="2468880"/>
          </a:xfrm>
          <a:prstGeom prst="rect">
            <a:avLst/>
          </a:prstGeom>
          <a:noFill/>
          <a:ln/>
        </p:spPr>
        <p:txBody>
          <a:bodyPr wrap="square" lIns="0" tIns="0" rIns="0" bIns="0" rtlCol="0" anchor="ctr"/>
          <a:lstStyle/>
          <a:p>
            <a:pPr marL="0" indent="0">
              <a:spcAft>
                <a:spcPts val="800"/>
              </a:spcAft>
              <a:buNone/>
            </a:pPr>
            <a:r>
              <a:rPr lang="en-US" sz="1300" b="1" dirty="0">
                <a:solidFill>
                  <a:srgbClr val="55BFAE"/>
                </a:solidFill>
                <a:latin typeface="Calibri" pitchFamily="34" charset="0"/>
                <a:ea typeface="Calibri" pitchFamily="34" charset="-122"/>
                <a:cs typeface="Calibri" pitchFamily="34" charset="-120"/>
              </a:rPr>
              <a:t>Example</a:t>
            </a:r>
            <a:endParaRPr lang="en-US" sz="1300" dirty="0"/>
          </a:p>
          <a:p>
            <a:pPr marL="0" indent="0">
              <a:spcAft>
                <a:spcPts val="800"/>
              </a:spcAft>
              <a:buNone/>
            </a:pPr>
            <a:r>
              <a:rPr lang="en-US" sz="1500" dirty="0">
                <a:solidFill>
                  <a:srgbClr val="FFFFFF"/>
                </a:solidFill>
                <a:latin typeface="Calibri" pitchFamily="34" charset="0"/>
                <a:ea typeface="Calibri" pitchFamily="34" charset="-122"/>
                <a:cs typeface="Calibri" pitchFamily="34" charset="-120"/>
              </a:rPr>
              <a:t>If a customer address is stored only once, there can be no disagreement on the stored values.</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Efficient Data Access</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6 of 9</a:t>
            </a:r>
            <a:endParaRPr lang="en-US" sz="1100" dirty="0"/>
          </a:p>
        </p:txBody>
      </p:sp>
      <p:sp>
        <p:nvSpPr>
          <p:cNvPr id="9" name="Text 7"/>
          <p:cNvSpPr txBox="1"/>
          <p:nvPr/>
        </p:nvSpPr>
        <p:spPr>
          <a:xfrm>
            <a:off x="640080" y="1554480"/>
            <a:ext cx="5120640" cy="30175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In a database system, the data is managed by the DBMS, and all access to the data is through the DBMS, providing a key to effective data processing.</a:t>
            </a:r>
            <a:endParaRPr lang="en-US" sz="1800" dirty="0"/>
          </a:p>
        </p:txBody>
      </p:sp>
      <p:sp>
        <p:nvSpPr>
          <p:cNvPr id="10" name="Shape 8"/>
          <p:cNvSpPr/>
          <p:nvPr/>
        </p:nvSpPr>
        <p:spPr>
          <a:xfrm>
            <a:off x="6263640" y="1600200"/>
            <a:ext cx="2011680" cy="2011680"/>
          </a:xfrm>
          <a:prstGeom prst="ellipse">
            <a:avLst/>
          </a:prstGeom>
          <a:solidFill>
            <a:srgbClr val="E3F3F0"/>
          </a:solidFill>
          <a:ln/>
        </p:spPr>
        <p:txBody>
          <a:bodyPr/>
          <a:lstStyle/>
          <a:p>
            <a:endParaRPr lang="en-US"/>
          </a:p>
        </p:txBody>
      </p:sp>
      <p:sp>
        <p:nvSpPr>
          <p:cNvPr id="11" name="Shape 9"/>
          <p:cNvSpPr/>
          <p:nvPr/>
        </p:nvSpPr>
        <p:spPr>
          <a:xfrm>
            <a:off x="6537960" y="1874520"/>
            <a:ext cx="1463040" cy="1463040"/>
          </a:xfrm>
          <a:prstGeom prst="ellipse">
            <a:avLst/>
          </a:prstGeom>
          <a:solidFill>
            <a:srgbClr val="55BFAE"/>
          </a:solidFill>
          <a:ln/>
        </p:spPr>
        <p:txBody>
          <a:bodyPr/>
          <a:lstStyle/>
          <a:p>
            <a:endParaRPr lang="en-US"/>
          </a:p>
        </p:txBody>
      </p:sp>
      <p:sp>
        <p:nvSpPr>
          <p:cNvPr id="12" name="Text 10"/>
          <p:cNvSpPr txBox="1"/>
          <p:nvPr/>
        </p:nvSpPr>
        <p:spPr>
          <a:xfrm>
            <a:off x="6537960" y="1874520"/>
            <a:ext cx="1463040" cy="1463040"/>
          </a:xfrm>
          <a:prstGeom prst="rect">
            <a:avLst/>
          </a:prstGeom>
          <a:noFill/>
          <a:ln/>
        </p:spPr>
        <p:txBody>
          <a:bodyPr wrap="square" lIns="0" tIns="0" rIns="0" bIns="0" rtlCol="0" anchor="ctr"/>
          <a:lstStyle/>
          <a:p>
            <a:pPr marL="0" indent="0" algn="ctr">
              <a:buNone/>
            </a:pPr>
            <a:r>
              <a:rPr lang="en-US" sz="4000" b="1" dirty="0">
                <a:solidFill>
                  <a:srgbClr val="FFFFFF"/>
                </a:solidFill>
                <a:latin typeface="Century Schoolbook" pitchFamily="34" charset="0"/>
                <a:ea typeface="Century Schoolbook" pitchFamily="34" charset="-122"/>
                <a:cs typeface="Century Schoolbook" pitchFamily="34" charset="-120"/>
              </a:rPr>
              <a:t>6</a:t>
            </a:r>
            <a:endParaRPr lang="en-US" sz="4000" dirty="0"/>
          </a:p>
          <a:p>
            <a:pPr marL="0" indent="0" algn="ctr">
              <a:buNone/>
            </a:pPr>
            <a:r>
              <a:rPr lang="en-US" sz="1200" dirty="0">
                <a:solidFill>
                  <a:srgbClr val="FFFFFF"/>
                </a:solidFill>
                <a:latin typeface="Century Schoolbook" pitchFamily="34" charset="0"/>
                <a:ea typeface="Century Schoolbook" pitchFamily="34" charset="-122"/>
                <a:cs typeface="Century Schoolbook" pitchFamily="34" charset="-120"/>
              </a:rPr>
              <a:t>of 9</a:t>
            </a:r>
            <a:endParaRPr lang="en-US" sz="4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34</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Enforcement of Standards</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7 of 9</a:t>
            </a:r>
            <a:endParaRPr lang="en-US" sz="1100" dirty="0"/>
          </a:p>
        </p:txBody>
      </p:sp>
      <p:sp>
        <p:nvSpPr>
          <p:cNvPr id="9" name="Text 7"/>
          <p:cNvSpPr txBox="1"/>
          <p:nvPr/>
        </p:nvSpPr>
        <p:spPr>
          <a:xfrm>
            <a:off x="640080" y="1554480"/>
            <a:ext cx="5120640" cy="30175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With centralized data, the DBA can establish and enforce data standards, which may include naming conventions, data quality standards, etc.</a:t>
            </a:r>
            <a:endParaRPr lang="en-US" sz="1800" dirty="0"/>
          </a:p>
        </p:txBody>
      </p:sp>
      <p:sp>
        <p:nvSpPr>
          <p:cNvPr id="10" name="Shape 8"/>
          <p:cNvSpPr/>
          <p:nvPr/>
        </p:nvSpPr>
        <p:spPr>
          <a:xfrm>
            <a:off x="6263640" y="1600200"/>
            <a:ext cx="2011680" cy="2011680"/>
          </a:xfrm>
          <a:prstGeom prst="ellipse">
            <a:avLst/>
          </a:prstGeom>
          <a:solidFill>
            <a:srgbClr val="E3F3F0"/>
          </a:solidFill>
          <a:ln/>
        </p:spPr>
        <p:txBody>
          <a:bodyPr/>
          <a:lstStyle/>
          <a:p>
            <a:endParaRPr lang="en-US"/>
          </a:p>
        </p:txBody>
      </p:sp>
      <p:sp>
        <p:nvSpPr>
          <p:cNvPr id="11" name="Shape 9"/>
          <p:cNvSpPr/>
          <p:nvPr/>
        </p:nvSpPr>
        <p:spPr>
          <a:xfrm>
            <a:off x="6537960" y="1874520"/>
            <a:ext cx="1463040" cy="1463040"/>
          </a:xfrm>
          <a:prstGeom prst="ellipse">
            <a:avLst/>
          </a:prstGeom>
          <a:solidFill>
            <a:srgbClr val="143F4F"/>
          </a:solidFill>
          <a:ln/>
        </p:spPr>
        <p:txBody>
          <a:bodyPr/>
          <a:lstStyle/>
          <a:p>
            <a:endParaRPr lang="en-US"/>
          </a:p>
        </p:txBody>
      </p:sp>
      <p:sp>
        <p:nvSpPr>
          <p:cNvPr id="12" name="Text 10"/>
          <p:cNvSpPr txBox="1"/>
          <p:nvPr/>
        </p:nvSpPr>
        <p:spPr>
          <a:xfrm>
            <a:off x="6537960" y="1874520"/>
            <a:ext cx="1463040" cy="1463040"/>
          </a:xfrm>
          <a:prstGeom prst="rect">
            <a:avLst/>
          </a:prstGeom>
          <a:noFill/>
          <a:ln/>
        </p:spPr>
        <p:txBody>
          <a:bodyPr wrap="square" lIns="0" tIns="0" rIns="0" bIns="0" rtlCol="0" anchor="ctr"/>
          <a:lstStyle/>
          <a:p>
            <a:pPr marL="0" indent="0" algn="ctr">
              <a:buNone/>
            </a:pPr>
            <a:r>
              <a:rPr lang="en-US" sz="4000" b="1" dirty="0">
                <a:solidFill>
                  <a:srgbClr val="FFFFFF"/>
                </a:solidFill>
                <a:latin typeface="Century Schoolbook" pitchFamily="34" charset="0"/>
                <a:ea typeface="Century Schoolbook" pitchFamily="34" charset="-122"/>
                <a:cs typeface="Century Schoolbook" pitchFamily="34" charset="-120"/>
              </a:rPr>
              <a:t>7</a:t>
            </a:r>
            <a:endParaRPr lang="en-US" sz="4000" dirty="0"/>
          </a:p>
          <a:p>
            <a:pPr marL="0" indent="0" algn="ctr">
              <a:buNone/>
            </a:pPr>
            <a:r>
              <a:rPr lang="en-US" sz="1200" dirty="0">
                <a:solidFill>
                  <a:srgbClr val="FFFFFF"/>
                </a:solidFill>
                <a:latin typeface="Century Schoolbook" pitchFamily="34" charset="0"/>
                <a:ea typeface="Century Schoolbook" pitchFamily="34" charset="-122"/>
                <a:cs typeface="Century Schoolbook" pitchFamily="34" charset="-120"/>
              </a:rPr>
              <a:t>of 9</a:t>
            </a:r>
            <a:endParaRPr lang="en-US" sz="4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35</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Data Independence</a:t>
            </a:r>
            <a:endParaRPr lang="en-US" sz="30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8 of 9</a:t>
            </a:r>
            <a:endParaRPr lang="en-US" sz="1100" dirty="0"/>
          </a:p>
        </p:txBody>
      </p:sp>
      <p:sp>
        <p:nvSpPr>
          <p:cNvPr id="9" name="Text 7"/>
          <p:cNvSpPr txBox="1"/>
          <p:nvPr/>
        </p:nvSpPr>
        <p:spPr>
          <a:xfrm>
            <a:off x="640080" y="1554480"/>
            <a:ext cx="5120640" cy="30175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In a database system, the DBMS provides the interface between the application programs and the data.</a:t>
            </a:r>
            <a:endParaRPr lang="en-US" sz="1800" dirty="0"/>
          </a:p>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When changes are made to the data representation, the metadata maintained by the DBMS is changed, but the DBMS continues to provide data to application programs in the previously used way.</a:t>
            </a:r>
            <a:endParaRPr lang="en-US" sz="1800" dirty="0"/>
          </a:p>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The DBMS handles the transformation of data wherever necessary.</a:t>
            </a:r>
            <a:endParaRPr lang="en-US" sz="1800" dirty="0"/>
          </a:p>
        </p:txBody>
      </p:sp>
      <p:sp>
        <p:nvSpPr>
          <p:cNvPr id="10" name="Shape 8"/>
          <p:cNvSpPr/>
          <p:nvPr/>
        </p:nvSpPr>
        <p:spPr>
          <a:xfrm>
            <a:off x="6263640" y="1600200"/>
            <a:ext cx="2011680" cy="2011680"/>
          </a:xfrm>
          <a:prstGeom prst="ellipse">
            <a:avLst/>
          </a:prstGeom>
          <a:solidFill>
            <a:srgbClr val="E3F3F0"/>
          </a:solidFill>
          <a:ln/>
        </p:spPr>
        <p:txBody>
          <a:bodyPr/>
          <a:lstStyle/>
          <a:p>
            <a:endParaRPr lang="en-US"/>
          </a:p>
        </p:txBody>
      </p:sp>
      <p:sp>
        <p:nvSpPr>
          <p:cNvPr id="11" name="Shape 9"/>
          <p:cNvSpPr/>
          <p:nvPr/>
        </p:nvSpPr>
        <p:spPr>
          <a:xfrm>
            <a:off x="6537960" y="1874520"/>
            <a:ext cx="1463040" cy="1463040"/>
          </a:xfrm>
          <a:prstGeom prst="ellipse">
            <a:avLst/>
          </a:prstGeom>
          <a:solidFill>
            <a:srgbClr val="55BFAE"/>
          </a:solidFill>
          <a:ln/>
        </p:spPr>
        <p:txBody>
          <a:bodyPr/>
          <a:lstStyle/>
          <a:p>
            <a:endParaRPr lang="en-US"/>
          </a:p>
        </p:txBody>
      </p:sp>
      <p:sp>
        <p:nvSpPr>
          <p:cNvPr id="12" name="Text 10"/>
          <p:cNvSpPr txBox="1"/>
          <p:nvPr/>
        </p:nvSpPr>
        <p:spPr>
          <a:xfrm>
            <a:off x="6537960" y="1874520"/>
            <a:ext cx="1463040" cy="1463040"/>
          </a:xfrm>
          <a:prstGeom prst="rect">
            <a:avLst/>
          </a:prstGeom>
          <a:noFill/>
          <a:ln/>
        </p:spPr>
        <p:txBody>
          <a:bodyPr wrap="square" lIns="0" tIns="0" rIns="0" bIns="0" rtlCol="0" anchor="ctr"/>
          <a:lstStyle/>
          <a:p>
            <a:pPr marL="0" indent="0" algn="ctr">
              <a:buNone/>
            </a:pPr>
            <a:r>
              <a:rPr lang="en-US" sz="4000" b="1" dirty="0">
                <a:solidFill>
                  <a:srgbClr val="FFFFFF"/>
                </a:solidFill>
                <a:latin typeface="Century Schoolbook" pitchFamily="34" charset="0"/>
                <a:ea typeface="Century Schoolbook" pitchFamily="34" charset="-122"/>
                <a:cs typeface="Century Schoolbook" pitchFamily="34" charset="-120"/>
              </a:rPr>
              <a:t>8</a:t>
            </a:r>
            <a:endParaRPr lang="en-US" sz="4000" dirty="0"/>
          </a:p>
          <a:p>
            <a:pPr marL="0" indent="0" algn="ctr">
              <a:buNone/>
            </a:pPr>
            <a:r>
              <a:rPr lang="en-US" sz="1200" dirty="0">
                <a:solidFill>
                  <a:srgbClr val="FFFFFF"/>
                </a:solidFill>
                <a:latin typeface="Century Schoolbook" pitchFamily="34" charset="0"/>
                <a:ea typeface="Century Schoolbook" pitchFamily="34" charset="-122"/>
                <a:cs typeface="Century Schoolbook" pitchFamily="34" charset="-120"/>
              </a:rPr>
              <a:t>of 9</a:t>
            </a:r>
            <a:endParaRPr lang="en-US" sz="4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36</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2400" b="1" dirty="0">
                <a:solidFill>
                  <a:srgbClr val="143F4F"/>
                </a:solidFill>
                <a:latin typeface="Century Schoolbook" pitchFamily="34" charset="0"/>
                <a:ea typeface="Century Schoolbook" pitchFamily="34" charset="-122"/>
                <a:cs typeface="Century Schoolbook" pitchFamily="34" charset="-120"/>
              </a:rPr>
              <a:t>Reduced Development &amp; Maintenance Time</a:t>
            </a:r>
            <a:endParaRPr lang="en-US" sz="2400" dirty="0"/>
          </a:p>
        </p:txBody>
      </p:sp>
      <p:sp>
        <p:nvSpPr>
          <p:cNvPr id="7" name="Shape 5"/>
          <p:cNvSpPr/>
          <p:nvPr/>
        </p:nvSpPr>
        <p:spPr>
          <a:xfrm>
            <a:off x="640080" y="960120"/>
            <a:ext cx="1828800" cy="347472"/>
          </a:xfrm>
          <a:prstGeom prst="roundRect">
            <a:avLst>
              <a:gd name="adj" fmla="val 50000"/>
            </a:avLst>
          </a:prstGeom>
          <a:solidFill>
            <a:srgbClr val="E3F3F0"/>
          </a:solidFill>
          <a:ln/>
        </p:spPr>
        <p:txBody>
          <a:bodyPr/>
          <a:lstStyle/>
          <a:p>
            <a:endParaRPr lang="en-US"/>
          </a:p>
        </p:txBody>
      </p:sp>
      <p:sp>
        <p:nvSpPr>
          <p:cNvPr id="8" name="Text 6"/>
          <p:cNvSpPr txBox="1"/>
          <p:nvPr/>
        </p:nvSpPr>
        <p:spPr>
          <a:xfrm>
            <a:off x="640080" y="960120"/>
            <a:ext cx="1828800" cy="347472"/>
          </a:xfrm>
          <a:prstGeom prst="rect">
            <a:avLst/>
          </a:prstGeom>
          <a:noFill/>
          <a:ln/>
        </p:spPr>
        <p:txBody>
          <a:bodyPr wrap="square" lIns="0" tIns="0" rIns="0" bIns="0" rtlCol="0" anchor="ctr"/>
          <a:lstStyle/>
          <a:p>
            <a:pPr marL="0" indent="0" algn="ctr">
              <a:buNone/>
            </a:pPr>
            <a:r>
              <a:rPr lang="en-US" sz="1100" b="1" dirty="0">
                <a:solidFill>
                  <a:srgbClr val="143F4F"/>
                </a:solidFill>
                <a:latin typeface="Calibri" pitchFamily="34" charset="0"/>
                <a:ea typeface="Calibri" pitchFamily="34" charset="-122"/>
                <a:cs typeface="Calibri" pitchFamily="34" charset="-120"/>
              </a:rPr>
              <a:t>Advantage 9 of 9</a:t>
            </a:r>
            <a:endParaRPr lang="en-US" sz="1100" dirty="0"/>
          </a:p>
        </p:txBody>
      </p:sp>
      <p:sp>
        <p:nvSpPr>
          <p:cNvPr id="9" name="Text 7"/>
          <p:cNvSpPr txBox="1"/>
          <p:nvPr/>
        </p:nvSpPr>
        <p:spPr>
          <a:xfrm>
            <a:off x="640080" y="1554480"/>
            <a:ext cx="5120640" cy="301752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1F3B47"/>
                </a:solidFill>
                <a:latin typeface="Calibri" pitchFamily="34" charset="0"/>
                <a:ea typeface="Calibri" pitchFamily="34" charset="-122"/>
                <a:cs typeface="Calibri" pitchFamily="34" charset="-120"/>
              </a:rPr>
              <a:t>A DBMS supports many important functions that are common to many applications for accessing stored data, which facilitates quick application development.</a:t>
            </a:r>
            <a:endParaRPr lang="en-US" sz="1800" dirty="0"/>
          </a:p>
        </p:txBody>
      </p:sp>
      <p:sp>
        <p:nvSpPr>
          <p:cNvPr id="10" name="Shape 8"/>
          <p:cNvSpPr/>
          <p:nvPr/>
        </p:nvSpPr>
        <p:spPr>
          <a:xfrm>
            <a:off x="6263640" y="1600200"/>
            <a:ext cx="2011680" cy="2011680"/>
          </a:xfrm>
          <a:prstGeom prst="ellipse">
            <a:avLst/>
          </a:prstGeom>
          <a:solidFill>
            <a:srgbClr val="E3F3F0"/>
          </a:solidFill>
          <a:ln/>
        </p:spPr>
        <p:txBody>
          <a:bodyPr/>
          <a:lstStyle/>
          <a:p>
            <a:endParaRPr lang="en-US"/>
          </a:p>
        </p:txBody>
      </p:sp>
      <p:sp>
        <p:nvSpPr>
          <p:cNvPr id="11" name="Shape 9"/>
          <p:cNvSpPr/>
          <p:nvPr/>
        </p:nvSpPr>
        <p:spPr>
          <a:xfrm>
            <a:off x="6537960" y="1874520"/>
            <a:ext cx="1463040" cy="1463040"/>
          </a:xfrm>
          <a:prstGeom prst="ellipse">
            <a:avLst/>
          </a:prstGeom>
          <a:solidFill>
            <a:srgbClr val="143F4F"/>
          </a:solidFill>
          <a:ln/>
        </p:spPr>
        <p:txBody>
          <a:bodyPr/>
          <a:lstStyle/>
          <a:p>
            <a:endParaRPr lang="en-US"/>
          </a:p>
        </p:txBody>
      </p:sp>
      <p:sp>
        <p:nvSpPr>
          <p:cNvPr id="12" name="Text 10"/>
          <p:cNvSpPr txBox="1"/>
          <p:nvPr/>
        </p:nvSpPr>
        <p:spPr>
          <a:xfrm>
            <a:off x="6537960" y="1874520"/>
            <a:ext cx="1463040" cy="1463040"/>
          </a:xfrm>
          <a:prstGeom prst="rect">
            <a:avLst/>
          </a:prstGeom>
          <a:noFill/>
          <a:ln/>
        </p:spPr>
        <p:txBody>
          <a:bodyPr wrap="square" lIns="0" tIns="0" rIns="0" bIns="0" rtlCol="0" anchor="ctr"/>
          <a:lstStyle/>
          <a:p>
            <a:pPr marL="0" indent="0" algn="ctr">
              <a:buNone/>
            </a:pPr>
            <a:r>
              <a:rPr lang="en-US" sz="4000" b="1" dirty="0">
                <a:solidFill>
                  <a:srgbClr val="FFFFFF"/>
                </a:solidFill>
                <a:latin typeface="Century Schoolbook" pitchFamily="34" charset="0"/>
                <a:ea typeface="Century Schoolbook" pitchFamily="34" charset="-122"/>
                <a:cs typeface="Century Schoolbook" pitchFamily="34" charset="-120"/>
              </a:rPr>
              <a:t>9</a:t>
            </a:r>
            <a:endParaRPr lang="en-US" sz="4000" dirty="0"/>
          </a:p>
          <a:p>
            <a:pPr marL="0" indent="0" algn="ctr">
              <a:buNone/>
            </a:pPr>
            <a:r>
              <a:rPr lang="en-US" sz="1200" dirty="0">
                <a:solidFill>
                  <a:srgbClr val="FFFFFF"/>
                </a:solidFill>
                <a:latin typeface="Century Schoolbook" pitchFamily="34" charset="0"/>
                <a:ea typeface="Century Schoolbook" pitchFamily="34" charset="-122"/>
                <a:cs typeface="Century Schoolbook" pitchFamily="34" charset="-120"/>
              </a:rPr>
              <a:t>of 9</a:t>
            </a:r>
            <a:endParaRPr lang="en-US" sz="4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37</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Limitations</a:t>
            </a:r>
            <a:endParaRPr lang="en-US" sz="3000" dirty="0"/>
          </a:p>
        </p:txBody>
      </p:sp>
      <p:sp>
        <p:nvSpPr>
          <p:cNvPr id="7" name="Shape 5"/>
          <p:cNvSpPr/>
          <p:nvPr/>
        </p:nvSpPr>
        <p:spPr>
          <a:xfrm>
            <a:off x="640080" y="1051560"/>
            <a:ext cx="3817620" cy="1600200"/>
          </a:xfrm>
          <a:prstGeom prst="roundRect">
            <a:avLst>
              <a:gd name="adj" fmla="val 685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6"/>
          <p:cNvSpPr/>
          <p:nvPr/>
        </p:nvSpPr>
        <p:spPr>
          <a:xfrm>
            <a:off x="777240" y="1641348"/>
            <a:ext cx="420624" cy="420624"/>
          </a:xfrm>
          <a:prstGeom prst="ellipse">
            <a:avLst/>
          </a:prstGeom>
          <a:solidFill>
            <a:srgbClr val="143F4F"/>
          </a:solidFill>
          <a:ln/>
        </p:spPr>
        <p:txBody>
          <a:bodyPr/>
          <a:lstStyle/>
          <a:p>
            <a:endParaRPr lang="en-US"/>
          </a:p>
        </p:txBody>
      </p:sp>
      <p:sp>
        <p:nvSpPr>
          <p:cNvPr id="9" name="Text 7"/>
          <p:cNvSpPr txBox="1"/>
          <p:nvPr/>
        </p:nvSpPr>
        <p:spPr>
          <a:xfrm>
            <a:off x="777240" y="16413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325880" y="1051560"/>
            <a:ext cx="2994660" cy="160020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Complexity</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It supports multiple functions, so the underlying software is complex. Designers and developers need thorough knowledge of it to get the most out of it.</a:t>
            </a:r>
            <a:endParaRPr lang="en-US" sz="1250" dirty="0"/>
          </a:p>
        </p:txBody>
      </p:sp>
      <p:sp>
        <p:nvSpPr>
          <p:cNvPr id="11" name="Shape 9"/>
          <p:cNvSpPr/>
          <p:nvPr/>
        </p:nvSpPr>
        <p:spPr>
          <a:xfrm>
            <a:off x="4686300" y="1051560"/>
            <a:ext cx="3817620" cy="1600200"/>
          </a:xfrm>
          <a:prstGeom prst="roundRect">
            <a:avLst>
              <a:gd name="adj" fmla="val 685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10"/>
          <p:cNvSpPr/>
          <p:nvPr/>
        </p:nvSpPr>
        <p:spPr>
          <a:xfrm>
            <a:off x="4823460" y="1641348"/>
            <a:ext cx="420624" cy="420624"/>
          </a:xfrm>
          <a:prstGeom prst="ellipse">
            <a:avLst/>
          </a:prstGeom>
          <a:solidFill>
            <a:srgbClr val="55BFAE"/>
          </a:solidFill>
          <a:ln/>
        </p:spPr>
        <p:txBody>
          <a:bodyPr/>
          <a:lstStyle/>
          <a:p>
            <a:endParaRPr lang="en-US"/>
          </a:p>
        </p:txBody>
      </p:sp>
      <p:sp>
        <p:nvSpPr>
          <p:cNvPr id="13" name="Text 11"/>
          <p:cNvSpPr txBox="1"/>
          <p:nvPr/>
        </p:nvSpPr>
        <p:spPr>
          <a:xfrm>
            <a:off x="4823460" y="16413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372100" y="1051560"/>
            <a:ext cx="2994660" cy="160020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Memory</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Because of its complexity and functionality, it uses a large amount of memory and needs large memory to run efficiently.</a:t>
            </a:r>
            <a:endParaRPr lang="en-US" sz="1250" dirty="0"/>
          </a:p>
        </p:txBody>
      </p:sp>
      <p:sp>
        <p:nvSpPr>
          <p:cNvPr id="15" name="Shape 13"/>
          <p:cNvSpPr/>
          <p:nvPr/>
        </p:nvSpPr>
        <p:spPr>
          <a:xfrm>
            <a:off x="640080" y="2852928"/>
            <a:ext cx="3817620" cy="1600200"/>
          </a:xfrm>
          <a:prstGeom prst="roundRect">
            <a:avLst>
              <a:gd name="adj" fmla="val 685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4"/>
          <p:cNvSpPr/>
          <p:nvPr/>
        </p:nvSpPr>
        <p:spPr>
          <a:xfrm>
            <a:off x="777240" y="3442716"/>
            <a:ext cx="420624" cy="420624"/>
          </a:xfrm>
          <a:prstGeom prst="ellipse">
            <a:avLst/>
          </a:prstGeom>
          <a:solidFill>
            <a:srgbClr val="143F4F"/>
          </a:solidFill>
          <a:ln/>
        </p:spPr>
        <p:txBody>
          <a:bodyPr/>
          <a:lstStyle/>
          <a:p>
            <a:endParaRPr lang="en-US"/>
          </a:p>
        </p:txBody>
      </p:sp>
      <p:sp>
        <p:nvSpPr>
          <p:cNvPr id="17" name="Text 15"/>
          <p:cNvSpPr txBox="1"/>
          <p:nvPr/>
        </p:nvSpPr>
        <p:spPr>
          <a:xfrm>
            <a:off x="777240" y="34427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325880" y="2852928"/>
            <a:ext cx="2994660" cy="160020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Centralized</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All users access one central database, so any failure of the DBMS impacts all the users.</a:t>
            </a:r>
            <a:endParaRPr lang="en-US" sz="1250" dirty="0"/>
          </a:p>
        </p:txBody>
      </p:sp>
      <p:sp>
        <p:nvSpPr>
          <p:cNvPr id="19" name="Shape 17"/>
          <p:cNvSpPr/>
          <p:nvPr/>
        </p:nvSpPr>
        <p:spPr>
          <a:xfrm>
            <a:off x="4686300" y="2852928"/>
            <a:ext cx="3817620" cy="1600200"/>
          </a:xfrm>
          <a:prstGeom prst="roundRect">
            <a:avLst>
              <a:gd name="adj" fmla="val 685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0" name="Shape 18"/>
          <p:cNvSpPr/>
          <p:nvPr/>
        </p:nvSpPr>
        <p:spPr>
          <a:xfrm>
            <a:off x="4823460" y="3442716"/>
            <a:ext cx="420624" cy="420624"/>
          </a:xfrm>
          <a:prstGeom prst="ellipse">
            <a:avLst/>
          </a:prstGeom>
          <a:solidFill>
            <a:srgbClr val="55BFAE"/>
          </a:solidFill>
          <a:ln/>
        </p:spPr>
        <p:txBody>
          <a:bodyPr/>
          <a:lstStyle/>
          <a:p>
            <a:endParaRPr lang="en-US"/>
          </a:p>
        </p:txBody>
      </p:sp>
      <p:sp>
        <p:nvSpPr>
          <p:cNvPr id="21" name="Text 19"/>
          <p:cNvSpPr txBox="1"/>
          <p:nvPr/>
        </p:nvSpPr>
        <p:spPr>
          <a:xfrm>
            <a:off x="4823460" y="34427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5372100" y="2852928"/>
            <a:ext cx="2994660" cy="1600200"/>
          </a:xfrm>
          <a:prstGeom prst="rect">
            <a:avLst/>
          </a:prstGeom>
          <a:noFill/>
          <a:ln/>
        </p:spPr>
        <p:txBody>
          <a:bodyPr wrap="square" lIns="0" tIns="0" rIns="0" bIns="0" rtlCol="0" anchor="ctr"/>
          <a:lstStyle/>
          <a:p>
            <a:pPr marL="0" indent="0">
              <a:buNone/>
            </a:pPr>
            <a:r>
              <a:rPr lang="en-US" sz="1500" b="1" dirty="0">
                <a:solidFill>
                  <a:srgbClr val="143F4F"/>
                </a:solidFill>
                <a:latin typeface="Calibri" pitchFamily="34" charset="0"/>
                <a:ea typeface="Calibri" pitchFamily="34" charset="-122"/>
                <a:cs typeface="Calibri" pitchFamily="34" charset="-120"/>
              </a:rPr>
              <a:t>Generalized software</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It is written to work on entire systems rather than a specific one, so some applications will run slowly.</a:t>
            </a:r>
            <a:endParaRPr lang="en-US" sz="12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38</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Summary</a:t>
            </a:r>
            <a:endParaRPr lang="en-US" sz="3000" dirty="0"/>
          </a:p>
        </p:txBody>
      </p:sp>
      <p:sp>
        <p:nvSpPr>
          <p:cNvPr id="7" name="Shape 5"/>
          <p:cNvSpPr/>
          <p:nvPr/>
        </p:nvSpPr>
        <p:spPr>
          <a:xfrm>
            <a:off x="640080" y="1051560"/>
            <a:ext cx="3817620" cy="1600200"/>
          </a:xfrm>
          <a:prstGeom prst="roundRect">
            <a:avLst>
              <a:gd name="adj" fmla="val 6857"/>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8" name="Shape 6"/>
          <p:cNvSpPr/>
          <p:nvPr/>
        </p:nvSpPr>
        <p:spPr>
          <a:xfrm>
            <a:off x="777240" y="1641348"/>
            <a:ext cx="420624" cy="420624"/>
          </a:xfrm>
          <a:prstGeom prst="ellipse">
            <a:avLst/>
          </a:prstGeom>
          <a:solidFill>
            <a:srgbClr val="143F4F"/>
          </a:solidFill>
          <a:ln/>
        </p:spPr>
        <p:txBody>
          <a:bodyPr/>
          <a:lstStyle/>
          <a:p>
            <a:endParaRPr lang="en-US"/>
          </a:p>
        </p:txBody>
      </p:sp>
      <p:sp>
        <p:nvSpPr>
          <p:cNvPr id="9" name="Text 7"/>
          <p:cNvSpPr txBox="1"/>
          <p:nvPr/>
        </p:nvSpPr>
        <p:spPr>
          <a:xfrm>
            <a:off x="777240" y="16413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1325880" y="1051560"/>
            <a:ext cx="2994660" cy="1600200"/>
          </a:xfrm>
          <a:prstGeom prst="rect">
            <a:avLst/>
          </a:prstGeom>
          <a:noFill/>
          <a:ln/>
        </p:spPr>
        <p:txBody>
          <a:bodyPr wrap="square" lIns="0" tIns="0" rIns="0" bIns="0" rtlCol="0" anchor="ctr"/>
          <a:lstStyle/>
          <a:p>
            <a:pPr marL="0" indent="0">
              <a:buNone/>
            </a:pPr>
            <a:r>
              <a:rPr lang="en-US" sz="1450" b="1" dirty="0">
                <a:solidFill>
                  <a:srgbClr val="143F4F"/>
                </a:solidFill>
                <a:latin typeface="Calibri" pitchFamily="34" charset="0"/>
                <a:ea typeface="Calibri" pitchFamily="34" charset="-122"/>
                <a:cs typeface="Calibri" pitchFamily="34" charset="-120"/>
              </a:rPr>
              <a:t>History &amp; Evolution of DBMS</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The development of database systems, from early file-based systems to the relational model introduced by E. F. Codd.</a:t>
            </a:r>
            <a:endParaRPr lang="en-US" sz="1250" dirty="0"/>
          </a:p>
        </p:txBody>
      </p:sp>
      <p:sp>
        <p:nvSpPr>
          <p:cNvPr id="11" name="Shape 9"/>
          <p:cNvSpPr/>
          <p:nvPr/>
        </p:nvSpPr>
        <p:spPr>
          <a:xfrm>
            <a:off x="4686300" y="1051560"/>
            <a:ext cx="3817620" cy="1600200"/>
          </a:xfrm>
          <a:prstGeom prst="roundRect">
            <a:avLst>
              <a:gd name="adj" fmla="val 685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2" name="Shape 10"/>
          <p:cNvSpPr/>
          <p:nvPr/>
        </p:nvSpPr>
        <p:spPr>
          <a:xfrm>
            <a:off x="4823460" y="1641348"/>
            <a:ext cx="420624" cy="420624"/>
          </a:xfrm>
          <a:prstGeom prst="ellipse">
            <a:avLst/>
          </a:prstGeom>
          <a:solidFill>
            <a:srgbClr val="55BFAE"/>
          </a:solidFill>
          <a:ln/>
        </p:spPr>
        <p:txBody>
          <a:bodyPr/>
          <a:lstStyle/>
          <a:p>
            <a:endParaRPr lang="en-US"/>
          </a:p>
        </p:txBody>
      </p:sp>
      <p:sp>
        <p:nvSpPr>
          <p:cNvPr id="13" name="Text 11"/>
          <p:cNvSpPr txBox="1"/>
          <p:nvPr/>
        </p:nvSpPr>
        <p:spPr>
          <a:xfrm>
            <a:off x="4823460" y="164134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5372100" y="1051560"/>
            <a:ext cx="2994660" cy="1600200"/>
          </a:xfrm>
          <a:prstGeom prst="rect">
            <a:avLst/>
          </a:prstGeom>
          <a:noFill/>
          <a:ln/>
        </p:spPr>
        <p:txBody>
          <a:bodyPr wrap="square" lIns="0" tIns="0" rIns="0" bIns="0" rtlCol="0" anchor="ctr"/>
          <a:lstStyle/>
          <a:p>
            <a:pPr marL="0" indent="0">
              <a:buNone/>
            </a:pPr>
            <a:r>
              <a:rPr lang="en-US" sz="1450" b="1" dirty="0">
                <a:solidFill>
                  <a:srgbClr val="143F4F"/>
                </a:solidFill>
                <a:latin typeface="Calibri" pitchFamily="34" charset="0"/>
                <a:ea typeface="Calibri" pitchFamily="34" charset="-122"/>
                <a:cs typeface="Calibri" pitchFamily="34" charset="-120"/>
              </a:rPr>
              <a:t>Database System Types</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Hierarchical, Network, and Relational models: their structures and use cases.</a:t>
            </a:r>
            <a:endParaRPr lang="en-US" sz="1250" dirty="0"/>
          </a:p>
        </p:txBody>
      </p:sp>
      <p:sp>
        <p:nvSpPr>
          <p:cNvPr id="15" name="Shape 13"/>
          <p:cNvSpPr/>
          <p:nvPr/>
        </p:nvSpPr>
        <p:spPr>
          <a:xfrm>
            <a:off x="640080" y="2852928"/>
            <a:ext cx="3817620" cy="1600200"/>
          </a:xfrm>
          <a:prstGeom prst="roundRect">
            <a:avLst>
              <a:gd name="adj" fmla="val 6857"/>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6" name="Shape 14"/>
          <p:cNvSpPr/>
          <p:nvPr/>
        </p:nvSpPr>
        <p:spPr>
          <a:xfrm>
            <a:off x="777240" y="3442716"/>
            <a:ext cx="420624" cy="420624"/>
          </a:xfrm>
          <a:prstGeom prst="ellipse">
            <a:avLst/>
          </a:prstGeom>
          <a:solidFill>
            <a:srgbClr val="143F4F"/>
          </a:solidFill>
          <a:ln/>
        </p:spPr>
        <p:txBody>
          <a:bodyPr/>
          <a:lstStyle/>
          <a:p>
            <a:endParaRPr lang="en-US"/>
          </a:p>
        </p:txBody>
      </p:sp>
      <p:sp>
        <p:nvSpPr>
          <p:cNvPr id="17" name="Text 15"/>
          <p:cNvSpPr txBox="1"/>
          <p:nvPr/>
        </p:nvSpPr>
        <p:spPr>
          <a:xfrm>
            <a:off x="777240" y="34427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1325880" y="2852928"/>
            <a:ext cx="2994660" cy="1600200"/>
          </a:xfrm>
          <a:prstGeom prst="rect">
            <a:avLst/>
          </a:prstGeom>
          <a:noFill/>
          <a:ln/>
        </p:spPr>
        <p:txBody>
          <a:bodyPr wrap="square" lIns="0" tIns="0" rIns="0" bIns="0" rtlCol="0" anchor="ctr"/>
          <a:lstStyle/>
          <a:p>
            <a:pPr marL="0" indent="0">
              <a:buNone/>
            </a:pPr>
            <a:r>
              <a:rPr lang="en-US" sz="1450" b="1" dirty="0">
                <a:solidFill>
                  <a:srgbClr val="143F4F"/>
                </a:solidFill>
                <a:latin typeface="Calibri" pitchFamily="34" charset="0"/>
                <a:ea typeface="Calibri" pitchFamily="34" charset="-122"/>
                <a:cs typeface="Calibri" pitchFamily="34" charset="-120"/>
              </a:rPr>
              <a:t>Advantages &amp; Disadvantages of DBMS</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Key benefits (e.g., data integrity, security) and limitations (e.g., complexity, cost).</a:t>
            </a:r>
            <a:endParaRPr lang="en-US" sz="1250" dirty="0"/>
          </a:p>
        </p:txBody>
      </p:sp>
      <p:sp>
        <p:nvSpPr>
          <p:cNvPr id="19" name="Shape 17"/>
          <p:cNvSpPr/>
          <p:nvPr/>
        </p:nvSpPr>
        <p:spPr>
          <a:xfrm>
            <a:off x="4686300" y="2852928"/>
            <a:ext cx="3817620" cy="1600200"/>
          </a:xfrm>
          <a:prstGeom prst="roundRect">
            <a:avLst>
              <a:gd name="adj" fmla="val 6857"/>
            </a:avLst>
          </a:prstGeom>
          <a:solidFill>
            <a:srgbClr val="E3F3F0"/>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20" name="Shape 18"/>
          <p:cNvSpPr/>
          <p:nvPr/>
        </p:nvSpPr>
        <p:spPr>
          <a:xfrm>
            <a:off x="4823460" y="3442716"/>
            <a:ext cx="420624" cy="420624"/>
          </a:xfrm>
          <a:prstGeom prst="ellipse">
            <a:avLst/>
          </a:prstGeom>
          <a:solidFill>
            <a:srgbClr val="55BFAE"/>
          </a:solidFill>
          <a:ln/>
        </p:spPr>
        <p:txBody>
          <a:bodyPr/>
          <a:lstStyle/>
          <a:p>
            <a:endParaRPr lang="en-US"/>
          </a:p>
        </p:txBody>
      </p:sp>
      <p:sp>
        <p:nvSpPr>
          <p:cNvPr id="21" name="Text 19"/>
          <p:cNvSpPr txBox="1"/>
          <p:nvPr/>
        </p:nvSpPr>
        <p:spPr>
          <a:xfrm>
            <a:off x="4823460" y="34427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5372100" y="2852928"/>
            <a:ext cx="2994660" cy="1600200"/>
          </a:xfrm>
          <a:prstGeom prst="rect">
            <a:avLst/>
          </a:prstGeom>
          <a:noFill/>
          <a:ln/>
        </p:spPr>
        <p:txBody>
          <a:bodyPr wrap="square" lIns="0" tIns="0" rIns="0" bIns="0" rtlCol="0" anchor="ctr"/>
          <a:lstStyle/>
          <a:p>
            <a:pPr marL="0" indent="0">
              <a:buNone/>
            </a:pPr>
            <a:r>
              <a:rPr lang="en-US" sz="1450" b="1" dirty="0">
                <a:solidFill>
                  <a:srgbClr val="143F4F"/>
                </a:solidFill>
                <a:latin typeface="Calibri" pitchFamily="34" charset="0"/>
                <a:ea typeface="Calibri" pitchFamily="34" charset="-122"/>
                <a:cs typeface="Calibri" pitchFamily="34" charset="-120"/>
              </a:rPr>
              <a:t>Object-Oriented &amp; NoSQL DBMS</a:t>
            </a:r>
            <a:endParaRPr lang="en-US" sz="1250" dirty="0"/>
          </a:p>
          <a:p>
            <a:pPr marL="0" indent="0">
              <a:buNone/>
            </a:pPr>
            <a:r>
              <a:rPr lang="en-US" sz="1250" dirty="0">
                <a:solidFill>
                  <a:srgbClr val="1F3B47"/>
                </a:solidFill>
                <a:latin typeface="Calibri" pitchFamily="34" charset="0"/>
                <a:ea typeface="Calibri" pitchFamily="34" charset="-122"/>
                <a:cs typeface="Calibri" pitchFamily="34" charset="-120"/>
              </a:rPr>
              <a:t>Their flexibility and scalability for modern applications with complex or unstructured data.</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3">
    <p:bg>
      <p:bgPr>
        <a:solidFill>
          <a:srgbClr val="F6F9FB"/>
        </a:solidFill>
        <a:effectLst/>
      </p:bgPr>
    </p:bg>
    <p:spTree>
      <p:nvGrpSpPr>
        <p:cNvPr id="1" name=""/>
        <p:cNvGrpSpPr/>
        <p:nvPr/>
      </p:nvGrpSpPr>
      <p:grpSpPr>
        <a:xfrm>
          <a:off x="0" y="0"/>
          <a:ext cx="0" cy="0"/>
          <a:chOff x="0" y="0"/>
          <a:chExt cx="0" cy="0"/>
        </a:xfrm>
      </p:grpSpPr>
      <p:sp>
        <p:nvSpPr>
          <p:cNvPr id="2" name="Shape 0"/>
          <p:cNvSpPr/>
          <p:nvPr/>
        </p:nvSpPr>
        <p:spPr>
          <a:xfrm rot="1500000">
            <a:off x="-457200" y="-548640"/>
            <a:ext cx="1005840" cy="1463040"/>
          </a:xfrm>
          <a:prstGeom prst="roundRect">
            <a:avLst>
              <a:gd name="adj" fmla="val 45455"/>
            </a:avLst>
          </a:prstGeom>
          <a:solidFill>
            <a:srgbClr val="55BFAE"/>
          </a:solidFill>
          <a:ln/>
        </p:spPr>
        <p:txBody>
          <a:bodyPr/>
          <a:lstStyle/>
          <a:p>
            <a:endParaRPr lang="en-US"/>
          </a:p>
        </p:txBody>
      </p:sp>
      <p:sp>
        <p:nvSpPr>
          <p:cNvPr id="3" name="Shape 1"/>
          <p:cNvSpPr/>
          <p:nvPr/>
        </p:nvSpPr>
        <p:spPr>
          <a:xfrm rot="1500000">
            <a:off x="8549640" y="3840480"/>
            <a:ext cx="1005840" cy="2011680"/>
          </a:xfrm>
          <a:prstGeom prst="roundRect">
            <a:avLst>
              <a:gd name="adj" fmla="val 45455"/>
            </a:avLst>
          </a:prstGeom>
          <a:solidFill>
            <a:srgbClr val="143F4F"/>
          </a:solidFill>
          <a:ln/>
        </p:spPr>
        <p:txBody>
          <a:bodyPr/>
          <a:lstStyle/>
          <a:p>
            <a:endParaRPr lang="en-US"/>
          </a:p>
        </p:txBody>
      </p:sp>
      <p:sp>
        <p:nvSpPr>
          <p:cNvPr id="4" name="Shape 2"/>
          <p:cNvSpPr/>
          <p:nvPr/>
        </p:nvSpPr>
        <p:spPr>
          <a:xfrm>
            <a:off x="8229600" y="0"/>
            <a:ext cx="502920" cy="548640"/>
          </a:xfrm>
          <a:prstGeom prst="rect">
            <a:avLst/>
          </a:prstGeom>
          <a:solidFill>
            <a:srgbClr val="143F4F"/>
          </a:solidFill>
          <a:ln/>
        </p:spPr>
        <p:txBody>
          <a:bodyPr/>
          <a:lstStyle/>
          <a:p>
            <a:endParaRPr lang="en-US"/>
          </a:p>
        </p:txBody>
      </p:sp>
      <p:sp>
        <p:nvSpPr>
          <p:cNvPr id="5" name="Text 3"/>
          <p:cNvSpPr txBox="1"/>
          <p:nvPr/>
        </p:nvSpPr>
        <p:spPr>
          <a:xfrm>
            <a:off x="8229600" y="91440"/>
            <a:ext cx="502920" cy="411480"/>
          </a:xfrm>
          <a:prstGeom prst="rect">
            <a:avLst/>
          </a:prstGeom>
          <a:noFill/>
          <a:ln/>
        </p:spPr>
        <p:txBody>
          <a:bodyPr wrap="square" lIns="0" tIns="0" rIns="0" bIns="0" rtlCol="0" anchor="ctr"/>
          <a:lstStyle/>
          <a:p>
            <a:pPr marL="0" indent="0" algn="ctr">
              <a:buNone/>
            </a:pPr>
            <a:r>
              <a:rPr lang="en-US" sz="1400" dirty="0">
                <a:solidFill>
                  <a:srgbClr val="FFFFFF"/>
                </a:solidFill>
                <a:latin typeface="Calibri" pitchFamily="34" charset="0"/>
                <a:ea typeface="Calibri" pitchFamily="34" charset="-122"/>
                <a:cs typeface="Calibri" pitchFamily="34" charset="-120"/>
              </a:rPr>
              <a:t>23</a:t>
            </a:r>
            <a:endParaRPr lang="en-US" sz="1400" dirty="0"/>
          </a:p>
        </p:txBody>
      </p:sp>
      <p:sp>
        <p:nvSpPr>
          <p:cNvPr id="6" name="Text 4"/>
          <p:cNvSpPr txBox="1"/>
          <p:nvPr/>
        </p:nvSpPr>
        <p:spPr>
          <a:xfrm>
            <a:off x="640080" y="274320"/>
            <a:ext cx="7406640" cy="640080"/>
          </a:xfrm>
          <a:prstGeom prst="rect">
            <a:avLst/>
          </a:prstGeom>
          <a:noFill/>
          <a:ln/>
        </p:spPr>
        <p:txBody>
          <a:bodyPr wrap="square" lIns="0" tIns="0" rIns="0" bIns="0" rtlCol="0" anchor="ctr"/>
          <a:lstStyle/>
          <a:p>
            <a:pPr marL="0" indent="0">
              <a:buNone/>
            </a:pPr>
            <a:r>
              <a:rPr lang="en-US" sz="3000" b="1" dirty="0">
                <a:solidFill>
                  <a:srgbClr val="143F4F"/>
                </a:solidFill>
                <a:latin typeface="Century Schoolbook" pitchFamily="34" charset="0"/>
                <a:ea typeface="Century Schoolbook" pitchFamily="34" charset="-122"/>
                <a:cs typeface="Century Schoolbook" pitchFamily="34" charset="-120"/>
              </a:rPr>
              <a:t>References</a:t>
            </a:r>
            <a:endParaRPr lang="en-US" sz="3000" dirty="0"/>
          </a:p>
        </p:txBody>
      </p:sp>
      <p:sp>
        <p:nvSpPr>
          <p:cNvPr id="7" name="Text 5"/>
          <p:cNvSpPr txBox="1"/>
          <p:nvPr/>
        </p:nvSpPr>
        <p:spPr>
          <a:xfrm>
            <a:off x="640080" y="1097280"/>
            <a:ext cx="2743200" cy="411480"/>
          </a:xfrm>
          <a:prstGeom prst="rect">
            <a:avLst/>
          </a:prstGeom>
          <a:noFill/>
          <a:ln/>
        </p:spPr>
        <p:txBody>
          <a:bodyPr wrap="square" lIns="0" tIns="0" rIns="0" bIns="0" rtlCol="0" anchor="ctr"/>
          <a:lstStyle/>
          <a:p>
            <a:pPr marL="0" indent="0">
              <a:buNone/>
            </a:pPr>
            <a:r>
              <a:rPr lang="en-US" sz="2000" b="1" dirty="0">
                <a:solidFill>
                  <a:srgbClr val="55BFAE"/>
                </a:solidFill>
                <a:latin typeface="Calibri" pitchFamily="34" charset="0"/>
                <a:ea typeface="Calibri" pitchFamily="34" charset="-122"/>
                <a:cs typeface="Calibri" pitchFamily="34" charset="-120"/>
              </a:rPr>
              <a:t>Books</a:t>
            </a:r>
            <a:endParaRPr lang="en-US" sz="2000" dirty="0"/>
          </a:p>
        </p:txBody>
      </p:sp>
      <p:sp>
        <p:nvSpPr>
          <p:cNvPr id="8" name="Shape 6"/>
          <p:cNvSpPr/>
          <p:nvPr/>
        </p:nvSpPr>
        <p:spPr>
          <a:xfrm>
            <a:off x="1097280" y="1920240"/>
            <a:ext cx="1645920" cy="1920240"/>
          </a:xfrm>
          <a:prstGeom prst="can">
            <a:avLst/>
          </a:prstGeom>
          <a:solidFill>
            <a:srgbClr val="F28C28"/>
          </a:solidFill>
          <a:ln/>
        </p:spPr>
        <p:txBody>
          <a:bodyPr/>
          <a:lstStyle/>
          <a:p>
            <a:endParaRPr lang="en-US"/>
          </a:p>
        </p:txBody>
      </p:sp>
      <p:sp>
        <p:nvSpPr>
          <p:cNvPr id="9" name="Shape 7"/>
          <p:cNvSpPr/>
          <p:nvPr/>
        </p:nvSpPr>
        <p:spPr>
          <a:xfrm>
            <a:off x="3749040" y="1188720"/>
            <a:ext cx="4754880" cy="1143000"/>
          </a:xfrm>
          <a:prstGeom prst="roundRect">
            <a:avLst>
              <a:gd name="adj" fmla="val 96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0" name="Shape 8"/>
          <p:cNvSpPr/>
          <p:nvPr/>
        </p:nvSpPr>
        <p:spPr>
          <a:xfrm>
            <a:off x="3931920" y="1508760"/>
            <a:ext cx="502920" cy="502920"/>
          </a:xfrm>
          <a:prstGeom prst="ellipse">
            <a:avLst/>
          </a:prstGeom>
          <a:solidFill>
            <a:srgbClr val="F28C28"/>
          </a:solidFill>
          <a:ln/>
        </p:spPr>
        <p:txBody>
          <a:bodyPr/>
          <a:lstStyle/>
          <a:p>
            <a:endParaRPr lang="en-US"/>
          </a:p>
        </p:txBody>
      </p:sp>
      <p:sp>
        <p:nvSpPr>
          <p:cNvPr id="11" name="Text 9"/>
          <p:cNvSpPr txBox="1"/>
          <p:nvPr/>
        </p:nvSpPr>
        <p:spPr>
          <a:xfrm>
            <a:off x="3931920" y="15087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10"/>
          <p:cNvSpPr txBox="1"/>
          <p:nvPr/>
        </p:nvSpPr>
        <p:spPr>
          <a:xfrm>
            <a:off x="4617720" y="1280160"/>
            <a:ext cx="3749040" cy="960120"/>
          </a:xfrm>
          <a:prstGeom prst="rect">
            <a:avLst/>
          </a:prstGeom>
          <a:noFill/>
          <a:ln/>
        </p:spPr>
        <p:txBody>
          <a:bodyPr wrap="square" lIns="0" tIns="0" rIns="0" bIns="0" rtlCol="0" anchor="ctr"/>
          <a:lstStyle/>
          <a:p>
            <a:pPr marL="0" indent="0">
              <a:buNone/>
            </a:pPr>
            <a:r>
              <a:rPr lang="en-US" sz="1700" b="1" dirty="0">
                <a:solidFill>
                  <a:srgbClr val="143F4F"/>
                </a:solidFill>
                <a:latin typeface="Calibri" pitchFamily="34" charset="0"/>
                <a:ea typeface="Calibri" pitchFamily="34" charset="-122"/>
                <a:cs typeface="Calibri" pitchFamily="34" charset="-120"/>
              </a:rPr>
              <a:t>Modern Database Management</a:t>
            </a:r>
            <a:endParaRPr lang="en-US" sz="1700" dirty="0"/>
          </a:p>
          <a:p>
            <a:pPr marL="0" indent="0">
              <a:buNone/>
            </a:pPr>
            <a:r>
              <a:rPr lang="en-US" sz="1300" dirty="0">
                <a:solidFill>
                  <a:srgbClr val="1F3B47"/>
                </a:solidFill>
                <a:latin typeface="Calibri" pitchFamily="34" charset="0"/>
                <a:ea typeface="Calibri" pitchFamily="34" charset="-122"/>
                <a:cs typeface="Calibri" pitchFamily="34" charset="-120"/>
              </a:rPr>
              <a:t>By Jeffrey A. Hoffer, V. Ramesh, Heikki Topi</a:t>
            </a:r>
            <a:endParaRPr lang="en-US" sz="1700" dirty="0"/>
          </a:p>
          <a:p>
            <a:pPr marL="0" indent="0">
              <a:buNone/>
            </a:pPr>
            <a:r>
              <a:rPr lang="en-US" sz="1300" i="1" dirty="0">
                <a:solidFill>
                  <a:srgbClr val="5A7079"/>
                </a:solidFill>
                <a:latin typeface="Calibri" pitchFamily="34" charset="0"/>
                <a:ea typeface="Calibri" pitchFamily="34" charset="-122"/>
                <a:cs typeface="Calibri" pitchFamily="34" charset="-120"/>
              </a:rPr>
              <a:t>13th Edition</a:t>
            </a:r>
            <a:endParaRPr lang="en-US" sz="1700" dirty="0"/>
          </a:p>
        </p:txBody>
      </p:sp>
      <p:sp>
        <p:nvSpPr>
          <p:cNvPr id="13" name="Shape 11"/>
          <p:cNvSpPr/>
          <p:nvPr/>
        </p:nvSpPr>
        <p:spPr>
          <a:xfrm>
            <a:off x="3749040" y="2560320"/>
            <a:ext cx="4754880" cy="1143000"/>
          </a:xfrm>
          <a:prstGeom prst="roundRect">
            <a:avLst>
              <a:gd name="adj" fmla="val 9600"/>
            </a:avLst>
          </a:prstGeom>
          <a:solidFill>
            <a:srgbClr val="FFFFFF"/>
          </a:solidFill>
          <a:ln w="9525">
            <a:solidFill>
              <a:srgbClr val="D5E4E8"/>
            </a:solidFill>
            <a:prstDash val="solid"/>
          </a:ln>
          <a:effectLst>
            <a:outerShdw blurRad="76200" dist="25400" dir="5400000" algn="bl" rotWithShape="0">
              <a:srgbClr val="000000">
                <a:alpha val="12000"/>
              </a:srgbClr>
            </a:outerShdw>
          </a:effectLst>
        </p:spPr>
        <p:txBody>
          <a:bodyPr/>
          <a:lstStyle/>
          <a:p>
            <a:endParaRPr lang="en-US"/>
          </a:p>
        </p:txBody>
      </p:sp>
      <p:sp>
        <p:nvSpPr>
          <p:cNvPr id="14" name="Shape 12"/>
          <p:cNvSpPr/>
          <p:nvPr/>
        </p:nvSpPr>
        <p:spPr>
          <a:xfrm>
            <a:off x="3931920" y="2880360"/>
            <a:ext cx="502920" cy="502920"/>
          </a:xfrm>
          <a:prstGeom prst="ellipse">
            <a:avLst/>
          </a:prstGeom>
          <a:solidFill>
            <a:srgbClr val="F28C28"/>
          </a:solidFill>
          <a:ln/>
        </p:spPr>
        <p:txBody>
          <a:bodyPr/>
          <a:lstStyle/>
          <a:p>
            <a:endParaRPr lang="en-US"/>
          </a:p>
        </p:txBody>
      </p:sp>
      <p:sp>
        <p:nvSpPr>
          <p:cNvPr id="15" name="Text 13"/>
          <p:cNvSpPr txBox="1"/>
          <p:nvPr/>
        </p:nvSpPr>
        <p:spPr>
          <a:xfrm>
            <a:off x="3931920" y="2880360"/>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txBox="1"/>
          <p:nvPr/>
        </p:nvSpPr>
        <p:spPr>
          <a:xfrm>
            <a:off x="4617720" y="2651760"/>
            <a:ext cx="3749040" cy="960120"/>
          </a:xfrm>
          <a:prstGeom prst="rect">
            <a:avLst/>
          </a:prstGeom>
          <a:noFill/>
          <a:ln/>
        </p:spPr>
        <p:txBody>
          <a:bodyPr wrap="square" lIns="0" tIns="0" rIns="0" bIns="0" rtlCol="0" anchor="ctr"/>
          <a:lstStyle/>
          <a:p>
            <a:pPr marL="0" indent="0">
              <a:buNone/>
            </a:pPr>
            <a:r>
              <a:rPr lang="en-US" sz="1700" b="1" dirty="0">
                <a:solidFill>
                  <a:srgbClr val="143F4F"/>
                </a:solidFill>
                <a:latin typeface="Calibri" pitchFamily="34" charset="0"/>
                <a:ea typeface="Calibri" pitchFamily="34" charset="-122"/>
                <a:cs typeface="Calibri" pitchFamily="34" charset="-120"/>
              </a:rPr>
              <a:t>Fundamentals of Database Management Systems</a:t>
            </a:r>
            <a:endParaRPr lang="en-US" sz="1700" dirty="0"/>
          </a:p>
          <a:p>
            <a:pPr marL="0" indent="0">
              <a:buNone/>
            </a:pPr>
            <a:r>
              <a:rPr lang="en-US" sz="1300" dirty="0">
                <a:solidFill>
                  <a:srgbClr val="1F3B47"/>
                </a:solidFill>
                <a:latin typeface="Calibri" pitchFamily="34" charset="0"/>
                <a:ea typeface="Calibri" pitchFamily="34" charset="-122"/>
                <a:cs typeface="Calibri" pitchFamily="34" charset="-120"/>
              </a:rPr>
              <a:t>By Mark L. Gillenson</a:t>
            </a:r>
            <a:endParaRPr lang="en-US" sz="1700" dirty="0"/>
          </a:p>
          <a:p>
            <a:pPr marL="0" indent="0">
              <a:buNone/>
            </a:pPr>
            <a:r>
              <a:rPr lang="en-US" sz="1300" i="1" dirty="0">
                <a:solidFill>
                  <a:srgbClr val="5A7079"/>
                </a:solidFill>
                <a:latin typeface="Calibri" pitchFamily="34" charset="0"/>
                <a:ea typeface="Calibri" pitchFamily="34" charset="-122"/>
                <a:cs typeface="Calibri" pitchFamily="34" charset="-120"/>
              </a:rPr>
              <a:t>2nd Edition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3325</Words>
  <Application>Microsoft Office PowerPoint</Application>
  <PresentationFormat>On-screen Show (16:9)</PresentationFormat>
  <Paragraphs>688</Paragraphs>
  <Slides>57</Slides>
  <Notes>57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57</vt:i4>
      </vt:variant>
    </vt:vector>
  </HeadingPairs>
  <TitlesOfParts>
    <vt:vector size="61" baseType="lpstr">
      <vt:lpstr>Arial</vt:lpstr>
      <vt:lpstr>Calibri</vt:lpstr>
      <vt:lpstr>Century Schoolbook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 - Lecture 02</dc:title>
  <dc:subject>PptxGenJS Presentation</dc:subject>
  <dc:creator>PptxGenJS</dc:creator>
  <cp:lastModifiedBy>FAHEEM SHAUKAT</cp:lastModifiedBy>
  <cp:revision>4</cp:revision>
  <dcterms:created xsi:type="dcterms:W3CDTF">2026-09-30T18:24:32Z</dcterms:created>
  <dcterms:modified xsi:type="dcterms:W3CDTF">2026-09-30T19:01:33Z</dcterms:modified>
</cp:coreProperties>
</file>